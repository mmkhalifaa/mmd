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71c565573b4e85" /><Relationship Type="http://schemas.openxmlformats.org/officeDocument/2006/relationships/extended-properties" Target="/docProps/app.xml" Id="Rcf8616ae240843af" /><Relationship Type="http://schemas.openxmlformats.org/officeDocument/2006/relationships/officeDocument" Target="/ppt/presentation.xml" Id="Re3676b79f1f14d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3cd635bb1a414d"/>
  </p:sldMasterIdLst>
  <p:notesMasterIdLst>
    <p:notesMasterId xmlns:r="http://schemas.openxmlformats.org/officeDocument/2006/relationships" r:id="Rb6e47e032c03404b"/>
  </p:notesMasterIdLst>
  <p:sldIdLst>
    <p:sldId xmlns:r="http://schemas.openxmlformats.org/officeDocument/2006/relationships" id="256" r:id="R4f2082626f9541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7331090a9d4340" /><Relationship Type="http://schemas.openxmlformats.org/officeDocument/2006/relationships/slideMaster" Target="/ppt/slideMasters/slideMaster1.xml" Id="Ra33cd635bb1a414d" /><Relationship Type="http://schemas.openxmlformats.org/officeDocument/2006/relationships/notesMaster" Target="/ppt/notesMasters/notesMaster1.xml" Id="Rb6e47e032c03404b" /><Relationship Type="http://schemas.openxmlformats.org/officeDocument/2006/relationships/presProps" Target="/ppt/presProps.xml" Id="R4b741a9486d947a8" /><Relationship Type="http://schemas.openxmlformats.org/officeDocument/2006/relationships/tableStyles" Target="/ppt/tableStyles.xml" Id="R85748ab2048a44d8" /><Relationship Type="http://schemas.openxmlformats.org/officeDocument/2006/relationships/slide" Target="/ppt/slides/slide1.xml" Id="R4f2082626f95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9726b079246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f7cb9bbf147ae" /><Relationship Type="http://schemas.openxmlformats.org/officeDocument/2006/relationships/notesMaster" Target="/ppt/notesMasters/notesMaster1.xml" Id="R2d6ccb1dfae1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d9636fe33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cc844fd5234645" /><Relationship Type="http://schemas.openxmlformats.org/officeDocument/2006/relationships/slideLayout" Target="/ppt/slideLayouts/slideLayout1.xml" Id="R793994a5a1c348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994a5a1c348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95a6473ca4fdb" /><Relationship Type="http://schemas.openxmlformats.org/officeDocument/2006/relationships/notesSlide" Target="/ppt/notesSlides/notesSlide1.xml" Id="Rce06501d15c04b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B800F-A64A-426E-B3A1-F1947046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ONE-PAGE VISION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B3C3A-C068-4C7C-9BF4-11E5BA4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</a:defRPr>
            </a:pPr>
            <a:r>
              <a:rPr sz="3150" b="1">
                <a:solidFill>
                  <a:srgbClr val="0B1F33"/>
                </a:solidFill>
              </a:rPr>
              <a:t>The AI-native Private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D9554-0ECD-4B93-B731-44508E48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8"/>
                </a:solidFill>
              </a:defRPr>
            </a:pPr>
            <a:r>
              <a:rPr sz="1425" b="0">
                <a:solidFill>
                  <a:srgbClr val="5E6B78"/>
                </a:solidFill>
              </a:rPr>
              <a:t>One orchestrator. One relationship memory. Many experiences.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EDEAB-8C8C-4500-AD43-BBAF78B0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CLIENT AND PROSPECT EXPERIENCES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F0A76-1DBF-4EAF-9338-9CE80DF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295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C60F6-5567-4D72-B9AB-58DD1EB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14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</a:defRPr>
            </a:pPr>
            <a:r>
              <a:rPr sz="1050" b="1">
                <a:solidFill>
                  <a:srgbClr val="0B1F33"/>
                </a:solidFill>
              </a:rPr>
              <a:t>CLIENT COMPANION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D9F38-8AD7-424B-A7E0-7420281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95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9FEF-5A6D-4030-AA34-EB4B51C7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14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THE SMARTEST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FD525-FAE3-4E18-B1AB-31F6919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2952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FE034-B849-44AF-BD21-2D8B8D9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145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</a:defRPr>
            </a:pPr>
            <a:r>
              <a:rPr sz="1050" b="1">
                <a:solidFill>
                  <a:srgbClr val="0B1F33"/>
                </a:solidFill>
              </a:rPr>
              <a:t>SELF-SERVICE + 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58FAA-7C71-4099-869C-7A2A0FA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EMPLOYEE AND FIRM EXPERIENCES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13871-12CB-4997-8416-997792A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866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D2DC4-C7C5-478F-BEFF-A8C98A50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COMMAND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F991C-3724-46C9-A26D-C1292C4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33750"/>
            <a:ext cx="1866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4C204-D88D-403F-9A95-79AA360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95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GUIDED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4A3FF-F530-4F50-97F9-51E51C3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33750"/>
            <a:ext cx="1866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583E1-BBAA-4012-BAC5-2F2F89F0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95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EXPERTISE + 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7F6E1-6B88-4D9E-8A2B-AAF7E71C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33750"/>
            <a:ext cx="1866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A4D1E-CF90-4282-8D15-DE034F00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95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AAB1E-B5CD-444C-AD18-58130095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1866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79EB5-5AF1-4EF2-A8C3-96BA1C83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95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PEOPLE + LEADERS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763BF-2363-4402-A994-1B3FFFF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8096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3035D-F482-4CD1-9F29-639E73B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51FB9-0776-48FF-B51C-B46920EE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7F0"/>
                </a:solidFill>
              </a:defRPr>
            </a:pPr>
            <a:r>
              <a:rPr sz="1350" b="1">
                <a:solidFill>
                  <a:srgbClr val="DCE7F0"/>
                </a:solidFill>
              </a:rPr>
              <a:t>Orchestrates agents, skills, tools, permissions, context and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738F1-F131-4982-AA2C-3367A3D0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704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9312B-9BA6-4FD1-BD5F-BD9C492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6CB0"/>
                </a:solidFill>
              </a:defRPr>
            </a:pPr>
            <a:r>
              <a:rPr sz="1350" b="1">
                <a:solidFill>
                  <a:srgbClr val="2B6CB0"/>
                </a:solidFill>
              </a:rPr>
              <a:t>CLIENT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E57C2-00F5-4BD5-877B-FD0D91C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673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Living relationship memory  |  truth layer  |  household permissions  |  commitment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56ED2-3F7B-4C85-9D47-4C14D5B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E663FD-6745-48D7-96EF-B0DB96F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172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F33"/>
                </a:solidFill>
              </a:defRPr>
            </a:pPr>
            <a:r>
              <a:rPr sz="825" b="1">
                <a:solidFill>
                  <a:srgbClr val="0B1F33"/>
                </a:solidFill>
              </a:rPr>
              <a:t>DATA + 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1C5EF-9515-4DE2-A7D5-79FE1D39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172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F33"/>
                </a:solidFill>
              </a:defRPr>
            </a:pPr>
            <a:r>
              <a:rPr sz="825" b="1">
                <a:solidFill>
                  <a:srgbClr val="0B1F33"/>
                </a:solidFill>
              </a:rPr>
              <a:t>CERTIFIED SKILLS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2369A7-868A-47D8-B65E-7608317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617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F33"/>
                </a:solidFill>
              </a:defRPr>
            </a:pPr>
            <a:r>
              <a:rPr sz="825" b="1">
                <a:solidFill>
                  <a:srgbClr val="0B1F33"/>
                </a:solidFill>
              </a:rPr>
              <a:t>IDENTITY + PERMISSIONS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84E88-0513-4B59-8010-4BD3A263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172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F33"/>
                </a:solidFill>
              </a:defRPr>
            </a:pPr>
            <a:r>
              <a:rPr sz="825" b="1">
                <a:solidFill>
                  <a:srgbClr val="0B1F33"/>
                </a:solidFill>
              </a:rPr>
              <a:t>EVALUATION +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38A51-421D-466F-91C4-D1AF5F38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172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F33"/>
                </a:solidFill>
              </a:defRPr>
            </a:pPr>
            <a:r>
              <a:rPr sz="825" b="1">
                <a:solidFill>
                  <a:srgbClr val="0B1F33"/>
                </a:solidFill>
              </a:rPr>
              <a:t>ACTION + OUTCOMES</a:t>
            </a:r>
          </a:p>
        </p:txBody>
      </p:sp>
    </p:spTree>
    <p:extLst>
      <p:ext uri="{BB962C8B-B14F-4D97-AF65-F5344CB8AC3E}">
        <p14:creationId xmlns:p14="http://schemas.microsoft.com/office/powerpoint/2010/main" val="885239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2026-08-17T16:08:00.7360000Z</dcterms:created>
  <dcterms:modified xsi:type="dcterms:W3CDTF">2026-08-17T16:08:00.7360000Z</dcterms:modified>
</coreProperties>
</file>