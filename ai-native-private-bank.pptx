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1920240"/>
            <a:ext cx="11155680" cy="1097280"/>
          </a:xfrm>
          <a:prstGeom prst="rect">
            <a:avLst/>
          </a:prstGeom>
          <a:noFill/>
        </p:spPr>
        <p:txBody>
          <a:bodyPr wrap="square" lIns="0" rIns="0" tIns="0" bIns="0" anchor="t">
            <a:spAutoFit/>
          </a:bodyPr>
          <a:lstStyle/>
          <a:p>
            <a:pPr algn="l">
              <a:lnSpc>
                <a:spcPct val="104000"/>
              </a:lnSpc>
            </a:pPr>
            <a:r>
              <a:rPr sz="5400" b="0" i="0">
                <a:solidFill>
                  <a:srgbClr val="2C2C2A"/>
                </a:solidFill>
                <a:latin typeface="Helvetica Neue Medium"/>
              </a:rPr>
              <a:t>The AI-native private bank, </a:t>
            </a:r>
            <a:r>
              <a:rPr sz="5400" b="0" i="0">
                <a:solidFill>
                  <a:srgbClr val="D85A30"/>
                </a:solidFill>
                <a:latin typeface="Helvetica Neue Medium"/>
              </a:rPr>
              <a:t>/</a:t>
            </a:r>
          </a:p>
        </p:txBody>
      </p:sp>
      <p:sp>
        <p:nvSpPr>
          <p:cNvPr id="3" name="TextBox 2"/>
          <p:cNvSpPr txBox="1"/>
          <p:nvPr/>
        </p:nvSpPr>
        <p:spPr>
          <a:xfrm>
            <a:off x="868680" y="2788920"/>
            <a:ext cx="11155680" cy="1097280"/>
          </a:xfrm>
          <a:prstGeom prst="rect">
            <a:avLst/>
          </a:prstGeom>
          <a:noFill/>
        </p:spPr>
        <p:txBody>
          <a:bodyPr wrap="square" lIns="0" rIns="0" tIns="0" bIns="0" anchor="t">
            <a:spAutoFit/>
          </a:bodyPr>
          <a:lstStyle/>
          <a:p>
            <a:pPr algn="l">
              <a:lnSpc>
                <a:spcPct val="104000"/>
              </a:lnSpc>
            </a:pPr>
            <a:r>
              <a:rPr sz="5400" b="0" i="0">
                <a:solidFill>
                  <a:srgbClr val="2C2C2A"/>
                </a:solidFill>
                <a:latin typeface="Helvetica Neue Medium"/>
              </a:rPr>
              <a:t>organized around the client.</a:t>
            </a:r>
          </a:p>
        </p:txBody>
      </p:sp>
      <p:sp>
        <p:nvSpPr>
          <p:cNvPr id="4" name="TextBox 3"/>
          <p:cNvSpPr txBox="1"/>
          <p:nvPr/>
        </p:nvSpPr>
        <p:spPr>
          <a:xfrm>
            <a:off x="868680" y="4709160"/>
            <a:ext cx="10424160" cy="457200"/>
          </a:xfrm>
          <a:prstGeom prst="rect">
            <a:avLst/>
          </a:prstGeom>
          <a:noFill/>
        </p:spPr>
        <p:txBody>
          <a:bodyPr wrap="square" lIns="0" rIns="0" tIns="0" bIns="0" anchor="t">
            <a:spAutoFit/>
          </a:bodyPr>
          <a:lstStyle/>
          <a:p>
            <a:pPr algn="l">
              <a:lnSpc>
                <a:spcPct val="125000"/>
              </a:lnSpc>
            </a:pPr>
            <a:r>
              <a:rPr sz="1800" b="0" i="0">
                <a:solidFill>
                  <a:srgbClr val="5F5E5A"/>
                </a:solidFill>
                <a:latin typeface="Helvetica Neue"/>
              </a:rPr>
              <a:t>Not another chatbot in every app — a redesign of how the firm works for each client. End to end.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01   </a:t>
            </a:r>
            <a:r>
              <a:rPr sz="1100" b="0" i="0">
                <a:solidFill>
                  <a:srgbClr val="993C1D"/>
                </a:solidFill>
                <a:latin typeface="Helvetica Neue Medium"/>
              </a:rPr>
              <a:t>The north star</a:t>
            </a:r>
          </a:p>
        </p:txBody>
      </p:sp>
      <p:sp>
        <p:nvSpPr>
          <p:cNvPr id="3" name="TextBox 2"/>
          <p:cNvSpPr txBox="1"/>
          <p:nvPr/>
        </p:nvSpPr>
        <p:spPr>
          <a:xfrm>
            <a:off x="868680" y="2148840"/>
            <a:ext cx="9875520" cy="2103120"/>
          </a:xfrm>
          <a:prstGeom prst="rect">
            <a:avLst/>
          </a:prstGeom>
          <a:noFill/>
        </p:spPr>
        <p:txBody>
          <a:bodyPr wrap="square" lIns="0" rIns="0" tIns="0" bIns="0" anchor="t">
            <a:spAutoFit/>
          </a:bodyPr>
          <a:lstStyle/>
          <a:p>
            <a:pPr algn="l">
              <a:lnSpc>
                <a:spcPct val="122000"/>
              </a:lnSpc>
            </a:pPr>
            <a:r>
              <a:rPr sz="3000" b="0" i="0">
                <a:solidFill>
                  <a:srgbClr val="2C2C2A"/>
                </a:solidFill>
                <a:latin typeface="Helvetica Neue Medium"/>
              </a:rPr>
              <a:t>Every client feels the full intelligence of the firm continuously working for them. </a:t>
            </a:r>
            <a:r>
              <a:rPr sz="3000" b="0" i="0">
                <a:solidFill>
                  <a:srgbClr val="D85A30"/>
                </a:solidFill>
                <a:latin typeface="Helvetica Neue Medium"/>
              </a:rPr>
              <a:t>Every employee has a trusted digital team working alongside them.</a:t>
            </a:r>
          </a:p>
        </p:txBody>
      </p:sp>
      <p:sp>
        <p:nvSpPr>
          <p:cNvPr id="4" name="TextBox 3"/>
          <p:cNvSpPr txBox="1"/>
          <p:nvPr/>
        </p:nvSpPr>
        <p:spPr>
          <a:xfrm>
            <a:off x="868680" y="4617720"/>
            <a:ext cx="9601200" cy="320040"/>
          </a:xfrm>
          <a:prstGeom prst="rect">
            <a:avLst/>
          </a:prstGeom>
          <a:noFill/>
        </p:spPr>
        <p:txBody>
          <a:bodyPr wrap="square" lIns="0" rIns="0" tIns="0" bIns="0" anchor="t">
            <a:spAutoFit/>
          </a:bodyPr>
          <a:lstStyle/>
          <a:p>
            <a:pPr algn="l">
              <a:lnSpc>
                <a:spcPct val="125000"/>
              </a:lnSpc>
            </a:pPr>
            <a:r>
              <a:rPr sz="1200" b="0" i="0">
                <a:solidFill>
                  <a:srgbClr val="5F5E5A"/>
                </a:solidFill>
                <a:latin typeface="Helvetica Neue Medium"/>
              </a:rPr>
              <a:t>One promise, two sides — the test for every build in this deck.</a:t>
            </a:r>
          </a:p>
        </p:txBody>
      </p:sp>
      <p:sp>
        <p:nvSpPr>
          <p:cNvPr id="5" name="TextBox 4"/>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2</a:t>
            </a:r>
            <a:r>
              <a:rPr sz="1000" b="0" i="0">
                <a:solidFill>
                  <a:srgbClr val="888780"/>
                </a:solidFill>
                <a:latin typeface="Helvetica Neue Medium"/>
              </a:rPr>
              <a:t>  /  32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02   </a:t>
            </a:r>
            <a:r>
              <a:rPr sz="1100" b="0" i="0">
                <a:solidFill>
                  <a:srgbClr val="993C1D"/>
                </a:solidFill>
                <a:latin typeface="Helvetica Neue Medium"/>
              </a:rPr>
              <a:t>How we win</a:t>
            </a:r>
          </a:p>
        </p:txBody>
      </p:sp>
      <p:sp>
        <p:nvSpPr>
          <p:cNvPr id="3" name="TextBox 2"/>
          <p:cNvSpPr txBox="1"/>
          <p:nvPr/>
        </p:nvSpPr>
        <p:spPr>
          <a:xfrm>
            <a:off x="868680" y="960120"/>
            <a:ext cx="10454335" cy="822960"/>
          </a:xfrm>
          <a:prstGeom prst="rect">
            <a:avLst/>
          </a:prstGeom>
          <a:noFill/>
        </p:spPr>
        <p:txBody>
          <a:bodyPr wrap="square" lIns="0" rIns="0" tIns="0" bIns="0" anchor="t">
            <a:spAutoFit/>
          </a:bodyPr>
          <a:lstStyle/>
          <a:p>
            <a:pPr algn="l">
              <a:lnSpc>
                <a:spcPct val="115000"/>
              </a:lnSpc>
            </a:pPr>
            <a:r>
              <a:rPr sz="2800" b="0" i="0">
                <a:solidFill>
                  <a:srgbClr val="2C2C2A"/>
                </a:solidFill>
                <a:latin typeface="Helvetica Neue Medium"/>
              </a:rPr>
              <a:t>How we win. Eight moves.</a:t>
            </a:r>
          </a:p>
        </p:txBody>
      </p:sp>
      <p:sp>
        <p:nvSpPr>
          <p:cNvPr id="4" name="Rounded Rectangle 3"/>
          <p:cNvSpPr/>
          <p:nvPr/>
        </p:nvSpPr>
        <p:spPr>
          <a:xfrm>
            <a:off x="868680" y="1993392"/>
            <a:ext cx="2517571" cy="1517904"/>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9848" y="2139696"/>
            <a:ext cx="2115235" cy="256032"/>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01</a:t>
            </a:r>
          </a:p>
        </p:txBody>
      </p:sp>
      <p:sp>
        <p:nvSpPr>
          <p:cNvPr id="6" name="TextBox 5"/>
          <p:cNvSpPr txBox="1"/>
          <p:nvPr/>
        </p:nvSpPr>
        <p:spPr>
          <a:xfrm>
            <a:off x="1069848" y="2414016"/>
            <a:ext cx="2115235" cy="566928"/>
          </a:xfrm>
          <a:prstGeom prst="rect">
            <a:avLst/>
          </a:prstGeom>
          <a:noFill/>
        </p:spPr>
        <p:txBody>
          <a:bodyPr wrap="square" lIns="0" rIns="0" tIns="0" bIns="0" anchor="t">
            <a:spAutoFit/>
          </a:bodyPr>
          <a:lstStyle/>
          <a:p>
            <a:pPr algn="l">
              <a:lnSpc>
                <a:spcPct val="115000"/>
              </a:lnSpc>
            </a:pPr>
            <a:r>
              <a:rPr sz="1250" b="0" i="0">
                <a:solidFill>
                  <a:srgbClr val="2C2C2A"/>
                </a:solidFill>
                <a:latin typeface="Helvetica Neue Medium"/>
              </a:rPr>
              <a:t>Unlimited leverage for our smartest people</a:t>
            </a:r>
          </a:p>
        </p:txBody>
      </p:sp>
      <p:sp>
        <p:nvSpPr>
          <p:cNvPr id="7" name="TextBox 6"/>
          <p:cNvSpPr txBox="1"/>
          <p:nvPr/>
        </p:nvSpPr>
        <p:spPr>
          <a:xfrm>
            <a:off x="1069848" y="2999232"/>
            <a:ext cx="2115235" cy="457200"/>
          </a:xfrm>
          <a:prstGeom prst="rect">
            <a:avLst/>
          </a:prstGeom>
          <a:noFill/>
        </p:spPr>
        <p:txBody>
          <a:bodyPr wrap="square" lIns="0" rIns="0" tIns="0" bIns="0" anchor="t">
            <a:spAutoFit/>
          </a:bodyPr>
          <a:lstStyle/>
          <a:p>
            <a:pPr algn="l">
              <a:lnSpc>
                <a:spcPct val="130000"/>
              </a:lnSpc>
            </a:pPr>
            <a:r>
              <a:rPr sz="950" b="0" i="0">
                <a:solidFill>
                  <a:srgbClr val="5F5E5A"/>
                </a:solidFill>
                <a:latin typeface="Helvetica Neue"/>
              </a:rPr>
              <a:t>One command surface. Always-on agent teams.</a:t>
            </a:r>
          </a:p>
        </p:txBody>
      </p:sp>
      <p:sp>
        <p:nvSpPr>
          <p:cNvPr id="8" name="Rounded Rectangle 7"/>
          <p:cNvSpPr/>
          <p:nvPr/>
        </p:nvSpPr>
        <p:spPr>
          <a:xfrm>
            <a:off x="3514267" y="1993392"/>
            <a:ext cx="2517571" cy="1517904"/>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15435" y="2139696"/>
            <a:ext cx="2115235" cy="256032"/>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02</a:t>
            </a:r>
          </a:p>
        </p:txBody>
      </p:sp>
      <p:sp>
        <p:nvSpPr>
          <p:cNvPr id="10" name="TextBox 9"/>
          <p:cNvSpPr txBox="1"/>
          <p:nvPr/>
        </p:nvSpPr>
        <p:spPr>
          <a:xfrm>
            <a:off x="3715435" y="2414016"/>
            <a:ext cx="2115235" cy="566928"/>
          </a:xfrm>
          <a:prstGeom prst="rect">
            <a:avLst/>
          </a:prstGeom>
          <a:noFill/>
        </p:spPr>
        <p:txBody>
          <a:bodyPr wrap="square" lIns="0" rIns="0" tIns="0" bIns="0" anchor="t">
            <a:spAutoFit/>
          </a:bodyPr>
          <a:lstStyle/>
          <a:p>
            <a:pPr algn="l">
              <a:lnSpc>
                <a:spcPct val="115000"/>
              </a:lnSpc>
            </a:pPr>
            <a:r>
              <a:rPr sz="1250" b="0" i="0">
                <a:solidFill>
                  <a:srgbClr val="2C2C2A"/>
                </a:solidFill>
                <a:latin typeface="Helvetica Neue Medium"/>
              </a:rPr>
              <a:t>Autopilot behind every advisor</a:t>
            </a:r>
          </a:p>
        </p:txBody>
      </p:sp>
      <p:sp>
        <p:nvSpPr>
          <p:cNvPr id="11" name="TextBox 10"/>
          <p:cNvSpPr txBox="1"/>
          <p:nvPr/>
        </p:nvSpPr>
        <p:spPr>
          <a:xfrm>
            <a:off x="3715435" y="2999232"/>
            <a:ext cx="2115235" cy="457200"/>
          </a:xfrm>
          <a:prstGeom prst="rect">
            <a:avLst/>
          </a:prstGeom>
          <a:noFill/>
        </p:spPr>
        <p:txBody>
          <a:bodyPr wrap="square" lIns="0" rIns="0" tIns="0" bIns="0" anchor="t">
            <a:spAutoFit/>
          </a:bodyPr>
          <a:lstStyle/>
          <a:p>
            <a:pPr algn="l">
              <a:lnSpc>
                <a:spcPct val="130000"/>
              </a:lnSpc>
            </a:pPr>
            <a:r>
              <a:rPr sz="950" b="0" i="0">
                <a:solidFill>
                  <a:srgbClr val="5F5E5A"/>
                </a:solidFill>
                <a:latin typeface="Helvetica Neue"/>
              </a:rPr>
              <a:t>The day prioritized, prepared, and coached.</a:t>
            </a:r>
          </a:p>
        </p:txBody>
      </p:sp>
      <p:sp>
        <p:nvSpPr>
          <p:cNvPr id="12" name="Rounded Rectangle 11"/>
          <p:cNvSpPr/>
          <p:nvPr/>
        </p:nvSpPr>
        <p:spPr>
          <a:xfrm>
            <a:off x="6159855" y="1993392"/>
            <a:ext cx="2517571" cy="1517904"/>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1023" y="2139696"/>
            <a:ext cx="2115235" cy="256032"/>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03</a:t>
            </a:r>
          </a:p>
        </p:txBody>
      </p:sp>
      <p:sp>
        <p:nvSpPr>
          <p:cNvPr id="14" name="TextBox 13"/>
          <p:cNvSpPr txBox="1"/>
          <p:nvPr/>
        </p:nvSpPr>
        <p:spPr>
          <a:xfrm>
            <a:off x="6361023" y="2414016"/>
            <a:ext cx="2115235" cy="566928"/>
          </a:xfrm>
          <a:prstGeom prst="rect">
            <a:avLst/>
          </a:prstGeom>
          <a:noFill/>
        </p:spPr>
        <p:txBody>
          <a:bodyPr wrap="square" lIns="0" rIns="0" tIns="0" bIns="0" anchor="t">
            <a:spAutoFit/>
          </a:bodyPr>
          <a:lstStyle/>
          <a:p>
            <a:pPr algn="l">
              <a:lnSpc>
                <a:spcPct val="115000"/>
              </a:lnSpc>
            </a:pPr>
            <a:r>
              <a:rPr sz="1250" b="0" i="0">
                <a:solidFill>
                  <a:srgbClr val="2C2C2A"/>
                </a:solidFill>
                <a:latin typeface="Helvetica Neue Medium"/>
              </a:rPr>
              <a:t>A Client Agent for every relationship</a:t>
            </a:r>
          </a:p>
        </p:txBody>
      </p:sp>
      <p:sp>
        <p:nvSpPr>
          <p:cNvPr id="15" name="TextBox 14"/>
          <p:cNvSpPr txBox="1"/>
          <p:nvPr/>
        </p:nvSpPr>
        <p:spPr>
          <a:xfrm>
            <a:off x="6361023" y="2999232"/>
            <a:ext cx="2115235" cy="457200"/>
          </a:xfrm>
          <a:prstGeom prst="rect">
            <a:avLst/>
          </a:prstGeom>
          <a:noFill/>
        </p:spPr>
        <p:txBody>
          <a:bodyPr wrap="square" lIns="0" rIns="0" tIns="0" bIns="0" anchor="t">
            <a:spAutoFit/>
          </a:bodyPr>
          <a:lstStyle/>
          <a:p>
            <a:pPr algn="l">
              <a:lnSpc>
                <a:spcPct val="130000"/>
              </a:lnSpc>
            </a:pPr>
            <a:r>
              <a:rPr sz="950" b="0" i="0">
                <a:solidFill>
                  <a:srgbClr val="5F5E5A"/>
                </a:solidFill>
                <a:latin typeface="Helvetica Neue"/>
              </a:rPr>
              <a:t>One living memory. One action state.</a:t>
            </a:r>
          </a:p>
        </p:txBody>
      </p:sp>
      <p:sp>
        <p:nvSpPr>
          <p:cNvPr id="16" name="Rounded Rectangle 15"/>
          <p:cNvSpPr/>
          <p:nvPr/>
        </p:nvSpPr>
        <p:spPr>
          <a:xfrm>
            <a:off x="8805443" y="1993392"/>
            <a:ext cx="2517571" cy="1517904"/>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611" y="2139696"/>
            <a:ext cx="2115235" cy="256032"/>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04</a:t>
            </a:r>
          </a:p>
        </p:txBody>
      </p:sp>
      <p:sp>
        <p:nvSpPr>
          <p:cNvPr id="18" name="TextBox 17"/>
          <p:cNvSpPr txBox="1"/>
          <p:nvPr/>
        </p:nvSpPr>
        <p:spPr>
          <a:xfrm>
            <a:off x="9006611" y="2414016"/>
            <a:ext cx="2115235" cy="566928"/>
          </a:xfrm>
          <a:prstGeom prst="rect">
            <a:avLst/>
          </a:prstGeom>
          <a:noFill/>
        </p:spPr>
        <p:txBody>
          <a:bodyPr wrap="square" lIns="0" rIns="0" tIns="0" bIns="0" anchor="t">
            <a:spAutoFit/>
          </a:bodyPr>
          <a:lstStyle/>
          <a:p>
            <a:pPr algn="l">
              <a:lnSpc>
                <a:spcPct val="115000"/>
              </a:lnSpc>
            </a:pPr>
            <a:r>
              <a:rPr sz="1250" b="0" i="0">
                <a:solidFill>
                  <a:srgbClr val="2C2C2A"/>
                </a:solidFill>
                <a:latin typeface="Helvetica Neue Medium"/>
              </a:rPr>
              <a:t>The smartest room in private banking</a:t>
            </a:r>
          </a:p>
        </p:txBody>
      </p:sp>
      <p:sp>
        <p:nvSpPr>
          <p:cNvPr id="19" name="TextBox 18"/>
          <p:cNvSpPr txBox="1"/>
          <p:nvPr/>
        </p:nvSpPr>
        <p:spPr>
          <a:xfrm>
            <a:off x="9006611" y="2999232"/>
            <a:ext cx="2115235" cy="457200"/>
          </a:xfrm>
          <a:prstGeom prst="rect">
            <a:avLst/>
          </a:prstGeom>
          <a:noFill/>
        </p:spPr>
        <p:txBody>
          <a:bodyPr wrap="square" lIns="0" rIns="0" tIns="0" bIns="0" anchor="t">
            <a:spAutoFit/>
          </a:bodyPr>
          <a:lstStyle/>
          <a:p>
            <a:pPr algn="l">
              <a:lnSpc>
                <a:spcPct val="130000"/>
              </a:lnSpc>
            </a:pPr>
            <a:r>
              <a:rPr sz="950" b="0" i="0">
                <a:solidFill>
                  <a:srgbClr val="5F5E5A"/>
                </a:solidFill>
                <a:latin typeface="Helvetica Neue"/>
              </a:rPr>
              <a:t>A decision environment clients cannot reproduce.</a:t>
            </a:r>
          </a:p>
        </p:txBody>
      </p:sp>
      <p:sp>
        <p:nvSpPr>
          <p:cNvPr id="20" name="Rounded Rectangle 19"/>
          <p:cNvSpPr/>
          <p:nvPr/>
        </p:nvSpPr>
        <p:spPr>
          <a:xfrm>
            <a:off x="868680" y="3639312"/>
            <a:ext cx="2517571" cy="1517904"/>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9848" y="3785616"/>
            <a:ext cx="2115235" cy="256032"/>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05</a:t>
            </a:r>
          </a:p>
        </p:txBody>
      </p:sp>
      <p:sp>
        <p:nvSpPr>
          <p:cNvPr id="22" name="TextBox 21"/>
          <p:cNvSpPr txBox="1"/>
          <p:nvPr/>
        </p:nvSpPr>
        <p:spPr>
          <a:xfrm>
            <a:off x="1069848" y="4059936"/>
            <a:ext cx="2115235" cy="566928"/>
          </a:xfrm>
          <a:prstGeom prst="rect">
            <a:avLst/>
          </a:prstGeom>
          <a:noFill/>
        </p:spPr>
        <p:txBody>
          <a:bodyPr wrap="square" lIns="0" rIns="0" tIns="0" bIns="0" anchor="t">
            <a:spAutoFit/>
          </a:bodyPr>
          <a:lstStyle/>
          <a:p>
            <a:pPr algn="l">
              <a:lnSpc>
                <a:spcPct val="115000"/>
              </a:lnSpc>
            </a:pPr>
            <a:r>
              <a:rPr sz="1250" b="0" i="0">
                <a:solidFill>
                  <a:srgbClr val="2C2C2A"/>
                </a:solidFill>
                <a:latin typeface="Helvetica Neue Medium"/>
              </a:rPr>
              <a:t>Specialist thinking, compiled and delivered</a:t>
            </a:r>
          </a:p>
        </p:txBody>
      </p:sp>
      <p:sp>
        <p:nvSpPr>
          <p:cNvPr id="23" name="TextBox 22"/>
          <p:cNvSpPr txBox="1"/>
          <p:nvPr/>
        </p:nvSpPr>
        <p:spPr>
          <a:xfrm>
            <a:off x="1069848" y="4645152"/>
            <a:ext cx="2115235" cy="457200"/>
          </a:xfrm>
          <a:prstGeom prst="rect">
            <a:avLst/>
          </a:prstGeom>
          <a:noFill/>
        </p:spPr>
        <p:txBody>
          <a:bodyPr wrap="square" lIns="0" rIns="0" tIns="0" bIns="0" anchor="t">
            <a:spAutoFit/>
          </a:bodyPr>
          <a:lstStyle/>
          <a:p>
            <a:pPr algn="l">
              <a:lnSpc>
                <a:spcPct val="130000"/>
              </a:lnSpc>
            </a:pPr>
            <a:r>
              <a:rPr sz="950" b="0" i="0">
                <a:solidFill>
                  <a:srgbClr val="5F5E5A"/>
                </a:solidFill>
                <a:latin typeface="Helvetica Neue"/>
              </a:rPr>
              <a:t>Approved once. Reaching every fitting client.</a:t>
            </a:r>
          </a:p>
        </p:txBody>
      </p:sp>
      <p:sp>
        <p:nvSpPr>
          <p:cNvPr id="24" name="Rounded Rectangle 23"/>
          <p:cNvSpPr/>
          <p:nvPr/>
        </p:nvSpPr>
        <p:spPr>
          <a:xfrm>
            <a:off x="3514267" y="3639312"/>
            <a:ext cx="2517571" cy="1517904"/>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15435" y="3785616"/>
            <a:ext cx="2115235" cy="256032"/>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06</a:t>
            </a:r>
          </a:p>
        </p:txBody>
      </p:sp>
      <p:sp>
        <p:nvSpPr>
          <p:cNvPr id="26" name="TextBox 25"/>
          <p:cNvSpPr txBox="1"/>
          <p:nvPr/>
        </p:nvSpPr>
        <p:spPr>
          <a:xfrm>
            <a:off x="3715435" y="4059936"/>
            <a:ext cx="2115235" cy="566928"/>
          </a:xfrm>
          <a:prstGeom prst="rect">
            <a:avLst/>
          </a:prstGeom>
          <a:noFill/>
        </p:spPr>
        <p:txBody>
          <a:bodyPr wrap="square" lIns="0" rIns="0" tIns="0" bIns="0" anchor="t">
            <a:spAutoFit/>
          </a:bodyPr>
          <a:lstStyle/>
          <a:p>
            <a:pPr algn="l">
              <a:lnSpc>
                <a:spcPct val="115000"/>
              </a:lnSpc>
            </a:pPr>
            <a:r>
              <a:rPr sz="1250" b="0" i="0">
                <a:solidFill>
                  <a:srgbClr val="2C2C2A"/>
                </a:solidFill>
                <a:latin typeface="Helvetica Neue Medium"/>
              </a:rPr>
              <a:t>Client intent, straight to finished work</a:t>
            </a:r>
          </a:p>
        </p:txBody>
      </p:sp>
      <p:sp>
        <p:nvSpPr>
          <p:cNvPr id="27" name="TextBox 26"/>
          <p:cNvSpPr txBox="1"/>
          <p:nvPr/>
        </p:nvSpPr>
        <p:spPr>
          <a:xfrm>
            <a:off x="3715435" y="4645152"/>
            <a:ext cx="2115235" cy="457200"/>
          </a:xfrm>
          <a:prstGeom prst="rect">
            <a:avLst/>
          </a:prstGeom>
          <a:noFill/>
        </p:spPr>
        <p:txBody>
          <a:bodyPr wrap="square" lIns="0" rIns="0" tIns="0" bIns="0" anchor="t">
            <a:spAutoFit/>
          </a:bodyPr>
          <a:lstStyle/>
          <a:p>
            <a:pPr algn="l">
              <a:lnSpc>
                <a:spcPct val="130000"/>
              </a:lnSpc>
            </a:pPr>
            <a:r>
              <a:rPr sz="950" b="0" i="0">
                <a:solidFill>
                  <a:srgbClr val="5F5E5A"/>
                </a:solidFill>
                <a:latin typeface="Helvetica Neue"/>
              </a:rPr>
              <a:t>Governed execution. Autonomy earned rung by rung.</a:t>
            </a:r>
          </a:p>
        </p:txBody>
      </p:sp>
      <p:sp>
        <p:nvSpPr>
          <p:cNvPr id="28" name="Rounded Rectangle 27"/>
          <p:cNvSpPr/>
          <p:nvPr/>
        </p:nvSpPr>
        <p:spPr>
          <a:xfrm>
            <a:off x="6159855" y="3639312"/>
            <a:ext cx="2517571" cy="1517904"/>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1023" y="3785616"/>
            <a:ext cx="2115235" cy="256032"/>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07</a:t>
            </a:r>
          </a:p>
        </p:txBody>
      </p:sp>
      <p:sp>
        <p:nvSpPr>
          <p:cNvPr id="30" name="TextBox 29"/>
          <p:cNvSpPr txBox="1"/>
          <p:nvPr/>
        </p:nvSpPr>
        <p:spPr>
          <a:xfrm>
            <a:off x="6361023" y="4059936"/>
            <a:ext cx="2115235" cy="566928"/>
          </a:xfrm>
          <a:prstGeom prst="rect">
            <a:avLst/>
          </a:prstGeom>
          <a:noFill/>
        </p:spPr>
        <p:txBody>
          <a:bodyPr wrap="square" lIns="0" rIns="0" tIns="0" bIns="0" anchor="t">
            <a:spAutoFit/>
          </a:bodyPr>
          <a:lstStyle/>
          <a:p>
            <a:pPr algn="l">
              <a:lnSpc>
                <a:spcPct val="115000"/>
              </a:lnSpc>
            </a:pPr>
            <a:r>
              <a:rPr sz="1250" b="0" i="0">
                <a:solidFill>
                  <a:srgbClr val="2C2C2A"/>
                </a:solidFill>
                <a:latin typeface="Helvetica Neue Medium"/>
              </a:rPr>
              <a:t>People who compound every week</a:t>
            </a:r>
          </a:p>
        </p:txBody>
      </p:sp>
      <p:sp>
        <p:nvSpPr>
          <p:cNvPr id="31" name="TextBox 30"/>
          <p:cNvSpPr txBox="1"/>
          <p:nvPr/>
        </p:nvSpPr>
        <p:spPr>
          <a:xfrm>
            <a:off x="6361023" y="4645152"/>
            <a:ext cx="2115235" cy="457200"/>
          </a:xfrm>
          <a:prstGeom prst="rect">
            <a:avLst/>
          </a:prstGeom>
          <a:noFill/>
        </p:spPr>
        <p:txBody>
          <a:bodyPr wrap="square" lIns="0" rIns="0" tIns="0" bIns="0" anchor="t">
            <a:spAutoFit/>
          </a:bodyPr>
          <a:lstStyle/>
          <a:p>
            <a:pPr algn="l">
              <a:lnSpc>
                <a:spcPct val="130000"/>
              </a:lnSpc>
            </a:pPr>
            <a:r>
              <a:rPr sz="950" b="0" i="0">
                <a:solidFill>
                  <a:srgbClr val="5F5E5A"/>
                </a:solidFill>
                <a:latin typeface="Helvetica Neue"/>
              </a:rPr>
              <a:t>The parallel book. Power Friday.</a:t>
            </a:r>
          </a:p>
        </p:txBody>
      </p:sp>
      <p:sp>
        <p:nvSpPr>
          <p:cNvPr id="32" name="Rounded Rectangle 31"/>
          <p:cNvSpPr/>
          <p:nvPr/>
        </p:nvSpPr>
        <p:spPr>
          <a:xfrm>
            <a:off x="8805443" y="3639312"/>
            <a:ext cx="2517571" cy="1517904"/>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06611" y="3785616"/>
            <a:ext cx="2115235" cy="256032"/>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08</a:t>
            </a:r>
          </a:p>
        </p:txBody>
      </p:sp>
      <p:sp>
        <p:nvSpPr>
          <p:cNvPr id="34" name="TextBox 33"/>
          <p:cNvSpPr txBox="1"/>
          <p:nvPr/>
        </p:nvSpPr>
        <p:spPr>
          <a:xfrm>
            <a:off x="9006611" y="4059936"/>
            <a:ext cx="2115235" cy="566928"/>
          </a:xfrm>
          <a:prstGeom prst="rect">
            <a:avLst/>
          </a:prstGeom>
          <a:noFill/>
        </p:spPr>
        <p:txBody>
          <a:bodyPr wrap="square" lIns="0" rIns="0" tIns="0" bIns="0" anchor="t">
            <a:spAutoFit/>
          </a:bodyPr>
          <a:lstStyle/>
          <a:p>
            <a:pPr algn="l">
              <a:lnSpc>
                <a:spcPct val="115000"/>
              </a:lnSpc>
            </a:pPr>
            <a:r>
              <a:rPr sz="1250" b="0" i="0">
                <a:solidFill>
                  <a:srgbClr val="2C2C2A"/>
                </a:solidFill>
                <a:latin typeface="Helvetica Neue Medium"/>
              </a:rPr>
              <a:t>One platform, one loop, one moat</a:t>
            </a:r>
          </a:p>
        </p:txBody>
      </p:sp>
      <p:sp>
        <p:nvSpPr>
          <p:cNvPr id="35" name="TextBox 34"/>
          <p:cNvSpPr txBox="1"/>
          <p:nvPr/>
        </p:nvSpPr>
        <p:spPr>
          <a:xfrm>
            <a:off x="9006611" y="4645152"/>
            <a:ext cx="2115235" cy="457200"/>
          </a:xfrm>
          <a:prstGeom prst="rect">
            <a:avLst/>
          </a:prstGeom>
          <a:noFill/>
        </p:spPr>
        <p:txBody>
          <a:bodyPr wrap="square" lIns="0" rIns="0" tIns="0" bIns="0" anchor="t">
            <a:spAutoFit/>
          </a:bodyPr>
          <a:lstStyle/>
          <a:p>
            <a:pPr algn="l">
              <a:lnSpc>
                <a:spcPct val="130000"/>
              </a:lnSpc>
            </a:pPr>
            <a:r>
              <a:rPr sz="950" b="0" i="0">
                <a:solidFill>
                  <a:srgbClr val="5F5E5A"/>
                </a:solidFill>
                <a:latin typeface="Helvetica Neue"/>
              </a:rPr>
              <a:t>Context, judgment, execution, outcomes — connected.</a:t>
            </a:r>
          </a:p>
        </p:txBody>
      </p:sp>
      <p:sp>
        <p:nvSpPr>
          <p:cNvPr id="36" name="Rounded Rectangle 35"/>
          <p:cNvSpPr/>
          <p:nvPr/>
        </p:nvSpPr>
        <p:spPr>
          <a:xfrm>
            <a:off x="868680" y="5897880"/>
            <a:ext cx="10454335" cy="777240"/>
          </a:xfrm>
          <a:prstGeom prst="roundRect">
            <a:avLst>
              <a:gd name="adj" fmla="val 18000"/>
            </a:avLst>
          </a:prstGeom>
          <a:solidFill>
            <a:srgbClr val="FAF8F1"/>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64592" bIns="164592" wrap="square"/>
          <a:lstStyle/>
          <a:p>
            <a:pPr algn="l"/>
            <a:r>
              <a:rPr sz="1800" b="0">
                <a:solidFill>
                  <a:srgbClr val="2C2C2A"/>
                </a:solidFill>
                <a:latin typeface="Helvetica Neue Medium"/>
              </a:rPr>
              <a:t>Every slide that follows is one of these eight, made concrete.</a:t>
            </a:r>
          </a:p>
        </p:txBody>
      </p:sp>
      <p:sp>
        <p:nvSpPr>
          <p:cNvPr id="37" name="TextBox 36"/>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3</a:t>
            </a:r>
            <a:r>
              <a:rPr sz="1000" b="0" i="0">
                <a:solidFill>
                  <a:srgbClr val="888780"/>
                </a:solidFill>
                <a:latin typeface="Helvetica Neue Medium"/>
              </a:rPr>
              <a:t>  /  32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03   </a:t>
            </a:r>
            <a:r>
              <a:rPr sz="1100" b="0" i="0">
                <a:solidFill>
                  <a:srgbClr val="993C1D"/>
                </a:solidFill>
                <a:latin typeface="Helvetica Neue Medium"/>
              </a:rPr>
              <a:t>The frame</a:t>
            </a:r>
          </a:p>
        </p:txBody>
      </p:sp>
      <p:sp>
        <p:nvSpPr>
          <p:cNvPr id="3" name="TextBox 2"/>
          <p:cNvSpPr txBox="1"/>
          <p:nvPr/>
        </p:nvSpPr>
        <p:spPr>
          <a:xfrm>
            <a:off x="868680" y="2148840"/>
            <a:ext cx="9875520" cy="2103120"/>
          </a:xfrm>
          <a:prstGeom prst="rect">
            <a:avLst/>
          </a:prstGeom>
          <a:noFill/>
        </p:spPr>
        <p:txBody>
          <a:bodyPr wrap="square" lIns="0" rIns="0" tIns="0" bIns="0" anchor="t">
            <a:spAutoFit/>
          </a:bodyPr>
          <a:lstStyle/>
          <a:p>
            <a:pPr algn="l">
              <a:lnSpc>
                <a:spcPct val="122000"/>
              </a:lnSpc>
            </a:pPr>
            <a:r>
              <a:rPr sz="3000" b="0" i="0">
                <a:solidFill>
                  <a:srgbClr val="2C2C2A"/>
                </a:solidFill>
                <a:latin typeface="Helvetica Neue Medium"/>
              </a:rPr>
              <a:t>The best of the firm already exists — somewhere in the firm. </a:t>
            </a:r>
            <a:r>
              <a:rPr sz="3000" b="0" i="0">
                <a:solidFill>
                  <a:srgbClr val="D85A30"/>
                </a:solidFill>
                <a:latin typeface="Helvetica Neue Medium"/>
              </a:rPr>
              <a:t>The opportunity: connect it to the right client, at the right moment, and turn it into action almost instantly.</a:t>
            </a:r>
          </a:p>
        </p:txBody>
      </p:sp>
      <p:sp>
        <p:nvSpPr>
          <p:cNvPr id="4" name="TextBox 3"/>
          <p:cNvSpPr txBox="1"/>
          <p:nvPr/>
        </p:nvSpPr>
        <p:spPr>
          <a:xfrm>
            <a:off x="868680" y="4617720"/>
            <a:ext cx="9601200" cy="320040"/>
          </a:xfrm>
          <a:prstGeom prst="rect">
            <a:avLst/>
          </a:prstGeom>
          <a:noFill/>
        </p:spPr>
        <p:txBody>
          <a:bodyPr wrap="square" lIns="0" rIns="0" tIns="0" bIns="0" anchor="t">
            <a:spAutoFit/>
          </a:bodyPr>
          <a:lstStyle/>
          <a:p>
            <a:pPr algn="l">
              <a:lnSpc>
                <a:spcPct val="125000"/>
              </a:lnSpc>
            </a:pPr>
            <a:r>
              <a:rPr sz="1200" b="0" i="0">
                <a:solidFill>
                  <a:srgbClr val="5F5E5A"/>
                </a:solidFill>
                <a:latin typeface="Helvetica Neue Medium"/>
              </a:rPr>
              <a:t>The banker who knows the family. The investor with the view. The planner who has seen it before. Connected.</a:t>
            </a:r>
          </a:p>
        </p:txBody>
      </p:sp>
      <p:sp>
        <p:nvSpPr>
          <p:cNvPr id="5" name="TextBox 4"/>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4</a:t>
            </a:r>
            <a:r>
              <a:rPr sz="1000" b="0" i="0">
                <a:solidFill>
                  <a:srgbClr val="888780"/>
                </a:solidFill>
                <a:latin typeface="Helvetica Neue Medium"/>
              </a:rPr>
              <a:t>  /  32</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04   </a:t>
            </a:r>
            <a:r>
              <a:rPr sz="1100" b="0" i="0">
                <a:solidFill>
                  <a:srgbClr val="993C1D"/>
                </a:solidFill>
                <a:latin typeface="Helvetica Neue Medium"/>
              </a:rPr>
              <a:t>The organizing principle</a:t>
            </a:r>
          </a:p>
        </p:txBody>
      </p:sp>
      <p:sp>
        <p:nvSpPr>
          <p:cNvPr id="3" name="TextBox 2"/>
          <p:cNvSpPr txBox="1"/>
          <p:nvPr/>
        </p:nvSpPr>
        <p:spPr>
          <a:xfrm>
            <a:off x="868680" y="960120"/>
            <a:ext cx="10454335" cy="914400"/>
          </a:xfrm>
          <a:prstGeom prst="rect">
            <a:avLst/>
          </a:prstGeom>
          <a:noFill/>
        </p:spPr>
        <p:txBody>
          <a:bodyPr wrap="square" lIns="0" rIns="0" tIns="0" bIns="0" anchor="t">
            <a:spAutoFit/>
          </a:bodyPr>
          <a:lstStyle/>
          <a:p>
            <a:pPr algn="l">
              <a:lnSpc>
                <a:spcPct val="115000"/>
              </a:lnSpc>
            </a:pPr>
            <a:r>
              <a:rPr sz="2600" b="0" i="0">
                <a:solidFill>
                  <a:srgbClr val="2C2C2A"/>
                </a:solidFill>
                <a:latin typeface="Helvetica Neue Medium"/>
              </a:rPr>
              <a:t>Four ones.</a:t>
            </a:r>
          </a:p>
        </p:txBody>
      </p:sp>
      <p:sp>
        <p:nvSpPr>
          <p:cNvPr id="4" name="Rounded Rectangle 3"/>
          <p:cNvSpPr/>
          <p:nvPr/>
        </p:nvSpPr>
        <p:spPr>
          <a:xfrm>
            <a:off x="868680" y="2194560"/>
            <a:ext cx="2503855" cy="173736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lnSpc>
                <a:spcPct val="115000"/>
              </a:lnSpc>
            </a:pPr>
            <a:r>
              <a:rPr sz="1900" b="0">
                <a:solidFill>
                  <a:srgbClr val="2C2C2A"/>
                </a:solidFill>
                <a:latin typeface="Helvetica Neue Medium"/>
              </a:rPr>
              <a:t>One client</a:t>
            </a:r>
          </a:p>
        </p:txBody>
      </p:sp>
      <p:sp>
        <p:nvSpPr>
          <p:cNvPr id="5" name="Rounded Rectangle 4"/>
          <p:cNvSpPr/>
          <p:nvPr/>
        </p:nvSpPr>
        <p:spPr>
          <a:xfrm>
            <a:off x="3518839" y="2194560"/>
            <a:ext cx="2503855" cy="173736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lnSpc>
                <a:spcPct val="115000"/>
              </a:lnSpc>
            </a:pPr>
            <a:r>
              <a:rPr sz="1900" b="0">
                <a:solidFill>
                  <a:srgbClr val="2C2C2A"/>
                </a:solidFill>
                <a:latin typeface="Helvetica Neue Medium"/>
              </a:rPr>
              <a:t>One living memory</a:t>
            </a:r>
          </a:p>
        </p:txBody>
      </p:sp>
      <p:sp>
        <p:nvSpPr>
          <p:cNvPr id="6" name="Rounded Rectangle 5"/>
          <p:cNvSpPr/>
          <p:nvPr/>
        </p:nvSpPr>
        <p:spPr>
          <a:xfrm>
            <a:off x="6168999" y="2194560"/>
            <a:ext cx="2503855" cy="173736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lnSpc>
                <a:spcPct val="115000"/>
              </a:lnSpc>
            </a:pPr>
            <a:r>
              <a:rPr sz="1900" b="0">
                <a:solidFill>
                  <a:srgbClr val="2C2C2A"/>
                </a:solidFill>
                <a:latin typeface="Helvetica Neue Medium"/>
              </a:rPr>
              <a:t>One coordinated team</a:t>
            </a:r>
          </a:p>
        </p:txBody>
      </p:sp>
      <p:sp>
        <p:nvSpPr>
          <p:cNvPr id="7" name="Rounded Rectangle 6"/>
          <p:cNvSpPr/>
          <p:nvPr/>
        </p:nvSpPr>
        <p:spPr>
          <a:xfrm>
            <a:off x="8819159" y="2194560"/>
            <a:ext cx="2503855" cy="173736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lnSpc>
                <a:spcPct val="115000"/>
              </a:lnSpc>
            </a:pPr>
            <a:r>
              <a:rPr sz="1900" b="0">
                <a:solidFill>
                  <a:srgbClr val="2C2C2A"/>
                </a:solidFill>
                <a:latin typeface="Helvetica Neue Medium"/>
              </a:rPr>
              <a:t>One action state</a:t>
            </a:r>
          </a:p>
        </p:txBody>
      </p:sp>
      <p:sp>
        <p:nvSpPr>
          <p:cNvPr id="8" name="TextBox 7"/>
          <p:cNvSpPr txBox="1"/>
          <p:nvPr/>
        </p:nvSpPr>
        <p:spPr>
          <a:xfrm>
            <a:off x="868680" y="4297680"/>
            <a:ext cx="9875520" cy="1188720"/>
          </a:xfrm>
          <a:prstGeom prst="rect">
            <a:avLst/>
          </a:prstGeom>
          <a:noFill/>
        </p:spPr>
        <p:txBody>
          <a:bodyPr wrap="square" lIns="0" rIns="0" tIns="0" bIns="0" anchor="t">
            <a:spAutoFit/>
          </a:bodyPr>
          <a:lstStyle/>
          <a:p>
            <a:pPr algn="l">
              <a:lnSpc>
                <a:spcPct val="155000"/>
              </a:lnSpc>
            </a:pPr>
            <a:r>
              <a:rPr sz="1500" b="0" i="0">
                <a:solidFill>
                  <a:srgbClr val="444441"/>
                </a:solidFill>
                <a:latin typeface="Helvetica Neue"/>
              </a:rPr>
              <a:t>Everything that follows is this sentence, worn differently — for the banker, the specialist, the analyst, the leader, and the client.</a:t>
            </a:r>
          </a:p>
        </p:txBody>
      </p:sp>
      <p:sp>
        <p:nvSpPr>
          <p:cNvPr id="9" name="TextBox 8"/>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5</a:t>
            </a:r>
            <a:r>
              <a:rPr sz="1000" b="0" i="0">
                <a:solidFill>
                  <a:srgbClr val="888780"/>
                </a:solidFill>
                <a:latin typeface="Helvetica Neue Medium"/>
              </a:rPr>
              <a:t>  /  32</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2011680"/>
            <a:ext cx="2743200" cy="1828800"/>
          </a:xfrm>
          <a:prstGeom prst="rect">
            <a:avLst/>
          </a:prstGeom>
          <a:noFill/>
        </p:spPr>
        <p:txBody>
          <a:bodyPr wrap="square" lIns="0" rIns="0" tIns="0" bIns="0" anchor="t">
            <a:spAutoFit/>
          </a:bodyPr>
          <a:lstStyle/>
          <a:p>
            <a:pPr algn="l">
              <a:lnSpc>
                <a:spcPct val="100000"/>
              </a:lnSpc>
            </a:pPr>
            <a:r>
              <a:rPr sz="11000" b="0" i="0">
                <a:solidFill>
                  <a:srgbClr val="D85A30"/>
                </a:solidFill>
                <a:latin typeface="Helvetica Neue Medium"/>
              </a:rPr>
              <a:t>i</a:t>
            </a:r>
          </a:p>
        </p:txBody>
      </p:sp>
      <p:sp>
        <p:nvSpPr>
          <p:cNvPr id="3" name="TextBox 2"/>
          <p:cNvSpPr txBox="1"/>
          <p:nvPr/>
        </p:nvSpPr>
        <p:spPr>
          <a:xfrm>
            <a:off x="868680" y="3703320"/>
            <a:ext cx="2743200" cy="365760"/>
          </a:xfrm>
          <a:prstGeom prst="rect">
            <a:avLst/>
          </a:prstGeom>
          <a:noFill/>
        </p:spPr>
        <p:txBody>
          <a:bodyPr wrap="square" lIns="0" rIns="0" tIns="0" bIns="0" anchor="t">
            <a:spAutoFit/>
          </a:bodyPr>
          <a:lstStyle/>
          <a:p>
            <a:pPr algn="l">
              <a:lnSpc>
                <a:spcPct val="125000"/>
              </a:lnSpc>
            </a:pPr>
            <a:r>
              <a:rPr sz="1100" b="0" i="0">
                <a:solidFill>
                  <a:srgbClr val="5F5E5A"/>
                </a:solidFill>
                <a:latin typeface="Helvetica Neue Medium"/>
              </a:rPr>
              <a:t>The center</a:t>
            </a:r>
          </a:p>
        </p:txBody>
      </p:sp>
      <p:sp>
        <p:nvSpPr>
          <p:cNvPr id="4" name="TextBox 3"/>
          <p:cNvSpPr txBox="1"/>
          <p:nvPr/>
        </p:nvSpPr>
        <p:spPr>
          <a:xfrm>
            <a:off x="4251960" y="1874519"/>
            <a:ext cx="7071055" cy="1097280"/>
          </a:xfrm>
          <a:prstGeom prst="rect">
            <a:avLst/>
          </a:prstGeom>
          <a:noFill/>
        </p:spPr>
        <p:txBody>
          <a:bodyPr wrap="square" lIns="0" rIns="0" tIns="0" bIns="0" anchor="t">
            <a:spAutoFit/>
          </a:bodyPr>
          <a:lstStyle/>
          <a:p>
            <a:pPr algn="l">
              <a:lnSpc>
                <a:spcPct val="110000"/>
              </a:lnSpc>
            </a:pPr>
            <a:r>
              <a:rPr sz="3600" b="0" i="0">
                <a:solidFill>
                  <a:srgbClr val="2C2C2A"/>
                </a:solidFill>
                <a:latin typeface="Helvetica Neue Medium"/>
              </a:rPr>
              <a:t>Every client has an always-on Client Agent.</a:t>
            </a:r>
          </a:p>
        </p:txBody>
      </p:sp>
      <p:sp>
        <p:nvSpPr>
          <p:cNvPr id="5" name="TextBox 4"/>
          <p:cNvSpPr txBox="1"/>
          <p:nvPr/>
        </p:nvSpPr>
        <p:spPr>
          <a:xfrm>
            <a:off x="4251960" y="3108960"/>
            <a:ext cx="7071055" cy="3291840"/>
          </a:xfrm>
          <a:prstGeom prst="rect">
            <a:avLst/>
          </a:prstGeom>
          <a:noFill/>
        </p:spPr>
        <p:txBody>
          <a:bodyPr wrap="square" lIns="0" rIns="0" tIns="0" bIns="0" anchor="t">
            <a:spAutoFit/>
          </a:bodyPr>
          <a:lstStyle/>
          <a:p>
            <a:pPr algn="l">
              <a:lnSpc>
                <a:spcPct val="150000"/>
              </a:lnSpc>
            </a:pPr>
            <a:r>
              <a:rPr sz="1400" b="0" i="0">
                <a:solidFill>
                  <a:srgbClr val="444441"/>
                </a:solidFill>
                <a:latin typeface="Helvetica Neue"/>
              </a:rPr>
              <a:t>A persistent, permissioned agent that holds everything we are authorized to understand: the family and its entities, goals, portfolios, liabilities, preferences, past conversations, important decisions, open opportunities — and every commitment we have made. Not a better CRM record. A living memory of the relationship.</a:t>
            </a:r>
          </a:p>
          <a:p>
            <a:pPr algn="l">
              <a:lnSpc>
                <a:spcPct val="150000"/>
              </a:lnSpc>
              <a:spcBef>
                <a:spcPts val="800"/>
              </a:spcBef>
            </a:pPr>
            <a:r>
              <a:rPr sz="1400" b="0" i="0">
                <a:solidFill>
                  <a:srgbClr val="444441"/>
                </a:solidFill>
                <a:latin typeface="Helvetica Neue"/>
              </a:rPr>
              <a:t>It is also the relationship’s chief of staff: </a:t>
            </a:r>
            <a:r>
              <a:rPr sz="1400" b="0" i="0">
                <a:solidFill>
                  <a:srgbClr val="993C1D"/>
                </a:solidFill>
                <a:latin typeface="Helvetica Neue Medium"/>
              </a:rPr>
              <a:t>investment, lending, planning, and service agents coordinated around one shared understanding of the client</a:t>
            </a:r>
            <a:r>
              <a:rPr sz="1400" b="0" i="0">
                <a:solidFill>
                  <a:srgbClr val="444441"/>
                </a:solidFill>
                <a:latin typeface="Helvetica Neue"/>
              </a:rPr>
              <a:t> — one relationship plan, clear ownership, no conflicting outreach, and every promise tracked until it is done.</a:t>
            </a:r>
          </a:p>
        </p:txBody>
      </p:sp>
      <p:sp>
        <p:nvSpPr>
          <p:cNvPr id="6" name="TextBox 5"/>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6</a:t>
            </a:r>
            <a:r>
              <a:rPr sz="1000" b="0" i="0">
                <a:solidFill>
                  <a:srgbClr val="888780"/>
                </a:solidFill>
                <a:latin typeface="Helvetica Neue Medium"/>
              </a:rPr>
              <a:t>  /  32</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i   </a:t>
            </a:r>
            <a:r>
              <a:rPr sz="1100" b="0" i="0">
                <a:solidFill>
                  <a:srgbClr val="993C1D"/>
                </a:solidFill>
                <a:latin typeface="Helvetica Neue Medium"/>
              </a:rPr>
              <a:t>The center  ·  What it holds</a:t>
            </a:r>
          </a:p>
        </p:txBody>
      </p:sp>
      <p:sp>
        <p:nvSpPr>
          <p:cNvPr id="3" name="TextBox 2"/>
          <p:cNvSpPr txBox="1"/>
          <p:nvPr/>
        </p:nvSpPr>
        <p:spPr>
          <a:xfrm>
            <a:off x="868680" y="1005840"/>
            <a:ext cx="10454335" cy="914400"/>
          </a:xfrm>
          <a:prstGeom prst="rect">
            <a:avLst/>
          </a:prstGeom>
          <a:noFill/>
        </p:spPr>
        <p:txBody>
          <a:bodyPr wrap="square" lIns="0" rIns="0" tIns="0" bIns="0" anchor="t">
            <a:spAutoFit/>
          </a:bodyPr>
          <a:lstStyle/>
          <a:p>
            <a:pPr algn="l">
              <a:lnSpc>
                <a:spcPct val="115000"/>
              </a:lnSpc>
            </a:pPr>
            <a:r>
              <a:rPr sz="2800" b="0" i="0">
                <a:solidFill>
                  <a:srgbClr val="2C2C2A"/>
                </a:solidFill>
                <a:latin typeface="Helvetica Neue Medium"/>
              </a:rPr>
              <a:t>A living memory, in four verbs.</a:t>
            </a:r>
          </a:p>
        </p:txBody>
      </p:sp>
      <p:sp>
        <p:nvSpPr>
          <p:cNvPr id="4" name="Rounded Rectangle 3"/>
          <p:cNvSpPr/>
          <p:nvPr/>
        </p:nvSpPr>
        <p:spPr>
          <a:xfrm>
            <a:off x="868680" y="2331720"/>
            <a:ext cx="2503855" cy="278892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9848" y="2532888"/>
            <a:ext cx="2101519" cy="457200"/>
          </a:xfrm>
          <a:prstGeom prst="rect">
            <a:avLst/>
          </a:prstGeom>
          <a:noFill/>
        </p:spPr>
        <p:txBody>
          <a:bodyPr wrap="square" lIns="0" rIns="0" tIns="0" bIns="0" anchor="t">
            <a:spAutoFit/>
          </a:bodyPr>
          <a:lstStyle/>
          <a:p>
            <a:pPr algn="l">
              <a:lnSpc>
                <a:spcPct val="125000"/>
              </a:lnSpc>
            </a:pPr>
            <a:r>
              <a:rPr sz="2100" b="0" i="1">
                <a:solidFill>
                  <a:srgbClr val="D85A30"/>
                </a:solidFill>
                <a:latin typeface="Helvetica Neue Medium"/>
              </a:rPr>
              <a:t>It remembers.</a:t>
            </a:r>
          </a:p>
        </p:txBody>
      </p:sp>
      <p:sp>
        <p:nvSpPr>
          <p:cNvPr id="6" name="TextBox 5"/>
          <p:cNvSpPr txBox="1"/>
          <p:nvPr/>
        </p:nvSpPr>
        <p:spPr>
          <a:xfrm>
            <a:off x="1069848" y="3108960"/>
            <a:ext cx="2101519" cy="1874520"/>
          </a:xfrm>
          <a:prstGeom prst="rect">
            <a:avLst/>
          </a:prstGeom>
          <a:noFill/>
        </p:spPr>
        <p:txBody>
          <a:bodyPr wrap="square" lIns="0" rIns="0" tIns="0" bIns="0" anchor="t">
            <a:spAutoFit/>
          </a:bodyPr>
          <a:lstStyle/>
          <a:p>
            <a:pPr algn="l">
              <a:lnSpc>
                <a:spcPct val="145000"/>
              </a:lnSpc>
            </a:pPr>
            <a:r>
              <a:rPr sz="1100" b="0" i="0">
                <a:solidFill>
                  <a:srgbClr val="5F5E5A"/>
                </a:solidFill>
                <a:latin typeface="Helvetica Neue"/>
              </a:rPr>
              <a:t>Family, entities, goals, portfolios, liabilities, preferences, decisions, open questions — and every commitment made anywhere in the relationship.</a:t>
            </a:r>
          </a:p>
        </p:txBody>
      </p:sp>
      <p:sp>
        <p:nvSpPr>
          <p:cNvPr id="7" name="Rounded Rectangle 6"/>
          <p:cNvSpPr/>
          <p:nvPr/>
        </p:nvSpPr>
        <p:spPr>
          <a:xfrm>
            <a:off x="3518839" y="2331720"/>
            <a:ext cx="2503855" cy="278892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20007" y="2532888"/>
            <a:ext cx="2101519" cy="457200"/>
          </a:xfrm>
          <a:prstGeom prst="rect">
            <a:avLst/>
          </a:prstGeom>
          <a:noFill/>
        </p:spPr>
        <p:txBody>
          <a:bodyPr wrap="square" lIns="0" rIns="0" tIns="0" bIns="0" anchor="t">
            <a:spAutoFit/>
          </a:bodyPr>
          <a:lstStyle/>
          <a:p>
            <a:pPr algn="l">
              <a:lnSpc>
                <a:spcPct val="125000"/>
              </a:lnSpc>
            </a:pPr>
            <a:r>
              <a:rPr sz="2100" b="0" i="1">
                <a:solidFill>
                  <a:srgbClr val="D85A30"/>
                </a:solidFill>
                <a:latin typeface="Helvetica Neue Medium"/>
              </a:rPr>
              <a:t>It senses.</a:t>
            </a:r>
          </a:p>
        </p:txBody>
      </p:sp>
      <p:sp>
        <p:nvSpPr>
          <p:cNvPr id="9" name="TextBox 8"/>
          <p:cNvSpPr txBox="1"/>
          <p:nvPr/>
        </p:nvSpPr>
        <p:spPr>
          <a:xfrm>
            <a:off x="3720007" y="3108960"/>
            <a:ext cx="2101519" cy="1874520"/>
          </a:xfrm>
          <a:prstGeom prst="rect">
            <a:avLst/>
          </a:prstGeom>
          <a:noFill/>
        </p:spPr>
        <p:txBody>
          <a:bodyPr wrap="square" lIns="0" rIns="0" tIns="0" bIns="0" anchor="t">
            <a:spAutoFit/>
          </a:bodyPr>
          <a:lstStyle/>
          <a:p>
            <a:pPr algn="l">
              <a:lnSpc>
                <a:spcPct val="145000"/>
              </a:lnSpc>
            </a:pPr>
            <a:r>
              <a:rPr sz="1100" b="0" i="0">
                <a:solidFill>
                  <a:srgbClr val="5F5E5A"/>
                </a:solidFill>
                <a:latin typeface="Helvetica Neue"/>
              </a:rPr>
              <a:t>Permitted signals from meetings, calls, email, transactions, service activity, and markets — what changed, what may matter, what needs attention.</a:t>
            </a:r>
          </a:p>
        </p:txBody>
      </p:sp>
      <p:sp>
        <p:nvSpPr>
          <p:cNvPr id="10" name="Rounded Rectangle 9"/>
          <p:cNvSpPr/>
          <p:nvPr/>
        </p:nvSpPr>
        <p:spPr>
          <a:xfrm>
            <a:off x="6168999" y="2331720"/>
            <a:ext cx="2503855" cy="278892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0167" y="2532888"/>
            <a:ext cx="2101519" cy="457200"/>
          </a:xfrm>
          <a:prstGeom prst="rect">
            <a:avLst/>
          </a:prstGeom>
          <a:noFill/>
        </p:spPr>
        <p:txBody>
          <a:bodyPr wrap="square" lIns="0" rIns="0" tIns="0" bIns="0" anchor="t">
            <a:spAutoFit/>
          </a:bodyPr>
          <a:lstStyle/>
          <a:p>
            <a:pPr algn="l">
              <a:lnSpc>
                <a:spcPct val="125000"/>
              </a:lnSpc>
            </a:pPr>
            <a:r>
              <a:rPr sz="2100" b="0" i="1">
                <a:solidFill>
                  <a:srgbClr val="D85A30"/>
                </a:solidFill>
                <a:latin typeface="Helvetica Neue Medium"/>
              </a:rPr>
              <a:t>It asks.</a:t>
            </a:r>
          </a:p>
        </p:txBody>
      </p:sp>
      <p:sp>
        <p:nvSpPr>
          <p:cNvPr id="12" name="TextBox 11"/>
          <p:cNvSpPr txBox="1"/>
          <p:nvPr/>
        </p:nvSpPr>
        <p:spPr>
          <a:xfrm>
            <a:off x="6370167" y="3108960"/>
            <a:ext cx="2101519" cy="1874520"/>
          </a:xfrm>
          <a:prstGeom prst="rect">
            <a:avLst/>
          </a:prstGeom>
          <a:noFill/>
        </p:spPr>
        <p:txBody>
          <a:bodyPr wrap="square" lIns="0" rIns="0" tIns="0" bIns="0" anchor="t">
            <a:spAutoFit/>
          </a:bodyPr>
          <a:lstStyle/>
          <a:p>
            <a:pPr algn="l">
              <a:lnSpc>
                <a:spcPct val="145000"/>
              </a:lnSpc>
            </a:pPr>
            <a:r>
              <a:rPr sz="1100" b="0" i="0">
                <a:solidFill>
                  <a:srgbClr val="5F5E5A"/>
                </a:solidFill>
                <a:latin typeface="Helvetica Neue"/>
              </a:rPr>
              <a:t>Facts, data, judgment, signals, and AI assumptions stay distinct. When unsure: </a:t>
            </a:r>
            <a:r>
              <a:rPr sz="1100" b="0" i="1">
                <a:solidFill>
                  <a:srgbClr val="5F5E5A"/>
                </a:solidFill>
                <a:latin typeface="Helvetica Neue"/>
              </a:rPr>
              <a:t>“We believe this may be becoming a priority for the client. Is that correct?”</a:t>
            </a:r>
          </a:p>
        </p:txBody>
      </p:sp>
      <p:sp>
        <p:nvSpPr>
          <p:cNvPr id="13" name="Rounded Rectangle 12"/>
          <p:cNvSpPr/>
          <p:nvPr/>
        </p:nvSpPr>
        <p:spPr>
          <a:xfrm>
            <a:off x="8819159" y="2331720"/>
            <a:ext cx="2503855" cy="278892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20327" y="2532888"/>
            <a:ext cx="2101519" cy="457200"/>
          </a:xfrm>
          <a:prstGeom prst="rect">
            <a:avLst/>
          </a:prstGeom>
          <a:noFill/>
        </p:spPr>
        <p:txBody>
          <a:bodyPr wrap="square" lIns="0" rIns="0" tIns="0" bIns="0" anchor="t">
            <a:spAutoFit/>
          </a:bodyPr>
          <a:lstStyle/>
          <a:p>
            <a:pPr algn="l">
              <a:lnSpc>
                <a:spcPct val="125000"/>
              </a:lnSpc>
            </a:pPr>
            <a:r>
              <a:rPr sz="2100" b="0" i="1">
                <a:solidFill>
                  <a:srgbClr val="D85A30"/>
                </a:solidFill>
                <a:latin typeface="Helvetica Neue Medium"/>
              </a:rPr>
              <a:t>It coordinates.</a:t>
            </a:r>
          </a:p>
        </p:txBody>
      </p:sp>
      <p:sp>
        <p:nvSpPr>
          <p:cNvPr id="15" name="TextBox 14"/>
          <p:cNvSpPr txBox="1"/>
          <p:nvPr/>
        </p:nvSpPr>
        <p:spPr>
          <a:xfrm>
            <a:off x="9020327" y="3108960"/>
            <a:ext cx="2101519" cy="1874520"/>
          </a:xfrm>
          <a:prstGeom prst="rect">
            <a:avLst/>
          </a:prstGeom>
          <a:noFill/>
        </p:spPr>
        <p:txBody>
          <a:bodyPr wrap="square" lIns="0" rIns="0" tIns="0" bIns="0" anchor="t">
            <a:spAutoFit/>
          </a:bodyPr>
          <a:lstStyle/>
          <a:p>
            <a:pPr algn="l">
              <a:lnSpc>
                <a:spcPct val="145000"/>
              </a:lnSpc>
            </a:pPr>
            <a:r>
              <a:rPr sz="1100" b="0" i="0">
                <a:solidFill>
                  <a:srgbClr val="5F5E5A"/>
                </a:solidFill>
                <a:latin typeface="Helvetica Neue"/>
              </a:rPr>
              <a:t>One plan. Clear ownership. No duplicated or conflicting outreach. The action state lives in one place, visible until complete.</a:t>
            </a:r>
          </a:p>
        </p:txBody>
      </p:sp>
      <p:sp>
        <p:nvSpPr>
          <p:cNvPr id="16" name="Rounded Rectangle 15"/>
          <p:cNvSpPr/>
          <p:nvPr/>
        </p:nvSpPr>
        <p:spPr>
          <a:xfrm>
            <a:off x="868680" y="5852160"/>
            <a:ext cx="10454335" cy="777240"/>
          </a:xfrm>
          <a:prstGeom prst="roundRect">
            <a:avLst>
              <a:gd name="adj" fmla="val 18000"/>
            </a:avLst>
          </a:prstGeom>
          <a:solidFill>
            <a:srgbClr val="FAF8F1"/>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64592" bIns="164592" wrap="square"/>
          <a:lstStyle/>
          <a:p>
            <a:pPr algn="l"/>
            <a:r>
              <a:rPr sz="1800" b="0">
                <a:solidFill>
                  <a:srgbClr val="2C2C2A"/>
                </a:solidFill>
                <a:latin typeface="Helvetica Neue Medium"/>
              </a:rPr>
              <a:t>Smarter every week — through partnership with the people who know the relationship best.</a:t>
            </a:r>
          </a:p>
        </p:txBody>
      </p:sp>
      <p:sp>
        <p:nvSpPr>
          <p:cNvPr id="17" name="TextBox 16"/>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7</a:t>
            </a:r>
            <a:r>
              <a:rPr sz="1000" b="0" i="0">
                <a:solidFill>
                  <a:srgbClr val="888780"/>
                </a:solidFill>
                <a:latin typeface="Helvetica Neue Medium"/>
              </a:rPr>
              <a:t>  /  32</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2011680"/>
            <a:ext cx="2743200" cy="1828800"/>
          </a:xfrm>
          <a:prstGeom prst="rect">
            <a:avLst/>
          </a:prstGeom>
          <a:noFill/>
        </p:spPr>
        <p:txBody>
          <a:bodyPr wrap="square" lIns="0" rIns="0" tIns="0" bIns="0" anchor="t">
            <a:spAutoFit/>
          </a:bodyPr>
          <a:lstStyle/>
          <a:p>
            <a:pPr algn="l">
              <a:lnSpc>
                <a:spcPct val="100000"/>
              </a:lnSpc>
            </a:pPr>
            <a:r>
              <a:rPr sz="11000" b="0" i="0">
                <a:solidFill>
                  <a:srgbClr val="D85A30"/>
                </a:solidFill>
                <a:latin typeface="Helvetica Neue Medium"/>
              </a:rPr>
              <a:t>ii</a:t>
            </a:r>
          </a:p>
        </p:txBody>
      </p:sp>
      <p:sp>
        <p:nvSpPr>
          <p:cNvPr id="3" name="TextBox 2"/>
          <p:cNvSpPr txBox="1"/>
          <p:nvPr/>
        </p:nvSpPr>
        <p:spPr>
          <a:xfrm>
            <a:off x="868680" y="3703320"/>
            <a:ext cx="2743200" cy="365760"/>
          </a:xfrm>
          <a:prstGeom prst="rect">
            <a:avLst/>
          </a:prstGeom>
          <a:noFill/>
        </p:spPr>
        <p:txBody>
          <a:bodyPr wrap="square" lIns="0" rIns="0" tIns="0" bIns="0" anchor="t">
            <a:spAutoFit/>
          </a:bodyPr>
          <a:lstStyle/>
          <a:p>
            <a:pPr algn="l">
              <a:lnSpc>
                <a:spcPct val="125000"/>
              </a:lnSpc>
            </a:pPr>
            <a:r>
              <a:rPr sz="1100" b="0" i="0">
                <a:solidFill>
                  <a:srgbClr val="5F5E5A"/>
                </a:solidFill>
                <a:latin typeface="Helvetica Neue Medium"/>
              </a:rPr>
              <a:t>The flagship</a:t>
            </a:r>
          </a:p>
        </p:txBody>
      </p:sp>
      <p:sp>
        <p:nvSpPr>
          <p:cNvPr id="4" name="TextBox 3"/>
          <p:cNvSpPr txBox="1"/>
          <p:nvPr/>
        </p:nvSpPr>
        <p:spPr>
          <a:xfrm>
            <a:off x="4251960" y="1874519"/>
            <a:ext cx="7071055" cy="1097280"/>
          </a:xfrm>
          <a:prstGeom prst="rect">
            <a:avLst/>
          </a:prstGeom>
          <a:noFill/>
        </p:spPr>
        <p:txBody>
          <a:bodyPr wrap="square" lIns="0" rIns="0" tIns="0" bIns="0" anchor="t">
            <a:spAutoFit/>
          </a:bodyPr>
          <a:lstStyle/>
          <a:p>
            <a:pPr algn="l">
              <a:lnSpc>
                <a:spcPct val="110000"/>
              </a:lnSpc>
            </a:pPr>
            <a:r>
              <a:rPr sz="3600" b="0" i="0">
                <a:solidFill>
                  <a:srgbClr val="2C2C2A"/>
                </a:solidFill>
                <a:latin typeface="Helvetica Neue Medium"/>
              </a:rPr>
              <a:t>The smartest room in private banking.</a:t>
            </a:r>
          </a:p>
        </p:txBody>
      </p:sp>
      <p:sp>
        <p:nvSpPr>
          <p:cNvPr id="5" name="TextBox 4"/>
          <p:cNvSpPr txBox="1"/>
          <p:nvPr/>
        </p:nvSpPr>
        <p:spPr>
          <a:xfrm>
            <a:off x="4251960" y="3108960"/>
            <a:ext cx="7071055" cy="3291840"/>
          </a:xfrm>
          <a:prstGeom prst="rect">
            <a:avLst/>
          </a:prstGeom>
          <a:noFill/>
        </p:spPr>
        <p:txBody>
          <a:bodyPr wrap="square" lIns="0" rIns="0" tIns="0" bIns="0" anchor="t">
            <a:spAutoFit/>
          </a:bodyPr>
          <a:lstStyle/>
          <a:p>
            <a:pPr algn="l">
              <a:lnSpc>
                <a:spcPct val="150000"/>
              </a:lnSpc>
            </a:pPr>
            <a:r>
              <a:rPr sz="1400" b="0" i="0">
                <a:solidFill>
                  <a:srgbClr val="444441"/>
                </a:solidFill>
                <a:latin typeface="Helvetica Neue"/>
              </a:rPr>
              <a:t>Clients come to us for decisions that are important, complex, and deeply personal — selling a business, moving wealth to the children, changing the risk in a portfolio, bringing the family into one plan. In those moments they need more than information. They need judgment, trust, and confidence that the right people are thinking with them.</a:t>
            </a:r>
          </a:p>
          <a:p>
            <a:pPr algn="l">
              <a:lnSpc>
                <a:spcPct val="150000"/>
              </a:lnSpc>
              <a:spcBef>
                <a:spcPts val="800"/>
              </a:spcBef>
            </a:pPr>
            <a:r>
              <a:rPr sz="1400" b="0" i="0">
                <a:solidFill>
                  <a:srgbClr val="993C1D"/>
                </a:solidFill>
                <a:latin typeface="Helvetica Neue Medium"/>
              </a:rPr>
              <a:t>The office becomes a decision environment clients cannot reproduce on their own</a:t>
            </a:r>
            <a:r>
              <a:rPr sz="1400" b="0" i="0">
                <a:solidFill>
                  <a:srgbClr val="444441"/>
                </a:solidFill>
                <a:latin typeface="Helvetica Neue"/>
              </a:rPr>
              <a:t> — their complete context, the firm’s proprietary intelligence, its best specialists, trusted human judgment, and a safe path from conversation to execution. The banker leads. The room thinks.</a:t>
            </a:r>
          </a:p>
        </p:txBody>
      </p:sp>
      <p:sp>
        <p:nvSpPr>
          <p:cNvPr id="6" name="TextBox 5"/>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8</a:t>
            </a:r>
            <a:r>
              <a:rPr sz="1000" b="0" i="0">
                <a:solidFill>
                  <a:srgbClr val="888780"/>
                </a:solidFill>
                <a:latin typeface="Helvetica Neue Medium"/>
              </a:rPr>
              <a:t>  /  32</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ii   </a:t>
            </a:r>
            <a:r>
              <a:rPr sz="1100" b="0" i="0">
                <a:solidFill>
                  <a:srgbClr val="993C1D"/>
                </a:solidFill>
                <a:latin typeface="Helvetica Neue Medium"/>
              </a:rPr>
              <a:t>The flagship  ·  Sixty minutes in the room</a:t>
            </a:r>
          </a:p>
        </p:txBody>
      </p:sp>
      <p:sp>
        <p:nvSpPr>
          <p:cNvPr id="3" name="TextBox 2"/>
          <p:cNvSpPr txBox="1"/>
          <p:nvPr/>
        </p:nvSpPr>
        <p:spPr>
          <a:xfrm>
            <a:off x="868680" y="960120"/>
            <a:ext cx="10454335" cy="914400"/>
          </a:xfrm>
          <a:prstGeom prst="rect">
            <a:avLst/>
          </a:prstGeom>
          <a:noFill/>
        </p:spPr>
        <p:txBody>
          <a:bodyPr wrap="square" lIns="0" rIns="0" tIns="0" bIns="0" anchor="t">
            <a:spAutoFit/>
          </a:bodyPr>
          <a:lstStyle/>
          <a:p>
            <a:pPr algn="l">
              <a:lnSpc>
                <a:spcPct val="120000"/>
              </a:lnSpc>
            </a:pPr>
            <a:r>
              <a:rPr sz="2400" b="0" i="0">
                <a:solidFill>
                  <a:srgbClr val="2C2C2A"/>
                </a:solidFill>
                <a:latin typeface="Helvetica Neue Medium"/>
              </a:rPr>
              <a:t>The meeting, replayed.</a:t>
            </a:r>
          </a:p>
        </p:txBody>
      </p:sp>
      <p:sp>
        <p:nvSpPr>
          <p:cNvPr id="4" name="Rounded Rectangle 3"/>
          <p:cNvSpPr/>
          <p:nvPr/>
        </p:nvSpPr>
        <p:spPr>
          <a:xfrm>
            <a:off x="868680" y="1938528"/>
            <a:ext cx="32004" cy="1389888"/>
          </a:xfrm>
          <a:prstGeom prst="roundRect">
            <a:avLst>
              <a:gd name="adj" fmla="val 8000"/>
            </a:avLst>
          </a:prstGeom>
          <a:solidFill>
            <a:srgbClr val="D85A30"/>
          </a:solidFill>
          <a:ln w="3175">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029968"/>
            <a:ext cx="4852263" cy="1207008"/>
          </a:xfrm>
          <a:prstGeom prst="rect">
            <a:avLst/>
          </a:prstGeom>
          <a:noFill/>
        </p:spPr>
        <p:txBody>
          <a:bodyPr wrap="square" lIns="0" rIns="0" tIns="0" bIns="0" anchor="t">
            <a:spAutoFit/>
          </a:bodyPr>
          <a:lstStyle/>
          <a:p>
            <a:pPr algn="l">
              <a:lnSpc>
                <a:spcPct val="140000"/>
              </a:lnSpc>
            </a:pPr>
            <a:r>
              <a:rPr sz="1150" b="0" i="0">
                <a:solidFill>
                  <a:srgbClr val="2C2C2A"/>
                </a:solidFill>
                <a:latin typeface="Helvetica Neue Medium"/>
              </a:rPr>
              <a:t>Before. </a:t>
            </a:r>
            <a:r>
              <a:rPr sz="1150" b="0" i="0">
                <a:solidFill>
                  <a:srgbClr val="2C2C2A"/>
                </a:solidFill>
                <a:latin typeface="Helvetica Neue"/>
              </a:rPr>
              <a:t>The Client Agent has prepared the team — goals, plan, lending, unresolved questions, what changed — and asked the advisor to confirm anything uncertain. The client has already shaped the agenda.</a:t>
            </a:r>
          </a:p>
        </p:txBody>
      </p:sp>
      <p:sp>
        <p:nvSpPr>
          <p:cNvPr id="6" name="Rounded Rectangle 5"/>
          <p:cNvSpPr/>
          <p:nvPr/>
        </p:nvSpPr>
        <p:spPr>
          <a:xfrm>
            <a:off x="6159855" y="1938528"/>
            <a:ext cx="32004" cy="1389888"/>
          </a:xfrm>
          <a:prstGeom prst="roundRect">
            <a:avLst>
              <a:gd name="adj" fmla="val 8000"/>
            </a:avLst>
          </a:prstGeom>
          <a:solidFill>
            <a:srgbClr val="D85A30"/>
          </a:solidFill>
          <a:ln w="3175">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42735" y="2029968"/>
            <a:ext cx="4852263" cy="1207008"/>
          </a:xfrm>
          <a:prstGeom prst="rect">
            <a:avLst/>
          </a:prstGeom>
          <a:noFill/>
        </p:spPr>
        <p:txBody>
          <a:bodyPr wrap="square" lIns="0" rIns="0" tIns="0" bIns="0" anchor="t">
            <a:spAutoFit/>
          </a:bodyPr>
          <a:lstStyle/>
          <a:p>
            <a:pPr algn="l">
              <a:lnSpc>
                <a:spcPct val="140000"/>
              </a:lnSpc>
            </a:pPr>
            <a:r>
              <a:rPr sz="1150" b="0" i="0">
                <a:solidFill>
                  <a:srgbClr val="2C2C2A"/>
                </a:solidFill>
                <a:latin typeface="Helvetica Neue Medium"/>
              </a:rPr>
              <a:t>In the room. </a:t>
            </a:r>
            <a:r>
              <a:rPr sz="1150" b="0" i="0">
                <a:solidFill>
                  <a:srgbClr val="2C2C2A"/>
                </a:solidFill>
                <a:latin typeface="Helvetica Neue"/>
              </a:rPr>
              <a:t>“We may sell part of the business next year — we worry about liquidity, income, and the risk we carry elsewhere.” The banker asks the room. Ownership, exposures, and scenarios appear — and evolve as the client changes an assumption.</a:t>
            </a:r>
          </a:p>
        </p:txBody>
      </p:sp>
      <p:sp>
        <p:nvSpPr>
          <p:cNvPr id="8" name="Rounded Rectangle 7"/>
          <p:cNvSpPr/>
          <p:nvPr/>
        </p:nvSpPr>
        <p:spPr>
          <a:xfrm>
            <a:off x="868680" y="3456432"/>
            <a:ext cx="32004" cy="1389888"/>
          </a:xfrm>
          <a:prstGeom prst="roundRect">
            <a:avLst>
              <a:gd name="adj" fmla="val 8000"/>
            </a:avLst>
          </a:prstGeom>
          <a:solidFill>
            <a:srgbClr val="D85A30"/>
          </a:solidFill>
          <a:ln w="3175">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547872"/>
            <a:ext cx="4852263" cy="1207008"/>
          </a:xfrm>
          <a:prstGeom prst="rect">
            <a:avLst/>
          </a:prstGeom>
          <a:noFill/>
        </p:spPr>
        <p:txBody>
          <a:bodyPr wrap="square" lIns="0" rIns="0" tIns="0" bIns="0" anchor="t">
            <a:spAutoFit/>
          </a:bodyPr>
          <a:lstStyle/>
          <a:p>
            <a:pPr algn="l">
              <a:lnSpc>
                <a:spcPct val="140000"/>
              </a:lnSpc>
            </a:pPr>
            <a:r>
              <a:rPr sz="1150" b="0" i="0">
                <a:solidFill>
                  <a:srgbClr val="2C2C2A"/>
                </a:solidFill>
                <a:latin typeface="Helvetica Neue Medium"/>
              </a:rPr>
              <a:t>Deeper. </a:t>
            </a:r>
            <a:r>
              <a:rPr sz="1150" b="0" i="0">
                <a:solidFill>
                  <a:srgbClr val="2C2C2A"/>
                </a:solidFill>
                <a:latin typeface="Helvetica Neue"/>
              </a:rPr>
              <a:t>The right specialist anywhere in the firm joins — in person, virtually, or through their approved expertise as an agent. The client never needs to understand how the firm is organized to get the best of it.</a:t>
            </a:r>
          </a:p>
        </p:txBody>
      </p:sp>
      <p:sp>
        <p:nvSpPr>
          <p:cNvPr id="10" name="Rounded Rectangle 9"/>
          <p:cNvSpPr/>
          <p:nvPr/>
        </p:nvSpPr>
        <p:spPr>
          <a:xfrm>
            <a:off x="6159855" y="3456432"/>
            <a:ext cx="32004" cy="1389888"/>
          </a:xfrm>
          <a:prstGeom prst="roundRect">
            <a:avLst>
              <a:gd name="adj" fmla="val 8000"/>
            </a:avLst>
          </a:prstGeom>
          <a:solidFill>
            <a:srgbClr val="D85A30"/>
          </a:solidFill>
          <a:ln w="3175">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2735" y="3547872"/>
            <a:ext cx="4852263" cy="1207008"/>
          </a:xfrm>
          <a:prstGeom prst="rect">
            <a:avLst/>
          </a:prstGeom>
          <a:noFill/>
        </p:spPr>
        <p:txBody>
          <a:bodyPr wrap="square" lIns="0" rIns="0" tIns="0" bIns="0" anchor="t">
            <a:spAutoFit/>
          </a:bodyPr>
          <a:lstStyle/>
          <a:p>
            <a:pPr algn="l">
              <a:lnSpc>
                <a:spcPct val="140000"/>
              </a:lnSpc>
            </a:pPr>
            <a:r>
              <a:rPr sz="1150" b="0" i="0">
                <a:solidFill>
                  <a:srgbClr val="2C2C2A"/>
                </a:solidFill>
                <a:latin typeface="Helvetica Neue Medium"/>
              </a:rPr>
              <a:t>Before they leave. </a:t>
            </a:r>
            <a:r>
              <a:rPr sz="1150" b="0" i="0">
                <a:solidFill>
                  <a:srgbClr val="2C2C2A"/>
                </a:solidFill>
                <a:latin typeface="Helvetica Neue"/>
              </a:rPr>
              <a:t>Decisions separated from ideas, follow-ups prepared, approved next steps already moving — and a secure recap and workspace to continue at home.</a:t>
            </a:r>
          </a:p>
        </p:txBody>
      </p:sp>
      <p:sp>
        <p:nvSpPr>
          <p:cNvPr id="12" name="Rounded Rectangle 11"/>
          <p:cNvSpPr/>
          <p:nvPr/>
        </p:nvSpPr>
        <p:spPr>
          <a:xfrm>
            <a:off x="868680" y="5029200"/>
            <a:ext cx="10454335" cy="1371600"/>
          </a:xfrm>
          <a:prstGeom prst="roundRect">
            <a:avLst>
              <a:gd name="adj" fmla="val 5000"/>
            </a:avLst>
          </a:prstGeom>
          <a:solidFill>
            <a:srgbClr val="FFFFFF"/>
          </a:solidFill>
          <a:ln w="9525">
            <a:solidFill>
              <a:srgbClr val="F099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24712" y="5175504"/>
            <a:ext cx="9942271" cy="292608"/>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Explicitly permissioned</a:t>
            </a:r>
          </a:p>
        </p:txBody>
      </p:sp>
      <p:sp>
        <p:nvSpPr>
          <p:cNvPr id="14" name="TextBox 13"/>
          <p:cNvSpPr txBox="1"/>
          <p:nvPr/>
        </p:nvSpPr>
        <p:spPr>
          <a:xfrm>
            <a:off x="1124712" y="5504688"/>
            <a:ext cx="9942271" cy="804672"/>
          </a:xfrm>
          <a:prstGeom prst="rect">
            <a:avLst/>
          </a:prstGeom>
          <a:noFill/>
        </p:spPr>
        <p:txBody>
          <a:bodyPr wrap="square" lIns="0" rIns="0" tIns="0" bIns="0" anchor="t">
            <a:spAutoFit/>
          </a:bodyPr>
          <a:lstStyle/>
          <a:p>
            <a:pPr algn="l">
              <a:lnSpc>
                <a:spcPct val="140000"/>
              </a:lnSpc>
            </a:pPr>
            <a:r>
              <a:rPr sz="1250" b="0" i="0">
                <a:solidFill>
                  <a:srgbClr val="2C2C2A"/>
                </a:solidFill>
                <a:latin typeface="Helvetica Neue"/>
              </a:rPr>
              <a:t>Clients see when AI is active, what it uses, and what is retained. Anyone can </a:t>
            </a:r>
            <a:r>
              <a:rPr sz="1250" b="0" i="0">
                <a:solidFill>
                  <a:srgbClr val="993C1D"/>
                </a:solidFill>
                <a:latin typeface="Helvetica Neue Medium"/>
              </a:rPr>
              <a:t>pause it, exclude a topic, or correct the record</a:t>
            </a:r>
            <a:r>
              <a:rPr sz="1250" b="0" i="0">
                <a:solidFill>
                  <a:srgbClr val="2C2C2A"/>
                </a:solidFill>
                <a:latin typeface="Helvetica Neue"/>
              </a:rPr>
              <a:t> — and every analysis shows its sources, assumptions, and whether it is an approved calculation, a professional view, or a hypothesis for review.</a:t>
            </a:r>
          </a:p>
        </p:txBody>
      </p:sp>
      <p:sp>
        <p:nvSpPr>
          <p:cNvPr id="15" name="TextBox 14"/>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9</a:t>
            </a:r>
            <a:r>
              <a:rPr sz="1000" b="0" i="0">
                <a:solidFill>
                  <a:srgbClr val="888780"/>
                </a:solidFill>
                <a:latin typeface="Helvetica Neue Medium"/>
              </a:rPr>
              <a:t>  /  32</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2011680"/>
            <a:ext cx="2743200" cy="1828800"/>
          </a:xfrm>
          <a:prstGeom prst="rect">
            <a:avLst/>
          </a:prstGeom>
          <a:noFill/>
        </p:spPr>
        <p:txBody>
          <a:bodyPr wrap="square" lIns="0" rIns="0" tIns="0" bIns="0" anchor="t">
            <a:spAutoFit/>
          </a:bodyPr>
          <a:lstStyle/>
          <a:p>
            <a:pPr algn="l">
              <a:lnSpc>
                <a:spcPct val="100000"/>
              </a:lnSpc>
            </a:pPr>
            <a:r>
              <a:rPr sz="11000" b="0" i="0">
                <a:solidFill>
                  <a:srgbClr val="D85A30"/>
                </a:solidFill>
                <a:latin typeface="Helvetica Neue Medium"/>
              </a:rPr>
              <a:t>iii</a:t>
            </a:r>
          </a:p>
        </p:txBody>
      </p:sp>
      <p:sp>
        <p:nvSpPr>
          <p:cNvPr id="3" name="TextBox 2"/>
          <p:cNvSpPr txBox="1"/>
          <p:nvPr/>
        </p:nvSpPr>
        <p:spPr>
          <a:xfrm>
            <a:off x="868680" y="3703320"/>
            <a:ext cx="2743200" cy="365760"/>
          </a:xfrm>
          <a:prstGeom prst="rect">
            <a:avLst/>
          </a:prstGeom>
          <a:noFill/>
        </p:spPr>
        <p:txBody>
          <a:bodyPr wrap="square" lIns="0" rIns="0" tIns="0" bIns="0" anchor="t">
            <a:spAutoFit/>
          </a:bodyPr>
          <a:lstStyle/>
          <a:p>
            <a:pPr algn="l">
              <a:lnSpc>
                <a:spcPct val="125000"/>
              </a:lnSpc>
            </a:pPr>
            <a:r>
              <a:rPr sz="1100" b="0" i="0">
                <a:solidFill>
                  <a:srgbClr val="5F5E5A"/>
                </a:solidFill>
                <a:latin typeface="Helvetica Neue Medium"/>
              </a:rPr>
              <a:t>Full command</a:t>
            </a:r>
          </a:p>
        </p:txBody>
      </p:sp>
      <p:sp>
        <p:nvSpPr>
          <p:cNvPr id="4" name="TextBox 3"/>
          <p:cNvSpPr txBox="1"/>
          <p:nvPr/>
        </p:nvSpPr>
        <p:spPr>
          <a:xfrm>
            <a:off x="4251960" y="1874519"/>
            <a:ext cx="7071055" cy="1097280"/>
          </a:xfrm>
          <a:prstGeom prst="rect">
            <a:avLst/>
          </a:prstGeom>
          <a:noFill/>
        </p:spPr>
        <p:txBody>
          <a:bodyPr wrap="square" lIns="0" rIns="0" tIns="0" bIns="0" anchor="t">
            <a:spAutoFit/>
          </a:bodyPr>
          <a:lstStyle/>
          <a:p>
            <a:pPr algn="l">
              <a:lnSpc>
                <a:spcPct val="110000"/>
              </a:lnSpc>
            </a:pPr>
            <a:r>
              <a:rPr sz="3600" b="0" i="0">
                <a:solidFill>
                  <a:srgbClr val="2C2C2A"/>
                </a:solidFill>
                <a:latin typeface="Helvetica Neue Medium"/>
              </a:rPr>
              <a:t>Our best people, running always-on teams.</a:t>
            </a:r>
          </a:p>
        </p:txBody>
      </p:sp>
      <p:sp>
        <p:nvSpPr>
          <p:cNvPr id="5" name="TextBox 4"/>
          <p:cNvSpPr txBox="1"/>
          <p:nvPr/>
        </p:nvSpPr>
        <p:spPr>
          <a:xfrm>
            <a:off x="4251960" y="3108960"/>
            <a:ext cx="7071055" cy="3291840"/>
          </a:xfrm>
          <a:prstGeom prst="rect">
            <a:avLst/>
          </a:prstGeom>
          <a:noFill/>
        </p:spPr>
        <p:txBody>
          <a:bodyPr wrap="square" lIns="0" rIns="0" tIns="0" bIns="0" anchor="t">
            <a:spAutoFit/>
          </a:bodyPr>
          <a:lstStyle/>
          <a:p>
            <a:pPr algn="l">
              <a:lnSpc>
                <a:spcPct val="150000"/>
              </a:lnSpc>
            </a:pPr>
            <a:r>
              <a:rPr sz="1400" b="0" i="0">
                <a:solidFill>
                  <a:srgbClr val="444441"/>
                </a:solidFill>
                <a:latin typeface="Helvetica Neue"/>
              </a:rPr>
              <a:t>One command surface in Coach — potentially no more than a large text box — and a live dashboard of only what matters now. State the outcome: a plan, a portfolio analysis, a trade, a lending structure, research across the whole book. The platform builds the analysis, the interface, or the temporary workspace the task needs.</a:t>
            </a:r>
          </a:p>
          <a:p>
            <a:pPr algn="l">
              <a:lnSpc>
                <a:spcPct val="150000"/>
              </a:lnSpc>
              <a:spcBef>
                <a:spcPts val="800"/>
              </a:spcBef>
            </a:pPr>
            <a:r>
              <a:rPr sz="1400" b="0" i="0">
                <a:solidFill>
                  <a:srgbClr val="993C1D"/>
                </a:solidFill>
                <a:latin typeface="Helvetica Neue Medium"/>
              </a:rPr>
              <a:t>“Brian called me about this. Monitor these conditions — if they occur, analyze the implications, prepare the response, and bring it back to me.” </a:t>
            </a:r>
            <a:r>
              <a:rPr sz="1400" b="0" i="0">
                <a:solidFill>
                  <a:srgbClr val="444441"/>
                </a:solidFill>
                <a:latin typeface="Helvetica Neue"/>
              </a:rPr>
              <a:t>From that point forward, the agent keeps working. Another watches the inbox: low-risk requests completed within boundaries, the rest returned with context, evidence, and approvals ready.</a:t>
            </a:r>
          </a:p>
        </p:txBody>
      </p:sp>
      <p:sp>
        <p:nvSpPr>
          <p:cNvPr id="6" name="TextBox 5"/>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10</a:t>
            </a:r>
            <a:r>
              <a:rPr sz="1000" b="0" i="0">
                <a:solidFill>
                  <a:srgbClr val="888780"/>
                </a:solidFill>
                <a:latin typeface="Helvetica Neue Medium"/>
              </a:rPr>
              <a:t>  /  32</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2011680"/>
            <a:ext cx="2743200" cy="1828800"/>
          </a:xfrm>
          <a:prstGeom prst="rect">
            <a:avLst/>
          </a:prstGeom>
          <a:noFill/>
        </p:spPr>
        <p:txBody>
          <a:bodyPr wrap="square" lIns="0" rIns="0" tIns="0" bIns="0" anchor="t">
            <a:spAutoFit/>
          </a:bodyPr>
          <a:lstStyle/>
          <a:p>
            <a:pPr algn="l">
              <a:lnSpc>
                <a:spcPct val="100000"/>
              </a:lnSpc>
            </a:pPr>
            <a:r>
              <a:rPr sz="11000" b="0" i="0">
                <a:solidFill>
                  <a:srgbClr val="D85A30"/>
                </a:solidFill>
                <a:latin typeface="Helvetica Neue Medium"/>
              </a:rPr>
              <a:t>iv</a:t>
            </a:r>
          </a:p>
        </p:txBody>
      </p:sp>
      <p:sp>
        <p:nvSpPr>
          <p:cNvPr id="3" name="TextBox 2"/>
          <p:cNvSpPr txBox="1"/>
          <p:nvPr/>
        </p:nvSpPr>
        <p:spPr>
          <a:xfrm>
            <a:off x="868680" y="3703320"/>
            <a:ext cx="2743200" cy="365760"/>
          </a:xfrm>
          <a:prstGeom prst="rect">
            <a:avLst/>
          </a:prstGeom>
          <a:noFill/>
        </p:spPr>
        <p:txBody>
          <a:bodyPr wrap="square" lIns="0" rIns="0" tIns="0" bIns="0" anchor="t">
            <a:spAutoFit/>
          </a:bodyPr>
          <a:lstStyle/>
          <a:p>
            <a:pPr algn="l">
              <a:lnSpc>
                <a:spcPct val="125000"/>
              </a:lnSpc>
            </a:pPr>
            <a:r>
              <a:rPr sz="1100" b="0" i="0">
                <a:solidFill>
                  <a:srgbClr val="5F5E5A"/>
                </a:solidFill>
                <a:latin typeface="Helvetica Neue Medium"/>
              </a:rPr>
              <a:t>Autopilot</a:t>
            </a:r>
          </a:p>
        </p:txBody>
      </p:sp>
      <p:sp>
        <p:nvSpPr>
          <p:cNvPr id="4" name="TextBox 3"/>
          <p:cNvSpPr txBox="1"/>
          <p:nvPr/>
        </p:nvSpPr>
        <p:spPr>
          <a:xfrm>
            <a:off x="4251960" y="1874519"/>
            <a:ext cx="7071055" cy="1097280"/>
          </a:xfrm>
          <a:prstGeom prst="rect">
            <a:avLst/>
          </a:prstGeom>
          <a:noFill/>
        </p:spPr>
        <p:txBody>
          <a:bodyPr wrap="square" lIns="0" rIns="0" tIns="0" bIns="0" anchor="t">
            <a:spAutoFit/>
          </a:bodyPr>
          <a:lstStyle/>
          <a:p>
            <a:pPr algn="l">
              <a:lnSpc>
                <a:spcPct val="110000"/>
              </a:lnSpc>
            </a:pPr>
            <a:r>
              <a:rPr sz="3600" b="0" i="0">
                <a:solidFill>
                  <a:srgbClr val="2C2C2A"/>
                </a:solidFill>
                <a:latin typeface="Helvetica Neue Medium"/>
              </a:rPr>
              <a:t>Every advisor, closer to the best.</a:t>
            </a:r>
          </a:p>
        </p:txBody>
      </p:sp>
      <p:sp>
        <p:nvSpPr>
          <p:cNvPr id="5" name="TextBox 4"/>
          <p:cNvSpPr txBox="1"/>
          <p:nvPr/>
        </p:nvSpPr>
        <p:spPr>
          <a:xfrm>
            <a:off x="4251960" y="3108960"/>
            <a:ext cx="7071055" cy="3291840"/>
          </a:xfrm>
          <a:prstGeom prst="rect">
            <a:avLst/>
          </a:prstGeom>
          <a:noFill/>
        </p:spPr>
        <p:txBody>
          <a:bodyPr wrap="square" lIns="0" rIns="0" tIns="0" bIns="0" anchor="t">
            <a:spAutoFit/>
          </a:bodyPr>
          <a:lstStyle/>
          <a:p>
            <a:pPr algn="l">
              <a:lnSpc>
                <a:spcPct val="150000"/>
              </a:lnSpc>
            </a:pPr>
            <a:r>
              <a:rPr sz="1400" b="0" i="0">
                <a:solidFill>
                  <a:srgbClr val="993C1D"/>
                </a:solidFill>
                <a:latin typeface="Helvetica Neue Medium"/>
              </a:rPr>
              <a:t>“Three relationships to focus on this morning. Here is what changed, why it matters, what our specialists think — and the work I have already prepared.”</a:t>
            </a:r>
            <a:r>
              <a:rPr sz="1400" b="0" i="0">
                <a:solidFill>
                  <a:srgbClr val="444441"/>
                </a:solidFill>
                <a:latin typeface="Helvetica Neue"/>
              </a:rPr>
              <a:t>  — Autopilot, before the open.</a:t>
            </a:r>
          </a:p>
          <a:p>
            <a:pPr algn="l">
              <a:lnSpc>
                <a:spcPct val="150000"/>
              </a:lnSpc>
              <a:spcBef>
                <a:spcPts val="800"/>
              </a:spcBef>
            </a:pPr>
            <a:r>
              <a:rPr sz="1400" b="0" i="0">
                <a:solidFill>
                  <a:srgbClr val="444441"/>
                </a:solidFill>
                <a:latin typeface="Helvetica Neue"/>
              </a:rPr>
              <a:t>It reads calendars, conversations, portfolios, markets, and outstanding commitments, then surfaces the few actions most likely to matter — meetings prepared, the right skill recommended, specific coaching after the conversations that count. </a:t>
            </a:r>
            <a:r>
              <a:rPr sz="1400" b="0" i="0">
                <a:solidFill>
                  <a:srgbClr val="993C1D"/>
                </a:solidFill>
                <a:latin typeface="Helvetica Neue Medium"/>
              </a:rPr>
              <a:t>Command and guided are not classifications of people.</a:t>
            </a:r>
            <a:r>
              <a:rPr sz="1400" b="0" i="0">
                <a:solidFill>
                  <a:srgbClr val="444441"/>
                </a:solidFill>
                <a:latin typeface="Helvetica Neue"/>
              </a:rPr>
              <a:t> The same person takes full control where they are expert and more guidance where they are not. The ceiling rises for the best; the standard rises for everyone.</a:t>
            </a:r>
          </a:p>
        </p:txBody>
      </p:sp>
      <p:sp>
        <p:nvSpPr>
          <p:cNvPr id="6" name="TextBox 5"/>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11</a:t>
            </a:r>
            <a:r>
              <a:rPr sz="1000" b="0" i="0">
                <a:solidFill>
                  <a:srgbClr val="888780"/>
                </a:solidFill>
                <a:latin typeface="Helvetica Neue Medium"/>
              </a:rPr>
              <a:t>  /  32</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05   </a:t>
            </a:r>
            <a:r>
              <a:rPr sz="1100" b="0" i="0">
                <a:solidFill>
                  <a:srgbClr val="993C1D"/>
                </a:solidFill>
                <a:latin typeface="Helvetica Neue Medium"/>
              </a:rPr>
              <a:t>The specialists</a:t>
            </a:r>
          </a:p>
        </p:txBody>
      </p:sp>
      <p:sp>
        <p:nvSpPr>
          <p:cNvPr id="3" name="TextBox 2"/>
          <p:cNvSpPr txBox="1"/>
          <p:nvPr/>
        </p:nvSpPr>
        <p:spPr>
          <a:xfrm>
            <a:off x="868680" y="960120"/>
            <a:ext cx="10454335" cy="914400"/>
          </a:xfrm>
          <a:prstGeom prst="rect">
            <a:avLst/>
          </a:prstGeom>
          <a:noFill/>
        </p:spPr>
        <p:txBody>
          <a:bodyPr wrap="square" lIns="0" rIns="0" tIns="0" bIns="0" anchor="t">
            <a:spAutoFit/>
          </a:bodyPr>
          <a:lstStyle/>
          <a:p>
            <a:pPr algn="l">
              <a:lnSpc>
                <a:spcPct val="120000"/>
              </a:lnSpc>
            </a:pPr>
            <a:r>
              <a:rPr sz="2400" b="0" i="0">
                <a:solidFill>
                  <a:srgbClr val="2C2C2A"/>
                </a:solidFill>
                <a:latin typeface="Helvetica Neue Medium"/>
              </a:rPr>
              <a:t>From a voice note to executable expertise.</a:t>
            </a:r>
          </a:p>
        </p:txBody>
      </p:sp>
      <p:sp>
        <p:nvSpPr>
          <p:cNvPr id="4" name="Rounded Rectangle 3"/>
          <p:cNvSpPr/>
          <p:nvPr/>
        </p:nvSpPr>
        <p:spPr>
          <a:xfrm>
            <a:off x="868680" y="2103120"/>
            <a:ext cx="3375050" cy="4206240"/>
          </a:xfrm>
          <a:prstGeom prst="roundRect">
            <a:avLst>
              <a:gd name="adj" fmla="val 5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 y="2331720"/>
            <a:ext cx="2862986" cy="292608"/>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The capture</a:t>
            </a:r>
          </a:p>
        </p:txBody>
      </p:sp>
      <p:sp>
        <p:nvSpPr>
          <p:cNvPr id="6" name="TextBox 5"/>
          <p:cNvSpPr txBox="1"/>
          <p:nvPr/>
        </p:nvSpPr>
        <p:spPr>
          <a:xfrm>
            <a:off x="1124712" y="2743200"/>
            <a:ext cx="2862986" cy="1691640"/>
          </a:xfrm>
          <a:prstGeom prst="rect">
            <a:avLst/>
          </a:prstGeom>
          <a:noFill/>
        </p:spPr>
        <p:txBody>
          <a:bodyPr wrap="square" lIns="0" rIns="0" tIns="0" bIns="0" anchor="t">
            <a:spAutoFit/>
          </a:bodyPr>
          <a:lstStyle/>
          <a:p>
            <a:pPr algn="l">
              <a:lnSpc>
                <a:spcPct val="150000"/>
              </a:lnSpc>
            </a:pPr>
            <a:r>
              <a:rPr sz="1300" b="0" i="0">
                <a:solidFill>
                  <a:srgbClr val="2C2C2A"/>
                </a:solidFill>
                <a:latin typeface="Helvetica Neue"/>
              </a:rPr>
              <a:t>Speak to an agent, leave a voice note, paste rough thoughts, upload the research. The agent asks a few sharp questions and challenges the assumptions.</a:t>
            </a:r>
          </a:p>
        </p:txBody>
      </p:sp>
      <p:cxnSp>
        <p:nvCxnSpPr>
          <p:cNvPr id="7" name="Connector 6"/>
          <p:cNvCxnSpPr/>
          <p:nvPr/>
        </p:nvCxnSpPr>
        <p:spPr>
          <a:xfrm>
            <a:off x="1124712" y="5120640"/>
            <a:ext cx="2862986.333333334" cy="0"/>
          </a:xfrm>
          <a:prstGeom prst="line">
            <a:avLst/>
          </a:prstGeom>
          <a:ln w="6350">
            <a:solidFill>
              <a:srgbClr val="C8C7C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24712" y="5285232"/>
            <a:ext cx="2862986" cy="502920"/>
          </a:xfrm>
          <a:prstGeom prst="rect">
            <a:avLst/>
          </a:prstGeom>
          <a:noFill/>
        </p:spPr>
        <p:txBody>
          <a:bodyPr wrap="square" lIns="0" rIns="0" tIns="0" bIns="0" anchor="t">
            <a:spAutoFit/>
          </a:bodyPr>
          <a:lstStyle/>
          <a:p>
            <a:pPr algn="l">
              <a:lnSpc>
                <a:spcPct val="125000"/>
              </a:lnSpc>
            </a:pPr>
            <a:r>
              <a:rPr sz="2000" b="0" i="0">
                <a:solidFill>
                  <a:srgbClr val="2C2C2A"/>
                </a:solidFill>
                <a:latin typeface="Helvetica Neue Medium"/>
              </a:rPr>
              <a:t>Minutes</a:t>
            </a:r>
          </a:p>
        </p:txBody>
      </p:sp>
      <p:sp>
        <p:nvSpPr>
          <p:cNvPr id="9" name="TextBox 8"/>
          <p:cNvSpPr txBox="1"/>
          <p:nvPr/>
        </p:nvSpPr>
        <p:spPr>
          <a:xfrm>
            <a:off x="1124712" y="5833872"/>
            <a:ext cx="2862986" cy="457200"/>
          </a:xfrm>
          <a:prstGeom prst="rect">
            <a:avLst/>
          </a:prstGeom>
          <a:noFill/>
        </p:spPr>
        <p:txBody>
          <a:bodyPr wrap="square" lIns="0" rIns="0" tIns="0" bIns="0" anchor="t">
            <a:spAutoFit/>
          </a:bodyPr>
          <a:lstStyle/>
          <a:p>
            <a:pPr algn="l">
              <a:lnSpc>
                <a:spcPct val="140000"/>
              </a:lnSpc>
            </a:pPr>
            <a:r>
              <a:rPr sz="1000" b="0" i="0">
                <a:solidFill>
                  <a:srgbClr val="5F5E5A"/>
                </a:solidFill>
                <a:latin typeface="Helvetica Neue"/>
              </a:rPr>
              <a:t>From thinking to draft thesis</a:t>
            </a:r>
          </a:p>
        </p:txBody>
      </p:sp>
      <p:sp>
        <p:nvSpPr>
          <p:cNvPr id="10" name="Rounded Rectangle 9"/>
          <p:cNvSpPr/>
          <p:nvPr/>
        </p:nvSpPr>
        <p:spPr>
          <a:xfrm>
            <a:off x="4408322" y="2103120"/>
            <a:ext cx="3375050" cy="4206240"/>
          </a:xfrm>
          <a:prstGeom prst="roundRect">
            <a:avLst>
              <a:gd name="adj" fmla="val 5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4354" y="2331720"/>
            <a:ext cx="2862986" cy="292608"/>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The compilation</a:t>
            </a:r>
          </a:p>
        </p:txBody>
      </p:sp>
      <p:sp>
        <p:nvSpPr>
          <p:cNvPr id="12" name="TextBox 11"/>
          <p:cNvSpPr txBox="1"/>
          <p:nvPr/>
        </p:nvSpPr>
        <p:spPr>
          <a:xfrm>
            <a:off x="4664354" y="2743200"/>
            <a:ext cx="2862986" cy="1691640"/>
          </a:xfrm>
          <a:prstGeom prst="rect">
            <a:avLst/>
          </a:prstGeom>
          <a:noFill/>
        </p:spPr>
        <p:txBody>
          <a:bodyPr wrap="square" lIns="0" rIns="0" tIns="0" bIns="0" anchor="t">
            <a:spAutoFit/>
          </a:bodyPr>
          <a:lstStyle/>
          <a:p>
            <a:pPr algn="l">
              <a:lnSpc>
                <a:spcPct val="150000"/>
              </a:lnSpc>
            </a:pPr>
            <a:r>
              <a:rPr sz="1300" b="0" i="0">
                <a:solidFill>
                  <a:srgbClr val="2C2C2A"/>
                </a:solidFill>
                <a:latin typeface="Helvetica Neue"/>
              </a:rPr>
              <a:t>Out comes an attributable thesis: evidence, risks, counterarguments, the client conditions it fits, suitability considerations — and an expiration date, so stale ideas retire themselves.</a:t>
            </a:r>
          </a:p>
        </p:txBody>
      </p:sp>
      <p:cxnSp>
        <p:nvCxnSpPr>
          <p:cNvPr id="13" name="Connector 12"/>
          <p:cNvCxnSpPr/>
          <p:nvPr/>
        </p:nvCxnSpPr>
        <p:spPr>
          <a:xfrm>
            <a:off x="4664354.333333334" y="5120640"/>
            <a:ext cx="2862986.333333334" cy="0"/>
          </a:xfrm>
          <a:prstGeom prst="line">
            <a:avLst/>
          </a:prstGeom>
          <a:ln w="6350">
            <a:solidFill>
              <a:srgbClr val="C8C7C1"/>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664354" y="5285232"/>
            <a:ext cx="2862986" cy="502920"/>
          </a:xfrm>
          <a:prstGeom prst="rect">
            <a:avLst/>
          </a:prstGeom>
          <a:noFill/>
        </p:spPr>
        <p:txBody>
          <a:bodyPr wrap="square" lIns="0" rIns="0" tIns="0" bIns="0" anchor="t">
            <a:spAutoFit/>
          </a:bodyPr>
          <a:lstStyle/>
          <a:p>
            <a:pPr algn="l">
              <a:lnSpc>
                <a:spcPct val="125000"/>
              </a:lnSpc>
            </a:pPr>
            <a:r>
              <a:rPr sz="2000" b="0" i="0">
                <a:solidFill>
                  <a:srgbClr val="2C2C2A"/>
                </a:solidFill>
                <a:latin typeface="Helvetica Neue Medium"/>
              </a:rPr>
              <a:t>One approval</a:t>
            </a:r>
          </a:p>
        </p:txBody>
      </p:sp>
      <p:sp>
        <p:nvSpPr>
          <p:cNvPr id="15" name="TextBox 14"/>
          <p:cNvSpPr txBox="1"/>
          <p:nvPr/>
        </p:nvSpPr>
        <p:spPr>
          <a:xfrm>
            <a:off x="4664354" y="5833872"/>
            <a:ext cx="2862986" cy="457200"/>
          </a:xfrm>
          <a:prstGeom prst="rect">
            <a:avLst/>
          </a:prstGeom>
          <a:noFill/>
        </p:spPr>
        <p:txBody>
          <a:bodyPr wrap="square" lIns="0" rIns="0" tIns="0" bIns="0" anchor="t">
            <a:spAutoFit/>
          </a:bodyPr>
          <a:lstStyle/>
          <a:p>
            <a:pPr algn="l">
              <a:lnSpc>
                <a:spcPct val="140000"/>
              </a:lnSpc>
            </a:pPr>
            <a:r>
              <a:rPr sz="1000" b="0" i="0">
                <a:solidFill>
                  <a:srgbClr val="5F5E5A"/>
                </a:solidFill>
                <a:latin typeface="Helvetica Neue"/>
              </a:rPr>
              <a:t>The specialist reviews and signs once</a:t>
            </a:r>
          </a:p>
        </p:txBody>
      </p:sp>
      <p:sp>
        <p:nvSpPr>
          <p:cNvPr id="16" name="Rounded Rectangle 15"/>
          <p:cNvSpPr/>
          <p:nvPr/>
        </p:nvSpPr>
        <p:spPr>
          <a:xfrm>
            <a:off x="7947964" y="2103120"/>
            <a:ext cx="3375050" cy="4206240"/>
          </a:xfrm>
          <a:prstGeom prst="roundRect">
            <a:avLst>
              <a:gd name="adj" fmla="val 5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03996" y="2331720"/>
            <a:ext cx="2862986" cy="292608"/>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The distribution</a:t>
            </a:r>
          </a:p>
        </p:txBody>
      </p:sp>
      <p:sp>
        <p:nvSpPr>
          <p:cNvPr id="18" name="TextBox 17"/>
          <p:cNvSpPr txBox="1"/>
          <p:nvPr/>
        </p:nvSpPr>
        <p:spPr>
          <a:xfrm>
            <a:off x="8203996" y="2743200"/>
            <a:ext cx="2862986" cy="1691640"/>
          </a:xfrm>
          <a:prstGeom prst="rect">
            <a:avLst/>
          </a:prstGeom>
          <a:noFill/>
        </p:spPr>
        <p:txBody>
          <a:bodyPr wrap="square" lIns="0" rIns="0" tIns="0" bIns="0" anchor="t">
            <a:spAutoFit/>
          </a:bodyPr>
          <a:lstStyle/>
          <a:p>
            <a:pPr algn="l">
              <a:lnSpc>
                <a:spcPct val="150000"/>
              </a:lnSpc>
            </a:pPr>
            <a:r>
              <a:rPr sz="1300" b="0" i="0">
                <a:solidFill>
                  <a:srgbClr val="2C2C2A"/>
                </a:solidFill>
                <a:latin typeface="Helvetica Neue"/>
              </a:rPr>
              <a:t>No indiscriminate blast. Each Client Agent judges relevance for its own relationship; bankers receive why it matters here, with the client-specific analysis already prepared.</a:t>
            </a:r>
          </a:p>
        </p:txBody>
      </p:sp>
      <p:cxnSp>
        <p:nvCxnSpPr>
          <p:cNvPr id="19" name="Connector 18"/>
          <p:cNvCxnSpPr/>
          <p:nvPr/>
        </p:nvCxnSpPr>
        <p:spPr>
          <a:xfrm>
            <a:off x="8203996.666666667" y="5120640"/>
            <a:ext cx="2862986.333333333" cy="0"/>
          </a:xfrm>
          <a:prstGeom prst="line">
            <a:avLst/>
          </a:prstGeom>
          <a:ln w="6350">
            <a:solidFill>
              <a:srgbClr val="C8C7C1"/>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03996" y="5285232"/>
            <a:ext cx="2862986" cy="502920"/>
          </a:xfrm>
          <a:prstGeom prst="rect">
            <a:avLst/>
          </a:prstGeom>
          <a:noFill/>
        </p:spPr>
        <p:txBody>
          <a:bodyPr wrap="square" lIns="0" rIns="0" tIns="0" bIns="0" anchor="t">
            <a:spAutoFit/>
          </a:bodyPr>
          <a:lstStyle/>
          <a:p>
            <a:pPr algn="l">
              <a:lnSpc>
                <a:spcPct val="125000"/>
              </a:lnSpc>
            </a:pPr>
            <a:r>
              <a:rPr sz="1500" b="0" i="0">
                <a:solidFill>
                  <a:srgbClr val="2C2C2A"/>
                </a:solidFill>
                <a:latin typeface="Helvetica Neue Medium"/>
              </a:rPr>
              <a:t>Every fitting relationship</a:t>
            </a:r>
          </a:p>
        </p:txBody>
      </p:sp>
      <p:sp>
        <p:nvSpPr>
          <p:cNvPr id="21" name="TextBox 20"/>
          <p:cNvSpPr txBox="1"/>
          <p:nvPr/>
        </p:nvSpPr>
        <p:spPr>
          <a:xfrm>
            <a:off x="8203996" y="5833872"/>
            <a:ext cx="2862986" cy="457200"/>
          </a:xfrm>
          <a:prstGeom prst="rect">
            <a:avLst/>
          </a:prstGeom>
          <a:noFill/>
        </p:spPr>
        <p:txBody>
          <a:bodyPr wrap="square" lIns="0" rIns="0" tIns="0" bIns="0" anchor="t">
            <a:spAutoFit/>
          </a:bodyPr>
          <a:lstStyle/>
          <a:p>
            <a:pPr algn="l">
              <a:lnSpc>
                <a:spcPct val="140000"/>
              </a:lnSpc>
            </a:pPr>
            <a:r>
              <a:rPr sz="1000" b="0" i="0">
                <a:solidFill>
                  <a:srgbClr val="5F5E5A"/>
                </a:solidFill>
                <a:latin typeface="Helvetica Neue"/>
              </a:rPr>
              <a:t>Effortless at creation, precise in distribution</a:t>
            </a:r>
          </a:p>
        </p:txBody>
      </p:sp>
      <p:sp>
        <p:nvSpPr>
          <p:cNvPr id="22" name="TextBox 21"/>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12</a:t>
            </a:r>
            <a:r>
              <a:rPr sz="1000" b="0" i="0">
                <a:solidFill>
                  <a:srgbClr val="888780"/>
                </a:solidFill>
                <a:latin typeface="Helvetica Neue Medium"/>
              </a:rPr>
              <a:t>  /  32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05   </a:t>
            </a:r>
            <a:r>
              <a:rPr sz="1100" b="0" i="0">
                <a:solidFill>
                  <a:srgbClr val="993C1D"/>
                </a:solidFill>
                <a:latin typeface="Helvetica Neue Medium"/>
              </a:rPr>
              <a:t>The specialists  ·  The loop in reverse</a:t>
            </a:r>
          </a:p>
        </p:txBody>
      </p:sp>
      <p:sp>
        <p:nvSpPr>
          <p:cNvPr id="3" name="TextBox 2"/>
          <p:cNvSpPr txBox="1"/>
          <p:nvPr/>
        </p:nvSpPr>
        <p:spPr>
          <a:xfrm>
            <a:off x="868680" y="960120"/>
            <a:ext cx="10454335" cy="914400"/>
          </a:xfrm>
          <a:prstGeom prst="rect">
            <a:avLst/>
          </a:prstGeom>
          <a:noFill/>
        </p:spPr>
        <p:txBody>
          <a:bodyPr wrap="square" lIns="0" rIns="0" tIns="0" bIns="0" anchor="t">
            <a:spAutoFit/>
          </a:bodyPr>
          <a:lstStyle/>
          <a:p>
            <a:pPr algn="l">
              <a:lnSpc>
                <a:spcPct val="120000"/>
              </a:lnSpc>
            </a:pPr>
            <a:r>
              <a:rPr sz="2400" b="0" i="0">
                <a:solidFill>
                  <a:srgbClr val="2C2C2A"/>
                </a:solidFill>
                <a:latin typeface="Helvetica Neue Medium"/>
              </a:rPr>
              <a:t>The Hive: the franchise, live.</a:t>
            </a:r>
          </a:p>
        </p:txBody>
      </p:sp>
      <p:sp>
        <p:nvSpPr>
          <p:cNvPr id="4" name="Rounded Rectangle 3"/>
          <p:cNvSpPr/>
          <p:nvPr/>
        </p:nvSpPr>
        <p:spPr>
          <a:xfrm>
            <a:off x="868680" y="1874519"/>
            <a:ext cx="10454335" cy="2743200"/>
          </a:xfrm>
          <a:prstGeom prst="roundRect">
            <a:avLst>
              <a:gd name="adj" fmla="val 4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xagon 4"/>
          <p:cNvSpPr/>
          <p:nvPr/>
        </p:nvSpPr>
        <p:spPr>
          <a:xfrm>
            <a:off x="2148840" y="1939534"/>
            <a:ext cx="1005840" cy="871057"/>
          </a:xfrm>
          <a:prstGeom prst="hexagon">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800" b="0">
                <a:solidFill>
                  <a:srgbClr val="993C1D"/>
                </a:solidFill>
                <a:latin typeface="Helvetica Neue Medium"/>
              </a:rPr>
              <a:t>Meetings</a:t>
            </a:r>
          </a:p>
          <a:p>
            <a:pPr algn="ctr"/>
            <a:r>
              <a:rPr sz="650">
                <a:solidFill>
                  <a:srgbClr val="5F5E5A"/>
                </a:solidFill>
                <a:latin typeface="Helvetica Neue"/>
              </a:rPr>
              <a:t>what is discussed</a:t>
            </a:r>
          </a:p>
        </p:txBody>
      </p:sp>
      <p:sp>
        <p:nvSpPr>
          <p:cNvPr id="6" name="Hexagon 5"/>
          <p:cNvSpPr/>
          <p:nvPr/>
        </p:nvSpPr>
        <p:spPr>
          <a:xfrm>
            <a:off x="2903220" y="2375063"/>
            <a:ext cx="1005840" cy="871057"/>
          </a:xfrm>
          <a:prstGeom prst="hexagon">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800" b="0">
                <a:solidFill>
                  <a:srgbClr val="993C1D"/>
                </a:solidFill>
                <a:latin typeface="Helvetica Neue Medium"/>
              </a:rPr>
              <a:t>Questions</a:t>
            </a:r>
          </a:p>
          <a:p>
            <a:pPr algn="ctr"/>
            <a:r>
              <a:rPr sz="650">
                <a:solidFill>
                  <a:srgbClr val="5F5E5A"/>
                </a:solidFill>
                <a:latin typeface="Helvetica Neue"/>
              </a:rPr>
              <a:t>what clients ask</a:t>
            </a:r>
          </a:p>
        </p:txBody>
      </p:sp>
      <p:sp>
        <p:nvSpPr>
          <p:cNvPr id="7" name="Hexagon 6"/>
          <p:cNvSpPr/>
          <p:nvPr/>
        </p:nvSpPr>
        <p:spPr>
          <a:xfrm>
            <a:off x="2903220" y="3246119"/>
            <a:ext cx="1005840" cy="871057"/>
          </a:xfrm>
          <a:prstGeom prst="hexagon">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800" b="0">
                <a:solidFill>
                  <a:srgbClr val="993C1D"/>
                </a:solidFill>
                <a:latin typeface="Helvetica Neue Medium"/>
              </a:rPr>
              <a:t>Flows</a:t>
            </a:r>
          </a:p>
          <a:p>
            <a:pPr algn="ctr"/>
            <a:r>
              <a:rPr sz="650">
                <a:solidFill>
                  <a:srgbClr val="5F5E5A"/>
                </a:solidFill>
                <a:latin typeface="Helvetica Neue"/>
              </a:rPr>
              <a:t>where money moves</a:t>
            </a:r>
          </a:p>
        </p:txBody>
      </p:sp>
      <p:sp>
        <p:nvSpPr>
          <p:cNvPr id="8" name="Hexagon 7"/>
          <p:cNvSpPr/>
          <p:nvPr/>
        </p:nvSpPr>
        <p:spPr>
          <a:xfrm>
            <a:off x="2148840" y="3681648"/>
            <a:ext cx="1005840" cy="871057"/>
          </a:xfrm>
          <a:prstGeom prst="hexagon">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800" b="0">
                <a:solidFill>
                  <a:srgbClr val="993C1D"/>
                </a:solidFill>
                <a:latin typeface="Helvetica Neue Medium"/>
              </a:rPr>
              <a:t>Purchases</a:t>
            </a:r>
          </a:p>
          <a:p>
            <a:pPr algn="ctr"/>
            <a:r>
              <a:rPr sz="650">
                <a:solidFill>
                  <a:srgbClr val="5F5E5A"/>
                </a:solidFill>
                <a:latin typeface="Helvetica Neue"/>
              </a:rPr>
              <a:t>what clients buy</a:t>
            </a:r>
          </a:p>
        </p:txBody>
      </p:sp>
      <p:sp>
        <p:nvSpPr>
          <p:cNvPr id="9" name="Hexagon 8"/>
          <p:cNvSpPr/>
          <p:nvPr/>
        </p:nvSpPr>
        <p:spPr>
          <a:xfrm>
            <a:off x="1394460" y="3246119"/>
            <a:ext cx="1005840" cy="871057"/>
          </a:xfrm>
          <a:prstGeom prst="hexagon">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800" b="0">
                <a:solidFill>
                  <a:srgbClr val="993C1D"/>
                </a:solidFill>
                <a:latin typeface="Helvetica Neue Medium"/>
              </a:rPr>
              <a:t>Concerns</a:t>
            </a:r>
          </a:p>
          <a:p>
            <a:pPr algn="ctr"/>
            <a:r>
              <a:rPr sz="650">
                <a:solidFill>
                  <a:srgbClr val="5F5E5A"/>
                </a:solidFill>
                <a:latin typeface="Helvetica Neue"/>
              </a:rPr>
              <a:t>what is emerging</a:t>
            </a:r>
          </a:p>
        </p:txBody>
      </p:sp>
      <p:sp>
        <p:nvSpPr>
          <p:cNvPr id="10" name="Hexagon 9"/>
          <p:cNvSpPr/>
          <p:nvPr/>
        </p:nvSpPr>
        <p:spPr>
          <a:xfrm>
            <a:off x="1394460" y="2375063"/>
            <a:ext cx="1005840" cy="871057"/>
          </a:xfrm>
          <a:prstGeom prst="hexagon">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800" b="0">
                <a:solidFill>
                  <a:srgbClr val="993C1D"/>
                </a:solidFill>
                <a:latin typeface="Helvetica Neue Medium"/>
              </a:rPr>
              <a:t>Outcomes</a:t>
            </a:r>
          </a:p>
          <a:p>
            <a:pPr algn="ctr"/>
            <a:r>
              <a:rPr sz="650">
                <a:solidFill>
                  <a:srgbClr val="5F5E5A"/>
                </a:solidFill>
                <a:latin typeface="Helvetica Neue"/>
              </a:rPr>
              <a:t>what worked</a:t>
            </a:r>
          </a:p>
        </p:txBody>
      </p:sp>
      <p:sp>
        <p:nvSpPr>
          <p:cNvPr id="11" name="Hexagon 10"/>
          <p:cNvSpPr/>
          <p:nvPr/>
        </p:nvSpPr>
        <p:spPr>
          <a:xfrm>
            <a:off x="2148840" y="2810591"/>
            <a:ext cx="1005840" cy="871057"/>
          </a:xfrm>
          <a:prstGeom prst="hexagon">
            <a:avLst/>
          </a:prstGeom>
          <a:solidFill>
            <a:srgbClr val="D85A30"/>
          </a:solidFill>
          <a:ln w="635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900" b="0">
                <a:solidFill>
                  <a:srgbClr val="FFFFFF"/>
                </a:solidFill>
                <a:latin typeface="Helvetica Neue Medium"/>
              </a:rPr>
              <a:t>THE HIVE</a:t>
            </a:r>
          </a:p>
          <a:p>
            <a:pPr algn="ctr"/>
            <a:r>
              <a:rPr sz="650">
                <a:solidFill>
                  <a:srgbClr val="FAECE7"/>
                </a:solidFill>
                <a:latin typeface="Helvetica Neue"/>
              </a:rPr>
              <a:t>aggregated · live</a:t>
            </a:r>
          </a:p>
        </p:txBody>
      </p:sp>
      <p:sp>
        <p:nvSpPr>
          <p:cNvPr id="12" name="Rounded Rectangle 11"/>
          <p:cNvSpPr/>
          <p:nvPr/>
        </p:nvSpPr>
        <p:spPr>
          <a:xfrm>
            <a:off x="5166360" y="2331719"/>
            <a:ext cx="6019495" cy="1234440"/>
          </a:xfrm>
          <a:prstGeom prst="roundRect">
            <a:avLst>
              <a:gd name="adj" fmla="val 8000"/>
            </a:avLst>
          </a:prstGeom>
          <a:solidFill>
            <a:srgbClr val="FAECE7"/>
          </a:solidFill>
          <a:ln w="9525">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60" y="2478023"/>
            <a:ext cx="5562295" cy="228600"/>
          </a:xfrm>
          <a:prstGeom prst="rect">
            <a:avLst/>
          </a:prstGeom>
          <a:noFill/>
        </p:spPr>
        <p:txBody>
          <a:bodyPr wrap="square" lIns="0" rIns="0" tIns="0" bIns="0" anchor="t">
            <a:spAutoFit/>
          </a:bodyPr>
          <a:lstStyle/>
          <a:p>
            <a:pPr algn="l">
              <a:lnSpc>
                <a:spcPct val="125000"/>
              </a:lnSpc>
            </a:pPr>
            <a:r>
              <a:rPr sz="1000" b="0" i="0">
                <a:solidFill>
                  <a:srgbClr val="993C1D"/>
                </a:solidFill>
                <a:latin typeface="Helvetica Neue Medium"/>
              </a:rPr>
              <a:t>SPECIALISTS</a:t>
            </a:r>
          </a:p>
        </p:txBody>
      </p:sp>
      <p:sp>
        <p:nvSpPr>
          <p:cNvPr id="14" name="TextBox 13"/>
          <p:cNvSpPr txBox="1"/>
          <p:nvPr/>
        </p:nvSpPr>
        <p:spPr>
          <a:xfrm>
            <a:off x="5394960" y="2752343"/>
            <a:ext cx="5562295" cy="365760"/>
          </a:xfrm>
          <a:prstGeom prst="rect">
            <a:avLst/>
          </a:prstGeom>
          <a:noFill/>
        </p:spPr>
        <p:txBody>
          <a:bodyPr wrap="square" lIns="0" rIns="0" tIns="0" bIns="0" anchor="t">
            <a:spAutoFit/>
          </a:bodyPr>
          <a:lstStyle/>
          <a:p>
            <a:pPr algn="l">
              <a:lnSpc>
                <a:spcPct val="115000"/>
              </a:lnSpc>
            </a:pPr>
            <a:r>
              <a:rPr sz="1800" b="0" i="0">
                <a:solidFill>
                  <a:srgbClr val="2C2C2A"/>
                </a:solidFill>
                <a:latin typeface="Helvetica Neue Medium"/>
              </a:rPr>
              <a:t>What the franchise needs — before it asks.</a:t>
            </a:r>
          </a:p>
        </p:txBody>
      </p:sp>
      <p:sp>
        <p:nvSpPr>
          <p:cNvPr id="15" name="TextBox 14"/>
          <p:cNvSpPr txBox="1"/>
          <p:nvPr/>
        </p:nvSpPr>
        <p:spPr>
          <a:xfrm>
            <a:off x="5394960" y="3099815"/>
            <a:ext cx="5562295" cy="475488"/>
          </a:xfrm>
          <a:prstGeom prst="rect">
            <a:avLst/>
          </a:prstGeom>
          <a:noFill/>
        </p:spPr>
        <p:txBody>
          <a:bodyPr wrap="square" lIns="0" rIns="0" tIns="0" bIns="0" anchor="t">
            <a:spAutoFit/>
          </a:bodyPr>
          <a:lstStyle/>
          <a:p>
            <a:pPr algn="l">
              <a:lnSpc>
                <a:spcPct val="140000"/>
              </a:lnSpc>
            </a:pPr>
            <a:r>
              <a:rPr sz="1100" b="0" i="0">
                <a:solidFill>
                  <a:srgbClr val="5F5E5A"/>
                </a:solidFill>
                <a:latin typeface="Helvetica Neue"/>
              </a:rPr>
              <a:t>What clients are asking. Which concerns are emerging. Where needs sit unanswered.</a:t>
            </a:r>
          </a:p>
        </p:txBody>
      </p:sp>
      <p:cxnSp>
        <p:nvCxnSpPr>
          <p:cNvPr id="16" name="Connector 15"/>
          <p:cNvCxnSpPr/>
          <p:nvPr/>
        </p:nvCxnSpPr>
        <p:spPr>
          <a:xfrm flipV="1">
            <a:off x="3557016" y="2606039"/>
            <a:ext cx="1563624" cy="594360.0"/>
          </a:xfrm>
          <a:prstGeom prst="line">
            <a:avLst/>
          </a:prstGeom>
          <a:ln w="19050">
            <a:solidFill>
              <a:srgbClr val="D85A30"/>
            </a:solidFill>
            <a:tailEnd type="triangle" w="med" h="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059936" y="2926079"/>
            <a:ext cx="731520" cy="201168"/>
          </a:xfrm>
          <a:prstGeom prst="rect">
            <a:avLst/>
          </a:prstGeom>
          <a:noFill/>
        </p:spPr>
        <p:txBody>
          <a:bodyPr wrap="square" lIns="0" rIns="0" tIns="0" bIns="0" anchor="t">
            <a:spAutoFit/>
          </a:bodyPr>
          <a:lstStyle/>
          <a:p>
            <a:pPr algn="l">
              <a:lnSpc>
                <a:spcPct val="125000"/>
              </a:lnSpc>
            </a:pPr>
            <a:r>
              <a:rPr sz="1000" b="0" i="0">
                <a:solidFill>
                  <a:srgbClr val="993C1D"/>
                </a:solidFill>
                <a:latin typeface="Helvetica Neue Medium"/>
              </a:rPr>
              <a:t>live</a:t>
            </a:r>
          </a:p>
        </p:txBody>
      </p:sp>
      <p:cxnSp>
        <p:nvCxnSpPr>
          <p:cNvPr id="18" name="Connector 17"/>
          <p:cNvCxnSpPr/>
          <p:nvPr/>
        </p:nvCxnSpPr>
        <p:spPr>
          <a:xfrm>
            <a:off x="8477082.25" y="3584447"/>
            <a:ext cx="0.0" cy="274320"/>
          </a:xfrm>
          <a:prstGeom prst="line">
            <a:avLst/>
          </a:prstGeom>
          <a:ln w="9525">
            <a:solidFill>
              <a:srgbClr val="5F5E5A"/>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531946" y="3611879"/>
            <a:ext cx="457200" cy="182880"/>
          </a:xfrm>
          <a:prstGeom prst="rect">
            <a:avLst/>
          </a:prstGeom>
          <a:noFill/>
        </p:spPr>
        <p:txBody>
          <a:bodyPr wrap="square" lIns="0" rIns="0" tIns="0" bIns="0" anchor="t">
            <a:spAutoFit/>
          </a:bodyPr>
          <a:lstStyle/>
          <a:p>
            <a:pPr algn="l">
              <a:lnSpc>
                <a:spcPct val="125000"/>
              </a:lnSpc>
            </a:pPr>
            <a:r>
              <a:rPr sz="900" b="0" i="0">
                <a:solidFill>
                  <a:srgbClr val="5F5E5A"/>
                </a:solidFill>
                <a:latin typeface="Helvetica Neue"/>
              </a:rPr>
              <a:t>back</a:t>
            </a:r>
          </a:p>
        </p:txBody>
      </p:sp>
      <p:sp>
        <p:nvSpPr>
          <p:cNvPr id="20" name="Rounded Rectangle 19"/>
          <p:cNvSpPr/>
          <p:nvPr/>
        </p:nvSpPr>
        <p:spPr>
          <a:xfrm>
            <a:off x="5440680" y="3886199"/>
            <a:ext cx="5470855" cy="50292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23560" y="3959351"/>
            <a:ext cx="5105095" cy="201168"/>
          </a:xfrm>
          <a:prstGeom prst="rect">
            <a:avLst/>
          </a:prstGeom>
          <a:noFill/>
        </p:spPr>
        <p:txBody>
          <a:bodyPr wrap="square" lIns="0" rIns="0" tIns="0" bIns="0" anchor="t">
            <a:spAutoFit/>
          </a:bodyPr>
          <a:lstStyle/>
          <a:p>
            <a:pPr algn="l">
              <a:lnSpc>
                <a:spcPct val="125000"/>
              </a:lnSpc>
            </a:pPr>
            <a:r>
              <a:rPr sz="900" b="0" i="0">
                <a:solidFill>
                  <a:srgbClr val="5F5E5A"/>
                </a:solidFill>
                <a:latin typeface="Helvetica Neue Medium"/>
              </a:rPr>
              <a:t>CLIENT AGENTS + ADVISORS</a:t>
            </a:r>
          </a:p>
        </p:txBody>
      </p:sp>
      <p:sp>
        <p:nvSpPr>
          <p:cNvPr id="22" name="TextBox 21"/>
          <p:cNvSpPr txBox="1"/>
          <p:nvPr/>
        </p:nvSpPr>
        <p:spPr>
          <a:xfrm>
            <a:off x="5623560" y="4160519"/>
            <a:ext cx="5105095" cy="274320"/>
          </a:xfrm>
          <a:prstGeom prst="rect">
            <a:avLst/>
          </a:prstGeom>
          <a:noFill/>
        </p:spPr>
        <p:txBody>
          <a:bodyPr wrap="square" lIns="0" rIns="0" tIns="0" bIns="0" anchor="t">
            <a:spAutoFit/>
          </a:bodyPr>
          <a:lstStyle/>
          <a:p>
            <a:pPr algn="l">
              <a:lnSpc>
                <a:spcPct val="125000"/>
              </a:lnSpc>
            </a:pPr>
            <a:r>
              <a:rPr sz="1100" b="0" i="0">
                <a:solidFill>
                  <a:srgbClr val="2C2C2A"/>
                </a:solidFill>
                <a:latin typeface="Helvetica Neue Medium"/>
              </a:rPr>
              <a:t>Ideas return — matched, explained, and prepared per relationship.</a:t>
            </a:r>
          </a:p>
        </p:txBody>
      </p:sp>
      <p:sp>
        <p:nvSpPr>
          <p:cNvPr id="23" name="Rounded Rectangle 22"/>
          <p:cNvSpPr/>
          <p:nvPr/>
        </p:nvSpPr>
        <p:spPr>
          <a:xfrm>
            <a:off x="868680" y="4754880"/>
            <a:ext cx="2517571" cy="1554480"/>
          </a:xfrm>
          <a:prstGeom prst="roundRect">
            <a:avLst>
              <a:gd name="adj" fmla="val 6000"/>
            </a:avLst>
          </a:prstGeom>
          <a:solidFill>
            <a:srgbClr val="FAF8F1"/>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4937760"/>
            <a:ext cx="2151811" cy="292608"/>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Questions rising</a:t>
            </a:r>
          </a:p>
        </p:txBody>
      </p:sp>
      <p:sp>
        <p:nvSpPr>
          <p:cNvPr id="25" name="TextBox 24"/>
          <p:cNvSpPr txBox="1"/>
          <p:nvPr/>
        </p:nvSpPr>
        <p:spPr>
          <a:xfrm>
            <a:off x="1051560" y="5285232"/>
            <a:ext cx="2151811" cy="914400"/>
          </a:xfrm>
          <a:prstGeom prst="rect">
            <a:avLst/>
          </a:prstGeom>
          <a:noFill/>
        </p:spPr>
        <p:txBody>
          <a:bodyPr wrap="square" lIns="0" rIns="0" tIns="0" bIns="0" anchor="t">
            <a:spAutoFit/>
          </a:bodyPr>
          <a:lstStyle/>
          <a:p>
            <a:pPr algn="l">
              <a:lnSpc>
                <a:spcPct val="140000"/>
              </a:lnSpc>
            </a:pPr>
            <a:r>
              <a:rPr sz="1000" b="0" i="0">
                <a:solidFill>
                  <a:srgbClr val="2C2C2A"/>
                </a:solidFill>
                <a:latin typeface="Helvetica Neue"/>
              </a:rPr>
              <a:t>A theme spikes across this week’s calls — the desk answers once, everywhere.</a:t>
            </a:r>
          </a:p>
        </p:txBody>
      </p:sp>
      <p:sp>
        <p:nvSpPr>
          <p:cNvPr id="26" name="Rounded Rectangle 25"/>
          <p:cNvSpPr/>
          <p:nvPr/>
        </p:nvSpPr>
        <p:spPr>
          <a:xfrm>
            <a:off x="3514267" y="4754880"/>
            <a:ext cx="2517571" cy="1554480"/>
          </a:xfrm>
          <a:prstGeom prst="roundRect">
            <a:avLst>
              <a:gd name="adj" fmla="val 6000"/>
            </a:avLst>
          </a:prstGeom>
          <a:solidFill>
            <a:srgbClr val="FAF8F1"/>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97147" y="4937760"/>
            <a:ext cx="2151811" cy="292608"/>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Unanswered needs</a:t>
            </a:r>
          </a:p>
        </p:txBody>
      </p:sp>
      <p:sp>
        <p:nvSpPr>
          <p:cNvPr id="28" name="TextBox 27"/>
          <p:cNvSpPr txBox="1"/>
          <p:nvPr/>
        </p:nvSpPr>
        <p:spPr>
          <a:xfrm>
            <a:off x="3697147" y="5285232"/>
            <a:ext cx="2151811" cy="914400"/>
          </a:xfrm>
          <a:prstGeom prst="rect">
            <a:avLst/>
          </a:prstGeom>
          <a:noFill/>
        </p:spPr>
        <p:txBody>
          <a:bodyPr wrap="square" lIns="0" rIns="0" tIns="0" bIns="0" anchor="t">
            <a:spAutoFit/>
          </a:bodyPr>
          <a:lstStyle/>
          <a:p>
            <a:pPr algn="l">
              <a:lnSpc>
                <a:spcPct val="140000"/>
              </a:lnSpc>
            </a:pPr>
            <a:r>
              <a:rPr sz="1000" b="0" i="0">
                <a:solidFill>
                  <a:srgbClr val="2C2C2A"/>
                </a:solidFill>
                <a:latin typeface="Helvetica Neue"/>
              </a:rPr>
              <a:t>Clients keep asking for something we have not packaged. Now it is visible.</a:t>
            </a:r>
          </a:p>
        </p:txBody>
      </p:sp>
      <p:sp>
        <p:nvSpPr>
          <p:cNvPr id="29" name="Rounded Rectangle 28"/>
          <p:cNvSpPr/>
          <p:nvPr/>
        </p:nvSpPr>
        <p:spPr>
          <a:xfrm>
            <a:off x="6159855" y="4754880"/>
            <a:ext cx="2517571" cy="1554480"/>
          </a:xfrm>
          <a:prstGeom prst="roundRect">
            <a:avLst>
              <a:gd name="adj" fmla="val 6000"/>
            </a:avLst>
          </a:prstGeom>
          <a:solidFill>
            <a:srgbClr val="FAF8F1"/>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42735" y="4937760"/>
            <a:ext cx="2151811" cy="292608"/>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Adoption &amp; outcomes</a:t>
            </a:r>
          </a:p>
        </p:txBody>
      </p:sp>
      <p:sp>
        <p:nvSpPr>
          <p:cNvPr id="31" name="TextBox 30"/>
          <p:cNvSpPr txBox="1"/>
          <p:nvPr/>
        </p:nvSpPr>
        <p:spPr>
          <a:xfrm>
            <a:off x="6342735" y="5285232"/>
            <a:ext cx="2151811" cy="914400"/>
          </a:xfrm>
          <a:prstGeom prst="rect">
            <a:avLst/>
          </a:prstGeom>
          <a:noFill/>
        </p:spPr>
        <p:txBody>
          <a:bodyPr wrap="square" lIns="0" rIns="0" tIns="0" bIns="0" anchor="t">
            <a:spAutoFit/>
          </a:bodyPr>
          <a:lstStyle/>
          <a:p>
            <a:pPr algn="l">
              <a:lnSpc>
                <a:spcPct val="140000"/>
              </a:lnSpc>
            </a:pPr>
            <a:r>
              <a:rPr sz="1000" b="0" i="1">
                <a:solidFill>
                  <a:srgbClr val="2C2C2A"/>
                </a:solidFill>
                <a:latin typeface="Helvetica Neue"/>
              </a:rPr>
              <a:t>Who used the idea, what clients asked back, and what happened next — returned to the author.</a:t>
            </a:r>
          </a:p>
        </p:txBody>
      </p:sp>
      <p:sp>
        <p:nvSpPr>
          <p:cNvPr id="32" name="Rounded Rectangle 31"/>
          <p:cNvSpPr/>
          <p:nvPr/>
        </p:nvSpPr>
        <p:spPr>
          <a:xfrm>
            <a:off x="8805443" y="4754880"/>
            <a:ext cx="2517571" cy="1554480"/>
          </a:xfrm>
          <a:prstGeom prst="roundRect">
            <a:avLst>
              <a:gd name="adj" fmla="val 6000"/>
            </a:avLst>
          </a:prstGeom>
          <a:solidFill>
            <a:srgbClr val="FAF8F1"/>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88323" y="4937760"/>
            <a:ext cx="2151811" cy="292608"/>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Aggregated by design</a:t>
            </a:r>
          </a:p>
        </p:txBody>
      </p:sp>
      <p:sp>
        <p:nvSpPr>
          <p:cNvPr id="34" name="TextBox 33"/>
          <p:cNvSpPr txBox="1"/>
          <p:nvPr/>
        </p:nvSpPr>
        <p:spPr>
          <a:xfrm>
            <a:off x="8988323" y="5285232"/>
            <a:ext cx="2151811" cy="914400"/>
          </a:xfrm>
          <a:prstGeom prst="rect">
            <a:avLst/>
          </a:prstGeom>
          <a:noFill/>
        </p:spPr>
        <p:txBody>
          <a:bodyPr wrap="square" lIns="0" rIns="0" tIns="0" bIns="0" anchor="t">
            <a:spAutoFit/>
          </a:bodyPr>
          <a:lstStyle/>
          <a:p>
            <a:pPr algn="l">
              <a:lnSpc>
                <a:spcPct val="140000"/>
              </a:lnSpc>
            </a:pPr>
            <a:r>
              <a:rPr sz="1000" b="0" i="0">
                <a:solidFill>
                  <a:srgbClr val="2C2C2A"/>
                </a:solidFill>
                <a:latin typeface="Helvetica Neue"/>
              </a:rPr>
              <a:t>Cohorts and themes, never named clients — entitlements and a log on every query.</a:t>
            </a:r>
          </a:p>
        </p:txBody>
      </p:sp>
      <p:sp>
        <p:nvSpPr>
          <p:cNvPr id="35" name="TextBox 34"/>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13</a:t>
            </a:r>
            <a:r>
              <a:rPr sz="1000" b="0" i="0">
                <a:solidFill>
                  <a:srgbClr val="888780"/>
                </a:solidFill>
                <a:latin typeface="Helvetica Neue Medium"/>
              </a:rPr>
              <a:t>  /  32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2011680"/>
            <a:ext cx="2743200" cy="1828800"/>
          </a:xfrm>
          <a:prstGeom prst="rect">
            <a:avLst/>
          </a:prstGeom>
          <a:noFill/>
        </p:spPr>
        <p:txBody>
          <a:bodyPr wrap="square" lIns="0" rIns="0" tIns="0" bIns="0" anchor="t">
            <a:spAutoFit/>
          </a:bodyPr>
          <a:lstStyle/>
          <a:p>
            <a:pPr algn="l">
              <a:lnSpc>
                <a:spcPct val="100000"/>
              </a:lnSpc>
            </a:pPr>
            <a:r>
              <a:rPr sz="11000" b="0" i="0">
                <a:solidFill>
                  <a:srgbClr val="D85A30"/>
                </a:solidFill>
                <a:latin typeface="Helvetica Neue Medium"/>
              </a:rPr>
              <a:t>v</a:t>
            </a:r>
          </a:p>
        </p:txBody>
      </p:sp>
      <p:sp>
        <p:nvSpPr>
          <p:cNvPr id="3" name="TextBox 2"/>
          <p:cNvSpPr txBox="1"/>
          <p:nvPr/>
        </p:nvSpPr>
        <p:spPr>
          <a:xfrm>
            <a:off x="868680" y="3703320"/>
            <a:ext cx="2743200" cy="365760"/>
          </a:xfrm>
          <a:prstGeom prst="rect">
            <a:avLst/>
          </a:prstGeom>
          <a:noFill/>
        </p:spPr>
        <p:txBody>
          <a:bodyPr wrap="square" lIns="0" rIns="0" tIns="0" bIns="0" anchor="t">
            <a:spAutoFit/>
          </a:bodyPr>
          <a:lstStyle/>
          <a:p>
            <a:pPr algn="l">
              <a:lnSpc>
                <a:spcPct val="125000"/>
              </a:lnSpc>
            </a:pPr>
            <a:r>
              <a:rPr sz="1100" b="0" i="0">
                <a:solidFill>
                  <a:srgbClr val="5F5E5A"/>
                </a:solidFill>
                <a:latin typeface="Helvetica Neue Medium"/>
              </a:rPr>
              <a:t>The machinery</a:t>
            </a:r>
          </a:p>
        </p:txBody>
      </p:sp>
      <p:sp>
        <p:nvSpPr>
          <p:cNvPr id="4" name="TextBox 3"/>
          <p:cNvSpPr txBox="1"/>
          <p:nvPr/>
        </p:nvSpPr>
        <p:spPr>
          <a:xfrm>
            <a:off x="4251960" y="1874519"/>
            <a:ext cx="7071055" cy="1097280"/>
          </a:xfrm>
          <a:prstGeom prst="rect">
            <a:avLst/>
          </a:prstGeom>
          <a:noFill/>
        </p:spPr>
        <p:txBody>
          <a:bodyPr wrap="square" lIns="0" rIns="0" tIns="0" bIns="0" anchor="t">
            <a:spAutoFit/>
          </a:bodyPr>
          <a:lstStyle/>
          <a:p>
            <a:pPr algn="l">
              <a:lnSpc>
                <a:spcPct val="110000"/>
              </a:lnSpc>
            </a:pPr>
            <a:r>
              <a:rPr sz="3600" b="0" i="0">
                <a:solidFill>
                  <a:srgbClr val="2C2C2A"/>
                </a:solidFill>
                <a:latin typeface="Helvetica Neue Medium"/>
              </a:rPr>
              <a:t>From client intent to finished work.</a:t>
            </a:r>
          </a:p>
        </p:txBody>
      </p:sp>
      <p:sp>
        <p:nvSpPr>
          <p:cNvPr id="5" name="TextBox 4"/>
          <p:cNvSpPr txBox="1"/>
          <p:nvPr/>
        </p:nvSpPr>
        <p:spPr>
          <a:xfrm>
            <a:off x="4251960" y="3108960"/>
            <a:ext cx="7071055" cy="3291840"/>
          </a:xfrm>
          <a:prstGeom prst="rect">
            <a:avLst/>
          </a:prstGeom>
          <a:noFill/>
        </p:spPr>
        <p:txBody>
          <a:bodyPr wrap="square" lIns="0" rIns="0" tIns="0" bIns="0" anchor="t">
            <a:spAutoFit/>
          </a:bodyPr>
          <a:lstStyle/>
          <a:p>
            <a:pPr algn="l">
              <a:lnSpc>
                <a:spcPct val="150000"/>
              </a:lnSpc>
            </a:pPr>
            <a:r>
              <a:rPr sz="1400" b="0" i="0">
                <a:solidFill>
                  <a:srgbClr val="444441"/>
                </a:solidFill>
                <a:latin typeface="Helvetica Neue"/>
              </a:rPr>
              <a:t>An address change, a mortgage, a line of credit: the banker should never coordinate eleven applications by hand. An agent understands the intent, gathers what is required, coordinates the systems and specialists, tracks the work, and keeps everyone informed. Controlled systems keep identity, authorization, money movement, and books and records — the certainties stay certain.</a:t>
            </a:r>
          </a:p>
          <a:p>
            <a:pPr algn="l">
              <a:lnSpc>
                <a:spcPct val="150000"/>
              </a:lnSpc>
              <a:spcBef>
                <a:spcPts val="800"/>
              </a:spcBef>
            </a:pPr>
            <a:r>
              <a:rPr sz="1400" b="0" i="0">
                <a:solidFill>
                  <a:srgbClr val="444441"/>
                </a:solidFill>
                <a:latin typeface="Helvetica Neue"/>
              </a:rPr>
              <a:t>Operations professionals become supervisors of intelligent execution — exceptions, judgment, and improving the workflows themselves. </a:t>
            </a:r>
            <a:r>
              <a:rPr sz="1400" b="0" i="0">
                <a:solidFill>
                  <a:srgbClr val="993C1D"/>
                </a:solidFill>
                <a:latin typeface="Helvetica Neue Medium"/>
              </a:rPr>
              <a:t>When something fails, an agent assembles the full history, explains the problem, and recommends resolutions before the expert steps in.</a:t>
            </a:r>
          </a:p>
        </p:txBody>
      </p:sp>
      <p:sp>
        <p:nvSpPr>
          <p:cNvPr id="6" name="TextBox 5"/>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14</a:t>
            </a:r>
            <a:r>
              <a:rPr sz="1000" b="0" i="0">
                <a:solidFill>
                  <a:srgbClr val="888780"/>
                </a:solidFill>
                <a:latin typeface="Helvetica Neue Medium"/>
              </a:rPr>
              <a:t>  /  32</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06   </a:t>
            </a:r>
            <a:r>
              <a:rPr sz="1100" b="0" i="0">
                <a:solidFill>
                  <a:srgbClr val="993C1D"/>
                </a:solidFill>
                <a:latin typeface="Helvetica Neue Medium"/>
              </a:rPr>
              <a:t>The machinery  ·  The operating model</a:t>
            </a:r>
          </a:p>
        </p:txBody>
      </p:sp>
      <p:sp>
        <p:nvSpPr>
          <p:cNvPr id="3" name="TextBox 2"/>
          <p:cNvSpPr txBox="1"/>
          <p:nvPr/>
        </p:nvSpPr>
        <p:spPr>
          <a:xfrm>
            <a:off x="868680" y="960120"/>
            <a:ext cx="10454335" cy="777240"/>
          </a:xfrm>
          <a:prstGeom prst="rect">
            <a:avLst/>
          </a:prstGeom>
          <a:noFill/>
        </p:spPr>
        <p:txBody>
          <a:bodyPr wrap="square" lIns="0" rIns="0" tIns="0" bIns="0" anchor="t">
            <a:spAutoFit/>
          </a:bodyPr>
          <a:lstStyle/>
          <a:p>
            <a:pPr algn="l">
              <a:lnSpc>
                <a:spcPct val="115000"/>
              </a:lnSpc>
            </a:pPr>
            <a:r>
              <a:rPr sz="3000" b="0" i="0">
                <a:solidFill>
                  <a:srgbClr val="2C2C2A"/>
                </a:solidFill>
                <a:latin typeface="Helvetica Neue Medium"/>
              </a:rPr>
              <a:t>From coordinating tasks to overseeing agents.</a:t>
            </a:r>
          </a:p>
        </p:txBody>
      </p:sp>
      <p:sp>
        <p:nvSpPr>
          <p:cNvPr id="4" name="TextBox 3"/>
          <p:cNvSpPr txBox="1"/>
          <p:nvPr/>
        </p:nvSpPr>
        <p:spPr>
          <a:xfrm>
            <a:off x="868680" y="1783080"/>
            <a:ext cx="10454335" cy="502920"/>
          </a:xfrm>
          <a:prstGeom prst="rect">
            <a:avLst/>
          </a:prstGeom>
          <a:noFill/>
        </p:spPr>
        <p:txBody>
          <a:bodyPr wrap="square" lIns="0" rIns="0" tIns="0" bIns="0" anchor="t">
            <a:spAutoFit/>
          </a:bodyPr>
          <a:lstStyle/>
          <a:p>
            <a:pPr algn="l">
              <a:lnSpc>
                <a:spcPct val="140000"/>
              </a:lnSpc>
            </a:pPr>
            <a:r>
              <a:rPr sz="1200" b="0" i="0">
                <a:solidFill>
                  <a:srgbClr val="5F5E5A"/>
                </a:solidFill>
                <a:latin typeface="Helvetica Neue"/>
              </a:rPr>
              <a:t>A line of credit today: the file moves down a queue, each step waiting on the one before it. Next, agents run the steps in parallel, and people approve at the checkpoints that matter.</a:t>
            </a:r>
          </a:p>
        </p:txBody>
      </p:sp>
      <p:sp>
        <p:nvSpPr>
          <p:cNvPr id="5" name="Rounded Rectangle 4"/>
          <p:cNvSpPr/>
          <p:nvPr/>
        </p:nvSpPr>
        <p:spPr>
          <a:xfrm>
            <a:off x="868680" y="2423160"/>
            <a:ext cx="10454335" cy="3337560"/>
          </a:xfrm>
          <a:prstGeom prst="roundRect">
            <a:avLst>
              <a:gd name="adj" fmla="val 4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587752"/>
            <a:ext cx="822960" cy="201168"/>
          </a:xfrm>
          <a:prstGeom prst="rect">
            <a:avLst/>
          </a:prstGeom>
          <a:noFill/>
        </p:spPr>
        <p:txBody>
          <a:bodyPr wrap="square" lIns="0" rIns="0" tIns="0" bIns="0" anchor="t">
            <a:spAutoFit/>
          </a:bodyPr>
          <a:lstStyle/>
          <a:p>
            <a:pPr algn="l">
              <a:lnSpc>
                <a:spcPct val="125000"/>
              </a:lnSpc>
            </a:pPr>
            <a:r>
              <a:rPr sz="1100" b="0" i="0">
                <a:solidFill>
                  <a:srgbClr val="5F5E5A"/>
                </a:solidFill>
                <a:latin typeface="Helvetica Neue Medium"/>
              </a:rPr>
              <a:t>Today</a:t>
            </a:r>
          </a:p>
        </p:txBody>
      </p:sp>
      <p:sp>
        <p:nvSpPr>
          <p:cNvPr id="7" name="TextBox 6"/>
          <p:cNvSpPr txBox="1"/>
          <p:nvPr/>
        </p:nvSpPr>
        <p:spPr>
          <a:xfrm>
            <a:off x="1737360" y="2587752"/>
            <a:ext cx="5029200" cy="201168"/>
          </a:xfrm>
          <a:prstGeom prst="rect">
            <a:avLst/>
          </a:prstGeom>
          <a:noFill/>
        </p:spPr>
        <p:txBody>
          <a:bodyPr wrap="square" lIns="0" rIns="0" tIns="0" bIns="0" anchor="t">
            <a:spAutoFit/>
          </a:bodyPr>
          <a:lstStyle/>
          <a:p>
            <a:pPr algn="l">
              <a:lnSpc>
                <a:spcPct val="125000"/>
              </a:lnSpc>
            </a:pPr>
            <a:r>
              <a:rPr sz="1000" b="0" i="0">
                <a:solidFill>
                  <a:srgbClr val="888780"/>
                </a:solidFill>
                <a:latin typeface="Helvetica Neue"/>
              </a:rPr>
              <a:t>People in sequence. A handoff at every step.</a:t>
            </a:r>
          </a:p>
        </p:txBody>
      </p:sp>
      <p:sp>
        <p:nvSpPr>
          <p:cNvPr id="8" name="TextBox 7"/>
          <p:cNvSpPr txBox="1"/>
          <p:nvPr/>
        </p:nvSpPr>
        <p:spPr>
          <a:xfrm>
            <a:off x="1097280" y="2825496"/>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Banker</a:t>
            </a:r>
          </a:p>
        </p:txBody>
      </p:sp>
      <p:sp>
        <p:nvSpPr>
          <p:cNvPr id="9" name="Rounded Rectangle 8"/>
          <p:cNvSpPr/>
          <p:nvPr/>
        </p:nvSpPr>
        <p:spPr>
          <a:xfrm>
            <a:off x="2743200" y="2825496"/>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081528"/>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Credit</a:t>
            </a:r>
          </a:p>
        </p:txBody>
      </p:sp>
      <p:sp>
        <p:nvSpPr>
          <p:cNvPr id="11" name="Rounded Rectangle 10"/>
          <p:cNvSpPr/>
          <p:nvPr/>
        </p:nvSpPr>
        <p:spPr>
          <a:xfrm>
            <a:off x="2743200" y="3081528"/>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337560"/>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Documentation</a:t>
            </a:r>
          </a:p>
        </p:txBody>
      </p:sp>
      <p:sp>
        <p:nvSpPr>
          <p:cNvPr id="13" name="Rounded Rectangle 12"/>
          <p:cNvSpPr/>
          <p:nvPr/>
        </p:nvSpPr>
        <p:spPr>
          <a:xfrm>
            <a:off x="2743200" y="3337560"/>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593592"/>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Servicing</a:t>
            </a:r>
          </a:p>
        </p:txBody>
      </p:sp>
      <p:sp>
        <p:nvSpPr>
          <p:cNvPr id="15" name="Rounded Rectangle 14"/>
          <p:cNvSpPr/>
          <p:nvPr/>
        </p:nvSpPr>
        <p:spPr>
          <a:xfrm>
            <a:off x="2743200" y="3593592"/>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899251" y="2862072"/>
            <a:ext cx="1404463" cy="146304"/>
          </a:xfrm>
          <a:prstGeom prst="roundRect">
            <a:avLst>
              <a:gd name="adj" fmla="val 15000"/>
            </a:avLst>
          </a:prstGeom>
          <a:solidFill>
            <a:srgbClr val="5F5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FFFFFF"/>
                </a:solidFill>
                <a:latin typeface="Helvetica Neue Medium"/>
              </a:rPr>
              <a:t>Intake</a:t>
            </a:r>
          </a:p>
        </p:txBody>
      </p:sp>
      <p:cxnSp>
        <p:nvCxnSpPr>
          <p:cNvPr id="17" name="Connector 16"/>
          <p:cNvCxnSpPr/>
          <p:nvPr/>
        </p:nvCxnSpPr>
        <p:spPr>
          <a:xfrm>
            <a:off x="4303715.0" y="2935224.0"/>
            <a:ext cx="312103.0" cy="292608.0"/>
          </a:xfrm>
          <a:prstGeom prst="line">
            <a:avLst/>
          </a:prstGeom>
          <a:ln w="6350">
            <a:solidFill>
              <a:srgbClr val="888780"/>
            </a:solidFill>
            <a:tailEnd type="triangle" w="med" h="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615818" y="3118104"/>
            <a:ext cx="1560515" cy="146304"/>
          </a:xfrm>
          <a:prstGeom prst="roundRect">
            <a:avLst>
              <a:gd name="adj" fmla="val 15000"/>
            </a:avLst>
          </a:prstGeom>
          <a:solidFill>
            <a:srgbClr val="5F5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FFFFFF"/>
                </a:solidFill>
                <a:latin typeface="Helvetica Neue Medium"/>
              </a:rPr>
              <a:t>Underwrite</a:t>
            </a:r>
          </a:p>
        </p:txBody>
      </p:sp>
      <p:cxnSp>
        <p:nvCxnSpPr>
          <p:cNvPr id="19" name="Connector 18"/>
          <p:cNvCxnSpPr/>
          <p:nvPr/>
        </p:nvCxnSpPr>
        <p:spPr>
          <a:xfrm>
            <a:off x="6176333.0" y="3191256.0"/>
            <a:ext cx="156051.5" cy="292608.0"/>
          </a:xfrm>
          <a:prstGeom prst="line">
            <a:avLst/>
          </a:prstGeom>
          <a:ln w="6350">
            <a:solidFill>
              <a:srgbClr val="888780"/>
            </a:solidFill>
            <a:tailEnd type="triangle" w="med" h="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332384" y="3374136"/>
            <a:ext cx="1404463" cy="146304"/>
          </a:xfrm>
          <a:prstGeom prst="roundRect">
            <a:avLst>
              <a:gd name="adj" fmla="val 15000"/>
            </a:avLst>
          </a:prstGeom>
          <a:solidFill>
            <a:srgbClr val="5F5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FFFFFF"/>
                </a:solidFill>
                <a:latin typeface="Helvetica Neue Medium"/>
              </a:rPr>
              <a:t>Document</a:t>
            </a:r>
          </a:p>
        </p:txBody>
      </p:sp>
      <p:cxnSp>
        <p:nvCxnSpPr>
          <p:cNvPr id="21" name="Connector 20"/>
          <p:cNvCxnSpPr/>
          <p:nvPr/>
        </p:nvCxnSpPr>
        <p:spPr>
          <a:xfrm>
            <a:off x="7736848.0" y="3447288.0"/>
            <a:ext cx="156051.5" cy="292608.0"/>
          </a:xfrm>
          <a:prstGeom prst="line">
            <a:avLst/>
          </a:prstGeom>
          <a:ln w="6350">
            <a:solidFill>
              <a:srgbClr val="888780"/>
            </a:solidFill>
            <a:tailEnd type="triangle" w="med" h="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892899" y="3630168"/>
            <a:ext cx="1872618" cy="146304"/>
          </a:xfrm>
          <a:prstGeom prst="roundRect">
            <a:avLst>
              <a:gd name="adj" fmla="val 15000"/>
            </a:avLst>
          </a:prstGeom>
          <a:solidFill>
            <a:srgbClr val="5F5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FFFFFF"/>
                </a:solidFill>
                <a:latin typeface="Helvetica Neue Medium"/>
              </a:rPr>
              <a:t>Fund</a:t>
            </a:r>
          </a:p>
        </p:txBody>
      </p:sp>
      <p:sp>
        <p:nvSpPr>
          <p:cNvPr id="23" name="TextBox 22"/>
          <p:cNvSpPr txBox="1"/>
          <p:nvPr/>
        </p:nvSpPr>
        <p:spPr>
          <a:xfrm>
            <a:off x="10637215" y="3218688"/>
            <a:ext cx="731520" cy="274320"/>
          </a:xfrm>
          <a:prstGeom prst="rect">
            <a:avLst/>
          </a:prstGeom>
          <a:noFill/>
        </p:spPr>
        <p:txBody>
          <a:bodyPr wrap="square" lIns="0" rIns="0" tIns="0" bIns="0" anchor="ctr">
            <a:spAutoFit/>
          </a:bodyPr>
          <a:lstStyle/>
          <a:p>
            <a:pPr algn="l">
              <a:lnSpc>
                <a:spcPct val="125000"/>
              </a:lnSpc>
            </a:pPr>
            <a:r>
              <a:rPr sz="1100" b="0" i="0">
                <a:solidFill>
                  <a:srgbClr val="5F5E5A"/>
                </a:solidFill>
                <a:latin typeface="Helvetica Neue Medium"/>
              </a:rPr>
              <a:t>~ days</a:t>
            </a:r>
          </a:p>
        </p:txBody>
      </p:sp>
      <p:cxnSp>
        <p:nvCxnSpPr>
          <p:cNvPr id="24" name="Connector 23"/>
          <p:cNvCxnSpPr/>
          <p:nvPr/>
        </p:nvCxnSpPr>
        <p:spPr>
          <a:xfrm>
            <a:off x="914400" y="3904488"/>
            <a:ext cx="10362895" cy="0"/>
          </a:xfrm>
          <a:prstGeom prst="line">
            <a:avLst/>
          </a:prstGeom>
          <a:ln w="6350">
            <a:solidFill>
              <a:srgbClr val="C8C7C1"/>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97280" y="3995928"/>
            <a:ext cx="822960" cy="201168"/>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Next</a:t>
            </a:r>
          </a:p>
        </p:txBody>
      </p:sp>
      <p:sp>
        <p:nvSpPr>
          <p:cNvPr id="26" name="TextBox 25"/>
          <p:cNvSpPr txBox="1"/>
          <p:nvPr/>
        </p:nvSpPr>
        <p:spPr>
          <a:xfrm>
            <a:off x="1737360" y="3995928"/>
            <a:ext cx="5486400" cy="201168"/>
          </a:xfrm>
          <a:prstGeom prst="rect">
            <a:avLst/>
          </a:prstGeom>
          <a:noFill/>
        </p:spPr>
        <p:txBody>
          <a:bodyPr wrap="square" lIns="0" rIns="0" tIns="0" bIns="0" anchor="t">
            <a:spAutoFit/>
          </a:bodyPr>
          <a:lstStyle/>
          <a:p>
            <a:pPr algn="l">
              <a:lnSpc>
                <a:spcPct val="125000"/>
              </a:lnSpc>
            </a:pPr>
            <a:r>
              <a:rPr sz="1000" b="0" i="0">
                <a:solidFill>
                  <a:srgbClr val="888780"/>
                </a:solidFill>
                <a:latin typeface="Helvetica Neue"/>
              </a:rPr>
              <a:t>Agents in parallel. Human oversight at the checkpoints.</a:t>
            </a:r>
          </a:p>
        </p:txBody>
      </p:sp>
      <p:sp>
        <p:nvSpPr>
          <p:cNvPr id="27" name="Oval 26"/>
          <p:cNvSpPr/>
          <p:nvPr/>
        </p:nvSpPr>
        <p:spPr>
          <a:xfrm>
            <a:off x="868680" y="5943600"/>
            <a:ext cx="118872" cy="118872"/>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69848" y="5943600"/>
            <a:ext cx="118872" cy="118872"/>
          </a:xfrm>
          <a:prstGeom prst="ellipse">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271016" y="5943600"/>
            <a:ext cx="118872" cy="118872"/>
          </a:xfrm>
          <a:prstGeom prst="ellipse">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63624" y="5907024"/>
            <a:ext cx="9759391" cy="274320"/>
          </a:xfrm>
          <a:prstGeom prst="rect">
            <a:avLst/>
          </a:prstGeom>
          <a:noFill/>
        </p:spPr>
        <p:txBody>
          <a:bodyPr wrap="square" lIns="0" rIns="0" tIns="0" bIns="0" anchor="t">
            <a:spAutoFit/>
          </a:bodyPr>
          <a:lstStyle/>
          <a:p>
            <a:pPr algn="l">
              <a:lnSpc>
                <a:spcPct val="125000"/>
              </a:lnSpc>
            </a:pPr>
            <a:r>
              <a:rPr sz="1100" b="0" i="0">
                <a:solidFill>
                  <a:srgbClr val="5F5E5A"/>
                </a:solidFill>
                <a:latin typeface="Helvetica Neue Medium"/>
              </a:rPr>
              <a:t>Today: people in sequence — a handoff at every step. Days to weeks.</a:t>
            </a:r>
          </a:p>
        </p:txBody>
      </p:sp>
      <p:sp>
        <p:nvSpPr>
          <p:cNvPr id="31" name="TextBox 30"/>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15</a:t>
            </a:r>
            <a:r>
              <a:rPr sz="1000" b="0" i="0">
                <a:solidFill>
                  <a:srgbClr val="888780"/>
                </a:solidFill>
                <a:latin typeface="Helvetica Neue Medium"/>
              </a:rPr>
              <a:t>  /  32</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06   </a:t>
            </a:r>
            <a:r>
              <a:rPr sz="1100" b="0" i="0">
                <a:solidFill>
                  <a:srgbClr val="993C1D"/>
                </a:solidFill>
                <a:latin typeface="Helvetica Neue Medium"/>
              </a:rPr>
              <a:t>The machinery  ·  The operating model</a:t>
            </a:r>
          </a:p>
        </p:txBody>
      </p:sp>
      <p:sp>
        <p:nvSpPr>
          <p:cNvPr id="3" name="TextBox 2"/>
          <p:cNvSpPr txBox="1"/>
          <p:nvPr/>
        </p:nvSpPr>
        <p:spPr>
          <a:xfrm>
            <a:off x="868680" y="960120"/>
            <a:ext cx="10454335" cy="777240"/>
          </a:xfrm>
          <a:prstGeom prst="rect">
            <a:avLst/>
          </a:prstGeom>
          <a:noFill/>
        </p:spPr>
        <p:txBody>
          <a:bodyPr wrap="square" lIns="0" rIns="0" tIns="0" bIns="0" anchor="t">
            <a:spAutoFit/>
          </a:bodyPr>
          <a:lstStyle/>
          <a:p>
            <a:pPr algn="l">
              <a:lnSpc>
                <a:spcPct val="115000"/>
              </a:lnSpc>
            </a:pPr>
            <a:r>
              <a:rPr sz="3000" b="0" i="0">
                <a:solidFill>
                  <a:srgbClr val="2C2C2A"/>
                </a:solidFill>
                <a:latin typeface="Helvetica Neue Medium"/>
              </a:rPr>
              <a:t>From coordinating tasks to overseeing agents.</a:t>
            </a:r>
          </a:p>
        </p:txBody>
      </p:sp>
      <p:sp>
        <p:nvSpPr>
          <p:cNvPr id="4" name="TextBox 3"/>
          <p:cNvSpPr txBox="1"/>
          <p:nvPr/>
        </p:nvSpPr>
        <p:spPr>
          <a:xfrm>
            <a:off x="868680" y="1783080"/>
            <a:ext cx="10454335" cy="502920"/>
          </a:xfrm>
          <a:prstGeom prst="rect">
            <a:avLst/>
          </a:prstGeom>
          <a:noFill/>
        </p:spPr>
        <p:txBody>
          <a:bodyPr wrap="square" lIns="0" rIns="0" tIns="0" bIns="0" anchor="t">
            <a:spAutoFit/>
          </a:bodyPr>
          <a:lstStyle/>
          <a:p>
            <a:pPr algn="l">
              <a:lnSpc>
                <a:spcPct val="140000"/>
              </a:lnSpc>
            </a:pPr>
            <a:r>
              <a:rPr sz="1200" b="0" i="0">
                <a:solidFill>
                  <a:srgbClr val="5F5E5A"/>
                </a:solidFill>
                <a:latin typeface="Helvetica Neue"/>
              </a:rPr>
              <a:t>A line of credit today: the file moves down a queue, each step waiting on the one before it. Next, agents run the steps in parallel, and people approve at the checkpoints that matter.</a:t>
            </a:r>
          </a:p>
        </p:txBody>
      </p:sp>
      <p:sp>
        <p:nvSpPr>
          <p:cNvPr id="5" name="Rounded Rectangle 4"/>
          <p:cNvSpPr/>
          <p:nvPr/>
        </p:nvSpPr>
        <p:spPr>
          <a:xfrm>
            <a:off x="868680" y="2423160"/>
            <a:ext cx="10454335" cy="3337560"/>
          </a:xfrm>
          <a:prstGeom prst="roundRect">
            <a:avLst>
              <a:gd name="adj" fmla="val 4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587752"/>
            <a:ext cx="822960" cy="201168"/>
          </a:xfrm>
          <a:prstGeom prst="rect">
            <a:avLst/>
          </a:prstGeom>
          <a:noFill/>
        </p:spPr>
        <p:txBody>
          <a:bodyPr wrap="square" lIns="0" rIns="0" tIns="0" bIns="0" anchor="t">
            <a:spAutoFit/>
          </a:bodyPr>
          <a:lstStyle/>
          <a:p>
            <a:pPr algn="l">
              <a:lnSpc>
                <a:spcPct val="125000"/>
              </a:lnSpc>
            </a:pPr>
            <a:r>
              <a:rPr sz="1100" b="0" i="0">
                <a:solidFill>
                  <a:srgbClr val="5F5E5A"/>
                </a:solidFill>
                <a:latin typeface="Helvetica Neue Medium"/>
              </a:rPr>
              <a:t>Today</a:t>
            </a:r>
          </a:p>
        </p:txBody>
      </p:sp>
      <p:sp>
        <p:nvSpPr>
          <p:cNvPr id="7" name="TextBox 6"/>
          <p:cNvSpPr txBox="1"/>
          <p:nvPr/>
        </p:nvSpPr>
        <p:spPr>
          <a:xfrm>
            <a:off x="1737360" y="2587752"/>
            <a:ext cx="5029200" cy="201168"/>
          </a:xfrm>
          <a:prstGeom prst="rect">
            <a:avLst/>
          </a:prstGeom>
          <a:noFill/>
        </p:spPr>
        <p:txBody>
          <a:bodyPr wrap="square" lIns="0" rIns="0" tIns="0" bIns="0" anchor="t">
            <a:spAutoFit/>
          </a:bodyPr>
          <a:lstStyle/>
          <a:p>
            <a:pPr algn="l">
              <a:lnSpc>
                <a:spcPct val="125000"/>
              </a:lnSpc>
            </a:pPr>
            <a:r>
              <a:rPr sz="1000" b="0" i="0">
                <a:solidFill>
                  <a:srgbClr val="888780"/>
                </a:solidFill>
                <a:latin typeface="Helvetica Neue"/>
              </a:rPr>
              <a:t>People in sequence. A handoff at every step.</a:t>
            </a:r>
          </a:p>
        </p:txBody>
      </p:sp>
      <p:sp>
        <p:nvSpPr>
          <p:cNvPr id="8" name="TextBox 7"/>
          <p:cNvSpPr txBox="1"/>
          <p:nvPr/>
        </p:nvSpPr>
        <p:spPr>
          <a:xfrm>
            <a:off x="1097280" y="2825496"/>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Banker</a:t>
            </a:r>
          </a:p>
        </p:txBody>
      </p:sp>
      <p:sp>
        <p:nvSpPr>
          <p:cNvPr id="9" name="Rounded Rectangle 8"/>
          <p:cNvSpPr/>
          <p:nvPr/>
        </p:nvSpPr>
        <p:spPr>
          <a:xfrm>
            <a:off x="2743200" y="2825496"/>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081528"/>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Credit</a:t>
            </a:r>
          </a:p>
        </p:txBody>
      </p:sp>
      <p:sp>
        <p:nvSpPr>
          <p:cNvPr id="11" name="Rounded Rectangle 10"/>
          <p:cNvSpPr/>
          <p:nvPr/>
        </p:nvSpPr>
        <p:spPr>
          <a:xfrm>
            <a:off x="2743200" y="3081528"/>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337560"/>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Documentation</a:t>
            </a:r>
          </a:p>
        </p:txBody>
      </p:sp>
      <p:sp>
        <p:nvSpPr>
          <p:cNvPr id="13" name="Rounded Rectangle 12"/>
          <p:cNvSpPr/>
          <p:nvPr/>
        </p:nvSpPr>
        <p:spPr>
          <a:xfrm>
            <a:off x="2743200" y="3337560"/>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593592"/>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Servicing</a:t>
            </a:r>
          </a:p>
        </p:txBody>
      </p:sp>
      <p:sp>
        <p:nvSpPr>
          <p:cNvPr id="15" name="Rounded Rectangle 14"/>
          <p:cNvSpPr/>
          <p:nvPr/>
        </p:nvSpPr>
        <p:spPr>
          <a:xfrm>
            <a:off x="2743200" y="3593592"/>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899251" y="2862072"/>
            <a:ext cx="1404463" cy="146304"/>
          </a:xfrm>
          <a:prstGeom prst="roundRect">
            <a:avLst>
              <a:gd name="adj" fmla="val 15000"/>
            </a:avLst>
          </a:prstGeom>
          <a:solidFill>
            <a:srgbClr val="5F5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FFFFFF"/>
                </a:solidFill>
                <a:latin typeface="Helvetica Neue Medium"/>
              </a:rPr>
              <a:t>Intake</a:t>
            </a:r>
          </a:p>
        </p:txBody>
      </p:sp>
      <p:cxnSp>
        <p:nvCxnSpPr>
          <p:cNvPr id="17" name="Connector 16"/>
          <p:cNvCxnSpPr/>
          <p:nvPr/>
        </p:nvCxnSpPr>
        <p:spPr>
          <a:xfrm>
            <a:off x="4303715.0" y="2935224.0"/>
            <a:ext cx="312103.0" cy="292608.0"/>
          </a:xfrm>
          <a:prstGeom prst="line">
            <a:avLst/>
          </a:prstGeom>
          <a:ln w="6350">
            <a:solidFill>
              <a:srgbClr val="888780"/>
            </a:solidFill>
            <a:tailEnd type="triangle" w="med" h="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615818" y="3118104"/>
            <a:ext cx="1560515" cy="146304"/>
          </a:xfrm>
          <a:prstGeom prst="roundRect">
            <a:avLst>
              <a:gd name="adj" fmla="val 15000"/>
            </a:avLst>
          </a:prstGeom>
          <a:solidFill>
            <a:srgbClr val="5F5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FFFFFF"/>
                </a:solidFill>
                <a:latin typeface="Helvetica Neue Medium"/>
              </a:rPr>
              <a:t>Underwrite</a:t>
            </a:r>
          </a:p>
        </p:txBody>
      </p:sp>
      <p:cxnSp>
        <p:nvCxnSpPr>
          <p:cNvPr id="19" name="Connector 18"/>
          <p:cNvCxnSpPr/>
          <p:nvPr/>
        </p:nvCxnSpPr>
        <p:spPr>
          <a:xfrm>
            <a:off x="6176333.0" y="3191256.0"/>
            <a:ext cx="156051.5" cy="292608.0"/>
          </a:xfrm>
          <a:prstGeom prst="line">
            <a:avLst/>
          </a:prstGeom>
          <a:ln w="6350">
            <a:solidFill>
              <a:srgbClr val="888780"/>
            </a:solidFill>
            <a:tailEnd type="triangle" w="med" h="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332384" y="3374136"/>
            <a:ext cx="1404463" cy="146304"/>
          </a:xfrm>
          <a:prstGeom prst="roundRect">
            <a:avLst>
              <a:gd name="adj" fmla="val 15000"/>
            </a:avLst>
          </a:prstGeom>
          <a:solidFill>
            <a:srgbClr val="5F5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FFFFFF"/>
                </a:solidFill>
                <a:latin typeface="Helvetica Neue Medium"/>
              </a:rPr>
              <a:t>Document</a:t>
            </a:r>
          </a:p>
        </p:txBody>
      </p:sp>
      <p:cxnSp>
        <p:nvCxnSpPr>
          <p:cNvPr id="21" name="Connector 20"/>
          <p:cNvCxnSpPr/>
          <p:nvPr/>
        </p:nvCxnSpPr>
        <p:spPr>
          <a:xfrm>
            <a:off x="7736848.0" y="3447288.0"/>
            <a:ext cx="156051.5" cy="292608.0"/>
          </a:xfrm>
          <a:prstGeom prst="line">
            <a:avLst/>
          </a:prstGeom>
          <a:ln w="6350">
            <a:solidFill>
              <a:srgbClr val="888780"/>
            </a:solidFill>
            <a:tailEnd type="triangle" w="med" h="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892899" y="3630168"/>
            <a:ext cx="1872618" cy="146304"/>
          </a:xfrm>
          <a:prstGeom prst="roundRect">
            <a:avLst>
              <a:gd name="adj" fmla="val 15000"/>
            </a:avLst>
          </a:prstGeom>
          <a:solidFill>
            <a:srgbClr val="5F5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FFFFFF"/>
                </a:solidFill>
                <a:latin typeface="Helvetica Neue Medium"/>
              </a:rPr>
              <a:t>Fund</a:t>
            </a:r>
          </a:p>
        </p:txBody>
      </p:sp>
      <p:sp>
        <p:nvSpPr>
          <p:cNvPr id="23" name="TextBox 22"/>
          <p:cNvSpPr txBox="1"/>
          <p:nvPr/>
        </p:nvSpPr>
        <p:spPr>
          <a:xfrm>
            <a:off x="10637215" y="3218688"/>
            <a:ext cx="731520" cy="274320"/>
          </a:xfrm>
          <a:prstGeom prst="rect">
            <a:avLst/>
          </a:prstGeom>
          <a:noFill/>
        </p:spPr>
        <p:txBody>
          <a:bodyPr wrap="square" lIns="0" rIns="0" tIns="0" bIns="0" anchor="ctr">
            <a:spAutoFit/>
          </a:bodyPr>
          <a:lstStyle/>
          <a:p>
            <a:pPr algn="l">
              <a:lnSpc>
                <a:spcPct val="125000"/>
              </a:lnSpc>
            </a:pPr>
            <a:r>
              <a:rPr sz="1100" b="0" i="0">
                <a:solidFill>
                  <a:srgbClr val="5F5E5A"/>
                </a:solidFill>
                <a:latin typeface="Helvetica Neue Medium"/>
              </a:rPr>
              <a:t>~ days</a:t>
            </a:r>
          </a:p>
        </p:txBody>
      </p:sp>
      <p:cxnSp>
        <p:nvCxnSpPr>
          <p:cNvPr id="24" name="Connector 23"/>
          <p:cNvCxnSpPr/>
          <p:nvPr/>
        </p:nvCxnSpPr>
        <p:spPr>
          <a:xfrm>
            <a:off x="914400" y="3904488"/>
            <a:ext cx="10362895" cy="0"/>
          </a:xfrm>
          <a:prstGeom prst="line">
            <a:avLst/>
          </a:prstGeom>
          <a:ln w="6350">
            <a:solidFill>
              <a:srgbClr val="C8C7C1"/>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97280" y="3995928"/>
            <a:ext cx="822960" cy="201168"/>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Next</a:t>
            </a:r>
          </a:p>
        </p:txBody>
      </p:sp>
      <p:sp>
        <p:nvSpPr>
          <p:cNvPr id="26" name="TextBox 25"/>
          <p:cNvSpPr txBox="1"/>
          <p:nvPr/>
        </p:nvSpPr>
        <p:spPr>
          <a:xfrm>
            <a:off x="1737360" y="3995928"/>
            <a:ext cx="5486400" cy="201168"/>
          </a:xfrm>
          <a:prstGeom prst="rect">
            <a:avLst/>
          </a:prstGeom>
          <a:noFill/>
        </p:spPr>
        <p:txBody>
          <a:bodyPr wrap="square" lIns="0" rIns="0" tIns="0" bIns="0" anchor="t">
            <a:spAutoFit/>
          </a:bodyPr>
          <a:lstStyle/>
          <a:p>
            <a:pPr algn="l">
              <a:lnSpc>
                <a:spcPct val="125000"/>
              </a:lnSpc>
            </a:pPr>
            <a:r>
              <a:rPr sz="1000" b="0" i="0">
                <a:solidFill>
                  <a:srgbClr val="888780"/>
                </a:solidFill>
                <a:latin typeface="Helvetica Neue"/>
              </a:rPr>
              <a:t>Agents in parallel. Human oversight at the checkpoints.</a:t>
            </a:r>
          </a:p>
        </p:txBody>
      </p:sp>
      <p:sp>
        <p:nvSpPr>
          <p:cNvPr id="27" name="TextBox 26"/>
          <p:cNvSpPr txBox="1"/>
          <p:nvPr/>
        </p:nvSpPr>
        <p:spPr>
          <a:xfrm>
            <a:off x="1097280" y="4590288"/>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Agent · Intake</a:t>
            </a:r>
          </a:p>
        </p:txBody>
      </p:sp>
      <p:sp>
        <p:nvSpPr>
          <p:cNvPr id="28" name="Rounded Rectangle 27"/>
          <p:cNvSpPr/>
          <p:nvPr/>
        </p:nvSpPr>
        <p:spPr>
          <a:xfrm>
            <a:off x="2743200" y="4590288"/>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743200" y="4626864"/>
            <a:ext cx="6632188" cy="146304"/>
          </a:xfrm>
          <a:prstGeom prst="roundRect">
            <a:avLst>
              <a:gd name="adj" fmla="val 15000"/>
            </a:avLst>
          </a:prstGeom>
          <a:solidFill>
            <a:srgbClr val="F5C4B3"/>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712B13"/>
                </a:solidFill>
                <a:latin typeface="Helvetica Neue Medium"/>
              </a:rPr>
              <a:t>Runs autonomously</a:t>
            </a:r>
          </a:p>
        </p:txBody>
      </p:sp>
      <p:sp>
        <p:nvSpPr>
          <p:cNvPr id="30" name="TextBox 29"/>
          <p:cNvSpPr txBox="1"/>
          <p:nvPr/>
        </p:nvSpPr>
        <p:spPr>
          <a:xfrm>
            <a:off x="1097280" y="4846320"/>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Agent · Underwrite</a:t>
            </a:r>
          </a:p>
        </p:txBody>
      </p:sp>
      <p:sp>
        <p:nvSpPr>
          <p:cNvPr id="31" name="Rounded Rectangle 30"/>
          <p:cNvSpPr/>
          <p:nvPr/>
        </p:nvSpPr>
        <p:spPr>
          <a:xfrm>
            <a:off x="2743200" y="4846320"/>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2743200" y="4882896"/>
            <a:ext cx="6632188" cy="146304"/>
          </a:xfrm>
          <a:prstGeom prst="roundRect">
            <a:avLst>
              <a:gd name="adj" fmla="val 15000"/>
            </a:avLst>
          </a:prstGeom>
          <a:solidFill>
            <a:srgbClr val="F5C4B3"/>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712B13"/>
                </a:solidFill>
                <a:latin typeface="Helvetica Neue Medium"/>
              </a:rPr>
              <a:t>Runs autonomously</a:t>
            </a:r>
          </a:p>
        </p:txBody>
      </p:sp>
      <p:sp>
        <p:nvSpPr>
          <p:cNvPr id="33" name="TextBox 32"/>
          <p:cNvSpPr txBox="1"/>
          <p:nvPr/>
        </p:nvSpPr>
        <p:spPr>
          <a:xfrm>
            <a:off x="1097280" y="5102352"/>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Agent · Document</a:t>
            </a:r>
          </a:p>
        </p:txBody>
      </p:sp>
      <p:sp>
        <p:nvSpPr>
          <p:cNvPr id="34" name="Rounded Rectangle 33"/>
          <p:cNvSpPr/>
          <p:nvPr/>
        </p:nvSpPr>
        <p:spPr>
          <a:xfrm>
            <a:off x="2743200" y="5102352"/>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2743200" y="5138928"/>
            <a:ext cx="6632188" cy="146304"/>
          </a:xfrm>
          <a:prstGeom prst="roundRect">
            <a:avLst>
              <a:gd name="adj" fmla="val 15000"/>
            </a:avLst>
          </a:prstGeom>
          <a:solidFill>
            <a:srgbClr val="F5C4B3"/>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712B13"/>
                </a:solidFill>
                <a:latin typeface="Helvetica Neue Medium"/>
              </a:rPr>
              <a:t>Runs autonomously</a:t>
            </a:r>
          </a:p>
        </p:txBody>
      </p:sp>
      <p:sp>
        <p:nvSpPr>
          <p:cNvPr id="36" name="TextBox 35"/>
          <p:cNvSpPr txBox="1"/>
          <p:nvPr/>
        </p:nvSpPr>
        <p:spPr>
          <a:xfrm>
            <a:off x="1097280" y="5358384"/>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Agent · Fund</a:t>
            </a:r>
          </a:p>
        </p:txBody>
      </p:sp>
      <p:sp>
        <p:nvSpPr>
          <p:cNvPr id="37" name="Rounded Rectangle 36"/>
          <p:cNvSpPr/>
          <p:nvPr/>
        </p:nvSpPr>
        <p:spPr>
          <a:xfrm>
            <a:off x="2743200" y="5358384"/>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743200" y="5394960"/>
            <a:ext cx="6632188" cy="146304"/>
          </a:xfrm>
          <a:prstGeom prst="roundRect">
            <a:avLst>
              <a:gd name="adj" fmla="val 15000"/>
            </a:avLst>
          </a:prstGeom>
          <a:solidFill>
            <a:srgbClr val="F5C4B3"/>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712B13"/>
                </a:solidFill>
                <a:latin typeface="Helvetica Neue Medium"/>
              </a:rPr>
              <a:t>Runs autonomously</a:t>
            </a:r>
          </a:p>
        </p:txBody>
      </p:sp>
      <p:sp>
        <p:nvSpPr>
          <p:cNvPr id="39" name="Rounded Rectangle 38"/>
          <p:cNvSpPr/>
          <p:nvPr/>
        </p:nvSpPr>
        <p:spPr>
          <a:xfrm>
            <a:off x="9421108" y="4626864"/>
            <a:ext cx="502920" cy="914400"/>
          </a:xfrm>
          <a:prstGeom prst="roundRect">
            <a:avLst>
              <a:gd name="adj" fmla="val 10000"/>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00" b="0">
                <a:solidFill>
                  <a:srgbClr val="FFFFFF"/>
                </a:solidFill>
                <a:latin typeface="Helvetica Neue Medium"/>
              </a:rPr>
              <a:t>Done</a:t>
            </a:r>
          </a:p>
        </p:txBody>
      </p:sp>
      <p:sp>
        <p:nvSpPr>
          <p:cNvPr id="40" name="TextBox 39"/>
          <p:cNvSpPr txBox="1"/>
          <p:nvPr/>
        </p:nvSpPr>
        <p:spPr>
          <a:xfrm>
            <a:off x="9997180" y="4946904"/>
            <a:ext cx="731520" cy="274320"/>
          </a:xfrm>
          <a:prstGeom prst="rect">
            <a:avLst/>
          </a:prstGeom>
          <a:noFill/>
        </p:spPr>
        <p:txBody>
          <a:bodyPr wrap="square" lIns="0" rIns="0" tIns="0" bIns="0" anchor="ctr">
            <a:spAutoFit/>
          </a:bodyPr>
          <a:lstStyle/>
          <a:p>
            <a:pPr algn="l">
              <a:lnSpc>
                <a:spcPct val="125000"/>
              </a:lnSpc>
            </a:pPr>
            <a:r>
              <a:rPr sz="1100" b="0" i="0">
                <a:solidFill>
                  <a:srgbClr val="993C1D"/>
                </a:solidFill>
                <a:latin typeface="Helvetica Neue Medium"/>
              </a:rPr>
              <a:t>~ hours</a:t>
            </a:r>
          </a:p>
        </p:txBody>
      </p:sp>
      <p:sp>
        <p:nvSpPr>
          <p:cNvPr id="41" name="Oval 40"/>
          <p:cNvSpPr/>
          <p:nvPr/>
        </p:nvSpPr>
        <p:spPr>
          <a:xfrm>
            <a:off x="868680" y="5943600"/>
            <a:ext cx="118872" cy="118872"/>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69848" y="5943600"/>
            <a:ext cx="118872" cy="118872"/>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271016" y="5943600"/>
            <a:ext cx="118872" cy="118872"/>
          </a:xfrm>
          <a:prstGeom prst="ellipse">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563624" y="5907024"/>
            <a:ext cx="9759391" cy="274320"/>
          </a:xfrm>
          <a:prstGeom prst="rect">
            <a:avLst/>
          </a:prstGeom>
          <a:noFill/>
        </p:spPr>
        <p:txBody>
          <a:bodyPr wrap="square" lIns="0" rIns="0" tIns="0" bIns="0" anchor="t">
            <a:spAutoFit/>
          </a:bodyPr>
          <a:lstStyle/>
          <a:p>
            <a:pPr algn="l">
              <a:lnSpc>
                <a:spcPct val="125000"/>
              </a:lnSpc>
            </a:pPr>
            <a:r>
              <a:rPr sz="1100" b="0" i="0">
                <a:solidFill>
                  <a:srgbClr val="5F5E5A"/>
                </a:solidFill>
                <a:latin typeface="Helvetica Neue Medium"/>
              </a:rPr>
              <a:t>Next: agents in parallel — same work, no queue between the steps.</a:t>
            </a:r>
          </a:p>
        </p:txBody>
      </p:sp>
      <p:sp>
        <p:nvSpPr>
          <p:cNvPr id="45" name="TextBox 44"/>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16</a:t>
            </a:r>
            <a:r>
              <a:rPr sz="1000" b="0" i="0">
                <a:solidFill>
                  <a:srgbClr val="888780"/>
                </a:solidFill>
                <a:latin typeface="Helvetica Neue Medium"/>
              </a:rPr>
              <a:t>  /  32</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06   </a:t>
            </a:r>
            <a:r>
              <a:rPr sz="1100" b="0" i="0">
                <a:solidFill>
                  <a:srgbClr val="993C1D"/>
                </a:solidFill>
                <a:latin typeface="Helvetica Neue Medium"/>
              </a:rPr>
              <a:t>The machinery  ·  The operating model</a:t>
            </a:r>
          </a:p>
        </p:txBody>
      </p:sp>
      <p:sp>
        <p:nvSpPr>
          <p:cNvPr id="3" name="TextBox 2"/>
          <p:cNvSpPr txBox="1"/>
          <p:nvPr/>
        </p:nvSpPr>
        <p:spPr>
          <a:xfrm>
            <a:off x="868680" y="960120"/>
            <a:ext cx="10454335" cy="777240"/>
          </a:xfrm>
          <a:prstGeom prst="rect">
            <a:avLst/>
          </a:prstGeom>
          <a:noFill/>
        </p:spPr>
        <p:txBody>
          <a:bodyPr wrap="square" lIns="0" rIns="0" tIns="0" bIns="0" anchor="t">
            <a:spAutoFit/>
          </a:bodyPr>
          <a:lstStyle/>
          <a:p>
            <a:pPr algn="l">
              <a:lnSpc>
                <a:spcPct val="115000"/>
              </a:lnSpc>
            </a:pPr>
            <a:r>
              <a:rPr sz="3000" b="0" i="0">
                <a:solidFill>
                  <a:srgbClr val="2C2C2A"/>
                </a:solidFill>
                <a:latin typeface="Helvetica Neue Medium"/>
              </a:rPr>
              <a:t>From coordinating tasks to overseeing agents.</a:t>
            </a:r>
          </a:p>
        </p:txBody>
      </p:sp>
      <p:sp>
        <p:nvSpPr>
          <p:cNvPr id="4" name="TextBox 3"/>
          <p:cNvSpPr txBox="1"/>
          <p:nvPr/>
        </p:nvSpPr>
        <p:spPr>
          <a:xfrm>
            <a:off x="868680" y="1783080"/>
            <a:ext cx="10454335" cy="502920"/>
          </a:xfrm>
          <a:prstGeom prst="rect">
            <a:avLst/>
          </a:prstGeom>
          <a:noFill/>
        </p:spPr>
        <p:txBody>
          <a:bodyPr wrap="square" lIns="0" rIns="0" tIns="0" bIns="0" anchor="t">
            <a:spAutoFit/>
          </a:bodyPr>
          <a:lstStyle/>
          <a:p>
            <a:pPr algn="l">
              <a:lnSpc>
                <a:spcPct val="140000"/>
              </a:lnSpc>
            </a:pPr>
            <a:r>
              <a:rPr sz="1200" b="0" i="0">
                <a:solidFill>
                  <a:srgbClr val="5F5E5A"/>
                </a:solidFill>
                <a:latin typeface="Helvetica Neue"/>
              </a:rPr>
              <a:t>A line of credit today: the file moves down a queue, each step waiting on the one before it. Next, agents run the steps in parallel, and people approve at the checkpoints that matter.</a:t>
            </a:r>
          </a:p>
        </p:txBody>
      </p:sp>
      <p:sp>
        <p:nvSpPr>
          <p:cNvPr id="5" name="Rounded Rectangle 4"/>
          <p:cNvSpPr/>
          <p:nvPr/>
        </p:nvSpPr>
        <p:spPr>
          <a:xfrm>
            <a:off x="868680" y="2423160"/>
            <a:ext cx="10454335" cy="3337560"/>
          </a:xfrm>
          <a:prstGeom prst="roundRect">
            <a:avLst>
              <a:gd name="adj" fmla="val 4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587752"/>
            <a:ext cx="822960" cy="201168"/>
          </a:xfrm>
          <a:prstGeom prst="rect">
            <a:avLst/>
          </a:prstGeom>
          <a:noFill/>
        </p:spPr>
        <p:txBody>
          <a:bodyPr wrap="square" lIns="0" rIns="0" tIns="0" bIns="0" anchor="t">
            <a:spAutoFit/>
          </a:bodyPr>
          <a:lstStyle/>
          <a:p>
            <a:pPr algn="l">
              <a:lnSpc>
                <a:spcPct val="125000"/>
              </a:lnSpc>
            </a:pPr>
            <a:r>
              <a:rPr sz="1100" b="0" i="0">
                <a:solidFill>
                  <a:srgbClr val="5F5E5A"/>
                </a:solidFill>
                <a:latin typeface="Helvetica Neue Medium"/>
              </a:rPr>
              <a:t>Today</a:t>
            </a:r>
          </a:p>
        </p:txBody>
      </p:sp>
      <p:sp>
        <p:nvSpPr>
          <p:cNvPr id="7" name="TextBox 6"/>
          <p:cNvSpPr txBox="1"/>
          <p:nvPr/>
        </p:nvSpPr>
        <p:spPr>
          <a:xfrm>
            <a:off x="1737360" y="2587752"/>
            <a:ext cx="5029200" cy="201168"/>
          </a:xfrm>
          <a:prstGeom prst="rect">
            <a:avLst/>
          </a:prstGeom>
          <a:noFill/>
        </p:spPr>
        <p:txBody>
          <a:bodyPr wrap="square" lIns="0" rIns="0" tIns="0" bIns="0" anchor="t">
            <a:spAutoFit/>
          </a:bodyPr>
          <a:lstStyle/>
          <a:p>
            <a:pPr algn="l">
              <a:lnSpc>
                <a:spcPct val="125000"/>
              </a:lnSpc>
            </a:pPr>
            <a:r>
              <a:rPr sz="1000" b="0" i="0">
                <a:solidFill>
                  <a:srgbClr val="888780"/>
                </a:solidFill>
                <a:latin typeface="Helvetica Neue"/>
              </a:rPr>
              <a:t>People in sequence. A handoff at every step.</a:t>
            </a:r>
          </a:p>
        </p:txBody>
      </p:sp>
      <p:sp>
        <p:nvSpPr>
          <p:cNvPr id="8" name="TextBox 7"/>
          <p:cNvSpPr txBox="1"/>
          <p:nvPr/>
        </p:nvSpPr>
        <p:spPr>
          <a:xfrm>
            <a:off x="1097280" y="2825496"/>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Banker</a:t>
            </a:r>
          </a:p>
        </p:txBody>
      </p:sp>
      <p:sp>
        <p:nvSpPr>
          <p:cNvPr id="9" name="Rounded Rectangle 8"/>
          <p:cNvSpPr/>
          <p:nvPr/>
        </p:nvSpPr>
        <p:spPr>
          <a:xfrm>
            <a:off x="2743200" y="2825496"/>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081528"/>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Credit</a:t>
            </a:r>
          </a:p>
        </p:txBody>
      </p:sp>
      <p:sp>
        <p:nvSpPr>
          <p:cNvPr id="11" name="Rounded Rectangle 10"/>
          <p:cNvSpPr/>
          <p:nvPr/>
        </p:nvSpPr>
        <p:spPr>
          <a:xfrm>
            <a:off x="2743200" y="3081528"/>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337560"/>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Documentation</a:t>
            </a:r>
          </a:p>
        </p:txBody>
      </p:sp>
      <p:sp>
        <p:nvSpPr>
          <p:cNvPr id="13" name="Rounded Rectangle 12"/>
          <p:cNvSpPr/>
          <p:nvPr/>
        </p:nvSpPr>
        <p:spPr>
          <a:xfrm>
            <a:off x="2743200" y="3337560"/>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593592"/>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Servicing</a:t>
            </a:r>
          </a:p>
        </p:txBody>
      </p:sp>
      <p:sp>
        <p:nvSpPr>
          <p:cNvPr id="15" name="Rounded Rectangle 14"/>
          <p:cNvSpPr/>
          <p:nvPr/>
        </p:nvSpPr>
        <p:spPr>
          <a:xfrm>
            <a:off x="2743200" y="3593592"/>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899251" y="2862072"/>
            <a:ext cx="1404463" cy="146304"/>
          </a:xfrm>
          <a:prstGeom prst="roundRect">
            <a:avLst>
              <a:gd name="adj" fmla="val 15000"/>
            </a:avLst>
          </a:prstGeom>
          <a:solidFill>
            <a:srgbClr val="5F5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FFFFFF"/>
                </a:solidFill>
                <a:latin typeface="Helvetica Neue Medium"/>
              </a:rPr>
              <a:t>Intake</a:t>
            </a:r>
          </a:p>
        </p:txBody>
      </p:sp>
      <p:cxnSp>
        <p:nvCxnSpPr>
          <p:cNvPr id="17" name="Connector 16"/>
          <p:cNvCxnSpPr/>
          <p:nvPr/>
        </p:nvCxnSpPr>
        <p:spPr>
          <a:xfrm>
            <a:off x="4303715.0" y="2935224.0"/>
            <a:ext cx="312103.0" cy="292608.0"/>
          </a:xfrm>
          <a:prstGeom prst="line">
            <a:avLst/>
          </a:prstGeom>
          <a:ln w="6350">
            <a:solidFill>
              <a:srgbClr val="888780"/>
            </a:solidFill>
            <a:tailEnd type="triangle" w="med" h="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615818" y="3118104"/>
            <a:ext cx="1560515" cy="146304"/>
          </a:xfrm>
          <a:prstGeom prst="roundRect">
            <a:avLst>
              <a:gd name="adj" fmla="val 15000"/>
            </a:avLst>
          </a:prstGeom>
          <a:solidFill>
            <a:srgbClr val="5F5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FFFFFF"/>
                </a:solidFill>
                <a:latin typeface="Helvetica Neue Medium"/>
              </a:rPr>
              <a:t>Underwrite</a:t>
            </a:r>
          </a:p>
        </p:txBody>
      </p:sp>
      <p:cxnSp>
        <p:nvCxnSpPr>
          <p:cNvPr id="19" name="Connector 18"/>
          <p:cNvCxnSpPr/>
          <p:nvPr/>
        </p:nvCxnSpPr>
        <p:spPr>
          <a:xfrm>
            <a:off x="6176333.0" y="3191256.0"/>
            <a:ext cx="156051.5" cy="292608.0"/>
          </a:xfrm>
          <a:prstGeom prst="line">
            <a:avLst/>
          </a:prstGeom>
          <a:ln w="6350">
            <a:solidFill>
              <a:srgbClr val="888780"/>
            </a:solidFill>
            <a:tailEnd type="triangle" w="med" h="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332384" y="3374136"/>
            <a:ext cx="1404463" cy="146304"/>
          </a:xfrm>
          <a:prstGeom prst="roundRect">
            <a:avLst>
              <a:gd name="adj" fmla="val 15000"/>
            </a:avLst>
          </a:prstGeom>
          <a:solidFill>
            <a:srgbClr val="5F5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FFFFFF"/>
                </a:solidFill>
                <a:latin typeface="Helvetica Neue Medium"/>
              </a:rPr>
              <a:t>Document</a:t>
            </a:r>
          </a:p>
        </p:txBody>
      </p:sp>
      <p:cxnSp>
        <p:nvCxnSpPr>
          <p:cNvPr id="21" name="Connector 20"/>
          <p:cNvCxnSpPr/>
          <p:nvPr/>
        </p:nvCxnSpPr>
        <p:spPr>
          <a:xfrm>
            <a:off x="7736848.0" y="3447288.0"/>
            <a:ext cx="156051.5" cy="292608.0"/>
          </a:xfrm>
          <a:prstGeom prst="line">
            <a:avLst/>
          </a:prstGeom>
          <a:ln w="6350">
            <a:solidFill>
              <a:srgbClr val="888780"/>
            </a:solidFill>
            <a:tailEnd type="triangle" w="med" h="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892899" y="3630168"/>
            <a:ext cx="1872618" cy="146304"/>
          </a:xfrm>
          <a:prstGeom prst="roundRect">
            <a:avLst>
              <a:gd name="adj" fmla="val 15000"/>
            </a:avLst>
          </a:prstGeom>
          <a:solidFill>
            <a:srgbClr val="5F5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FFFFFF"/>
                </a:solidFill>
                <a:latin typeface="Helvetica Neue Medium"/>
              </a:rPr>
              <a:t>Fund</a:t>
            </a:r>
          </a:p>
        </p:txBody>
      </p:sp>
      <p:sp>
        <p:nvSpPr>
          <p:cNvPr id="23" name="TextBox 22"/>
          <p:cNvSpPr txBox="1"/>
          <p:nvPr/>
        </p:nvSpPr>
        <p:spPr>
          <a:xfrm>
            <a:off x="10637215" y="3218688"/>
            <a:ext cx="731520" cy="274320"/>
          </a:xfrm>
          <a:prstGeom prst="rect">
            <a:avLst/>
          </a:prstGeom>
          <a:noFill/>
        </p:spPr>
        <p:txBody>
          <a:bodyPr wrap="square" lIns="0" rIns="0" tIns="0" bIns="0" anchor="ctr">
            <a:spAutoFit/>
          </a:bodyPr>
          <a:lstStyle/>
          <a:p>
            <a:pPr algn="l">
              <a:lnSpc>
                <a:spcPct val="125000"/>
              </a:lnSpc>
            </a:pPr>
            <a:r>
              <a:rPr sz="1100" b="0" i="0">
                <a:solidFill>
                  <a:srgbClr val="5F5E5A"/>
                </a:solidFill>
                <a:latin typeface="Helvetica Neue Medium"/>
              </a:rPr>
              <a:t>~ days</a:t>
            </a:r>
          </a:p>
        </p:txBody>
      </p:sp>
      <p:cxnSp>
        <p:nvCxnSpPr>
          <p:cNvPr id="24" name="Connector 23"/>
          <p:cNvCxnSpPr/>
          <p:nvPr/>
        </p:nvCxnSpPr>
        <p:spPr>
          <a:xfrm>
            <a:off x="914400" y="3904488"/>
            <a:ext cx="10362895" cy="0"/>
          </a:xfrm>
          <a:prstGeom prst="line">
            <a:avLst/>
          </a:prstGeom>
          <a:ln w="6350">
            <a:solidFill>
              <a:srgbClr val="C8C7C1"/>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97280" y="3995928"/>
            <a:ext cx="822960" cy="201168"/>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Next</a:t>
            </a:r>
          </a:p>
        </p:txBody>
      </p:sp>
      <p:sp>
        <p:nvSpPr>
          <p:cNvPr id="26" name="TextBox 25"/>
          <p:cNvSpPr txBox="1"/>
          <p:nvPr/>
        </p:nvSpPr>
        <p:spPr>
          <a:xfrm>
            <a:off x="1737360" y="3995928"/>
            <a:ext cx="5486400" cy="201168"/>
          </a:xfrm>
          <a:prstGeom prst="rect">
            <a:avLst/>
          </a:prstGeom>
          <a:noFill/>
        </p:spPr>
        <p:txBody>
          <a:bodyPr wrap="square" lIns="0" rIns="0" tIns="0" bIns="0" anchor="t">
            <a:spAutoFit/>
          </a:bodyPr>
          <a:lstStyle/>
          <a:p>
            <a:pPr algn="l">
              <a:lnSpc>
                <a:spcPct val="125000"/>
              </a:lnSpc>
            </a:pPr>
            <a:r>
              <a:rPr sz="1000" b="0" i="0">
                <a:solidFill>
                  <a:srgbClr val="888780"/>
                </a:solidFill>
                <a:latin typeface="Helvetica Neue"/>
              </a:rPr>
              <a:t>Agents in parallel. Human oversight at the checkpoints.</a:t>
            </a:r>
          </a:p>
        </p:txBody>
      </p:sp>
      <p:sp>
        <p:nvSpPr>
          <p:cNvPr id="27" name="TextBox 26"/>
          <p:cNvSpPr txBox="1"/>
          <p:nvPr/>
        </p:nvSpPr>
        <p:spPr>
          <a:xfrm>
            <a:off x="1097280" y="4590288"/>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Agent · Intake</a:t>
            </a:r>
          </a:p>
        </p:txBody>
      </p:sp>
      <p:sp>
        <p:nvSpPr>
          <p:cNvPr id="28" name="Rounded Rectangle 27"/>
          <p:cNvSpPr/>
          <p:nvPr/>
        </p:nvSpPr>
        <p:spPr>
          <a:xfrm>
            <a:off x="2743200" y="4590288"/>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743200" y="4626864"/>
            <a:ext cx="6632188" cy="146304"/>
          </a:xfrm>
          <a:prstGeom prst="roundRect">
            <a:avLst>
              <a:gd name="adj" fmla="val 15000"/>
            </a:avLst>
          </a:prstGeom>
          <a:solidFill>
            <a:srgbClr val="F5C4B3"/>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712B13"/>
                </a:solidFill>
                <a:latin typeface="Helvetica Neue Medium"/>
              </a:rPr>
              <a:t>Runs autonomously</a:t>
            </a:r>
          </a:p>
        </p:txBody>
      </p:sp>
      <p:sp>
        <p:nvSpPr>
          <p:cNvPr id="30" name="TextBox 29"/>
          <p:cNvSpPr txBox="1"/>
          <p:nvPr/>
        </p:nvSpPr>
        <p:spPr>
          <a:xfrm>
            <a:off x="1097280" y="4846320"/>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Agent · Underwrite</a:t>
            </a:r>
          </a:p>
        </p:txBody>
      </p:sp>
      <p:sp>
        <p:nvSpPr>
          <p:cNvPr id="31" name="Rounded Rectangle 30"/>
          <p:cNvSpPr/>
          <p:nvPr/>
        </p:nvSpPr>
        <p:spPr>
          <a:xfrm>
            <a:off x="2743200" y="4846320"/>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2743200" y="4882896"/>
            <a:ext cx="6632188" cy="146304"/>
          </a:xfrm>
          <a:prstGeom prst="roundRect">
            <a:avLst>
              <a:gd name="adj" fmla="val 15000"/>
            </a:avLst>
          </a:prstGeom>
          <a:solidFill>
            <a:srgbClr val="F5C4B3"/>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712B13"/>
                </a:solidFill>
                <a:latin typeface="Helvetica Neue Medium"/>
              </a:rPr>
              <a:t>Runs autonomously</a:t>
            </a:r>
          </a:p>
        </p:txBody>
      </p:sp>
      <p:sp>
        <p:nvSpPr>
          <p:cNvPr id="33" name="TextBox 32"/>
          <p:cNvSpPr txBox="1"/>
          <p:nvPr/>
        </p:nvSpPr>
        <p:spPr>
          <a:xfrm>
            <a:off x="1097280" y="5102352"/>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Agent · Document</a:t>
            </a:r>
          </a:p>
        </p:txBody>
      </p:sp>
      <p:sp>
        <p:nvSpPr>
          <p:cNvPr id="34" name="Rounded Rectangle 33"/>
          <p:cNvSpPr/>
          <p:nvPr/>
        </p:nvSpPr>
        <p:spPr>
          <a:xfrm>
            <a:off x="2743200" y="5102352"/>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2743200" y="5138928"/>
            <a:ext cx="6632188" cy="146304"/>
          </a:xfrm>
          <a:prstGeom prst="roundRect">
            <a:avLst>
              <a:gd name="adj" fmla="val 15000"/>
            </a:avLst>
          </a:prstGeom>
          <a:solidFill>
            <a:srgbClr val="F5C4B3"/>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712B13"/>
                </a:solidFill>
                <a:latin typeface="Helvetica Neue Medium"/>
              </a:rPr>
              <a:t>Runs autonomously</a:t>
            </a:r>
          </a:p>
        </p:txBody>
      </p:sp>
      <p:sp>
        <p:nvSpPr>
          <p:cNvPr id="36" name="TextBox 35"/>
          <p:cNvSpPr txBox="1"/>
          <p:nvPr/>
        </p:nvSpPr>
        <p:spPr>
          <a:xfrm>
            <a:off x="1097280" y="5358384"/>
            <a:ext cx="1554480" cy="219456"/>
          </a:xfrm>
          <a:prstGeom prst="rect">
            <a:avLst/>
          </a:prstGeom>
          <a:noFill/>
        </p:spPr>
        <p:txBody>
          <a:bodyPr wrap="square" lIns="0" rIns="0" tIns="0" bIns="0" anchor="ctr">
            <a:spAutoFit/>
          </a:bodyPr>
          <a:lstStyle/>
          <a:p>
            <a:pPr algn="r">
              <a:lnSpc>
                <a:spcPct val="125000"/>
              </a:lnSpc>
            </a:pPr>
            <a:r>
              <a:rPr sz="1000" b="0" i="0">
                <a:solidFill>
                  <a:srgbClr val="444441"/>
                </a:solidFill>
                <a:latin typeface="Helvetica Neue Medium"/>
              </a:rPr>
              <a:t>Agent · Fund</a:t>
            </a:r>
          </a:p>
        </p:txBody>
      </p:sp>
      <p:sp>
        <p:nvSpPr>
          <p:cNvPr id="37" name="Rounded Rectangle 36"/>
          <p:cNvSpPr/>
          <p:nvPr/>
        </p:nvSpPr>
        <p:spPr>
          <a:xfrm>
            <a:off x="2743200" y="5358384"/>
            <a:ext cx="7802575" cy="219456"/>
          </a:xfrm>
          <a:prstGeom prst="roundRect">
            <a:avLst>
              <a:gd name="adj" fmla="val 10000"/>
            </a:avLst>
          </a:prstGeom>
          <a:solidFill>
            <a:srgbClr val="FA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743200" y="5394960"/>
            <a:ext cx="6632188" cy="146304"/>
          </a:xfrm>
          <a:prstGeom prst="roundRect">
            <a:avLst>
              <a:gd name="adj" fmla="val 15000"/>
            </a:avLst>
          </a:prstGeom>
          <a:solidFill>
            <a:srgbClr val="F5C4B3"/>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0">
                <a:solidFill>
                  <a:srgbClr val="712B13"/>
                </a:solidFill>
                <a:latin typeface="Helvetica Neue Medium"/>
              </a:rPr>
              <a:t>Runs autonomously</a:t>
            </a:r>
          </a:p>
        </p:txBody>
      </p:sp>
      <p:sp>
        <p:nvSpPr>
          <p:cNvPr id="39" name="Rounded Rectangle 38"/>
          <p:cNvSpPr/>
          <p:nvPr/>
        </p:nvSpPr>
        <p:spPr>
          <a:xfrm>
            <a:off x="9421108" y="4626864"/>
            <a:ext cx="502920" cy="914400"/>
          </a:xfrm>
          <a:prstGeom prst="roundRect">
            <a:avLst>
              <a:gd name="adj" fmla="val 10000"/>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00" b="0">
                <a:solidFill>
                  <a:srgbClr val="FFFFFF"/>
                </a:solidFill>
                <a:latin typeface="Helvetica Neue Medium"/>
              </a:rPr>
              <a:t>Done</a:t>
            </a:r>
          </a:p>
        </p:txBody>
      </p:sp>
      <p:sp>
        <p:nvSpPr>
          <p:cNvPr id="40" name="TextBox 39"/>
          <p:cNvSpPr txBox="1"/>
          <p:nvPr/>
        </p:nvSpPr>
        <p:spPr>
          <a:xfrm>
            <a:off x="9997180" y="4946904"/>
            <a:ext cx="731520" cy="274320"/>
          </a:xfrm>
          <a:prstGeom prst="rect">
            <a:avLst/>
          </a:prstGeom>
          <a:noFill/>
        </p:spPr>
        <p:txBody>
          <a:bodyPr wrap="square" lIns="0" rIns="0" tIns="0" bIns="0" anchor="ctr">
            <a:spAutoFit/>
          </a:bodyPr>
          <a:lstStyle/>
          <a:p>
            <a:pPr algn="l">
              <a:lnSpc>
                <a:spcPct val="125000"/>
              </a:lnSpc>
            </a:pPr>
            <a:r>
              <a:rPr sz="1100" b="0" i="0">
                <a:solidFill>
                  <a:srgbClr val="993C1D"/>
                </a:solidFill>
                <a:latin typeface="Helvetica Neue Medium"/>
              </a:rPr>
              <a:t>~ hours</a:t>
            </a:r>
          </a:p>
        </p:txBody>
      </p:sp>
      <p:sp>
        <p:nvSpPr>
          <p:cNvPr id="41" name="TextBox 40"/>
          <p:cNvSpPr txBox="1"/>
          <p:nvPr/>
        </p:nvSpPr>
        <p:spPr>
          <a:xfrm>
            <a:off x="1097280" y="4251960"/>
            <a:ext cx="1554480" cy="237744"/>
          </a:xfrm>
          <a:prstGeom prst="rect">
            <a:avLst/>
          </a:prstGeom>
          <a:noFill/>
        </p:spPr>
        <p:txBody>
          <a:bodyPr wrap="square" lIns="0" rIns="0" tIns="0" bIns="0" anchor="ctr">
            <a:spAutoFit/>
          </a:bodyPr>
          <a:lstStyle/>
          <a:p>
            <a:pPr algn="r">
              <a:lnSpc>
                <a:spcPct val="125000"/>
              </a:lnSpc>
            </a:pPr>
            <a:r>
              <a:rPr sz="1000" b="0" i="0">
                <a:solidFill>
                  <a:srgbClr val="993C1D"/>
                </a:solidFill>
                <a:latin typeface="Helvetica Neue Medium"/>
              </a:rPr>
              <a:t>Specialist</a:t>
            </a:r>
          </a:p>
        </p:txBody>
      </p:sp>
      <p:sp>
        <p:nvSpPr>
          <p:cNvPr id="42" name="Rounded Rectangle 41"/>
          <p:cNvSpPr/>
          <p:nvPr/>
        </p:nvSpPr>
        <p:spPr>
          <a:xfrm>
            <a:off x="2743200" y="4251960"/>
            <a:ext cx="6632188" cy="237744"/>
          </a:xfrm>
          <a:prstGeom prst="roundRect">
            <a:avLst>
              <a:gd name="adj" fmla="val 10000"/>
            </a:avLst>
          </a:prstGeom>
          <a:solidFill>
            <a:srgbClr val="FFFFFF"/>
          </a:solidFill>
          <a:ln w="9525">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07792" y="4251960"/>
            <a:ext cx="1097280" cy="237744"/>
          </a:xfrm>
          <a:prstGeom prst="rect">
            <a:avLst/>
          </a:prstGeom>
          <a:noFill/>
        </p:spPr>
        <p:txBody>
          <a:bodyPr wrap="square" lIns="0" rIns="0" tIns="0" bIns="0" anchor="ctr">
            <a:spAutoFit/>
          </a:bodyPr>
          <a:lstStyle/>
          <a:p>
            <a:pPr algn="l">
              <a:lnSpc>
                <a:spcPct val="125000"/>
              </a:lnSpc>
            </a:pPr>
            <a:r>
              <a:rPr sz="900" b="0" i="0">
                <a:solidFill>
                  <a:srgbClr val="993C1D"/>
                </a:solidFill>
                <a:latin typeface="Helvetica Neue Medium"/>
              </a:rPr>
              <a:t>Oversees</a:t>
            </a:r>
          </a:p>
        </p:txBody>
      </p:sp>
      <p:sp>
        <p:nvSpPr>
          <p:cNvPr id="44" name="TextBox 43"/>
          <p:cNvSpPr txBox="1"/>
          <p:nvPr/>
        </p:nvSpPr>
        <p:spPr>
          <a:xfrm>
            <a:off x="7546588" y="4251960"/>
            <a:ext cx="1691640" cy="237744"/>
          </a:xfrm>
          <a:prstGeom prst="rect">
            <a:avLst/>
          </a:prstGeom>
          <a:noFill/>
        </p:spPr>
        <p:txBody>
          <a:bodyPr wrap="square" lIns="0" rIns="0" tIns="0" bIns="0" anchor="ctr">
            <a:spAutoFit/>
          </a:bodyPr>
          <a:lstStyle/>
          <a:p>
            <a:pPr algn="r">
              <a:lnSpc>
                <a:spcPct val="125000"/>
              </a:lnSpc>
            </a:pPr>
            <a:r>
              <a:rPr sz="900" b="0" i="0">
                <a:solidFill>
                  <a:srgbClr val="5F5E5A"/>
                </a:solidFill>
                <a:latin typeface="Helvetica Neue"/>
              </a:rPr>
              <a:t>approves at checkpoints →</a:t>
            </a:r>
          </a:p>
        </p:txBody>
      </p:sp>
      <p:sp>
        <p:nvSpPr>
          <p:cNvPr id="45" name="Oval 44"/>
          <p:cNvSpPr/>
          <p:nvPr/>
        </p:nvSpPr>
        <p:spPr>
          <a:xfrm>
            <a:off x="4355527" y="4325112"/>
            <a:ext cx="91440" cy="91440"/>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4401247" y="4489704"/>
            <a:ext cx="0" cy="82296"/>
          </a:xfrm>
          <a:custGeom>
            <a:avLst/>
            <a:gdLst/>
            <a:ahLst/>
            <a:cxnLst/>
            <a:rect l="l" t="t" r="r" b="b"/>
            <a:pathLst>
              <a:path w="0" h="82296">
                <a:moveTo>
                  <a:pt x="0" y="0"/>
                </a:moveTo>
                <a:lnTo>
                  <a:pt x="0" y="82296"/>
                </a:lnTo>
              </a:path>
            </a:pathLst>
          </a:custGeom>
          <a:noFill/>
          <a:ln w="6350">
            <a:solidFill>
              <a:srgbClr val="D85A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013574" y="4325112"/>
            <a:ext cx="91440" cy="91440"/>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6059294" y="4489704"/>
            <a:ext cx="0" cy="82296"/>
          </a:xfrm>
          <a:custGeom>
            <a:avLst/>
            <a:gdLst/>
            <a:ahLst/>
            <a:cxnLst/>
            <a:rect l="l" t="t" r="r" b="b"/>
            <a:pathLst>
              <a:path w="0" h="82296">
                <a:moveTo>
                  <a:pt x="0" y="0"/>
                </a:moveTo>
                <a:lnTo>
                  <a:pt x="0" y="82296"/>
                </a:lnTo>
              </a:path>
            </a:pathLst>
          </a:custGeom>
          <a:noFill/>
          <a:ln w="6350">
            <a:solidFill>
              <a:srgbClr val="D85A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7671621" y="4325112"/>
            <a:ext cx="91440" cy="91440"/>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7717341" y="4489704"/>
            <a:ext cx="0" cy="82296"/>
          </a:xfrm>
          <a:custGeom>
            <a:avLst/>
            <a:gdLst/>
            <a:ahLst/>
            <a:cxnLst/>
            <a:rect l="l" t="t" r="r" b="b"/>
            <a:pathLst>
              <a:path w="0" h="82296">
                <a:moveTo>
                  <a:pt x="0" y="0"/>
                </a:moveTo>
                <a:lnTo>
                  <a:pt x="0" y="82296"/>
                </a:lnTo>
              </a:path>
            </a:pathLst>
          </a:custGeom>
          <a:noFill/>
          <a:ln w="6350">
            <a:solidFill>
              <a:srgbClr val="D85A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68680" y="5943600"/>
            <a:ext cx="118872" cy="118872"/>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69848" y="5943600"/>
            <a:ext cx="118872" cy="118872"/>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271016" y="5943600"/>
            <a:ext cx="118872" cy="118872"/>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563624" y="5907024"/>
            <a:ext cx="9759391" cy="274320"/>
          </a:xfrm>
          <a:prstGeom prst="rect">
            <a:avLst/>
          </a:prstGeom>
          <a:noFill/>
        </p:spPr>
        <p:txBody>
          <a:bodyPr wrap="square" lIns="0" rIns="0" tIns="0" bIns="0" anchor="t">
            <a:spAutoFit/>
          </a:bodyPr>
          <a:lstStyle/>
          <a:p>
            <a:pPr algn="l">
              <a:lnSpc>
                <a:spcPct val="125000"/>
              </a:lnSpc>
            </a:pPr>
            <a:r>
              <a:rPr sz="1100" b="0" i="0">
                <a:solidFill>
                  <a:srgbClr val="5F5E5A"/>
                </a:solidFill>
                <a:latin typeface="Helvetica Neue Medium"/>
              </a:rPr>
              <a:t>And the specialist’s role shifts to oversight — checkpoints, not coordination.</a:t>
            </a:r>
          </a:p>
        </p:txBody>
      </p:sp>
      <p:sp>
        <p:nvSpPr>
          <p:cNvPr id="55" name="TextBox 54"/>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17</a:t>
            </a:r>
            <a:r>
              <a:rPr sz="1000" b="0" i="0">
                <a:solidFill>
                  <a:srgbClr val="888780"/>
                </a:solidFill>
                <a:latin typeface="Helvetica Neue Medium"/>
              </a:rPr>
              <a:t>  /  32</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07   </a:t>
            </a:r>
            <a:r>
              <a:rPr sz="1100" b="0" i="0">
                <a:solidFill>
                  <a:srgbClr val="993C1D"/>
                </a:solidFill>
                <a:latin typeface="Helvetica Neue Medium"/>
              </a:rPr>
              <a:t>The autonomy ladder</a:t>
            </a:r>
          </a:p>
        </p:txBody>
      </p:sp>
      <p:sp>
        <p:nvSpPr>
          <p:cNvPr id="3" name="TextBox 2"/>
          <p:cNvSpPr txBox="1"/>
          <p:nvPr/>
        </p:nvSpPr>
        <p:spPr>
          <a:xfrm>
            <a:off x="868680" y="960120"/>
            <a:ext cx="10454335" cy="914400"/>
          </a:xfrm>
          <a:prstGeom prst="rect">
            <a:avLst/>
          </a:prstGeom>
          <a:noFill/>
        </p:spPr>
        <p:txBody>
          <a:bodyPr wrap="square" lIns="0" rIns="0" tIns="0" bIns="0" anchor="t">
            <a:spAutoFit/>
          </a:bodyPr>
          <a:lstStyle/>
          <a:p>
            <a:pPr algn="l">
              <a:lnSpc>
                <a:spcPct val="115000"/>
              </a:lnSpc>
            </a:pPr>
            <a:r>
              <a:rPr sz="2400" b="0" i="0">
                <a:solidFill>
                  <a:srgbClr val="2C2C2A"/>
                </a:solidFill>
                <a:latin typeface="Helvetica Neue Medium"/>
              </a:rPr>
              <a:t>Autonomy, earned one rung at a time.</a:t>
            </a:r>
          </a:p>
        </p:txBody>
      </p:sp>
      <p:sp>
        <p:nvSpPr>
          <p:cNvPr id="4" name="Rounded Rectangle 3"/>
          <p:cNvSpPr/>
          <p:nvPr/>
        </p:nvSpPr>
        <p:spPr>
          <a:xfrm>
            <a:off x="868680" y="2057400"/>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240280"/>
            <a:ext cx="2942234" cy="274320"/>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01</a:t>
            </a:r>
          </a:p>
        </p:txBody>
      </p:sp>
      <p:sp>
        <p:nvSpPr>
          <p:cNvPr id="6" name="TextBox 5"/>
          <p:cNvSpPr txBox="1"/>
          <p:nvPr/>
        </p:nvSpPr>
        <p:spPr>
          <a:xfrm>
            <a:off x="1097280" y="2532888"/>
            <a:ext cx="2942234" cy="457200"/>
          </a:xfrm>
          <a:prstGeom prst="rect">
            <a:avLst/>
          </a:prstGeom>
          <a:noFill/>
        </p:spPr>
        <p:txBody>
          <a:bodyPr wrap="square" lIns="0" rIns="0" tIns="0" bIns="0" anchor="t">
            <a:spAutoFit/>
          </a:bodyPr>
          <a:lstStyle/>
          <a:p>
            <a:pPr algn="l">
              <a:lnSpc>
                <a:spcPct val="118000"/>
              </a:lnSpc>
            </a:pPr>
            <a:r>
              <a:rPr sz="1400" b="0" i="0">
                <a:solidFill>
                  <a:srgbClr val="2C2C2A"/>
                </a:solidFill>
                <a:latin typeface="Helvetica Neue Medium"/>
              </a:rPr>
              <a:t>Observe</a:t>
            </a:r>
          </a:p>
        </p:txBody>
      </p:sp>
      <p:sp>
        <p:nvSpPr>
          <p:cNvPr id="7" name="TextBox 6"/>
          <p:cNvSpPr txBox="1"/>
          <p:nvPr/>
        </p:nvSpPr>
        <p:spPr>
          <a:xfrm>
            <a:off x="1097280" y="2953512"/>
            <a:ext cx="2942234" cy="603504"/>
          </a:xfrm>
          <a:prstGeom prst="rect">
            <a:avLst/>
          </a:prstGeom>
          <a:noFill/>
        </p:spPr>
        <p:txBody>
          <a:bodyPr wrap="square" lIns="0" rIns="0" tIns="0" bIns="0" anchor="t">
            <a:spAutoFit/>
          </a:bodyPr>
          <a:lstStyle/>
          <a:p>
            <a:pPr algn="l">
              <a:lnSpc>
                <a:spcPct val="140000"/>
              </a:lnSpc>
            </a:pPr>
            <a:r>
              <a:rPr sz="1000" b="0" i="0">
                <a:solidFill>
                  <a:srgbClr val="5F5E5A"/>
                </a:solidFill>
                <a:latin typeface="Helvetica Neue"/>
              </a:rPr>
              <a:t>Watch and report. Nothing more.</a:t>
            </a:r>
          </a:p>
        </p:txBody>
      </p:sp>
      <p:sp>
        <p:nvSpPr>
          <p:cNvPr id="8" name="Rounded Rectangle 7"/>
          <p:cNvSpPr/>
          <p:nvPr/>
        </p:nvSpPr>
        <p:spPr>
          <a:xfrm>
            <a:off x="4396130" y="2057400"/>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24730" y="2240280"/>
            <a:ext cx="2942234" cy="274320"/>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02</a:t>
            </a:r>
          </a:p>
        </p:txBody>
      </p:sp>
      <p:sp>
        <p:nvSpPr>
          <p:cNvPr id="10" name="TextBox 9"/>
          <p:cNvSpPr txBox="1"/>
          <p:nvPr/>
        </p:nvSpPr>
        <p:spPr>
          <a:xfrm>
            <a:off x="4624730" y="2532888"/>
            <a:ext cx="2942234" cy="457200"/>
          </a:xfrm>
          <a:prstGeom prst="rect">
            <a:avLst/>
          </a:prstGeom>
          <a:noFill/>
        </p:spPr>
        <p:txBody>
          <a:bodyPr wrap="square" lIns="0" rIns="0" tIns="0" bIns="0" anchor="t">
            <a:spAutoFit/>
          </a:bodyPr>
          <a:lstStyle/>
          <a:p>
            <a:pPr algn="l">
              <a:lnSpc>
                <a:spcPct val="118000"/>
              </a:lnSpc>
            </a:pPr>
            <a:r>
              <a:rPr sz="1400" b="0" i="0">
                <a:solidFill>
                  <a:srgbClr val="2C2C2A"/>
                </a:solidFill>
                <a:latin typeface="Helvetica Neue Medium"/>
              </a:rPr>
              <a:t>Recommend</a:t>
            </a:r>
          </a:p>
        </p:txBody>
      </p:sp>
      <p:sp>
        <p:nvSpPr>
          <p:cNvPr id="11" name="TextBox 10"/>
          <p:cNvSpPr txBox="1"/>
          <p:nvPr/>
        </p:nvSpPr>
        <p:spPr>
          <a:xfrm>
            <a:off x="4624730" y="2953512"/>
            <a:ext cx="2942234" cy="603504"/>
          </a:xfrm>
          <a:prstGeom prst="rect">
            <a:avLst/>
          </a:prstGeom>
          <a:noFill/>
        </p:spPr>
        <p:txBody>
          <a:bodyPr wrap="square" lIns="0" rIns="0" tIns="0" bIns="0" anchor="t">
            <a:spAutoFit/>
          </a:bodyPr>
          <a:lstStyle/>
          <a:p>
            <a:pPr algn="l">
              <a:lnSpc>
                <a:spcPct val="140000"/>
              </a:lnSpc>
            </a:pPr>
            <a:r>
              <a:rPr sz="1000" b="0" i="0">
                <a:solidFill>
                  <a:srgbClr val="5F5E5A"/>
                </a:solidFill>
                <a:latin typeface="Helvetica Neue"/>
              </a:rPr>
              <a:t>Propose the action; a person decides and acts.</a:t>
            </a:r>
          </a:p>
        </p:txBody>
      </p:sp>
      <p:sp>
        <p:nvSpPr>
          <p:cNvPr id="12" name="Rounded Rectangle 11"/>
          <p:cNvSpPr/>
          <p:nvPr/>
        </p:nvSpPr>
        <p:spPr>
          <a:xfrm>
            <a:off x="7923580" y="2057400"/>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52180" y="2240280"/>
            <a:ext cx="2942234" cy="274320"/>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03</a:t>
            </a:r>
          </a:p>
        </p:txBody>
      </p:sp>
      <p:sp>
        <p:nvSpPr>
          <p:cNvPr id="14" name="TextBox 13"/>
          <p:cNvSpPr txBox="1"/>
          <p:nvPr/>
        </p:nvSpPr>
        <p:spPr>
          <a:xfrm>
            <a:off x="8152180" y="2532888"/>
            <a:ext cx="2942234" cy="457200"/>
          </a:xfrm>
          <a:prstGeom prst="rect">
            <a:avLst/>
          </a:prstGeom>
          <a:noFill/>
        </p:spPr>
        <p:txBody>
          <a:bodyPr wrap="square" lIns="0" rIns="0" tIns="0" bIns="0" anchor="t">
            <a:spAutoFit/>
          </a:bodyPr>
          <a:lstStyle/>
          <a:p>
            <a:pPr algn="l">
              <a:lnSpc>
                <a:spcPct val="118000"/>
              </a:lnSpc>
            </a:pPr>
            <a:r>
              <a:rPr sz="1400" b="0" i="0">
                <a:solidFill>
                  <a:srgbClr val="2C2C2A"/>
                </a:solidFill>
                <a:latin typeface="Helvetica Neue Medium"/>
              </a:rPr>
              <a:t>Prepare</a:t>
            </a:r>
          </a:p>
        </p:txBody>
      </p:sp>
      <p:sp>
        <p:nvSpPr>
          <p:cNvPr id="15" name="TextBox 14"/>
          <p:cNvSpPr txBox="1"/>
          <p:nvPr/>
        </p:nvSpPr>
        <p:spPr>
          <a:xfrm>
            <a:off x="8152180" y="2953512"/>
            <a:ext cx="2942234" cy="603504"/>
          </a:xfrm>
          <a:prstGeom prst="rect">
            <a:avLst/>
          </a:prstGeom>
          <a:noFill/>
        </p:spPr>
        <p:txBody>
          <a:bodyPr wrap="square" lIns="0" rIns="0" tIns="0" bIns="0" anchor="t">
            <a:spAutoFit/>
          </a:bodyPr>
          <a:lstStyle/>
          <a:p>
            <a:pPr algn="l">
              <a:lnSpc>
                <a:spcPct val="140000"/>
              </a:lnSpc>
            </a:pPr>
            <a:r>
              <a:rPr sz="1000" b="0" i="0">
                <a:solidFill>
                  <a:srgbClr val="5F5E5A"/>
                </a:solidFill>
                <a:latin typeface="Helvetica Neue"/>
              </a:rPr>
              <a:t>Assemble the work completely; a person approves and releases.</a:t>
            </a:r>
          </a:p>
        </p:txBody>
      </p:sp>
      <p:sp>
        <p:nvSpPr>
          <p:cNvPr id="16" name="Rounded Rectangle 15"/>
          <p:cNvSpPr/>
          <p:nvPr/>
        </p:nvSpPr>
        <p:spPr>
          <a:xfrm>
            <a:off x="868680" y="3739896"/>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922776"/>
            <a:ext cx="2942234" cy="274320"/>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04</a:t>
            </a:r>
          </a:p>
        </p:txBody>
      </p:sp>
      <p:sp>
        <p:nvSpPr>
          <p:cNvPr id="18" name="TextBox 17"/>
          <p:cNvSpPr txBox="1"/>
          <p:nvPr/>
        </p:nvSpPr>
        <p:spPr>
          <a:xfrm>
            <a:off x="1097280" y="4215384"/>
            <a:ext cx="2942234" cy="457200"/>
          </a:xfrm>
          <a:prstGeom prst="rect">
            <a:avLst/>
          </a:prstGeom>
          <a:noFill/>
        </p:spPr>
        <p:txBody>
          <a:bodyPr wrap="square" lIns="0" rIns="0" tIns="0" bIns="0" anchor="t">
            <a:spAutoFit/>
          </a:bodyPr>
          <a:lstStyle/>
          <a:p>
            <a:pPr algn="l">
              <a:lnSpc>
                <a:spcPct val="118000"/>
              </a:lnSpc>
            </a:pPr>
            <a:r>
              <a:rPr sz="1400" b="0" i="0">
                <a:solidFill>
                  <a:srgbClr val="2C2C2A"/>
                </a:solidFill>
                <a:latin typeface="Helvetica Neue Medium"/>
              </a:rPr>
              <a:t>Execute with approval</a:t>
            </a:r>
          </a:p>
        </p:txBody>
      </p:sp>
      <p:sp>
        <p:nvSpPr>
          <p:cNvPr id="19" name="TextBox 18"/>
          <p:cNvSpPr txBox="1"/>
          <p:nvPr/>
        </p:nvSpPr>
        <p:spPr>
          <a:xfrm>
            <a:off x="1097280" y="4636008"/>
            <a:ext cx="2942234" cy="603504"/>
          </a:xfrm>
          <a:prstGeom prst="rect">
            <a:avLst/>
          </a:prstGeom>
          <a:noFill/>
        </p:spPr>
        <p:txBody>
          <a:bodyPr wrap="square" lIns="0" rIns="0" tIns="0" bIns="0" anchor="t">
            <a:spAutoFit/>
          </a:bodyPr>
          <a:lstStyle/>
          <a:p>
            <a:pPr algn="l">
              <a:lnSpc>
                <a:spcPct val="140000"/>
              </a:lnSpc>
            </a:pPr>
            <a:r>
              <a:rPr sz="1000" b="0" i="0">
                <a:solidFill>
                  <a:srgbClr val="5F5E5A"/>
                </a:solidFill>
                <a:latin typeface="Helvetica Neue"/>
              </a:rPr>
              <a:t>Act, gated each time by a named approver.</a:t>
            </a:r>
          </a:p>
        </p:txBody>
      </p:sp>
      <p:sp>
        <p:nvSpPr>
          <p:cNvPr id="20" name="Rounded Rectangle 19"/>
          <p:cNvSpPr/>
          <p:nvPr/>
        </p:nvSpPr>
        <p:spPr>
          <a:xfrm>
            <a:off x="4396130" y="3739896"/>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24730" y="3922776"/>
            <a:ext cx="2942234" cy="274320"/>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05</a:t>
            </a:r>
          </a:p>
        </p:txBody>
      </p:sp>
      <p:sp>
        <p:nvSpPr>
          <p:cNvPr id="22" name="TextBox 21"/>
          <p:cNvSpPr txBox="1"/>
          <p:nvPr/>
        </p:nvSpPr>
        <p:spPr>
          <a:xfrm>
            <a:off x="4624730" y="4215384"/>
            <a:ext cx="2942234" cy="457200"/>
          </a:xfrm>
          <a:prstGeom prst="rect">
            <a:avLst/>
          </a:prstGeom>
          <a:noFill/>
        </p:spPr>
        <p:txBody>
          <a:bodyPr wrap="square" lIns="0" rIns="0" tIns="0" bIns="0" anchor="t">
            <a:spAutoFit/>
          </a:bodyPr>
          <a:lstStyle/>
          <a:p>
            <a:pPr algn="l">
              <a:lnSpc>
                <a:spcPct val="118000"/>
              </a:lnSpc>
            </a:pPr>
            <a:r>
              <a:rPr sz="1400" b="0" i="0">
                <a:solidFill>
                  <a:srgbClr val="2C2C2A"/>
                </a:solidFill>
                <a:latin typeface="Helvetica Neue Medium"/>
              </a:rPr>
              <a:t>Execute within boundaries</a:t>
            </a:r>
          </a:p>
        </p:txBody>
      </p:sp>
      <p:sp>
        <p:nvSpPr>
          <p:cNvPr id="23" name="TextBox 22"/>
          <p:cNvSpPr txBox="1"/>
          <p:nvPr/>
        </p:nvSpPr>
        <p:spPr>
          <a:xfrm>
            <a:off x="4624730" y="4636008"/>
            <a:ext cx="2942234" cy="603504"/>
          </a:xfrm>
          <a:prstGeom prst="rect">
            <a:avLst/>
          </a:prstGeom>
          <a:noFill/>
        </p:spPr>
        <p:txBody>
          <a:bodyPr wrap="square" lIns="0" rIns="0" tIns="0" bIns="0" anchor="t">
            <a:spAutoFit/>
          </a:bodyPr>
          <a:lstStyle/>
          <a:p>
            <a:pPr algn="l">
              <a:lnSpc>
                <a:spcPct val="140000"/>
              </a:lnSpc>
            </a:pPr>
            <a:r>
              <a:rPr sz="1000" b="0" i="0">
                <a:solidFill>
                  <a:srgbClr val="5F5E5A"/>
                </a:solidFill>
                <a:latin typeface="Helvetica Neue"/>
              </a:rPr>
              <a:t>Act autonomously inside an approved envelope, fully logged.</a:t>
            </a:r>
          </a:p>
        </p:txBody>
      </p:sp>
      <p:sp>
        <p:nvSpPr>
          <p:cNvPr id="24" name="Rounded Rectangle 23"/>
          <p:cNvSpPr/>
          <p:nvPr/>
        </p:nvSpPr>
        <p:spPr>
          <a:xfrm>
            <a:off x="7923580" y="3739896"/>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2180" y="3922776"/>
            <a:ext cx="2942234" cy="274320"/>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06</a:t>
            </a:r>
          </a:p>
        </p:txBody>
      </p:sp>
      <p:sp>
        <p:nvSpPr>
          <p:cNvPr id="26" name="TextBox 25"/>
          <p:cNvSpPr txBox="1"/>
          <p:nvPr/>
        </p:nvSpPr>
        <p:spPr>
          <a:xfrm>
            <a:off x="8152180" y="4215384"/>
            <a:ext cx="2942234" cy="457200"/>
          </a:xfrm>
          <a:prstGeom prst="rect">
            <a:avLst/>
          </a:prstGeom>
          <a:noFill/>
        </p:spPr>
        <p:txBody>
          <a:bodyPr wrap="square" lIns="0" rIns="0" tIns="0" bIns="0" anchor="t">
            <a:spAutoFit/>
          </a:bodyPr>
          <a:lstStyle/>
          <a:p>
            <a:pPr algn="l">
              <a:lnSpc>
                <a:spcPct val="118000"/>
              </a:lnSpc>
            </a:pPr>
            <a:r>
              <a:rPr sz="1400" b="0" i="0">
                <a:solidFill>
                  <a:srgbClr val="2C2C2A"/>
                </a:solidFill>
                <a:latin typeface="Helvetica Neue Medium"/>
              </a:rPr>
              <a:t>Human-only</a:t>
            </a:r>
          </a:p>
        </p:txBody>
      </p:sp>
      <p:sp>
        <p:nvSpPr>
          <p:cNvPr id="27" name="TextBox 26"/>
          <p:cNvSpPr txBox="1"/>
          <p:nvPr/>
        </p:nvSpPr>
        <p:spPr>
          <a:xfrm>
            <a:off x="8152180" y="4636008"/>
            <a:ext cx="2942234" cy="603504"/>
          </a:xfrm>
          <a:prstGeom prst="rect">
            <a:avLst/>
          </a:prstGeom>
          <a:noFill/>
        </p:spPr>
        <p:txBody>
          <a:bodyPr wrap="square" lIns="0" rIns="0" tIns="0" bIns="0" anchor="t">
            <a:spAutoFit/>
          </a:bodyPr>
          <a:lstStyle/>
          <a:p>
            <a:pPr algn="l">
              <a:lnSpc>
                <a:spcPct val="140000"/>
              </a:lnSpc>
            </a:pPr>
            <a:r>
              <a:rPr sz="1000" b="0" i="0">
                <a:solidFill>
                  <a:srgbClr val="5F5E5A"/>
                </a:solidFill>
                <a:latin typeface="Helvetica Neue"/>
              </a:rPr>
              <a:t>Some decisions never climb. By design.</a:t>
            </a:r>
          </a:p>
        </p:txBody>
      </p:sp>
      <p:sp>
        <p:nvSpPr>
          <p:cNvPr id="28" name="Rounded Rectangle 27"/>
          <p:cNvSpPr/>
          <p:nvPr/>
        </p:nvSpPr>
        <p:spPr>
          <a:xfrm>
            <a:off x="868680" y="5852160"/>
            <a:ext cx="10454335" cy="777240"/>
          </a:xfrm>
          <a:prstGeom prst="roundRect">
            <a:avLst>
              <a:gd name="adj" fmla="val 18000"/>
            </a:avLst>
          </a:prstGeom>
          <a:solidFill>
            <a:srgbClr val="FAF8F1"/>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64592" bIns="164592" wrap="square"/>
          <a:lstStyle/>
          <a:p>
            <a:pPr algn="l"/>
            <a:r>
              <a:rPr sz="1800" b="0">
                <a:solidFill>
                  <a:srgbClr val="2C2C2A"/>
                </a:solidFill>
                <a:latin typeface="Helvetica Neue Medium"/>
              </a:rPr>
              <a:t>The better we encode our controls, the more autonomy we can safely provide.</a:t>
            </a:r>
          </a:p>
        </p:txBody>
      </p:sp>
      <p:sp>
        <p:nvSpPr>
          <p:cNvPr id="29" name="TextBox 28"/>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18</a:t>
            </a:r>
            <a:r>
              <a:rPr sz="1000" b="0" i="0">
                <a:solidFill>
                  <a:srgbClr val="888780"/>
                </a:solidFill>
                <a:latin typeface="Helvetica Neue Medium"/>
              </a:rPr>
              <a:t>  /  32</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2011680"/>
            <a:ext cx="2743200" cy="1828800"/>
          </a:xfrm>
          <a:prstGeom prst="rect">
            <a:avLst/>
          </a:prstGeom>
          <a:noFill/>
        </p:spPr>
        <p:txBody>
          <a:bodyPr wrap="square" lIns="0" rIns="0" tIns="0" bIns="0" anchor="t">
            <a:spAutoFit/>
          </a:bodyPr>
          <a:lstStyle/>
          <a:p>
            <a:pPr algn="l">
              <a:lnSpc>
                <a:spcPct val="100000"/>
              </a:lnSpc>
            </a:pPr>
            <a:r>
              <a:rPr sz="11000" b="0" i="0">
                <a:solidFill>
                  <a:srgbClr val="D85A30"/>
                </a:solidFill>
                <a:latin typeface="Helvetica Neue Medium"/>
              </a:rPr>
              <a:t>vi</a:t>
            </a:r>
          </a:p>
        </p:txBody>
      </p:sp>
      <p:sp>
        <p:nvSpPr>
          <p:cNvPr id="3" name="TextBox 2"/>
          <p:cNvSpPr txBox="1"/>
          <p:nvPr/>
        </p:nvSpPr>
        <p:spPr>
          <a:xfrm>
            <a:off x="868680" y="3703320"/>
            <a:ext cx="2743200" cy="365760"/>
          </a:xfrm>
          <a:prstGeom prst="rect">
            <a:avLst/>
          </a:prstGeom>
          <a:noFill/>
        </p:spPr>
        <p:txBody>
          <a:bodyPr wrap="square" lIns="0" rIns="0" tIns="0" bIns="0" anchor="t">
            <a:spAutoFit/>
          </a:bodyPr>
          <a:lstStyle/>
          <a:p>
            <a:pPr algn="l">
              <a:lnSpc>
                <a:spcPct val="125000"/>
              </a:lnSpc>
            </a:pPr>
            <a:r>
              <a:rPr sz="1100" b="0" i="0">
                <a:solidFill>
                  <a:srgbClr val="5F5E5A"/>
                </a:solidFill>
                <a:latin typeface="Helvetica Neue Medium"/>
              </a:rPr>
              <a:t>The lifetime</a:t>
            </a:r>
          </a:p>
        </p:txBody>
      </p:sp>
      <p:sp>
        <p:nvSpPr>
          <p:cNvPr id="4" name="TextBox 3"/>
          <p:cNvSpPr txBox="1"/>
          <p:nvPr/>
        </p:nvSpPr>
        <p:spPr>
          <a:xfrm>
            <a:off x="4251960" y="1874519"/>
            <a:ext cx="7071055" cy="1097280"/>
          </a:xfrm>
          <a:prstGeom prst="rect">
            <a:avLst/>
          </a:prstGeom>
          <a:noFill/>
        </p:spPr>
        <p:txBody>
          <a:bodyPr wrap="square" lIns="0" rIns="0" tIns="0" bIns="0" anchor="t">
            <a:spAutoFit/>
          </a:bodyPr>
          <a:lstStyle/>
          <a:p>
            <a:pPr algn="l">
              <a:lnSpc>
                <a:spcPct val="110000"/>
              </a:lnSpc>
            </a:pPr>
            <a:r>
              <a:rPr sz="3600" b="0" i="0">
                <a:solidFill>
                  <a:srgbClr val="2C2C2A"/>
                </a:solidFill>
                <a:latin typeface="Helvetica Neue Medium"/>
              </a:rPr>
              <a:t>From prospect to multigenerational family.</a:t>
            </a:r>
          </a:p>
        </p:txBody>
      </p:sp>
      <p:sp>
        <p:nvSpPr>
          <p:cNvPr id="5" name="TextBox 4"/>
          <p:cNvSpPr txBox="1"/>
          <p:nvPr/>
        </p:nvSpPr>
        <p:spPr>
          <a:xfrm>
            <a:off x="4251960" y="3108960"/>
            <a:ext cx="7071055" cy="3291840"/>
          </a:xfrm>
          <a:prstGeom prst="rect">
            <a:avLst/>
          </a:prstGeom>
          <a:noFill/>
        </p:spPr>
        <p:txBody>
          <a:bodyPr wrap="square" lIns="0" rIns="0" tIns="0" bIns="0" anchor="t">
            <a:spAutoFit/>
          </a:bodyPr>
          <a:lstStyle/>
          <a:p>
            <a:pPr algn="l">
              <a:lnSpc>
                <a:spcPct val="150000"/>
              </a:lnSpc>
            </a:pPr>
            <a:r>
              <a:rPr sz="1400" b="0" i="0">
                <a:solidFill>
                  <a:srgbClr val="444441"/>
                </a:solidFill>
                <a:latin typeface="Helvetica Neue"/>
              </a:rPr>
              <a:t>Identify the prospect, map the warm path in, prepare a differentiated first conversation, and demonstrate live capability in the meeting itself. When they choose us, the context flows straight into KYC, onboarding, and funding. </a:t>
            </a:r>
            <a:r>
              <a:rPr sz="1400" b="0" i="0">
                <a:solidFill>
                  <a:srgbClr val="993C1D"/>
                </a:solidFill>
                <a:latin typeface="Helvetica Neue Medium"/>
              </a:rPr>
              <a:t>The Prospect Agent becomes the Client Agent. The memory does not reset.</a:t>
            </a:r>
          </a:p>
          <a:p>
            <a:pPr algn="l">
              <a:lnSpc>
                <a:spcPct val="150000"/>
              </a:lnSpc>
              <a:spcBef>
                <a:spcPts val="800"/>
              </a:spcBef>
            </a:pPr>
            <a:r>
              <a:rPr sz="1400" b="0" i="0">
                <a:solidFill>
                  <a:srgbClr val="444441"/>
                </a:solidFill>
                <a:latin typeface="Helvetica Neue"/>
              </a:rPr>
              <a:t>The relationship is a family and its ecosystem — spouses, children, trustees, beneficiaries, family-office professionals, assistants, attorneys, accountants — each with a carefully permissioned view of the same living memory. That graph is where family governance, next-generation education, wealth transfer, and philanthropy get built.</a:t>
            </a:r>
          </a:p>
        </p:txBody>
      </p:sp>
      <p:sp>
        <p:nvSpPr>
          <p:cNvPr id="6" name="TextBox 5"/>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19</a:t>
            </a:r>
            <a:r>
              <a:rPr sz="1000" b="0" i="0">
                <a:solidFill>
                  <a:srgbClr val="888780"/>
                </a:solidFill>
                <a:latin typeface="Helvetica Neue Medium"/>
              </a:rPr>
              <a:t>  /  32</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vi   </a:t>
            </a:r>
            <a:r>
              <a:rPr sz="1100" b="0" i="0">
                <a:solidFill>
                  <a:srgbClr val="993C1D"/>
                </a:solidFill>
                <a:latin typeface="Helvetica Neue Medium"/>
              </a:rPr>
              <a:t>The lifetime  ·  At home</a:t>
            </a:r>
          </a:p>
        </p:txBody>
      </p:sp>
      <p:sp>
        <p:nvSpPr>
          <p:cNvPr id="3" name="TextBox 2"/>
          <p:cNvSpPr txBox="1"/>
          <p:nvPr/>
        </p:nvSpPr>
        <p:spPr>
          <a:xfrm>
            <a:off x="868680" y="960120"/>
            <a:ext cx="10454335" cy="914400"/>
          </a:xfrm>
          <a:prstGeom prst="rect">
            <a:avLst/>
          </a:prstGeom>
          <a:noFill/>
        </p:spPr>
        <p:txBody>
          <a:bodyPr wrap="square" lIns="0" rIns="0" tIns="0" bIns="0" anchor="t">
            <a:spAutoFit/>
          </a:bodyPr>
          <a:lstStyle/>
          <a:p>
            <a:pPr algn="l">
              <a:lnSpc>
                <a:spcPct val="115000"/>
              </a:lnSpc>
            </a:pPr>
            <a:r>
              <a:rPr sz="3000" b="0" i="0">
                <a:solidFill>
                  <a:srgbClr val="2C2C2A"/>
                </a:solidFill>
                <a:latin typeface="Helvetica Neue Medium"/>
              </a:rPr>
              <a:t>The companion and the shield.</a:t>
            </a:r>
          </a:p>
        </p:txBody>
      </p:sp>
      <p:sp>
        <p:nvSpPr>
          <p:cNvPr id="4" name="Rounded Rectangle 3"/>
          <p:cNvSpPr/>
          <p:nvPr/>
        </p:nvSpPr>
        <p:spPr>
          <a:xfrm>
            <a:off x="868680" y="2148840"/>
            <a:ext cx="5135727" cy="3566160"/>
          </a:xfrm>
          <a:prstGeom prst="roundRect">
            <a:avLst>
              <a:gd name="adj" fmla="val 5000"/>
            </a:avLst>
          </a:prstGeom>
          <a:solidFill>
            <a:srgbClr val="FFFFFF"/>
          </a:solidFill>
          <a:ln w="6350">
            <a:solidFill>
              <a:srgbClr val="F099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86584"/>
            <a:ext cx="4587087" cy="292608"/>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The companion</a:t>
            </a:r>
          </a:p>
        </p:txBody>
      </p:sp>
      <p:sp>
        <p:nvSpPr>
          <p:cNvPr id="6" name="TextBox 5"/>
          <p:cNvSpPr txBox="1"/>
          <p:nvPr/>
        </p:nvSpPr>
        <p:spPr>
          <a:xfrm>
            <a:off x="1143000" y="2752344"/>
            <a:ext cx="4587087" cy="640080"/>
          </a:xfrm>
          <a:prstGeom prst="rect">
            <a:avLst/>
          </a:prstGeom>
          <a:noFill/>
        </p:spPr>
        <p:txBody>
          <a:bodyPr wrap="square" lIns="0" rIns="0" tIns="0" bIns="0" anchor="t">
            <a:spAutoFit/>
          </a:bodyPr>
          <a:lstStyle/>
          <a:p>
            <a:pPr algn="l">
              <a:lnSpc>
                <a:spcPct val="110000"/>
              </a:lnSpc>
            </a:pPr>
            <a:r>
              <a:rPr sz="2300" b="0" i="0">
                <a:solidFill>
                  <a:srgbClr val="2C2C2A"/>
                </a:solidFill>
                <a:latin typeface="Helvetica Neue Medium"/>
              </a:rPr>
              <a:t>The firm, in the client’s pocket</a:t>
            </a:r>
          </a:p>
        </p:txBody>
      </p:sp>
      <p:sp>
        <p:nvSpPr>
          <p:cNvPr id="7" name="TextBox 6"/>
          <p:cNvSpPr txBox="1"/>
          <p:nvPr/>
        </p:nvSpPr>
        <p:spPr>
          <a:xfrm>
            <a:off x="1143000" y="3429000"/>
            <a:ext cx="4587087" cy="1691640"/>
          </a:xfrm>
          <a:prstGeom prst="rect">
            <a:avLst/>
          </a:prstGeom>
          <a:noFill/>
        </p:spPr>
        <p:txBody>
          <a:bodyPr wrap="square" lIns="0" rIns="0" tIns="0" bIns="0" anchor="t">
            <a:spAutoFit/>
          </a:bodyPr>
          <a:lstStyle/>
          <a:p>
            <a:pPr algn="l">
              <a:lnSpc>
                <a:spcPct val="150000"/>
              </a:lnSpc>
            </a:pPr>
            <a:r>
              <a:rPr sz="1200" b="0" i="0">
                <a:solidFill>
                  <a:srgbClr val="444441"/>
                </a:solidFill>
                <a:latin typeface="Helvetica Neue"/>
              </a:rPr>
              <a:t>Routine questions answered instantly. Developments explained in the client’s own context. Scenarios explored, progress against goals watched, appropriate self-service completed. When judgment is needed, the banker enters seamlessly — full context attached.</a:t>
            </a:r>
          </a:p>
        </p:txBody>
      </p:sp>
      <p:sp>
        <p:nvSpPr>
          <p:cNvPr id="8" name="TextBox 7"/>
          <p:cNvSpPr txBox="1"/>
          <p:nvPr/>
        </p:nvSpPr>
        <p:spPr>
          <a:xfrm>
            <a:off x="1143000" y="5148072"/>
            <a:ext cx="4587087" cy="457200"/>
          </a:xfrm>
          <a:prstGeom prst="rect">
            <a:avLst/>
          </a:prstGeom>
          <a:noFill/>
        </p:spPr>
        <p:txBody>
          <a:bodyPr wrap="square" lIns="0" rIns="0" tIns="0" bIns="0" anchor="t">
            <a:spAutoFit/>
          </a:bodyPr>
          <a:lstStyle/>
          <a:p>
            <a:pPr algn="l">
              <a:lnSpc>
                <a:spcPct val="140000"/>
              </a:lnSpc>
            </a:pPr>
            <a:r>
              <a:rPr sz="1000" b="0" i="1">
                <a:solidFill>
                  <a:srgbClr val="5F5E5A"/>
                </a:solidFill>
                <a:latin typeface="Helvetica Neue"/>
              </a:rPr>
              <a:t>The platform absorbs the routine. The relationship gets the decisions.</a:t>
            </a:r>
          </a:p>
        </p:txBody>
      </p:sp>
      <p:sp>
        <p:nvSpPr>
          <p:cNvPr id="9" name="Rounded Rectangle 8"/>
          <p:cNvSpPr/>
          <p:nvPr/>
        </p:nvSpPr>
        <p:spPr>
          <a:xfrm>
            <a:off x="6187287" y="2148840"/>
            <a:ext cx="5135727" cy="3566160"/>
          </a:xfrm>
          <a:prstGeom prst="roundRect">
            <a:avLst>
              <a:gd name="adj" fmla="val 5000"/>
            </a:avLst>
          </a:prstGeom>
          <a:solidFill>
            <a:srgbClr val="FFFFFF"/>
          </a:solidFill>
          <a:ln w="6350">
            <a:solidFill>
              <a:srgbClr val="F099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2386584"/>
            <a:ext cx="4587087" cy="292608"/>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The shield</a:t>
            </a:r>
          </a:p>
        </p:txBody>
      </p:sp>
      <p:sp>
        <p:nvSpPr>
          <p:cNvPr id="11" name="TextBox 10"/>
          <p:cNvSpPr txBox="1"/>
          <p:nvPr/>
        </p:nvSpPr>
        <p:spPr>
          <a:xfrm>
            <a:off x="6461607" y="2752344"/>
            <a:ext cx="4587087" cy="640080"/>
          </a:xfrm>
          <a:prstGeom prst="rect">
            <a:avLst/>
          </a:prstGeom>
          <a:noFill/>
        </p:spPr>
        <p:txBody>
          <a:bodyPr wrap="square" lIns="0" rIns="0" tIns="0" bIns="0" anchor="t">
            <a:spAutoFit/>
          </a:bodyPr>
          <a:lstStyle/>
          <a:p>
            <a:pPr algn="l">
              <a:lnSpc>
                <a:spcPct val="110000"/>
              </a:lnSpc>
            </a:pPr>
            <a:r>
              <a:rPr sz="2300" b="0" i="0">
                <a:solidFill>
                  <a:srgbClr val="2C2C2A"/>
                </a:solidFill>
                <a:latin typeface="Helvetica Neue Medium"/>
              </a:rPr>
              <a:t>The safest place in an AI world</a:t>
            </a:r>
          </a:p>
        </p:txBody>
      </p:sp>
      <p:sp>
        <p:nvSpPr>
          <p:cNvPr id="12" name="TextBox 11"/>
          <p:cNvSpPr txBox="1"/>
          <p:nvPr/>
        </p:nvSpPr>
        <p:spPr>
          <a:xfrm>
            <a:off x="6461607" y="3429000"/>
            <a:ext cx="4587087" cy="1691640"/>
          </a:xfrm>
          <a:prstGeom prst="rect">
            <a:avLst/>
          </a:prstGeom>
          <a:noFill/>
        </p:spPr>
        <p:txBody>
          <a:bodyPr wrap="square" lIns="0" rIns="0" tIns="0" bIns="0" anchor="t">
            <a:spAutoFit/>
          </a:bodyPr>
          <a:lstStyle/>
          <a:p>
            <a:pPr algn="l">
              <a:lnSpc>
                <a:spcPct val="150000"/>
              </a:lnSpc>
            </a:pPr>
            <a:r>
              <a:rPr sz="1200" b="0" i="0">
                <a:solidFill>
                  <a:srgbClr val="444441"/>
                </a:solidFill>
                <a:latin typeface="Helvetica Neue"/>
              </a:rPr>
              <a:t>The same platform protects the family: impersonation and deepfakes, social engineering, account takeover, financial exploitation — the threats now aimed at wealth, watched around the clock.</a:t>
            </a:r>
          </a:p>
        </p:txBody>
      </p:sp>
      <p:sp>
        <p:nvSpPr>
          <p:cNvPr id="13" name="TextBox 12"/>
          <p:cNvSpPr txBox="1"/>
          <p:nvPr/>
        </p:nvSpPr>
        <p:spPr>
          <a:xfrm>
            <a:off x="6461607" y="5148072"/>
            <a:ext cx="4587087" cy="457200"/>
          </a:xfrm>
          <a:prstGeom prst="rect">
            <a:avLst/>
          </a:prstGeom>
          <a:noFill/>
        </p:spPr>
        <p:txBody>
          <a:bodyPr wrap="square" lIns="0" rIns="0" tIns="0" bIns="0" anchor="t">
            <a:spAutoFit/>
          </a:bodyPr>
          <a:lstStyle/>
          <a:p>
            <a:pPr algn="l">
              <a:lnSpc>
                <a:spcPct val="140000"/>
              </a:lnSpc>
            </a:pPr>
            <a:r>
              <a:rPr sz="1000" b="0" i="1">
                <a:solidFill>
                  <a:srgbClr val="5F5E5A"/>
                </a:solidFill>
                <a:latin typeface="Helvetica Neue"/>
              </a:rPr>
              <a:t>Powerful intelligence — and the safest place to use it.</a:t>
            </a:r>
          </a:p>
        </p:txBody>
      </p:sp>
      <p:sp>
        <p:nvSpPr>
          <p:cNvPr id="14" name="TextBox 13"/>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20</a:t>
            </a:r>
            <a:r>
              <a:rPr sz="1000" b="0" i="0">
                <a:solidFill>
                  <a:srgbClr val="888780"/>
                </a:solidFill>
                <a:latin typeface="Helvetica Neue Medium"/>
              </a:rPr>
              <a:t>  /  32</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08   </a:t>
            </a:r>
            <a:r>
              <a:rPr sz="1100" b="0" i="0">
                <a:solidFill>
                  <a:srgbClr val="993C1D"/>
                </a:solidFill>
                <a:latin typeface="Helvetica Neue Medium"/>
              </a:rPr>
              <a:t>Reinventing apprenticeship</a:t>
            </a:r>
          </a:p>
        </p:txBody>
      </p:sp>
      <p:sp>
        <p:nvSpPr>
          <p:cNvPr id="3" name="TextBox 2"/>
          <p:cNvSpPr txBox="1"/>
          <p:nvPr/>
        </p:nvSpPr>
        <p:spPr>
          <a:xfrm>
            <a:off x="868680" y="960120"/>
            <a:ext cx="10454335" cy="914400"/>
          </a:xfrm>
          <a:prstGeom prst="rect">
            <a:avLst/>
          </a:prstGeom>
          <a:noFill/>
        </p:spPr>
        <p:txBody>
          <a:bodyPr wrap="square" lIns="0" rIns="0" tIns="0" bIns="0" anchor="t">
            <a:spAutoFit/>
          </a:bodyPr>
          <a:lstStyle/>
          <a:p>
            <a:pPr algn="l">
              <a:lnSpc>
                <a:spcPct val="115000"/>
              </a:lnSpc>
            </a:pPr>
            <a:r>
              <a:rPr sz="3000" b="0" i="0">
                <a:solidFill>
                  <a:srgbClr val="2C2C2A"/>
                </a:solidFill>
                <a:latin typeface="Helvetica Neue Medium"/>
              </a:rPr>
              <a:t>The parallel book and the wind tunnel.</a:t>
            </a:r>
          </a:p>
        </p:txBody>
      </p:sp>
      <p:sp>
        <p:nvSpPr>
          <p:cNvPr id="4" name="Rounded Rectangle 3"/>
          <p:cNvSpPr/>
          <p:nvPr/>
        </p:nvSpPr>
        <p:spPr>
          <a:xfrm>
            <a:off x="868680" y="2148840"/>
            <a:ext cx="5135727" cy="3566160"/>
          </a:xfrm>
          <a:prstGeom prst="roundRect">
            <a:avLst>
              <a:gd name="adj" fmla="val 5000"/>
            </a:avLst>
          </a:prstGeom>
          <a:solidFill>
            <a:srgbClr val="FFFFFF"/>
          </a:solidFill>
          <a:ln w="6350">
            <a:solidFill>
              <a:srgbClr val="F099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86584"/>
            <a:ext cx="4587087" cy="292608"/>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The parallel book</a:t>
            </a:r>
          </a:p>
        </p:txBody>
      </p:sp>
      <p:sp>
        <p:nvSpPr>
          <p:cNvPr id="6" name="TextBox 5"/>
          <p:cNvSpPr txBox="1"/>
          <p:nvPr/>
        </p:nvSpPr>
        <p:spPr>
          <a:xfrm>
            <a:off x="1143000" y="2752344"/>
            <a:ext cx="4587087" cy="640080"/>
          </a:xfrm>
          <a:prstGeom prst="rect">
            <a:avLst/>
          </a:prstGeom>
          <a:noFill/>
        </p:spPr>
        <p:txBody>
          <a:bodyPr wrap="square" lIns="0" rIns="0" tIns="0" bIns="0" anchor="t">
            <a:spAutoFit/>
          </a:bodyPr>
          <a:lstStyle/>
          <a:p>
            <a:pPr algn="l">
              <a:lnSpc>
                <a:spcPct val="110000"/>
              </a:lnSpc>
            </a:pPr>
            <a:r>
              <a:rPr sz="2300" b="0" i="0">
                <a:solidFill>
                  <a:srgbClr val="2C2C2A"/>
                </a:solidFill>
                <a:latin typeface="Helvetica Neue Medium"/>
              </a:rPr>
              <a:t>Clients who are not real</a:t>
            </a:r>
          </a:p>
        </p:txBody>
      </p:sp>
      <p:sp>
        <p:nvSpPr>
          <p:cNvPr id="7" name="TextBox 6"/>
          <p:cNvSpPr txBox="1"/>
          <p:nvPr/>
        </p:nvSpPr>
        <p:spPr>
          <a:xfrm>
            <a:off x="1143000" y="3429000"/>
            <a:ext cx="4587087" cy="1691640"/>
          </a:xfrm>
          <a:prstGeom prst="rect">
            <a:avLst/>
          </a:prstGeom>
          <a:noFill/>
        </p:spPr>
        <p:txBody>
          <a:bodyPr wrap="square" lIns="0" rIns="0" tIns="0" bIns="0" anchor="t">
            <a:spAutoFit/>
          </a:bodyPr>
          <a:lstStyle/>
          <a:p>
            <a:pPr algn="l">
              <a:lnSpc>
                <a:spcPct val="150000"/>
              </a:lnSpc>
            </a:pPr>
            <a:r>
              <a:rPr sz="1200" b="0" i="0">
                <a:solidFill>
                  <a:srgbClr val="444441"/>
                </a:solidFill>
                <a:latin typeface="Helvetica Neue"/>
              </a:rPr>
              <a:t>Every analyst runs simulated families — businesses, portfolios, inboxes, voices, personalities, evolving needs. They practice investments, lending, planning, the anxious call, the complex explanation, the recovery from a mistake. Alongside it, real apprenticeship on live relationships teaches trust, empathy, and accountability.</a:t>
            </a:r>
          </a:p>
        </p:txBody>
      </p:sp>
      <p:sp>
        <p:nvSpPr>
          <p:cNvPr id="8" name="TextBox 7"/>
          <p:cNvSpPr txBox="1"/>
          <p:nvPr/>
        </p:nvSpPr>
        <p:spPr>
          <a:xfrm>
            <a:off x="1143000" y="5148072"/>
            <a:ext cx="4587087" cy="457200"/>
          </a:xfrm>
          <a:prstGeom prst="rect">
            <a:avLst/>
          </a:prstGeom>
          <a:noFill/>
        </p:spPr>
        <p:txBody>
          <a:bodyPr wrap="square" lIns="0" rIns="0" tIns="0" bIns="0" anchor="t">
            <a:spAutoFit/>
          </a:bodyPr>
          <a:lstStyle/>
          <a:p>
            <a:pPr algn="l">
              <a:lnSpc>
                <a:spcPct val="140000"/>
              </a:lnSpc>
            </a:pPr>
            <a:r>
              <a:rPr sz="1000" b="0" i="1">
                <a:solidFill>
                  <a:srgbClr val="5F5E5A"/>
                </a:solidFill>
                <a:latin typeface="Helvetica Neue"/>
              </a:rPr>
              <a:t>Simulation accelerates development. It does not replace real relationships.</a:t>
            </a:r>
          </a:p>
        </p:txBody>
      </p:sp>
      <p:sp>
        <p:nvSpPr>
          <p:cNvPr id="9" name="Rounded Rectangle 8"/>
          <p:cNvSpPr/>
          <p:nvPr/>
        </p:nvSpPr>
        <p:spPr>
          <a:xfrm>
            <a:off x="6187287" y="2148840"/>
            <a:ext cx="5135727" cy="3566160"/>
          </a:xfrm>
          <a:prstGeom prst="roundRect">
            <a:avLst>
              <a:gd name="adj" fmla="val 5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2386584"/>
            <a:ext cx="4587087" cy="292608"/>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The wind tunnel</a:t>
            </a:r>
          </a:p>
        </p:txBody>
      </p:sp>
      <p:sp>
        <p:nvSpPr>
          <p:cNvPr id="11" name="TextBox 10"/>
          <p:cNvSpPr txBox="1"/>
          <p:nvPr/>
        </p:nvSpPr>
        <p:spPr>
          <a:xfrm>
            <a:off x="6461607" y="2752344"/>
            <a:ext cx="4587087" cy="640080"/>
          </a:xfrm>
          <a:prstGeom prst="rect">
            <a:avLst/>
          </a:prstGeom>
          <a:noFill/>
        </p:spPr>
        <p:txBody>
          <a:bodyPr wrap="square" lIns="0" rIns="0" tIns="0" bIns="0" anchor="t">
            <a:spAutoFit/>
          </a:bodyPr>
          <a:lstStyle/>
          <a:p>
            <a:pPr algn="l">
              <a:lnSpc>
                <a:spcPct val="110000"/>
              </a:lnSpc>
            </a:pPr>
            <a:r>
              <a:rPr sz="2300" b="0" i="0">
                <a:solidFill>
                  <a:srgbClr val="2C2C2A"/>
                </a:solidFill>
                <a:latin typeface="Helvetica Neue Medium"/>
              </a:rPr>
              <a:t>Where the firm tests itself</a:t>
            </a:r>
          </a:p>
        </p:txBody>
      </p:sp>
      <p:sp>
        <p:nvSpPr>
          <p:cNvPr id="12" name="TextBox 11"/>
          <p:cNvSpPr txBox="1"/>
          <p:nvPr/>
        </p:nvSpPr>
        <p:spPr>
          <a:xfrm>
            <a:off x="6461607" y="3429000"/>
            <a:ext cx="4587087" cy="1691640"/>
          </a:xfrm>
          <a:prstGeom prst="rect">
            <a:avLst/>
          </a:prstGeom>
          <a:noFill/>
        </p:spPr>
        <p:txBody>
          <a:bodyPr wrap="square" lIns="0" rIns="0" tIns="0" bIns="0" anchor="t">
            <a:spAutoFit/>
          </a:bodyPr>
          <a:lstStyle/>
          <a:p>
            <a:pPr algn="l">
              <a:lnSpc>
                <a:spcPct val="150000"/>
              </a:lnSpc>
            </a:pPr>
            <a:r>
              <a:rPr sz="1200" b="0" i="0">
                <a:solidFill>
                  <a:srgbClr val="444441"/>
                </a:solidFill>
                <a:latin typeface="Helvetica Neue"/>
              </a:rPr>
              <a:t>The same synthetic environment becomes the proving ground: new agents, skills, products, and workflows run against realistic relationships before they ever touch production.</a:t>
            </a:r>
          </a:p>
        </p:txBody>
      </p:sp>
      <p:sp>
        <p:nvSpPr>
          <p:cNvPr id="13" name="TextBox 12"/>
          <p:cNvSpPr txBox="1"/>
          <p:nvPr/>
        </p:nvSpPr>
        <p:spPr>
          <a:xfrm>
            <a:off x="6461607" y="5148072"/>
            <a:ext cx="4587087" cy="457200"/>
          </a:xfrm>
          <a:prstGeom prst="rect">
            <a:avLst/>
          </a:prstGeom>
          <a:noFill/>
        </p:spPr>
        <p:txBody>
          <a:bodyPr wrap="square" lIns="0" rIns="0" tIns="0" bIns="0" anchor="t">
            <a:spAutoFit/>
          </a:bodyPr>
          <a:lstStyle/>
          <a:p>
            <a:pPr algn="l">
              <a:lnSpc>
                <a:spcPct val="140000"/>
              </a:lnSpc>
            </a:pPr>
            <a:r>
              <a:rPr sz="1000" b="0" i="1">
                <a:solidFill>
                  <a:srgbClr val="5F5E5A"/>
                </a:solidFill>
                <a:latin typeface="Helvetica Neue"/>
              </a:rPr>
              <a:t>Nothing meets a real client untested.</a:t>
            </a:r>
          </a:p>
        </p:txBody>
      </p:sp>
      <p:sp>
        <p:nvSpPr>
          <p:cNvPr id="14" name="TextBox 13"/>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21</a:t>
            </a:r>
            <a:r>
              <a:rPr sz="1000" b="0" i="0">
                <a:solidFill>
                  <a:srgbClr val="888780"/>
                </a:solidFill>
                <a:latin typeface="Helvetica Neue Medium"/>
              </a:rPr>
              <a:t>  /  32</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09   </a:t>
            </a:r>
            <a:r>
              <a:rPr sz="1100" b="0" i="0">
                <a:solidFill>
                  <a:srgbClr val="993C1D"/>
                </a:solidFill>
                <a:latin typeface="Helvetica Neue Medium"/>
              </a:rPr>
              <a:t>Power Friday</a:t>
            </a:r>
          </a:p>
        </p:txBody>
      </p:sp>
      <p:sp>
        <p:nvSpPr>
          <p:cNvPr id="3" name="TextBox 2"/>
          <p:cNvSpPr txBox="1"/>
          <p:nvPr/>
        </p:nvSpPr>
        <p:spPr>
          <a:xfrm>
            <a:off x="868680" y="960120"/>
            <a:ext cx="10454335" cy="914400"/>
          </a:xfrm>
          <a:prstGeom prst="rect">
            <a:avLst/>
          </a:prstGeom>
          <a:noFill/>
        </p:spPr>
        <p:txBody>
          <a:bodyPr wrap="square" lIns="0" rIns="0" tIns="0" bIns="0" anchor="t">
            <a:spAutoFit/>
          </a:bodyPr>
          <a:lstStyle/>
          <a:p>
            <a:pPr algn="l">
              <a:lnSpc>
                <a:spcPct val="120000"/>
              </a:lnSpc>
            </a:pPr>
            <a:r>
              <a:rPr sz="2400" b="0" i="0">
                <a:solidFill>
                  <a:srgbClr val="2C2C2A"/>
                </a:solidFill>
                <a:latin typeface="Helvetica Neue Medium"/>
              </a:rPr>
              <a:t>Your week becomes your curriculum.</a:t>
            </a:r>
          </a:p>
        </p:txBody>
      </p:sp>
      <p:sp>
        <p:nvSpPr>
          <p:cNvPr id="4" name="Rounded Rectangle 3"/>
          <p:cNvSpPr/>
          <p:nvPr/>
        </p:nvSpPr>
        <p:spPr>
          <a:xfrm>
            <a:off x="868680" y="1938528"/>
            <a:ext cx="32004" cy="1188720"/>
          </a:xfrm>
          <a:prstGeom prst="roundRect">
            <a:avLst>
              <a:gd name="adj" fmla="val 8000"/>
            </a:avLst>
          </a:prstGeom>
          <a:solidFill>
            <a:srgbClr val="D85A30"/>
          </a:solidFill>
          <a:ln w="3175">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029968"/>
            <a:ext cx="4852263" cy="1005840"/>
          </a:xfrm>
          <a:prstGeom prst="rect">
            <a:avLst/>
          </a:prstGeom>
          <a:noFill/>
        </p:spPr>
        <p:txBody>
          <a:bodyPr wrap="square" lIns="0" rIns="0" tIns="0" bIns="0" anchor="t">
            <a:spAutoFit/>
          </a:bodyPr>
          <a:lstStyle/>
          <a:p>
            <a:pPr algn="l">
              <a:lnSpc>
                <a:spcPct val="140000"/>
              </a:lnSpc>
            </a:pPr>
            <a:r>
              <a:rPr sz="1200" b="0" i="0">
                <a:solidFill>
                  <a:srgbClr val="2C2C2A"/>
                </a:solidFill>
                <a:latin typeface="Helvetica Neue"/>
              </a:rPr>
              <a:t>A banker who struggled to land a structured idea practices a clearer version of the conversation — and uses it Tuesday.</a:t>
            </a:r>
          </a:p>
        </p:txBody>
      </p:sp>
      <p:sp>
        <p:nvSpPr>
          <p:cNvPr id="6" name="Rounded Rectangle 5"/>
          <p:cNvSpPr/>
          <p:nvPr/>
        </p:nvSpPr>
        <p:spPr>
          <a:xfrm>
            <a:off x="6159855" y="1938528"/>
            <a:ext cx="32004" cy="1188720"/>
          </a:xfrm>
          <a:prstGeom prst="roundRect">
            <a:avLst>
              <a:gd name="adj" fmla="val 8000"/>
            </a:avLst>
          </a:prstGeom>
          <a:solidFill>
            <a:srgbClr val="D85A30"/>
          </a:solidFill>
          <a:ln w="3175">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42735" y="2029968"/>
            <a:ext cx="4852263" cy="1005840"/>
          </a:xfrm>
          <a:prstGeom prst="rect">
            <a:avLst/>
          </a:prstGeom>
          <a:noFill/>
        </p:spPr>
        <p:txBody>
          <a:bodyPr wrap="square" lIns="0" rIns="0" tIns="0" bIns="0" anchor="t">
            <a:spAutoFit/>
          </a:bodyPr>
          <a:lstStyle/>
          <a:p>
            <a:pPr algn="l">
              <a:lnSpc>
                <a:spcPct val="140000"/>
              </a:lnSpc>
            </a:pPr>
            <a:r>
              <a:rPr sz="1200" b="0" i="0">
                <a:solidFill>
                  <a:srgbClr val="2C2C2A"/>
                </a:solidFill>
                <a:latin typeface="Helvetica Neue"/>
              </a:rPr>
              <a:t>An analyst pairs a wealth-planning lesson with preparation for the exact meeting on Thursday’s calendar.</a:t>
            </a:r>
          </a:p>
        </p:txBody>
      </p:sp>
      <p:sp>
        <p:nvSpPr>
          <p:cNvPr id="8" name="Rounded Rectangle 7"/>
          <p:cNvSpPr/>
          <p:nvPr/>
        </p:nvSpPr>
        <p:spPr>
          <a:xfrm>
            <a:off x="868680" y="3255264"/>
            <a:ext cx="32004" cy="1188720"/>
          </a:xfrm>
          <a:prstGeom prst="roundRect">
            <a:avLst>
              <a:gd name="adj" fmla="val 8000"/>
            </a:avLst>
          </a:prstGeom>
          <a:solidFill>
            <a:srgbClr val="D85A30"/>
          </a:solidFill>
          <a:ln w="3175">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346704"/>
            <a:ext cx="4852263" cy="1005840"/>
          </a:xfrm>
          <a:prstGeom prst="rect">
            <a:avLst/>
          </a:prstGeom>
          <a:noFill/>
        </p:spPr>
        <p:txBody>
          <a:bodyPr wrap="square" lIns="0" rIns="0" tIns="0" bIns="0" anchor="t">
            <a:spAutoFit/>
          </a:bodyPr>
          <a:lstStyle/>
          <a:p>
            <a:pPr algn="l">
              <a:lnSpc>
                <a:spcPct val="140000"/>
              </a:lnSpc>
            </a:pPr>
            <a:r>
              <a:rPr sz="1200" b="0" i="0">
                <a:solidFill>
                  <a:srgbClr val="2C2C2A"/>
                </a:solidFill>
                <a:latin typeface="Helvetica Neue"/>
              </a:rPr>
              <a:t>A leader rehearses a difficult coaching conversation before having it.</a:t>
            </a:r>
          </a:p>
        </p:txBody>
      </p:sp>
      <p:sp>
        <p:nvSpPr>
          <p:cNvPr id="10" name="Rounded Rectangle 9"/>
          <p:cNvSpPr/>
          <p:nvPr/>
        </p:nvSpPr>
        <p:spPr>
          <a:xfrm>
            <a:off x="6159855" y="3255264"/>
            <a:ext cx="32004" cy="1188720"/>
          </a:xfrm>
          <a:prstGeom prst="roundRect">
            <a:avLst>
              <a:gd name="adj" fmla="val 8000"/>
            </a:avLst>
          </a:prstGeom>
          <a:solidFill>
            <a:srgbClr val="D85A30"/>
          </a:solidFill>
          <a:ln w="3175">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2735" y="3346704"/>
            <a:ext cx="4852263" cy="1005840"/>
          </a:xfrm>
          <a:prstGeom prst="rect">
            <a:avLst/>
          </a:prstGeom>
          <a:noFill/>
        </p:spPr>
        <p:txBody>
          <a:bodyPr wrap="square" lIns="0" rIns="0" tIns="0" bIns="0" anchor="t">
            <a:spAutoFit/>
          </a:bodyPr>
          <a:lstStyle/>
          <a:p>
            <a:pPr algn="l">
              <a:lnSpc>
                <a:spcPct val="140000"/>
              </a:lnSpc>
            </a:pPr>
            <a:r>
              <a:rPr sz="1200" b="0" i="0">
                <a:solidFill>
                  <a:srgbClr val="2C2C2A"/>
                </a:solidFill>
                <a:latin typeface="Helvetica Neue"/>
              </a:rPr>
              <a:t>A top performer challenges their own thinking — and turns a best practice into a reusable firm skill.</a:t>
            </a:r>
          </a:p>
        </p:txBody>
      </p:sp>
      <p:sp>
        <p:nvSpPr>
          <p:cNvPr id="12" name="Rounded Rectangle 11"/>
          <p:cNvSpPr/>
          <p:nvPr/>
        </p:nvSpPr>
        <p:spPr>
          <a:xfrm>
            <a:off x="868680" y="4626864"/>
            <a:ext cx="10454335" cy="1371600"/>
          </a:xfrm>
          <a:prstGeom prst="roundRect">
            <a:avLst>
              <a:gd name="adj" fmla="val 5000"/>
            </a:avLst>
          </a:prstGeom>
          <a:solidFill>
            <a:srgbClr val="FFFFFF"/>
          </a:solidFill>
          <a:ln w="9525">
            <a:solidFill>
              <a:srgbClr val="F099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24712" y="4773168"/>
            <a:ext cx="9942271" cy="292608"/>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Built on trust</a:t>
            </a:r>
          </a:p>
        </p:txBody>
      </p:sp>
      <p:sp>
        <p:nvSpPr>
          <p:cNvPr id="14" name="TextBox 13"/>
          <p:cNvSpPr txBox="1"/>
          <p:nvPr/>
        </p:nvSpPr>
        <p:spPr>
          <a:xfrm>
            <a:off x="1124712" y="5102352"/>
            <a:ext cx="9942271" cy="804672"/>
          </a:xfrm>
          <a:prstGeom prst="rect">
            <a:avLst/>
          </a:prstGeom>
          <a:noFill/>
        </p:spPr>
        <p:txBody>
          <a:bodyPr wrap="square" lIns="0" rIns="0" tIns="0" bIns="0" anchor="t">
            <a:spAutoFit/>
          </a:bodyPr>
          <a:lstStyle/>
          <a:p>
            <a:pPr algn="l">
              <a:lnSpc>
                <a:spcPct val="140000"/>
              </a:lnSpc>
            </a:pPr>
            <a:r>
              <a:rPr sz="1250" b="0" i="0">
                <a:solidFill>
                  <a:srgbClr val="2C2C2A"/>
                </a:solidFill>
                <a:latin typeface="Helvetica Neue"/>
              </a:rPr>
              <a:t>Protected time, every Friday. You see the evidence behind every suggestion, correct the AI’s read of your week, and </a:t>
            </a:r>
            <a:r>
              <a:rPr sz="1250" b="0" i="0">
                <a:solidFill>
                  <a:srgbClr val="993C1D"/>
                </a:solidFill>
                <a:latin typeface="Helvetica Neue Medium"/>
              </a:rPr>
              <a:t>choose the focus yourself</a:t>
            </a:r>
            <a:r>
              <a:rPr sz="1250" b="0" i="0">
                <a:solidFill>
                  <a:srgbClr val="2C2C2A"/>
                </a:solidFill>
                <a:latin typeface="Helvetica Neue"/>
              </a:rPr>
              <a:t>. Detailed coaching stays private by default, separate from performance evaluation — and leaders participate alongside everyone else.</a:t>
            </a:r>
          </a:p>
        </p:txBody>
      </p:sp>
      <p:sp>
        <p:nvSpPr>
          <p:cNvPr id="15" name="TextBox 14"/>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22</a:t>
            </a:r>
            <a:r>
              <a:rPr sz="1000" b="0" i="0">
                <a:solidFill>
                  <a:srgbClr val="888780"/>
                </a:solidFill>
                <a:latin typeface="Helvetica Neue Medium"/>
              </a:rPr>
              <a:t>  /  32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10   </a:t>
            </a:r>
            <a:r>
              <a:rPr sz="1100" b="0" i="0">
                <a:solidFill>
                  <a:srgbClr val="993C1D"/>
                </a:solidFill>
                <a:latin typeface="Helvetica Neue Medium"/>
              </a:rPr>
              <a:t>Leaders</a:t>
            </a:r>
          </a:p>
        </p:txBody>
      </p:sp>
      <p:sp>
        <p:nvSpPr>
          <p:cNvPr id="3" name="TextBox 2"/>
          <p:cNvSpPr txBox="1"/>
          <p:nvPr/>
        </p:nvSpPr>
        <p:spPr>
          <a:xfrm>
            <a:off x="868680" y="960120"/>
            <a:ext cx="10454335" cy="914400"/>
          </a:xfrm>
          <a:prstGeom prst="rect">
            <a:avLst/>
          </a:prstGeom>
          <a:noFill/>
        </p:spPr>
        <p:txBody>
          <a:bodyPr wrap="square" lIns="0" rIns="0" tIns="0" bIns="0" anchor="t">
            <a:spAutoFit/>
          </a:bodyPr>
          <a:lstStyle/>
          <a:p>
            <a:pPr algn="l">
              <a:lnSpc>
                <a:spcPct val="115000"/>
              </a:lnSpc>
            </a:pPr>
            <a:r>
              <a:rPr sz="2800" b="0" i="0">
                <a:solidFill>
                  <a:srgbClr val="2C2C2A"/>
                </a:solidFill>
                <a:latin typeface="Helvetica Neue Medium"/>
              </a:rPr>
              <a:t>A living operating system.</a:t>
            </a:r>
          </a:p>
        </p:txBody>
      </p:sp>
      <p:sp>
        <p:nvSpPr>
          <p:cNvPr id="4" name="Rounded Rectangle 3"/>
          <p:cNvSpPr/>
          <p:nvPr/>
        </p:nvSpPr>
        <p:spPr>
          <a:xfrm>
            <a:off x="868680" y="2286000"/>
            <a:ext cx="3375050" cy="2743200"/>
          </a:xfrm>
          <a:prstGeom prst="roundRect">
            <a:avLst>
              <a:gd name="adj" fmla="val 5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 y="2542032"/>
            <a:ext cx="2862986" cy="292608"/>
          </a:xfrm>
          <a:prstGeom prst="rect">
            <a:avLst/>
          </a:prstGeom>
          <a:noFill/>
        </p:spPr>
        <p:txBody>
          <a:bodyPr wrap="square" lIns="0" rIns="0" tIns="0" bIns="0" anchor="t">
            <a:spAutoFit/>
          </a:bodyPr>
          <a:lstStyle/>
          <a:p>
            <a:pPr algn="l">
              <a:lnSpc>
                <a:spcPct val="125000"/>
              </a:lnSpc>
            </a:pPr>
            <a:r>
              <a:rPr sz="1200" b="0" i="0">
                <a:solidFill>
                  <a:srgbClr val="993C1D"/>
                </a:solidFill>
                <a:latin typeface="Helvetica Neue Medium"/>
              </a:rPr>
              <a:t>See</a:t>
            </a:r>
          </a:p>
        </p:txBody>
      </p:sp>
      <p:sp>
        <p:nvSpPr>
          <p:cNvPr id="6" name="TextBox 5"/>
          <p:cNvSpPr txBox="1"/>
          <p:nvPr/>
        </p:nvSpPr>
        <p:spPr>
          <a:xfrm>
            <a:off x="1124712" y="3063240"/>
            <a:ext cx="2862986" cy="1783080"/>
          </a:xfrm>
          <a:prstGeom prst="rect">
            <a:avLst/>
          </a:prstGeom>
          <a:noFill/>
        </p:spPr>
        <p:txBody>
          <a:bodyPr wrap="square" lIns="0" rIns="0" tIns="0" bIns="0" anchor="t">
            <a:spAutoFit/>
          </a:bodyPr>
          <a:lstStyle/>
          <a:p>
            <a:pPr algn="l">
              <a:lnSpc>
                <a:spcPct val="145000"/>
              </a:lnSpc>
            </a:pPr>
            <a:r>
              <a:rPr sz="1300" b="0" i="0">
                <a:solidFill>
                  <a:srgbClr val="2C2C2A"/>
                </a:solidFill>
                <a:latin typeface="Helvetica Neue"/>
              </a:rPr>
              <a:t>Emerging client needs, outstanding commitments, team capacity, stalled work, specialist demand, capability gaps — live, not in last month’s report.</a:t>
            </a:r>
          </a:p>
        </p:txBody>
      </p:sp>
      <p:sp>
        <p:nvSpPr>
          <p:cNvPr id="7" name="Rounded Rectangle 6"/>
          <p:cNvSpPr/>
          <p:nvPr/>
        </p:nvSpPr>
        <p:spPr>
          <a:xfrm>
            <a:off x="4408322" y="2286000"/>
            <a:ext cx="3375050" cy="2743200"/>
          </a:xfrm>
          <a:prstGeom prst="roundRect">
            <a:avLst>
              <a:gd name="adj" fmla="val 5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4354" y="2542032"/>
            <a:ext cx="2862986" cy="292608"/>
          </a:xfrm>
          <a:prstGeom prst="rect">
            <a:avLst/>
          </a:prstGeom>
          <a:noFill/>
        </p:spPr>
        <p:txBody>
          <a:bodyPr wrap="square" lIns="0" rIns="0" tIns="0" bIns="0" anchor="t">
            <a:spAutoFit/>
          </a:bodyPr>
          <a:lstStyle/>
          <a:p>
            <a:pPr algn="l">
              <a:lnSpc>
                <a:spcPct val="125000"/>
              </a:lnSpc>
            </a:pPr>
            <a:r>
              <a:rPr sz="1200" b="0" i="0">
                <a:solidFill>
                  <a:srgbClr val="993C1D"/>
                </a:solidFill>
                <a:latin typeface="Helvetica Neue Medium"/>
              </a:rPr>
              <a:t>Act</a:t>
            </a:r>
          </a:p>
        </p:txBody>
      </p:sp>
      <p:sp>
        <p:nvSpPr>
          <p:cNvPr id="9" name="TextBox 8"/>
          <p:cNvSpPr txBox="1"/>
          <p:nvPr/>
        </p:nvSpPr>
        <p:spPr>
          <a:xfrm>
            <a:off x="4664354" y="3063240"/>
            <a:ext cx="2862986" cy="1783080"/>
          </a:xfrm>
          <a:prstGeom prst="rect">
            <a:avLst/>
          </a:prstGeom>
          <a:noFill/>
        </p:spPr>
        <p:txBody>
          <a:bodyPr wrap="square" lIns="0" rIns="0" tIns="0" bIns="0" anchor="t">
            <a:spAutoFit/>
          </a:bodyPr>
          <a:lstStyle/>
          <a:p>
            <a:pPr algn="l">
              <a:lnSpc>
                <a:spcPct val="145000"/>
              </a:lnSpc>
            </a:pPr>
            <a:r>
              <a:rPr sz="1300" b="0" i="0">
                <a:solidFill>
                  <a:srgbClr val="2C2C2A"/>
                </a:solidFill>
                <a:latin typeface="Helvetica Neue"/>
              </a:rPr>
              <a:t>Leadership agents allocate resources, resolve bottlenecks, and bring the right specialist into the right relationship.</a:t>
            </a:r>
          </a:p>
        </p:txBody>
      </p:sp>
      <p:sp>
        <p:nvSpPr>
          <p:cNvPr id="10" name="Rounded Rectangle 9"/>
          <p:cNvSpPr/>
          <p:nvPr/>
        </p:nvSpPr>
        <p:spPr>
          <a:xfrm>
            <a:off x="7947964" y="2286000"/>
            <a:ext cx="3375050" cy="2743200"/>
          </a:xfrm>
          <a:prstGeom prst="roundRect">
            <a:avLst>
              <a:gd name="adj" fmla="val 5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03996" y="2542032"/>
            <a:ext cx="2862986" cy="292608"/>
          </a:xfrm>
          <a:prstGeom prst="rect">
            <a:avLst/>
          </a:prstGeom>
          <a:noFill/>
        </p:spPr>
        <p:txBody>
          <a:bodyPr wrap="square" lIns="0" rIns="0" tIns="0" bIns="0" anchor="t">
            <a:spAutoFit/>
          </a:bodyPr>
          <a:lstStyle/>
          <a:p>
            <a:pPr algn="l">
              <a:lnSpc>
                <a:spcPct val="125000"/>
              </a:lnSpc>
            </a:pPr>
            <a:r>
              <a:rPr sz="1200" b="0" i="0">
                <a:solidFill>
                  <a:srgbClr val="993C1D"/>
                </a:solidFill>
                <a:latin typeface="Helvetica Neue Medium"/>
              </a:rPr>
              <a:t>Coach</a:t>
            </a:r>
          </a:p>
        </p:txBody>
      </p:sp>
      <p:sp>
        <p:nvSpPr>
          <p:cNvPr id="12" name="TextBox 11"/>
          <p:cNvSpPr txBox="1"/>
          <p:nvPr/>
        </p:nvSpPr>
        <p:spPr>
          <a:xfrm>
            <a:off x="8203996" y="3063240"/>
            <a:ext cx="2862986" cy="1783080"/>
          </a:xfrm>
          <a:prstGeom prst="rect">
            <a:avLst/>
          </a:prstGeom>
          <a:noFill/>
        </p:spPr>
        <p:txBody>
          <a:bodyPr wrap="square" lIns="0" rIns="0" tIns="0" bIns="0" anchor="t">
            <a:spAutoFit/>
          </a:bodyPr>
          <a:lstStyle/>
          <a:p>
            <a:pPr algn="l">
              <a:lnSpc>
                <a:spcPct val="145000"/>
              </a:lnSpc>
            </a:pPr>
            <a:r>
              <a:rPr sz="1300" b="0" i="0">
                <a:solidFill>
                  <a:srgbClr val="2C2C2A"/>
                </a:solidFill>
                <a:latin typeface="Helvetica Neue"/>
              </a:rPr>
              <a:t>Prepared coaching conversations, and early signs of where an intervention improves a client outcome. Support, earlier — not surveillance.</a:t>
            </a:r>
          </a:p>
        </p:txBody>
      </p:sp>
      <p:sp>
        <p:nvSpPr>
          <p:cNvPr id="13" name="TextBox 12"/>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23</a:t>
            </a:r>
            <a:r>
              <a:rPr sz="1000" b="0" i="0">
                <a:solidFill>
                  <a:srgbClr val="888780"/>
                </a:solidFill>
                <a:latin typeface="Helvetica Neue Medium"/>
              </a:rPr>
              <a:t>  /  32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11   </a:t>
            </a:r>
            <a:r>
              <a:rPr sz="1100" b="0" i="0">
                <a:solidFill>
                  <a:srgbClr val="993C1D"/>
                </a:solidFill>
                <a:latin typeface="Helvetica Neue Medium"/>
              </a:rPr>
              <a:t>One shared platform</a:t>
            </a:r>
          </a:p>
        </p:txBody>
      </p:sp>
      <p:sp>
        <p:nvSpPr>
          <p:cNvPr id="3" name="TextBox 2"/>
          <p:cNvSpPr txBox="1"/>
          <p:nvPr/>
        </p:nvSpPr>
        <p:spPr>
          <a:xfrm>
            <a:off x="868680" y="1005840"/>
            <a:ext cx="10454335" cy="1280160"/>
          </a:xfrm>
          <a:prstGeom prst="rect">
            <a:avLst/>
          </a:prstGeom>
          <a:noFill/>
        </p:spPr>
        <p:txBody>
          <a:bodyPr wrap="square" lIns="0" rIns="0" tIns="0" bIns="0" anchor="t">
            <a:spAutoFit/>
          </a:bodyPr>
          <a:lstStyle/>
          <a:p>
            <a:pPr algn="l">
              <a:lnSpc>
                <a:spcPct val="115000"/>
              </a:lnSpc>
            </a:pPr>
            <a:r>
              <a:rPr sz="2800" b="0" i="0">
                <a:solidFill>
                  <a:srgbClr val="2C2C2A"/>
                </a:solidFill>
                <a:latin typeface="Helvetica Neue Medium"/>
              </a:rPr>
              <a:t>Many experiences. One platform.</a:t>
            </a:r>
          </a:p>
        </p:txBody>
      </p:sp>
      <p:sp>
        <p:nvSpPr>
          <p:cNvPr id="4" name="Rounded Rectangle 3"/>
          <p:cNvSpPr/>
          <p:nvPr/>
        </p:nvSpPr>
        <p:spPr>
          <a:xfrm>
            <a:off x="868680" y="2560320"/>
            <a:ext cx="2503855" cy="274320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9848" y="2816352"/>
            <a:ext cx="2101519" cy="365760"/>
          </a:xfrm>
          <a:prstGeom prst="rect">
            <a:avLst/>
          </a:prstGeom>
          <a:noFill/>
        </p:spPr>
        <p:txBody>
          <a:bodyPr wrap="square" lIns="0" rIns="0" tIns="0" bIns="0" anchor="t">
            <a:spAutoFit/>
          </a:bodyPr>
          <a:lstStyle/>
          <a:p>
            <a:pPr algn="l">
              <a:lnSpc>
                <a:spcPct val="125000"/>
              </a:lnSpc>
            </a:pPr>
            <a:r>
              <a:rPr sz="1200" b="0" i="0">
                <a:solidFill>
                  <a:srgbClr val="993C1D"/>
                </a:solidFill>
                <a:latin typeface="Helvetica Neue Medium"/>
              </a:rPr>
              <a:t>i</a:t>
            </a:r>
          </a:p>
        </p:txBody>
      </p:sp>
      <p:sp>
        <p:nvSpPr>
          <p:cNvPr id="6" name="TextBox 5"/>
          <p:cNvSpPr txBox="1"/>
          <p:nvPr/>
        </p:nvSpPr>
        <p:spPr>
          <a:xfrm>
            <a:off x="1069848" y="3337560"/>
            <a:ext cx="2101519" cy="731520"/>
          </a:xfrm>
          <a:prstGeom prst="rect">
            <a:avLst/>
          </a:prstGeom>
          <a:noFill/>
        </p:spPr>
        <p:txBody>
          <a:bodyPr wrap="square" lIns="0" rIns="0" tIns="0" bIns="0" anchor="t">
            <a:spAutoFit/>
          </a:bodyPr>
          <a:lstStyle/>
          <a:p>
            <a:pPr algn="l">
              <a:lnSpc>
                <a:spcPct val="118000"/>
              </a:lnSpc>
            </a:pPr>
            <a:r>
              <a:rPr sz="1700" b="0" i="0">
                <a:solidFill>
                  <a:srgbClr val="2C2C2A"/>
                </a:solidFill>
                <a:latin typeface="Helvetica Neue Medium"/>
              </a:rPr>
              <a:t>Ask &amp; create</a:t>
            </a:r>
          </a:p>
        </p:txBody>
      </p:sp>
      <p:sp>
        <p:nvSpPr>
          <p:cNvPr id="7" name="TextBox 6"/>
          <p:cNvSpPr txBox="1"/>
          <p:nvPr/>
        </p:nvSpPr>
        <p:spPr>
          <a:xfrm>
            <a:off x="1069848" y="3977640"/>
            <a:ext cx="2101519" cy="1188720"/>
          </a:xfrm>
          <a:prstGeom prst="rect">
            <a:avLst/>
          </a:prstGeom>
          <a:noFill/>
        </p:spPr>
        <p:txBody>
          <a:bodyPr wrap="square" lIns="0" rIns="0" tIns="0" bIns="0" anchor="t">
            <a:spAutoFit/>
          </a:bodyPr>
          <a:lstStyle/>
          <a:p>
            <a:pPr algn="l">
              <a:lnSpc>
                <a:spcPct val="142000"/>
              </a:lnSpc>
            </a:pPr>
            <a:r>
              <a:rPr sz="1150" b="0" i="0">
                <a:solidFill>
                  <a:srgbClr val="5F5E5A"/>
                </a:solidFill>
                <a:latin typeface="Helvetica Neue"/>
              </a:rPr>
              <a:t>Coach to ask and direct; Playbook AI to build the analysis, interface, or workspace the moment needs.</a:t>
            </a:r>
          </a:p>
        </p:txBody>
      </p:sp>
      <p:sp>
        <p:nvSpPr>
          <p:cNvPr id="8" name="Rounded Rectangle 7"/>
          <p:cNvSpPr/>
          <p:nvPr/>
        </p:nvSpPr>
        <p:spPr>
          <a:xfrm>
            <a:off x="3518839" y="2560320"/>
            <a:ext cx="2503855" cy="274320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20007" y="2816352"/>
            <a:ext cx="2101519" cy="365760"/>
          </a:xfrm>
          <a:prstGeom prst="rect">
            <a:avLst/>
          </a:prstGeom>
          <a:noFill/>
        </p:spPr>
        <p:txBody>
          <a:bodyPr wrap="square" lIns="0" rIns="0" tIns="0" bIns="0" anchor="t">
            <a:spAutoFit/>
          </a:bodyPr>
          <a:lstStyle/>
          <a:p>
            <a:pPr algn="l">
              <a:lnSpc>
                <a:spcPct val="125000"/>
              </a:lnSpc>
            </a:pPr>
            <a:r>
              <a:rPr sz="1200" b="0" i="0">
                <a:solidFill>
                  <a:srgbClr val="993C1D"/>
                </a:solidFill>
                <a:latin typeface="Helvetica Neue Medium"/>
              </a:rPr>
              <a:t>ii</a:t>
            </a:r>
          </a:p>
        </p:txBody>
      </p:sp>
      <p:sp>
        <p:nvSpPr>
          <p:cNvPr id="10" name="TextBox 9"/>
          <p:cNvSpPr txBox="1"/>
          <p:nvPr/>
        </p:nvSpPr>
        <p:spPr>
          <a:xfrm>
            <a:off x="3720007" y="3337560"/>
            <a:ext cx="2101519" cy="731520"/>
          </a:xfrm>
          <a:prstGeom prst="rect">
            <a:avLst/>
          </a:prstGeom>
          <a:noFill/>
        </p:spPr>
        <p:txBody>
          <a:bodyPr wrap="square" lIns="0" rIns="0" tIns="0" bIns="0" anchor="t">
            <a:spAutoFit/>
          </a:bodyPr>
          <a:lstStyle/>
          <a:p>
            <a:pPr algn="l">
              <a:lnSpc>
                <a:spcPct val="118000"/>
              </a:lnSpc>
            </a:pPr>
            <a:r>
              <a:rPr sz="1700" b="0" i="0">
                <a:solidFill>
                  <a:srgbClr val="2C2C2A"/>
                </a:solidFill>
                <a:latin typeface="Helvetica Neue Medium"/>
              </a:rPr>
              <a:t>Know &amp; sense</a:t>
            </a:r>
          </a:p>
        </p:txBody>
      </p:sp>
      <p:sp>
        <p:nvSpPr>
          <p:cNvPr id="11" name="TextBox 10"/>
          <p:cNvSpPr txBox="1"/>
          <p:nvPr/>
        </p:nvSpPr>
        <p:spPr>
          <a:xfrm>
            <a:off x="3720007" y="3977640"/>
            <a:ext cx="2101519" cy="1188720"/>
          </a:xfrm>
          <a:prstGeom prst="rect">
            <a:avLst/>
          </a:prstGeom>
          <a:noFill/>
        </p:spPr>
        <p:txBody>
          <a:bodyPr wrap="square" lIns="0" rIns="0" tIns="0" bIns="0" anchor="t">
            <a:spAutoFit/>
          </a:bodyPr>
          <a:lstStyle/>
          <a:p>
            <a:pPr algn="l">
              <a:lnSpc>
                <a:spcPct val="142000"/>
              </a:lnSpc>
            </a:pPr>
            <a:r>
              <a:rPr sz="1150" b="0" i="0">
                <a:solidFill>
                  <a:srgbClr val="5F5E5A"/>
                </a:solidFill>
                <a:latin typeface="Helvetica Neue"/>
              </a:rPr>
              <a:t>Client Agents hold the memory; the Hive senses the franchise; Discover and Autopilot surface what matters before anyone asks.</a:t>
            </a:r>
          </a:p>
        </p:txBody>
      </p:sp>
      <p:sp>
        <p:nvSpPr>
          <p:cNvPr id="12" name="Rounded Rectangle 11"/>
          <p:cNvSpPr/>
          <p:nvPr/>
        </p:nvSpPr>
        <p:spPr>
          <a:xfrm>
            <a:off x="6168999" y="2560320"/>
            <a:ext cx="2503855" cy="274320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0167" y="2816352"/>
            <a:ext cx="2101519" cy="365760"/>
          </a:xfrm>
          <a:prstGeom prst="rect">
            <a:avLst/>
          </a:prstGeom>
          <a:noFill/>
        </p:spPr>
        <p:txBody>
          <a:bodyPr wrap="square" lIns="0" rIns="0" tIns="0" bIns="0" anchor="t">
            <a:spAutoFit/>
          </a:bodyPr>
          <a:lstStyle/>
          <a:p>
            <a:pPr algn="l">
              <a:lnSpc>
                <a:spcPct val="125000"/>
              </a:lnSpc>
            </a:pPr>
            <a:r>
              <a:rPr sz="1200" b="0" i="0">
                <a:solidFill>
                  <a:srgbClr val="993C1D"/>
                </a:solidFill>
                <a:latin typeface="Helvetica Neue Medium"/>
              </a:rPr>
              <a:t>iii</a:t>
            </a:r>
          </a:p>
        </p:txBody>
      </p:sp>
      <p:sp>
        <p:nvSpPr>
          <p:cNvPr id="14" name="TextBox 13"/>
          <p:cNvSpPr txBox="1"/>
          <p:nvPr/>
        </p:nvSpPr>
        <p:spPr>
          <a:xfrm>
            <a:off x="6370167" y="3337560"/>
            <a:ext cx="2101519" cy="731520"/>
          </a:xfrm>
          <a:prstGeom prst="rect">
            <a:avLst/>
          </a:prstGeom>
          <a:noFill/>
        </p:spPr>
        <p:txBody>
          <a:bodyPr wrap="square" lIns="0" rIns="0" tIns="0" bIns="0" anchor="t">
            <a:spAutoFit/>
          </a:bodyPr>
          <a:lstStyle/>
          <a:p>
            <a:pPr algn="l">
              <a:lnSpc>
                <a:spcPct val="118000"/>
              </a:lnSpc>
            </a:pPr>
            <a:r>
              <a:rPr sz="1700" b="0" i="0">
                <a:solidFill>
                  <a:srgbClr val="2C2C2A"/>
                </a:solidFill>
                <a:latin typeface="Helvetica Neue Medium"/>
              </a:rPr>
              <a:t>Act &amp; execute</a:t>
            </a:r>
          </a:p>
        </p:txBody>
      </p:sp>
      <p:sp>
        <p:nvSpPr>
          <p:cNvPr id="15" name="TextBox 14"/>
          <p:cNvSpPr txBox="1"/>
          <p:nvPr/>
        </p:nvSpPr>
        <p:spPr>
          <a:xfrm>
            <a:off x="6370167" y="3977640"/>
            <a:ext cx="2101519" cy="1188720"/>
          </a:xfrm>
          <a:prstGeom prst="rect">
            <a:avLst/>
          </a:prstGeom>
          <a:noFill/>
        </p:spPr>
        <p:txBody>
          <a:bodyPr wrap="square" lIns="0" rIns="0" tIns="0" bIns="0" anchor="t">
            <a:spAutoFit/>
          </a:bodyPr>
          <a:lstStyle/>
          <a:p>
            <a:pPr algn="l">
              <a:lnSpc>
                <a:spcPct val="142000"/>
              </a:lnSpc>
            </a:pPr>
            <a:r>
              <a:rPr sz="1150" b="0" i="0">
                <a:solidFill>
                  <a:srgbClr val="5F5E5A"/>
                </a:solidFill>
                <a:latin typeface="Helvetica Neue"/>
              </a:rPr>
              <a:t>Approved skills and domain agents; Assists and the Action Center moving work to controlled execution.</a:t>
            </a:r>
          </a:p>
        </p:txBody>
      </p:sp>
      <p:sp>
        <p:nvSpPr>
          <p:cNvPr id="16" name="Rounded Rectangle 15"/>
          <p:cNvSpPr/>
          <p:nvPr/>
        </p:nvSpPr>
        <p:spPr>
          <a:xfrm>
            <a:off x="8819159" y="2560320"/>
            <a:ext cx="2503855" cy="274320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20327" y="2816352"/>
            <a:ext cx="2101519" cy="365760"/>
          </a:xfrm>
          <a:prstGeom prst="rect">
            <a:avLst/>
          </a:prstGeom>
          <a:noFill/>
        </p:spPr>
        <p:txBody>
          <a:bodyPr wrap="square" lIns="0" rIns="0" tIns="0" bIns="0" anchor="t">
            <a:spAutoFit/>
          </a:bodyPr>
          <a:lstStyle/>
          <a:p>
            <a:pPr algn="l">
              <a:lnSpc>
                <a:spcPct val="125000"/>
              </a:lnSpc>
            </a:pPr>
            <a:r>
              <a:rPr sz="1200" b="0" i="0">
                <a:solidFill>
                  <a:srgbClr val="993C1D"/>
                </a:solidFill>
                <a:latin typeface="Helvetica Neue Medium"/>
              </a:rPr>
              <a:t>iv</a:t>
            </a:r>
          </a:p>
        </p:txBody>
      </p:sp>
      <p:sp>
        <p:nvSpPr>
          <p:cNvPr id="18" name="TextBox 17"/>
          <p:cNvSpPr txBox="1"/>
          <p:nvPr/>
        </p:nvSpPr>
        <p:spPr>
          <a:xfrm>
            <a:off x="9020327" y="3337560"/>
            <a:ext cx="2101519" cy="731520"/>
          </a:xfrm>
          <a:prstGeom prst="rect">
            <a:avLst/>
          </a:prstGeom>
          <a:noFill/>
        </p:spPr>
        <p:txBody>
          <a:bodyPr wrap="square" lIns="0" rIns="0" tIns="0" bIns="0" anchor="t">
            <a:spAutoFit/>
          </a:bodyPr>
          <a:lstStyle/>
          <a:p>
            <a:pPr algn="l">
              <a:lnSpc>
                <a:spcPct val="118000"/>
              </a:lnSpc>
            </a:pPr>
            <a:r>
              <a:rPr sz="1700" b="0" i="0">
                <a:solidFill>
                  <a:srgbClr val="2C2C2A"/>
                </a:solidFill>
                <a:latin typeface="Helvetica Neue Medium"/>
              </a:rPr>
              <a:t>Learn &amp; route</a:t>
            </a:r>
          </a:p>
        </p:txBody>
      </p:sp>
      <p:sp>
        <p:nvSpPr>
          <p:cNvPr id="19" name="TextBox 18"/>
          <p:cNvSpPr txBox="1"/>
          <p:nvPr/>
        </p:nvSpPr>
        <p:spPr>
          <a:xfrm>
            <a:off x="9020327" y="3977640"/>
            <a:ext cx="2101519" cy="1188720"/>
          </a:xfrm>
          <a:prstGeom prst="rect">
            <a:avLst/>
          </a:prstGeom>
          <a:noFill/>
        </p:spPr>
        <p:txBody>
          <a:bodyPr wrap="square" lIns="0" rIns="0" tIns="0" bIns="0" anchor="t">
            <a:spAutoFit/>
          </a:bodyPr>
          <a:lstStyle/>
          <a:p>
            <a:pPr algn="l">
              <a:lnSpc>
                <a:spcPct val="142000"/>
              </a:lnSpc>
            </a:pPr>
            <a:r>
              <a:rPr sz="1150" b="0" i="0">
                <a:solidFill>
                  <a:srgbClr val="5F5E5A"/>
                </a:solidFill>
                <a:latin typeface="Helvetica Neue"/>
              </a:rPr>
              <a:t>An outcome engine ties actions to results; an intelligence router finds the right expertise anywhere in the firm.</a:t>
            </a:r>
          </a:p>
        </p:txBody>
      </p:sp>
      <p:sp>
        <p:nvSpPr>
          <p:cNvPr id="20" name="Rounded Rectangle 19"/>
          <p:cNvSpPr/>
          <p:nvPr/>
        </p:nvSpPr>
        <p:spPr>
          <a:xfrm>
            <a:off x="868680" y="5449824"/>
            <a:ext cx="10454335" cy="685800"/>
          </a:xfrm>
          <a:prstGeom prst="roundRect">
            <a:avLst>
              <a:gd name="adj" fmla="val 18000"/>
            </a:avLst>
          </a:prstGeom>
          <a:solidFill>
            <a:srgbClr val="FFFFFF"/>
          </a:solidFill>
          <a:ln w="9525">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lIns="256032" rIns="2834640" tIns="73152" bIns="73152" wrap="square"/>
          <a:lstStyle/>
          <a:p>
            <a:pPr algn="l">
              <a:lnSpc>
                <a:spcPct val="125000"/>
              </a:lnSpc>
            </a:pPr>
            <a:r>
              <a:rPr sz="1250" b="0">
                <a:solidFill>
                  <a:srgbClr val="993C1D"/>
                </a:solidFill>
                <a:latin typeface="Helvetica Neue Medium"/>
              </a:rPr>
              <a:t>Underneath</a:t>
            </a:r>
            <a:r>
              <a:rPr sz="1250" b="0">
                <a:solidFill>
                  <a:srgbClr val="2C2C2A"/>
                </a:solidFill>
                <a:latin typeface="Helvetica Neue Medium"/>
              </a:rPr>
              <a:t> — an event layer, a commitment ledger, an attention engine; every agent built, tested, and retired through the Foundry.</a:t>
            </a:r>
          </a:p>
        </p:txBody>
      </p:sp>
      <p:sp>
        <p:nvSpPr>
          <p:cNvPr id="21" name="TextBox 20"/>
          <p:cNvSpPr txBox="1"/>
          <p:nvPr/>
        </p:nvSpPr>
        <p:spPr>
          <a:xfrm>
            <a:off x="8579815" y="5669280"/>
            <a:ext cx="2651760" cy="274320"/>
          </a:xfrm>
          <a:prstGeom prst="rect">
            <a:avLst/>
          </a:prstGeom>
          <a:noFill/>
        </p:spPr>
        <p:txBody>
          <a:bodyPr wrap="square" lIns="0" rIns="0" tIns="0" bIns="0" anchor="t">
            <a:spAutoFit/>
          </a:bodyPr>
          <a:lstStyle/>
          <a:p>
            <a:pPr algn="r">
              <a:lnSpc>
                <a:spcPct val="125000"/>
              </a:lnSpc>
            </a:pPr>
            <a:r>
              <a:rPr sz="1000" b="0" i="0">
                <a:solidFill>
                  <a:srgbClr val="993C1D"/>
                </a:solidFill>
                <a:latin typeface="Helvetica Neue Medium"/>
              </a:rPr>
              <a:t>One platform, not fourteen</a:t>
            </a:r>
          </a:p>
        </p:txBody>
      </p:sp>
      <p:sp>
        <p:nvSpPr>
          <p:cNvPr id="22" name="TextBox 21"/>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24</a:t>
            </a:r>
            <a:r>
              <a:rPr sz="1000" b="0" i="0">
                <a:solidFill>
                  <a:srgbClr val="888780"/>
                </a:solidFill>
                <a:latin typeface="Helvetica Neue Medium"/>
              </a:rPr>
              <a:t>  /  32</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11   </a:t>
            </a:r>
            <a:r>
              <a:rPr sz="1100" b="0" i="0">
                <a:solidFill>
                  <a:srgbClr val="993C1D"/>
                </a:solidFill>
                <a:latin typeface="Helvetica Neue Medium"/>
              </a:rPr>
              <a:t>One shared platform  ·  The digital workforce</a:t>
            </a:r>
          </a:p>
        </p:txBody>
      </p:sp>
      <p:sp>
        <p:nvSpPr>
          <p:cNvPr id="3" name="TextBox 2"/>
          <p:cNvSpPr txBox="1"/>
          <p:nvPr/>
        </p:nvSpPr>
        <p:spPr>
          <a:xfrm>
            <a:off x="868680" y="960120"/>
            <a:ext cx="10454335" cy="914400"/>
          </a:xfrm>
          <a:prstGeom prst="rect">
            <a:avLst/>
          </a:prstGeom>
          <a:noFill/>
        </p:spPr>
        <p:txBody>
          <a:bodyPr wrap="square" lIns="0" rIns="0" tIns="0" bIns="0" anchor="t">
            <a:spAutoFit/>
          </a:bodyPr>
          <a:lstStyle/>
          <a:p>
            <a:pPr algn="l">
              <a:lnSpc>
                <a:spcPct val="115000"/>
              </a:lnSpc>
            </a:pPr>
            <a:r>
              <a:rPr sz="2400" b="0" i="0">
                <a:solidFill>
                  <a:srgbClr val="2C2C2A"/>
                </a:solidFill>
                <a:latin typeface="Helvetica Neue Medium"/>
              </a:rPr>
              <a:t>Employed, not deployed.</a:t>
            </a:r>
          </a:p>
        </p:txBody>
      </p:sp>
      <p:sp>
        <p:nvSpPr>
          <p:cNvPr id="4" name="Rounded Rectangle 3"/>
          <p:cNvSpPr/>
          <p:nvPr/>
        </p:nvSpPr>
        <p:spPr>
          <a:xfrm>
            <a:off x="868680" y="2057400"/>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240280"/>
            <a:ext cx="2942234" cy="274320"/>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01</a:t>
            </a:r>
          </a:p>
        </p:txBody>
      </p:sp>
      <p:sp>
        <p:nvSpPr>
          <p:cNvPr id="6" name="TextBox 5"/>
          <p:cNvSpPr txBox="1"/>
          <p:nvPr/>
        </p:nvSpPr>
        <p:spPr>
          <a:xfrm>
            <a:off x="1097280" y="2532888"/>
            <a:ext cx="2942234" cy="457200"/>
          </a:xfrm>
          <a:prstGeom prst="rect">
            <a:avLst/>
          </a:prstGeom>
          <a:noFill/>
        </p:spPr>
        <p:txBody>
          <a:bodyPr wrap="square" lIns="0" rIns="0" tIns="0" bIns="0" anchor="t">
            <a:spAutoFit/>
          </a:bodyPr>
          <a:lstStyle/>
          <a:p>
            <a:pPr algn="l">
              <a:lnSpc>
                <a:spcPct val="118000"/>
              </a:lnSpc>
            </a:pPr>
            <a:r>
              <a:rPr sz="1400" b="0" i="0">
                <a:solidFill>
                  <a:srgbClr val="2C2C2A"/>
                </a:solidFill>
                <a:latin typeface="Helvetica Neue Medium"/>
              </a:rPr>
              <a:t>A named owner</a:t>
            </a:r>
          </a:p>
        </p:txBody>
      </p:sp>
      <p:sp>
        <p:nvSpPr>
          <p:cNvPr id="7" name="TextBox 6"/>
          <p:cNvSpPr txBox="1"/>
          <p:nvPr/>
        </p:nvSpPr>
        <p:spPr>
          <a:xfrm>
            <a:off x="1097280" y="2953512"/>
            <a:ext cx="2942234" cy="603504"/>
          </a:xfrm>
          <a:prstGeom prst="rect">
            <a:avLst/>
          </a:prstGeom>
          <a:noFill/>
        </p:spPr>
        <p:txBody>
          <a:bodyPr wrap="square" lIns="0" rIns="0" tIns="0" bIns="0" anchor="t">
            <a:spAutoFit/>
          </a:bodyPr>
          <a:lstStyle/>
          <a:p>
            <a:pPr algn="l">
              <a:lnSpc>
                <a:spcPct val="140000"/>
              </a:lnSpc>
            </a:pPr>
            <a:r>
              <a:rPr sz="1000" b="0" i="0">
                <a:solidFill>
                  <a:srgbClr val="5F5E5A"/>
                </a:solidFill>
                <a:latin typeface="Helvetica Neue"/>
              </a:rPr>
              <a:t>Every persistent agent belongs to a person, with a clear purpose.</a:t>
            </a:r>
          </a:p>
        </p:txBody>
      </p:sp>
      <p:sp>
        <p:nvSpPr>
          <p:cNvPr id="8" name="Rounded Rectangle 7"/>
          <p:cNvSpPr/>
          <p:nvPr/>
        </p:nvSpPr>
        <p:spPr>
          <a:xfrm>
            <a:off x="4396130" y="2057400"/>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24730" y="2240280"/>
            <a:ext cx="2942234" cy="274320"/>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02</a:t>
            </a:r>
          </a:p>
        </p:txBody>
      </p:sp>
      <p:sp>
        <p:nvSpPr>
          <p:cNvPr id="10" name="TextBox 9"/>
          <p:cNvSpPr txBox="1"/>
          <p:nvPr/>
        </p:nvSpPr>
        <p:spPr>
          <a:xfrm>
            <a:off x="4624730" y="2532888"/>
            <a:ext cx="2942234" cy="457200"/>
          </a:xfrm>
          <a:prstGeom prst="rect">
            <a:avLst/>
          </a:prstGeom>
          <a:noFill/>
        </p:spPr>
        <p:txBody>
          <a:bodyPr wrap="square" lIns="0" rIns="0" tIns="0" bIns="0" anchor="t">
            <a:spAutoFit/>
          </a:bodyPr>
          <a:lstStyle/>
          <a:p>
            <a:pPr algn="l">
              <a:lnSpc>
                <a:spcPct val="118000"/>
              </a:lnSpc>
            </a:pPr>
            <a:r>
              <a:rPr sz="1400" b="0" i="0">
                <a:solidFill>
                  <a:srgbClr val="2C2C2A"/>
                </a:solidFill>
                <a:latin typeface="Helvetica Neue Medium"/>
              </a:rPr>
              <a:t>Scoped access</a:t>
            </a:r>
          </a:p>
        </p:txBody>
      </p:sp>
      <p:sp>
        <p:nvSpPr>
          <p:cNvPr id="11" name="TextBox 10"/>
          <p:cNvSpPr txBox="1"/>
          <p:nvPr/>
        </p:nvSpPr>
        <p:spPr>
          <a:xfrm>
            <a:off x="4624730" y="2953512"/>
            <a:ext cx="2942234" cy="603504"/>
          </a:xfrm>
          <a:prstGeom prst="rect">
            <a:avLst/>
          </a:prstGeom>
          <a:noFill/>
        </p:spPr>
        <p:txBody>
          <a:bodyPr wrap="square" lIns="0" rIns="0" tIns="0" bIns="0" anchor="t">
            <a:spAutoFit/>
          </a:bodyPr>
          <a:lstStyle/>
          <a:p>
            <a:pPr algn="l">
              <a:lnSpc>
                <a:spcPct val="140000"/>
              </a:lnSpc>
            </a:pPr>
            <a:r>
              <a:rPr sz="1000" b="0" i="0">
                <a:solidFill>
                  <a:srgbClr val="5F5E5A"/>
                </a:solidFill>
                <a:latin typeface="Helvetica Neue"/>
              </a:rPr>
              <a:t>Approved data, permitted actions, defined triggers.</a:t>
            </a:r>
          </a:p>
        </p:txBody>
      </p:sp>
      <p:sp>
        <p:nvSpPr>
          <p:cNvPr id="12" name="Rounded Rectangle 11"/>
          <p:cNvSpPr/>
          <p:nvPr/>
        </p:nvSpPr>
        <p:spPr>
          <a:xfrm>
            <a:off x="7923580" y="2057400"/>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52180" y="2240280"/>
            <a:ext cx="2942234" cy="274320"/>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03</a:t>
            </a:r>
          </a:p>
        </p:txBody>
      </p:sp>
      <p:sp>
        <p:nvSpPr>
          <p:cNvPr id="14" name="TextBox 13"/>
          <p:cNvSpPr txBox="1"/>
          <p:nvPr/>
        </p:nvSpPr>
        <p:spPr>
          <a:xfrm>
            <a:off x="8152180" y="2532888"/>
            <a:ext cx="2942234" cy="457200"/>
          </a:xfrm>
          <a:prstGeom prst="rect">
            <a:avLst/>
          </a:prstGeom>
          <a:noFill/>
        </p:spPr>
        <p:txBody>
          <a:bodyPr wrap="square" lIns="0" rIns="0" tIns="0" bIns="0" anchor="t">
            <a:spAutoFit/>
          </a:bodyPr>
          <a:lstStyle/>
          <a:p>
            <a:pPr algn="l">
              <a:lnSpc>
                <a:spcPct val="118000"/>
              </a:lnSpc>
            </a:pPr>
            <a:r>
              <a:rPr sz="1400" b="0" i="0">
                <a:solidFill>
                  <a:srgbClr val="2C2C2A"/>
                </a:solidFill>
                <a:latin typeface="Helvetica Neue Medium"/>
              </a:rPr>
              <a:t>An autonomy rung</a:t>
            </a:r>
          </a:p>
        </p:txBody>
      </p:sp>
      <p:sp>
        <p:nvSpPr>
          <p:cNvPr id="15" name="TextBox 14"/>
          <p:cNvSpPr txBox="1"/>
          <p:nvPr/>
        </p:nvSpPr>
        <p:spPr>
          <a:xfrm>
            <a:off x="8152180" y="2953512"/>
            <a:ext cx="2942234" cy="603504"/>
          </a:xfrm>
          <a:prstGeom prst="rect">
            <a:avLst/>
          </a:prstGeom>
          <a:noFill/>
        </p:spPr>
        <p:txBody>
          <a:bodyPr wrap="square" lIns="0" rIns="0" tIns="0" bIns="0" anchor="t">
            <a:spAutoFit/>
          </a:bodyPr>
          <a:lstStyle/>
          <a:p>
            <a:pPr algn="l">
              <a:lnSpc>
                <a:spcPct val="140000"/>
              </a:lnSpc>
            </a:pPr>
            <a:r>
              <a:rPr sz="1000" b="0" i="0">
                <a:solidFill>
                  <a:srgbClr val="5F5E5A"/>
                </a:solidFill>
                <a:latin typeface="Helvetica Neue"/>
              </a:rPr>
              <a:t>With the approvals that rung requires.</a:t>
            </a:r>
          </a:p>
        </p:txBody>
      </p:sp>
      <p:sp>
        <p:nvSpPr>
          <p:cNvPr id="16" name="Rounded Rectangle 15"/>
          <p:cNvSpPr/>
          <p:nvPr/>
        </p:nvSpPr>
        <p:spPr>
          <a:xfrm>
            <a:off x="868680" y="3739896"/>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922776"/>
            <a:ext cx="2942234" cy="274320"/>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04</a:t>
            </a:r>
          </a:p>
        </p:txBody>
      </p:sp>
      <p:sp>
        <p:nvSpPr>
          <p:cNvPr id="18" name="TextBox 17"/>
          <p:cNvSpPr txBox="1"/>
          <p:nvPr/>
        </p:nvSpPr>
        <p:spPr>
          <a:xfrm>
            <a:off x="1097280" y="4215384"/>
            <a:ext cx="2942234" cy="457200"/>
          </a:xfrm>
          <a:prstGeom prst="rect">
            <a:avLst/>
          </a:prstGeom>
          <a:noFill/>
        </p:spPr>
        <p:txBody>
          <a:bodyPr wrap="square" lIns="0" rIns="0" tIns="0" bIns="0" anchor="t">
            <a:spAutoFit/>
          </a:bodyPr>
          <a:lstStyle/>
          <a:p>
            <a:pPr algn="l">
              <a:lnSpc>
                <a:spcPct val="118000"/>
              </a:lnSpc>
            </a:pPr>
            <a:r>
              <a:rPr sz="1400" b="0" i="0">
                <a:solidFill>
                  <a:srgbClr val="2C2C2A"/>
                </a:solidFill>
                <a:latin typeface="Helvetica Neue Medium"/>
              </a:rPr>
              <a:t>Standards &amp; audit</a:t>
            </a:r>
          </a:p>
        </p:txBody>
      </p:sp>
      <p:sp>
        <p:nvSpPr>
          <p:cNvPr id="19" name="TextBox 18"/>
          <p:cNvSpPr txBox="1"/>
          <p:nvPr/>
        </p:nvSpPr>
        <p:spPr>
          <a:xfrm>
            <a:off x="1097280" y="4636008"/>
            <a:ext cx="2942234" cy="603504"/>
          </a:xfrm>
          <a:prstGeom prst="rect">
            <a:avLst/>
          </a:prstGeom>
          <a:noFill/>
        </p:spPr>
        <p:txBody>
          <a:bodyPr wrap="square" lIns="0" rIns="0" tIns="0" bIns="0" anchor="t">
            <a:spAutoFit/>
          </a:bodyPr>
          <a:lstStyle/>
          <a:p>
            <a:pPr algn="l">
              <a:lnSpc>
                <a:spcPct val="140000"/>
              </a:lnSpc>
            </a:pPr>
            <a:r>
              <a:rPr sz="1000" b="0" i="0">
                <a:solidFill>
                  <a:srgbClr val="5F5E5A"/>
                </a:solidFill>
                <a:latin typeface="Helvetica Neue"/>
              </a:rPr>
              <a:t>Evaluation criteria, and a complete history of everything it did.</a:t>
            </a:r>
          </a:p>
        </p:txBody>
      </p:sp>
      <p:sp>
        <p:nvSpPr>
          <p:cNvPr id="20" name="Rounded Rectangle 19"/>
          <p:cNvSpPr/>
          <p:nvPr/>
        </p:nvSpPr>
        <p:spPr>
          <a:xfrm>
            <a:off x="4396130" y="3739896"/>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24730" y="3922776"/>
            <a:ext cx="2942234" cy="274320"/>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05</a:t>
            </a:r>
          </a:p>
        </p:txBody>
      </p:sp>
      <p:sp>
        <p:nvSpPr>
          <p:cNvPr id="22" name="TextBox 21"/>
          <p:cNvSpPr txBox="1"/>
          <p:nvPr/>
        </p:nvSpPr>
        <p:spPr>
          <a:xfrm>
            <a:off x="4624730" y="4215384"/>
            <a:ext cx="2942234" cy="457200"/>
          </a:xfrm>
          <a:prstGeom prst="rect">
            <a:avLst/>
          </a:prstGeom>
          <a:noFill/>
        </p:spPr>
        <p:txBody>
          <a:bodyPr wrap="square" lIns="0" rIns="0" tIns="0" bIns="0" anchor="t">
            <a:spAutoFit/>
          </a:bodyPr>
          <a:lstStyle/>
          <a:p>
            <a:pPr algn="l">
              <a:lnSpc>
                <a:spcPct val="118000"/>
              </a:lnSpc>
            </a:pPr>
            <a:r>
              <a:rPr sz="1400" b="0" i="0">
                <a:solidFill>
                  <a:srgbClr val="2C2C2A"/>
                </a:solidFill>
                <a:latin typeface="Helvetica Neue Medium"/>
              </a:rPr>
              <a:t>Review &amp; expiration</a:t>
            </a:r>
          </a:p>
        </p:txBody>
      </p:sp>
      <p:sp>
        <p:nvSpPr>
          <p:cNvPr id="23" name="TextBox 22"/>
          <p:cNvSpPr txBox="1"/>
          <p:nvPr/>
        </p:nvSpPr>
        <p:spPr>
          <a:xfrm>
            <a:off x="4624730" y="4636008"/>
            <a:ext cx="2942234" cy="603504"/>
          </a:xfrm>
          <a:prstGeom prst="rect">
            <a:avLst/>
          </a:prstGeom>
          <a:noFill/>
        </p:spPr>
        <p:txBody>
          <a:bodyPr wrap="square" lIns="0" rIns="0" tIns="0" bIns="0" anchor="t">
            <a:spAutoFit/>
          </a:bodyPr>
          <a:lstStyle/>
          <a:p>
            <a:pPr algn="l">
              <a:lnSpc>
                <a:spcPct val="140000"/>
              </a:lnSpc>
            </a:pPr>
            <a:r>
              <a:rPr sz="1000" b="0" i="0">
                <a:solidFill>
                  <a:srgbClr val="5F5E5A"/>
                </a:solidFill>
                <a:latin typeface="Helvetica Neue"/>
              </a:rPr>
              <a:t>Agents are re-certified or retired; none run forever by default.</a:t>
            </a:r>
          </a:p>
        </p:txBody>
      </p:sp>
      <p:sp>
        <p:nvSpPr>
          <p:cNvPr id="24" name="Rounded Rectangle 23"/>
          <p:cNvSpPr/>
          <p:nvPr/>
        </p:nvSpPr>
        <p:spPr>
          <a:xfrm>
            <a:off x="7923580" y="3739896"/>
            <a:ext cx="3399434" cy="155448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2180" y="3922776"/>
            <a:ext cx="2942234" cy="274320"/>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06</a:t>
            </a:r>
          </a:p>
        </p:txBody>
      </p:sp>
      <p:sp>
        <p:nvSpPr>
          <p:cNvPr id="26" name="TextBox 25"/>
          <p:cNvSpPr txBox="1"/>
          <p:nvPr/>
        </p:nvSpPr>
        <p:spPr>
          <a:xfrm>
            <a:off x="8152180" y="4215384"/>
            <a:ext cx="2942234" cy="457200"/>
          </a:xfrm>
          <a:prstGeom prst="rect">
            <a:avLst/>
          </a:prstGeom>
          <a:noFill/>
        </p:spPr>
        <p:txBody>
          <a:bodyPr wrap="square" lIns="0" rIns="0" tIns="0" bIns="0" anchor="t">
            <a:spAutoFit/>
          </a:bodyPr>
          <a:lstStyle/>
          <a:p>
            <a:pPr algn="l">
              <a:lnSpc>
                <a:spcPct val="118000"/>
              </a:lnSpc>
            </a:pPr>
            <a:r>
              <a:rPr sz="1400" b="0" i="0">
                <a:solidFill>
                  <a:srgbClr val="2C2C2A"/>
                </a:solidFill>
                <a:latin typeface="Helvetica Neue Medium"/>
              </a:rPr>
              <a:t>Visible to its team</a:t>
            </a:r>
          </a:p>
        </p:txBody>
      </p:sp>
      <p:sp>
        <p:nvSpPr>
          <p:cNvPr id="27" name="TextBox 26"/>
          <p:cNvSpPr txBox="1"/>
          <p:nvPr/>
        </p:nvSpPr>
        <p:spPr>
          <a:xfrm>
            <a:off x="8152180" y="4636008"/>
            <a:ext cx="2942234" cy="603504"/>
          </a:xfrm>
          <a:prstGeom prst="rect">
            <a:avLst/>
          </a:prstGeom>
          <a:noFill/>
        </p:spPr>
        <p:txBody>
          <a:bodyPr wrap="square" lIns="0" rIns="0" tIns="0" bIns="0" anchor="t">
            <a:spAutoFit/>
          </a:bodyPr>
          <a:lstStyle/>
          <a:p>
            <a:pPr algn="l">
              <a:lnSpc>
                <a:spcPct val="140000"/>
              </a:lnSpc>
            </a:pPr>
            <a:r>
              <a:rPr sz="1000" b="0" i="0">
                <a:solidFill>
                  <a:srgbClr val="5F5E5A"/>
                </a:solidFill>
                <a:latin typeface="Helvetica Neue"/>
              </a:rPr>
              <a:t>Everyone sees which agents work for them, what they watch, what awaits approval.</a:t>
            </a:r>
          </a:p>
        </p:txBody>
      </p:sp>
      <p:sp>
        <p:nvSpPr>
          <p:cNvPr id="28" name="Rounded Rectangle 27"/>
          <p:cNvSpPr/>
          <p:nvPr/>
        </p:nvSpPr>
        <p:spPr>
          <a:xfrm>
            <a:off x="868680" y="5852160"/>
            <a:ext cx="10454335" cy="777240"/>
          </a:xfrm>
          <a:prstGeom prst="roundRect">
            <a:avLst>
              <a:gd name="adj" fmla="val 18000"/>
            </a:avLst>
          </a:prstGeom>
          <a:solidFill>
            <a:srgbClr val="FAF8F1"/>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64592" bIns="164592" wrap="square"/>
          <a:lstStyle/>
          <a:p>
            <a:pPr algn="l"/>
            <a:r>
              <a:rPr sz="1800" b="0">
                <a:solidFill>
                  <a:srgbClr val="2C2C2A"/>
                </a:solidFill>
                <a:latin typeface="Helvetica Neue Medium"/>
              </a:rPr>
              <a:t>Risk, legal, compliance, cybersecurity, and operations build this layer from the beginning — not review it at the end.</a:t>
            </a:r>
          </a:p>
        </p:txBody>
      </p:sp>
      <p:sp>
        <p:nvSpPr>
          <p:cNvPr id="29" name="TextBox 28"/>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25</a:t>
            </a:r>
            <a:r>
              <a:rPr sz="1000" b="0" i="0">
                <a:solidFill>
                  <a:srgbClr val="888780"/>
                </a:solidFill>
                <a:latin typeface="Helvetica Neue Medium"/>
              </a:rPr>
              <a:t>  /  32</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12   </a:t>
            </a:r>
            <a:r>
              <a:rPr sz="1100" b="0" i="0">
                <a:solidFill>
                  <a:srgbClr val="993C1D"/>
                </a:solidFill>
                <a:latin typeface="Helvetica Neue Medium"/>
              </a:rPr>
              <a:t>Why it compounds</a:t>
            </a:r>
          </a:p>
        </p:txBody>
      </p:sp>
      <p:sp>
        <p:nvSpPr>
          <p:cNvPr id="3" name="TextBox 2"/>
          <p:cNvSpPr txBox="1"/>
          <p:nvPr/>
        </p:nvSpPr>
        <p:spPr>
          <a:xfrm>
            <a:off x="868680" y="960120"/>
            <a:ext cx="10454335" cy="777240"/>
          </a:xfrm>
          <a:prstGeom prst="rect">
            <a:avLst/>
          </a:prstGeom>
          <a:noFill/>
        </p:spPr>
        <p:txBody>
          <a:bodyPr wrap="square" lIns="0" rIns="0" tIns="0" bIns="0" anchor="t">
            <a:spAutoFit/>
          </a:bodyPr>
          <a:lstStyle/>
          <a:p>
            <a:pPr algn="l">
              <a:lnSpc>
                <a:spcPct val="115000"/>
              </a:lnSpc>
            </a:pPr>
            <a:r>
              <a:rPr sz="3000" b="0" i="0">
                <a:solidFill>
                  <a:srgbClr val="2C2C2A"/>
                </a:solidFill>
                <a:latin typeface="Helvetica Neue Medium"/>
              </a:rPr>
              <a:t>The loop is the moat.</a:t>
            </a:r>
          </a:p>
        </p:txBody>
      </p:sp>
      <p:sp>
        <p:nvSpPr>
          <p:cNvPr id="4" name="TextBox 3"/>
          <p:cNvSpPr txBox="1"/>
          <p:nvPr/>
        </p:nvSpPr>
        <p:spPr>
          <a:xfrm>
            <a:off x="868680" y="1783080"/>
            <a:ext cx="10454335" cy="502920"/>
          </a:xfrm>
          <a:prstGeom prst="rect">
            <a:avLst/>
          </a:prstGeom>
          <a:noFill/>
        </p:spPr>
        <p:txBody>
          <a:bodyPr wrap="square" lIns="0" rIns="0" tIns="0" bIns="0" anchor="t">
            <a:spAutoFit/>
          </a:bodyPr>
          <a:lstStyle/>
          <a:p>
            <a:pPr algn="l">
              <a:lnSpc>
                <a:spcPct val="140000"/>
              </a:lnSpc>
            </a:pPr>
            <a:r>
              <a:rPr sz="1300" b="0" i="1">
                <a:solidFill>
                  <a:srgbClr val="5F5E5A"/>
                </a:solidFill>
                <a:latin typeface="Helvetica Neue"/>
              </a:rPr>
              <a:t>Not the chatbot, the model, or the screen — the system that connects context, expertise, judgment, execution, and outcomes.</a:t>
            </a:r>
          </a:p>
        </p:txBody>
      </p:sp>
      <p:sp>
        <p:nvSpPr>
          <p:cNvPr id="5" name="Rounded Rectangle 4"/>
          <p:cNvSpPr/>
          <p:nvPr/>
        </p:nvSpPr>
        <p:spPr>
          <a:xfrm>
            <a:off x="868680" y="2423160"/>
            <a:ext cx="10454335" cy="3246120"/>
          </a:xfrm>
          <a:prstGeom prst="roundRect">
            <a:avLst>
              <a:gd name="adj" fmla="val 4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258671" y="2990088"/>
            <a:ext cx="1627632" cy="91440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1353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Signals</a:t>
            </a:r>
          </a:p>
        </p:txBody>
      </p:sp>
      <p:sp>
        <p:nvSpPr>
          <p:cNvPr id="8" name="TextBox 7"/>
          <p:cNvSpPr txBox="1"/>
          <p:nvPr/>
        </p:nvSpPr>
        <p:spPr>
          <a:xfrm>
            <a:off x="1313535" y="3557016"/>
            <a:ext cx="1517904" cy="256032"/>
          </a:xfrm>
          <a:prstGeom prst="rect">
            <a:avLst/>
          </a:prstGeom>
          <a:noFill/>
        </p:spPr>
        <p:txBody>
          <a:bodyPr wrap="square" lIns="0" rIns="0" tIns="0" bIns="0" anchor="t">
            <a:spAutoFit/>
          </a:bodyPr>
          <a:lstStyle/>
          <a:p>
            <a:pPr algn="ctr">
              <a:lnSpc>
                <a:spcPct val="125000"/>
              </a:lnSpc>
            </a:pPr>
            <a:r>
              <a:rPr sz="950" b="0" i="0">
                <a:solidFill>
                  <a:srgbClr val="5F5E5A"/>
                </a:solidFill>
                <a:latin typeface="Helvetica Neue"/>
              </a:rPr>
              <a:t>clients · markets</a:t>
            </a:r>
          </a:p>
        </p:txBody>
      </p:sp>
      <p:sp>
        <p:nvSpPr>
          <p:cNvPr id="9" name="Rounded Rectangle 8"/>
          <p:cNvSpPr/>
          <p:nvPr/>
        </p:nvSpPr>
        <p:spPr>
          <a:xfrm>
            <a:off x="3270351" y="2990088"/>
            <a:ext cx="1627632" cy="914400"/>
          </a:xfrm>
          <a:prstGeom prst="roundRect">
            <a:avLst>
              <a:gd name="adj" fmla="val 10000"/>
            </a:avLst>
          </a:prstGeom>
          <a:solidFill>
            <a:srgbClr val="FAECE7"/>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2521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Client Agents + Hive</a:t>
            </a:r>
          </a:p>
        </p:txBody>
      </p:sp>
      <p:sp>
        <p:nvSpPr>
          <p:cNvPr id="11" name="TextBox 10"/>
          <p:cNvSpPr txBox="1"/>
          <p:nvPr/>
        </p:nvSpPr>
        <p:spPr>
          <a:xfrm>
            <a:off x="3325215" y="3557016"/>
            <a:ext cx="1517904" cy="256032"/>
          </a:xfrm>
          <a:prstGeom prst="rect">
            <a:avLst/>
          </a:prstGeom>
          <a:noFill/>
        </p:spPr>
        <p:txBody>
          <a:bodyPr wrap="square" lIns="0" rIns="0" tIns="0" bIns="0" anchor="t">
            <a:spAutoFit/>
          </a:bodyPr>
          <a:lstStyle/>
          <a:p>
            <a:pPr algn="ctr">
              <a:lnSpc>
                <a:spcPct val="125000"/>
              </a:lnSpc>
            </a:pPr>
            <a:r>
              <a:rPr sz="950" b="0" i="0">
                <a:solidFill>
                  <a:srgbClr val="993C1D"/>
                </a:solidFill>
                <a:latin typeface="Helvetica Neue"/>
              </a:rPr>
              <a:t>memory · patterns</a:t>
            </a:r>
          </a:p>
        </p:txBody>
      </p:sp>
      <p:sp>
        <p:nvSpPr>
          <p:cNvPr id="12" name="Rounded Rectangle 11"/>
          <p:cNvSpPr/>
          <p:nvPr/>
        </p:nvSpPr>
        <p:spPr>
          <a:xfrm>
            <a:off x="5282031" y="2990088"/>
            <a:ext cx="1627632" cy="91440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689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Judgment</a:t>
            </a:r>
          </a:p>
        </p:txBody>
      </p:sp>
      <p:sp>
        <p:nvSpPr>
          <p:cNvPr id="14" name="TextBox 13"/>
          <p:cNvSpPr txBox="1"/>
          <p:nvPr/>
        </p:nvSpPr>
        <p:spPr>
          <a:xfrm>
            <a:off x="5336895" y="3557016"/>
            <a:ext cx="1517904" cy="256032"/>
          </a:xfrm>
          <a:prstGeom prst="rect">
            <a:avLst/>
          </a:prstGeom>
          <a:noFill/>
        </p:spPr>
        <p:txBody>
          <a:bodyPr wrap="square" lIns="0" rIns="0" tIns="0" bIns="0" anchor="t">
            <a:spAutoFit/>
          </a:bodyPr>
          <a:lstStyle/>
          <a:p>
            <a:pPr algn="ctr">
              <a:lnSpc>
                <a:spcPct val="125000"/>
              </a:lnSpc>
            </a:pPr>
            <a:r>
              <a:rPr sz="950" b="0" i="0">
                <a:solidFill>
                  <a:srgbClr val="5F5E5A"/>
                </a:solidFill>
                <a:latin typeface="Helvetica Neue"/>
              </a:rPr>
              <a:t>specialists · advisors</a:t>
            </a:r>
          </a:p>
        </p:txBody>
      </p:sp>
      <p:sp>
        <p:nvSpPr>
          <p:cNvPr id="15" name="Rounded Rectangle 14"/>
          <p:cNvSpPr/>
          <p:nvPr/>
        </p:nvSpPr>
        <p:spPr>
          <a:xfrm>
            <a:off x="7293711" y="2990088"/>
            <a:ext cx="1627632" cy="91440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857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Matched &amp; prepared</a:t>
            </a:r>
          </a:p>
        </p:txBody>
      </p:sp>
      <p:sp>
        <p:nvSpPr>
          <p:cNvPr id="17" name="TextBox 16"/>
          <p:cNvSpPr txBox="1"/>
          <p:nvPr/>
        </p:nvSpPr>
        <p:spPr>
          <a:xfrm>
            <a:off x="7348575" y="3557016"/>
            <a:ext cx="1517904" cy="256032"/>
          </a:xfrm>
          <a:prstGeom prst="rect">
            <a:avLst/>
          </a:prstGeom>
          <a:noFill/>
        </p:spPr>
        <p:txBody>
          <a:bodyPr wrap="square" lIns="0" rIns="0" tIns="0" bIns="0" anchor="t">
            <a:spAutoFit/>
          </a:bodyPr>
          <a:lstStyle/>
          <a:p>
            <a:pPr algn="ctr">
              <a:lnSpc>
                <a:spcPct val="125000"/>
              </a:lnSpc>
            </a:pPr>
            <a:r>
              <a:rPr sz="950" b="0" i="0">
                <a:solidFill>
                  <a:srgbClr val="5F5E5A"/>
                </a:solidFill>
                <a:latin typeface="Helvetica Neue"/>
              </a:rPr>
              <a:t>per relationship</a:t>
            </a:r>
          </a:p>
        </p:txBody>
      </p:sp>
      <p:sp>
        <p:nvSpPr>
          <p:cNvPr id="18" name="Rounded Rectangle 17"/>
          <p:cNvSpPr/>
          <p:nvPr/>
        </p:nvSpPr>
        <p:spPr>
          <a:xfrm>
            <a:off x="9305391" y="2990088"/>
            <a:ext cx="1627632" cy="91440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025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Governed execution</a:t>
            </a:r>
          </a:p>
        </p:txBody>
      </p:sp>
      <p:sp>
        <p:nvSpPr>
          <p:cNvPr id="20" name="TextBox 19"/>
          <p:cNvSpPr txBox="1"/>
          <p:nvPr/>
        </p:nvSpPr>
        <p:spPr>
          <a:xfrm>
            <a:off x="9360255" y="3557016"/>
            <a:ext cx="1517904" cy="256032"/>
          </a:xfrm>
          <a:prstGeom prst="rect">
            <a:avLst/>
          </a:prstGeom>
          <a:noFill/>
        </p:spPr>
        <p:txBody>
          <a:bodyPr wrap="square" lIns="0" rIns="0" tIns="0" bIns="0" anchor="t">
            <a:spAutoFit/>
          </a:bodyPr>
          <a:lstStyle/>
          <a:p>
            <a:pPr algn="ctr">
              <a:lnSpc>
                <a:spcPct val="125000"/>
              </a:lnSpc>
            </a:pPr>
            <a:r>
              <a:rPr sz="950" b="0" i="0">
                <a:solidFill>
                  <a:srgbClr val="5F5E5A"/>
                </a:solidFill>
                <a:latin typeface="Helvetica Neue"/>
              </a:rPr>
              <a:t>the machinery</a:t>
            </a:r>
          </a:p>
        </p:txBody>
      </p:sp>
      <p:sp>
        <p:nvSpPr>
          <p:cNvPr id="21" name="Oval 20"/>
          <p:cNvSpPr/>
          <p:nvPr/>
        </p:nvSpPr>
        <p:spPr>
          <a:xfrm>
            <a:off x="868680" y="5897880"/>
            <a:ext cx="118872" cy="118872"/>
          </a:xfrm>
          <a:prstGeom prst="ellipse">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69848" y="5897880"/>
            <a:ext cx="118872" cy="118872"/>
          </a:xfrm>
          <a:prstGeom prst="ellipse">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271016" y="5897880"/>
            <a:ext cx="118872" cy="118872"/>
          </a:xfrm>
          <a:prstGeom prst="ellipse">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472184" y="5897880"/>
            <a:ext cx="118872" cy="118872"/>
          </a:xfrm>
          <a:prstGeom prst="ellipse">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764792" y="5861304"/>
            <a:ext cx="9558223" cy="274320"/>
          </a:xfrm>
          <a:prstGeom prst="rect">
            <a:avLst/>
          </a:prstGeom>
          <a:noFill/>
        </p:spPr>
        <p:txBody>
          <a:bodyPr wrap="square" lIns="0" rIns="0" tIns="0" bIns="0" anchor="t">
            <a:spAutoFit/>
          </a:bodyPr>
          <a:lstStyle/>
          <a:p>
            <a:pPr algn="l">
              <a:lnSpc>
                <a:spcPct val="125000"/>
              </a:lnSpc>
            </a:pPr>
            <a:r>
              <a:rPr sz="1100" b="0" i="0">
                <a:solidFill>
                  <a:srgbClr val="5F5E5A"/>
                </a:solidFill>
                <a:latin typeface="Helvetica Neue Medium"/>
              </a:rPr>
              <a:t>Press space to run the loop.</a:t>
            </a:r>
          </a:p>
        </p:txBody>
      </p:sp>
      <p:sp>
        <p:nvSpPr>
          <p:cNvPr id="26" name="TextBox 25"/>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26</a:t>
            </a:r>
            <a:r>
              <a:rPr sz="1000" b="0" i="0">
                <a:solidFill>
                  <a:srgbClr val="888780"/>
                </a:solidFill>
                <a:latin typeface="Helvetica Neue Medium"/>
              </a:rPr>
              <a:t>  /  32</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12   </a:t>
            </a:r>
            <a:r>
              <a:rPr sz="1100" b="0" i="0">
                <a:solidFill>
                  <a:srgbClr val="993C1D"/>
                </a:solidFill>
                <a:latin typeface="Helvetica Neue Medium"/>
              </a:rPr>
              <a:t>Why it compounds</a:t>
            </a:r>
          </a:p>
        </p:txBody>
      </p:sp>
      <p:sp>
        <p:nvSpPr>
          <p:cNvPr id="3" name="TextBox 2"/>
          <p:cNvSpPr txBox="1"/>
          <p:nvPr/>
        </p:nvSpPr>
        <p:spPr>
          <a:xfrm>
            <a:off x="868680" y="960120"/>
            <a:ext cx="10454335" cy="777240"/>
          </a:xfrm>
          <a:prstGeom prst="rect">
            <a:avLst/>
          </a:prstGeom>
          <a:noFill/>
        </p:spPr>
        <p:txBody>
          <a:bodyPr wrap="square" lIns="0" rIns="0" tIns="0" bIns="0" anchor="t">
            <a:spAutoFit/>
          </a:bodyPr>
          <a:lstStyle/>
          <a:p>
            <a:pPr algn="l">
              <a:lnSpc>
                <a:spcPct val="115000"/>
              </a:lnSpc>
            </a:pPr>
            <a:r>
              <a:rPr sz="3000" b="0" i="0">
                <a:solidFill>
                  <a:srgbClr val="2C2C2A"/>
                </a:solidFill>
                <a:latin typeface="Helvetica Neue Medium"/>
              </a:rPr>
              <a:t>The loop is the moat.</a:t>
            </a:r>
          </a:p>
        </p:txBody>
      </p:sp>
      <p:sp>
        <p:nvSpPr>
          <p:cNvPr id="4" name="TextBox 3"/>
          <p:cNvSpPr txBox="1"/>
          <p:nvPr/>
        </p:nvSpPr>
        <p:spPr>
          <a:xfrm>
            <a:off x="868680" y="1783080"/>
            <a:ext cx="10454335" cy="502920"/>
          </a:xfrm>
          <a:prstGeom prst="rect">
            <a:avLst/>
          </a:prstGeom>
          <a:noFill/>
        </p:spPr>
        <p:txBody>
          <a:bodyPr wrap="square" lIns="0" rIns="0" tIns="0" bIns="0" anchor="t">
            <a:spAutoFit/>
          </a:bodyPr>
          <a:lstStyle/>
          <a:p>
            <a:pPr algn="l">
              <a:lnSpc>
                <a:spcPct val="140000"/>
              </a:lnSpc>
            </a:pPr>
            <a:r>
              <a:rPr sz="1300" b="0" i="1">
                <a:solidFill>
                  <a:srgbClr val="5F5E5A"/>
                </a:solidFill>
                <a:latin typeface="Helvetica Neue"/>
              </a:rPr>
              <a:t>Not the chatbot, the model, or the screen — the system that connects context, expertise, judgment, execution, and outcomes.</a:t>
            </a:r>
          </a:p>
        </p:txBody>
      </p:sp>
      <p:sp>
        <p:nvSpPr>
          <p:cNvPr id="5" name="Rounded Rectangle 4"/>
          <p:cNvSpPr/>
          <p:nvPr/>
        </p:nvSpPr>
        <p:spPr>
          <a:xfrm>
            <a:off x="868680" y="2423160"/>
            <a:ext cx="10454335" cy="3246120"/>
          </a:xfrm>
          <a:prstGeom prst="roundRect">
            <a:avLst>
              <a:gd name="adj" fmla="val 4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258671" y="2990088"/>
            <a:ext cx="1627632" cy="91440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1353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Signals</a:t>
            </a:r>
          </a:p>
        </p:txBody>
      </p:sp>
      <p:sp>
        <p:nvSpPr>
          <p:cNvPr id="8" name="TextBox 7"/>
          <p:cNvSpPr txBox="1"/>
          <p:nvPr/>
        </p:nvSpPr>
        <p:spPr>
          <a:xfrm>
            <a:off x="1313535" y="3557016"/>
            <a:ext cx="1517904" cy="256032"/>
          </a:xfrm>
          <a:prstGeom prst="rect">
            <a:avLst/>
          </a:prstGeom>
          <a:noFill/>
        </p:spPr>
        <p:txBody>
          <a:bodyPr wrap="square" lIns="0" rIns="0" tIns="0" bIns="0" anchor="t">
            <a:spAutoFit/>
          </a:bodyPr>
          <a:lstStyle/>
          <a:p>
            <a:pPr algn="ctr">
              <a:lnSpc>
                <a:spcPct val="125000"/>
              </a:lnSpc>
            </a:pPr>
            <a:r>
              <a:rPr sz="950" b="0" i="0">
                <a:solidFill>
                  <a:srgbClr val="5F5E5A"/>
                </a:solidFill>
                <a:latin typeface="Helvetica Neue"/>
              </a:rPr>
              <a:t>clients · markets</a:t>
            </a:r>
          </a:p>
        </p:txBody>
      </p:sp>
      <p:sp>
        <p:nvSpPr>
          <p:cNvPr id="9" name="Rounded Rectangle 8"/>
          <p:cNvSpPr/>
          <p:nvPr/>
        </p:nvSpPr>
        <p:spPr>
          <a:xfrm>
            <a:off x="3270351" y="2990088"/>
            <a:ext cx="1627632" cy="914400"/>
          </a:xfrm>
          <a:prstGeom prst="roundRect">
            <a:avLst>
              <a:gd name="adj" fmla="val 10000"/>
            </a:avLst>
          </a:prstGeom>
          <a:solidFill>
            <a:srgbClr val="FAECE7"/>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2521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Client Agents + Hive</a:t>
            </a:r>
          </a:p>
        </p:txBody>
      </p:sp>
      <p:sp>
        <p:nvSpPr>
          <p:cNvPr id="11" name="TextBox 10"/>
          <p:cNvSpPr txBox="1"/>
          <p:nvPr/>
        </p:nvSpPr>
        <p:spPr>
          <a:xfrm>
            <a:off x="3325215" y="3557016"/>
            <a:ext cx="1517904" cy="256032"/>
          </a:xfrm>
          <a:prstGeom prst="rect">
            <a:avLst/>
          </a:prstGeom>
          <a:noFill/>
        </p:spPr>
        <p:txBody>
          <a:bodyPr wrap="square" lIns="0" rIns="0" tIns="0" bIns="0" anchor="t">
            <a:spAutoFit/>
          </a:bodyPr>
          <a:lstStyle/>
          <a:p>
            <a:pPr algn="ctr">
              <a:lnSpc>
                <a:spcPct val="125000"/>
              </a:lnSpc>
            </a:pPr>
            <a:r>
              <a:rPr sz="950" b="0" i="0">
                <a:solidFill>
                  <a:srgbClr val="993C1D"/>
                </a:solidFill>
                <a:latin typeface="Helvetica Neue"/>
              </a:rPr>
              <a:t>memory · patterns</a:t>
            </a:r>
          </a:p>
        </p:txBody>
      </p:sp>
      <p:sp>
        <p:nvSpPr>
          <p:cNvPr id="12" name="Rounded Rectangle 11"/>
          <p:cNvSpPr/>
          <p:nvPr/>
        </p:nvSpPr>
        <p:spPr>
          <a:xfrm>
            <a:off x="5282031" y="2990088"/>
            <a:ext cx="1627632" cy="91440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689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Judgment</a:t>
            </a:r>
          </a:p>
        </p:txBody>
      </p:sp>
      <p:sp>
        <p:nvSpPr>
          <p:cNvPr id="14" name="TextBox 13"/>
          <p:cNvSpPr txBox="1"/>
          <p:nvPr/>
        </p:nvSpPr>
        <p:spPr>
          <a:xfrm>
            <a:off x="5336895" y="3557016"/>
            <a:ext cx="1517904" cy="256032"/>
          </a:xfrm>
          <a:prstGeom prst="rect">
            <a:avLst/>
          </a:prstGeom>
          <a:noFill/>
        </p:spPr>
        <p:txBody>
          <a:bodyPr wrap="square" lIns="0" rIns="0" tIns="0" bIns="0" anchor="t">
            <a:spAutoFit/>
          </a:bodyPr>
          <a:lstStyle/>
          <a:p>
            <a:pPr algn="ctr">
              <a:lnSpc>
                <a:spcPct val="125000"/>
              </a:lnSpc>
            </a:pPr>
            <a:r>
              <a:rPr sz="950" b="0" i="0">
                <a:solidFill>
                  <a:srgbClr val="5F5E5A"/>
                </a:solidFill>
                <a:latin typeface="Helvetica Neue"/>
              </a:rPr>
              <a:t>specialists · advisors</a:t>
            </a:r>
          </a:p>
        </p:txBody>
      </p:sp>
      <p:sp>
        <p:nvSpPr>
          <p:cNvPr id="15" name="Rounded Rectangle 14"/>
          <p:cNvSpPr/>
          <p:nvPr/>
        </p:nvSpPr>
        <p:spPr>
          <a:xfrm>
            <a:off x="7293711" y="2990088"/>
            <a:ext cx="1627632" cy="91440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857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Matched &amp; prepared</a:t>
            </a:r>
          </a:p>
        </p:txBody>
      </p:sp>
      <p:sp>
        <p:nvSpPr>
          <p:cNvPr id="17" name="TextBox 16"/>
          <p:cNvSpPr txBox="1"/>
          <p:nvPr/>
        </p:nvSpPr>
        <p:spPr>
          <a:xfrm>
            <a:off x="7348575" y="3557016"/>
            <a:ext cx="1517904" cy="256032"/>
          </a:xfrm>
          <a:prstGeom prst="rect">
            <a:avLst/>
          </a:prstGeom>
          <a:noFill/>
        </p:spPr>
        <p:txBody>
          <a:bodyPr wrap="square" lIns="0" rIns="0" tIns="0" bIns="0" anchor="t">
            <a:spAutoFit/>
          </a:bodyPr>
          <a:lstStyle/>
          <a:p>
            <a:pPr algn="ctr">
              <a:lnSpc>
                <a:spcPct val="125000"/>
              </a:lnSpc>
            </a:pPr>
            <a:r>
              <a:rPr sz="950" b="0" i="0">
                <a:solidFill>
                  <a:srgbClr val="5F5E5A"/>
                </a:solidFill>
                <a:latin typeface="Helvetica Neue"/>
              </a:rPr>
              <a:t>per relationship</a:t>
            </a:r>
          </a:p>
        </p:txBody>
      </p:sp>
      <p:sp>
        <p:nvSpPr>
          <p:cNvPr id="18" name="Rounded Rectangle 17"/>
          <p:cNvSpPr/>
          <p:nvPr/>
        </p:nvSpPr>
        <p:spPr>
          <a:xfrm>
            <a:off x="9305391" y="2990088"/>
            <a:ext cx="1627632" cy="91440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025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Governed execution</a:t>
            </a:r>
          </a:p>
        </p:txBody>
      </p:sp>
      <p:sp>
        <p:nvSpPr>
          <p:cNvPr id="20" name="TextBox 19"/>
          <p:cNvSpPr txBox="1"/>
          <p:nvPr/>
        </p:nvSpPr>
        <p:spPr>
          <a:xfrm>
            <a:off x="9360255" y="3557016"/>
            <a:ext cx="1517904" cy="256032"/>
          </a:xfrm>
          <a:prstGeom prst="rect">
            <a:avLst/>
          </a:prstGeom>
          <a:noFill/>
        </p:spPr>
        <p:txBody>
          <a:bodyPr wrap="square" lIns="0" rIns="0" tIns="0" bIns="0" anchor="t">
            <a:spAutoFit/>
          </a:bodyPr>
          <a:lstStyle/>
          <a:p>
            <a:pPr algn="ctr">
              <a:lnSpc>
                <a:spcPct val="125000"/>
              </a:lnSpc>
            </a:pPr>
            <a:r>
              <a:rPr sz="950" b="0" i="0">
                <a:solidFill>
                  <a:srgbClr val="5F5E5A"/>
                </a:solidFill>
                <a:latin typeface="Helvetica Neue"/>
              </a:rPr>
              <a:t>the machinery</a:t>
            </a:r>
          </a:p>
        </p:txBody>
      </p:sp>
      <p:cxnSp>
        <p:nvCxnSpPr>
          <p:cNvPr id="21" name="Connector 20"/>
          <p:cNvCxnSpPr/>
          <p:nvPr/>
        </p:nvCxnSpPr>
        <p:spPr>
          <a:xfrm>
            <a:off x="2913735.5" y="3447288.0"/>
            <a:ext cx="329184.0" cy="0.0"/>
          </a:xfrm>
          <a:prstGeom prst="line">
            <a:avLst/>
          </a:prstGeom>
          <a:ln w="15875">
            <a:solidFill>
              <a:srgbClr val="444441"/>
            </a:solidFill>
            <a:tailEnd type="triangle" w="med" h="med"/>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868680" y="5897880"/>
            <a:ext cx="118872" cy="118872"/>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9848" y="5897880"/>
            <a:ext cx="118872" cy="118872"/>
          </a:xfrm>
          <a:prstGeom prst="ellipse">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271016" y="5897880"/>
            <a:ext cx="118872" cy="118872"/>
          </a:xfrm>
          <a:prstGeom prst="ellipse">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472184" y="5897880"/>
            <a:ext cx="118872" cy="118872"/>
          </a:xfrm>
          <a:prstGeom prst="ellipse">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64792" y="5861304"/>
            <a:ext cx="9558223" cy="274320"/>
          </a:xfrm>
          <a:prstGeom prst="rect">
            <a:avLst/>
          </a:prstGeom>
          <a:noFill/>
        </p:spPr>
        <p:txBody>
          <a:bodyPr wrap="square" lIns="0" rIns="0" tIns="0" bIns="0" anchor="t">
            <a:spAutoFit/>
          </a:bodyPr>
          <a:lstStyle/>
          <a:p>
            <a:pPr algn="l">
              <a:lnSpc>
                <a:spcPct val="125000"/>
              </a:lnSpc>
            </a:pPr>
            <a:r>
              <a:rPr sz="1100" b="0" i="0">
                <a:solidFill>
                  <a:srgbClr val="5F5E5A"/>
                </a:solidFill>
                <a:latin typeface="Helvetica Neue Medium"/>
              </a:rPr>
              <a:t>Client and market signals feed the Client Agents and the Hive.</a:t>
            </a:r>
          </a:p>
        </p:txBody>
      </p:sp>
      <p:sp>
        <p:nvSpPr>
          <p:cNvPr id="27" name="TextBox 26"/>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27</a:t>
            </a:r>
            <a:r>
              <a:rPr sz="1000" b="0" i="0">
                <a:solidFill>
                  <a:srgbClr val="888780"/>
                </a:solidFill>
                <a:latin typeface="Helvetica Neue Medium"/>
              </a:rPr>
              <a:t>  /  32</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12   </a:t>
            </a:r>
            <a:r>
              <a:rPr sz="1100" b="0" i="0">
                <a:solidFill>
                  <a:srgbClr val="993C1D"/>
                </a:solidFill>
                <a:latin typeface="Helvetica Neue Medium"/>
              </a:rPr>
              <a:t>Why it compounds</a:t>
            </a:r>
          </a:p>
        </p:txBody>
      </p:sp>
      <p:sp>
        <p:nvSpPr>
          <p:cNvPr id="3" name="TextBox 2"/>
          <p:cNvSpPr txBox="1"/>
          <p:nvPr/>
        </p:nvSpPr>
        <p:spPr>
          <a:xfrm>
            <a:off x="868680" y="960120"/>
            <a:ext cx="10454335" cy="777240"/>
          </a:xfrm>
          <a:prstGeom prst="rect">
            <a:avLst/>
          </a:prstGeom>
          <a:noFill/>
        </p:spPr>
        <p:txBody>
          <a:bodyPr wrap="square" lIns="0" rIns="0" tIns="0" bIns="0" anchor="t">
            <a:spAutoFit/>
          </a:bodyPr>
          <a:lstStyle/>
          <a:p>
            <a:pPr algn="l">
              <a:lnSpc>
                <a:spcPct val="115000"/>
              </a:lnSpc>
            </a:pPr>
            <a:r>
              <a:rPr sz="3000" b="0" i="0">
                <a:solidFill>
                  <a:srgbClr val="2C2C2A"/>
                </a:solidFill>
                <a:latin typeface="Helvetica Neue Medium"/>
              </a:rPr>
              <a:t>The loop is the moat.</a:t>
            </a:r>
          </a:p>
        </p:txBody>
      </p:sp>
      <p:sp>
        <p:nvSpPr>
          <p:cNvPr id="4" name="TextBox 3"/>
          <p:cNvSpPr txBox="1"/>
          <p:nvPr/>
        </p:nvSpPr>
        <p:spPr>
          <a:xfrm>
            <a:off x="868680" y="1783080"/>
            <a:ext cx="10454335" cy="502920"/>
          </a:xfrm>
          <a:prstGeom prst="rect">
            <a:avLst/>
          </a:prstGeom>
          <a:noFill/>
        </p:spPr>
        <p:txBody>
          <a:bodyPr wrap="square" lIns="0" rIns="0" tIns="0" bIns="0" anchor="t">
            <a:spAutoFit/>
          </a:bodyPr>
          <a:lstStyle/>
          <a:p>
            <a:pPr algn="l">
              <a:lnSpc>
                <a:spcPct val="140000"/>
              </a:lnSpc>
            </a:pPr>
            <a:r>
              <a:rPr sz="1300" b="0" i="1">
                <a:solidFill>
                  <a:srgbClr val="5F5E5A"/>
                </a:solidFill>
                <a:latin typeface="Helvetica Neue"/>
              </a:rPr>
              <a:t>Not the chatbot, the model, or the screen — the system that connects context, expertise, judgment, execution, and outcomes.</a:t>
            </a:r>
          </a:p>
        </p:txBody>
      </p:sp>
      <p:sp>
        <p:nvSpPr>
          <p:cNvPr id="5" name="Rounded Rectangle 4"/>
          <p:cNvSpPr/>
          <p:nvPr/>
        </p:nvSpPr>
        <p:spPr>
          <a:xfrm>
            <a:off x="868680" y="2423160"/>
            <a:ext cx="10454335" cy="3246120"/>
          </a:xfrm>
          <a:prstGeom prst="roundRect">
            <a:avLst>
              <a:gd name="adj" fmla="val 4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258671" y="2990088"/>
            <a:ext cx="1627632" cy="91440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1353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Signals</a:t>
            </a:r>
          </a:p>
        </p:txBody>
      </p:sp>
      <p:sp>
        <p:nvSpPr>
          <p:cNvPr id="8" name="TextBox 7"/>
          <p:cNvSpPr txBox="1"/>
          <p:nvPr/>
        </p:nvSpPr>
        <p:spPr>
          <a:xfrm>
            <a:off x="1313535" y="3557016"/>
            <a:ext cx="1517904" cy="256032"/>
          </a:xfrm>
          <a:prstGeom prst="rect">
            <a:avLst/>
          </a:prstGeom>
          <a:noFill/>
        </p:spPr>
        <p:txBody>
          <a:bodyPr wrap="square" lIns="0" rIns="0" tIns="0" bIns="0" anchor="t">
            <a:spAutoFit/>
          </a:bodyPr>
          <a:lstStyle/>
          <a:p>
            <a:pPr algn="ctr">
              <a:lnSpc>
                <a:spcPct val="125000"/>
              </a:lnSpc>
            </a:pPr>
            <a:r>
              <a:rPr sz="950" b="0" i="0">
                <a:solidFill>
                  <a:srgbClr val="5F5E5A"/>
                </a:solidFill>
                <a:latin typeface="Helvetica Neue"/>
              </a:rPr>
              <a:t>clients · markets</a:t>
            </a:r>
          </a:p>
        </p:txBody>
      </p:sp>
      <p:sp>
        <p:nvSpPr>
          <p:cNvPr id="9" name="Rounded Rectangle 8"/>
          <p:cNvSpPr/>
          <p:nvPr/>
        </p:nvSpPr>
        <p:spPr>
          <a:xfrm>
            <a:off x="3270351" y="2990088"/>
            <a:ext cx="1627632" cy="914400"/>
          </a:xfrm>
          <a:prstGeom prst="roundRect">
            <a:avLst>
              <a:gd name="adj" fmla="val 10000"/>
            </a:avLst>
          </a:prstGeom>
          <a:solidFill>
            <a:srgbClr val="FAECE7"/>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2521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Client Agents + Hive</a:t>
            </a:r>
          </a:p>
        </p:txBody>
      </p:sp>
      <p:sp>
        <p:nvSpPr>
          <p:cNvPr id="11" name="TextBox 10"/>
          <p:cNvSpPr txBox="1"/>
          <p:nvPr/>
        </p:nvSpPr>
        <p:spPr>
          <a:xfrm>
            <a:off x="3325215" y="3557016"/>
            <a:ext cx="1517904" cy="256032"/>
          </a:xfrm>
          <a:prstGeom prst="rect">
            <a:avLst/>
          </a:prstGeom>
          <a:noFill/>
        </p:spPr>
        <p:txBody>
          <a:bodyPr wrap="square" lIns="0" rIns="0" tIns="0" bIns="0" anchor="t">
            <a:spAutoFit/>
          </a:bodyPr>
          <a:lstStyle/>
          <a:p>
            <a:pPr algn="ctr">
              <a:lnSpc>
                <a:spcPct val="125000"/>
              </a:lnSpc>
            </a:pPr>
            <a:r>
              <a:rPr sz="950" b="0" i="0">
                <a:solidFill>
                  <a:srgbClr val="993C1D"/>
                </a:solidFill>
                <a:latin typeface="Helvetica Neue"/>
              </a:rPr>
              <a:t>memory · patterns</a:t>
            </a:r>
          </a:p>
        </p:txBody>
      </p:sp>
      <p:sp>
        <p:nvSpPr>
          <p:cNvPr id="12" name="Rounded Rectangle 11"/>
          <p:cNvSpPr/>
          <p:nvPr/>
        </p:nvSpPr>
        <p:spPr>
          <a:xfrm>
            <a:off x="5282031" y="2990088"/>
            <a:ext cx="1627632" cy="91440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689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Judgment</a:t>
            </a:r>
          </a:p>
        </p:txBody>
      </p:sp>
      <p:sp>
        <p:nvSpPr>
          <p:cNvPr id="14" name="TextBox 13"/>
          <p:cNvSpPr txBox="1"/>
          <p:nvPr/>
        </p:nvSpPr>
        <p:spPr>
          <a:xfrm>
            <a:off x="5336895" y="3557016"/>
            <a:ext cx="1517904" cy="256032"/>
          </a:xfrm>
          <a:prstGeom prst="rect">
            <a:avLst/>
          </a:prstGeom>
          <a:noFill/>
        </p:spPr>
        <p:txBody>
          <a:bodyPr wrap="square" lIns="0" rIns="0" tIns="0" bIns="0" anchor="t">
            <a:spAutoFit/>
          </a:bodyPr>
          <a:lstStyle/>
          <a:p>
            <a:pPr algn="ctr">
              <a:lnSpc>
                <a:spcPct val="125000"/>
              </a:lnSpc>
            </a:pPr>
            <a:r>
              <a:rPr sz="950" b="0" i="0">
                <a:solidFill>
                  <a:srgbClr val="5F5E5A"/>
                </a:solidFill>
                <a:latin typeface="Helvetica Neue"/>
              </a:rPr>
              <a:t>specialists · advisors</a:t>
            </a:r>
          </a:p>
        </p:txBody>
      </p:sp>
      <p:sp>
        <p:nvSpPr>
          <p:cNvPr id="15" name="Rounded Rectangle 14"/>
          <p:cNvSpPr/>
          <p:nvPr/>
        </p:nvSpPr>
        <p:spPr>
          <a:xfrm>
            <a:off x="7293711" y="2990088"/>
            <a:ext cx="1627632" cy="91440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857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Matched &amp; prepared</a:t>
            </a:r>
          </a:p>
        </p:txBody>
      </p:sp>
      <p:sp>
        <p:nvSpPr>
          <p:cNvPr id="17" name="TextBox 16"/>
          <p:cNvSpPr txBox="1"/>
          <p:nvPr/>
        </p:nvSpPr>
        <p:spPr>
          <a:xfrm>
            <a:off x="7348575" y="3557016"/>
            <a:ext cx="1517904" cy="256032"/>
          </a:xfrm>
          <a:prstGeom prst="rect">
            <a:avLst/>
          </a:prstGeom>
          <a:noFill/>
        </p:spPr>
        <p:txBody>
          <a:bodyPr wrap="square" lIns="0" rIns="0" tIns="0" bIns="0" anchor="t">
            <a:spAutoFit/>
          </a:bodyPr>
          <a:lstStyle/>
          <a:p>
            <a:pPr algn="ctr">
              <a:lnSpc>
                <a:spcPct val="125000"/>
              </a:lnSpc>
            </a:pPr>
            <a:r>
              <a:rPr sz="950" b="0" i="0">
                <a:solidFill>
                  <a:srgbClr val="5F5E5A"/>
                </a:solidFill>
                <a:latin typeface="Helvetica Neue"/>
              </a:rPr>
              <a:t>per relationship</a:t>
            </a:r>
          </a:p>
        </p:txBody>
      </p:sp>
      <p:sp>
        <p:nvSpPr>
          <p:cNvPr id="18" name="Rounded Rectangle 17"/>
          <p:cNvSpPr/>
          <p:nvPr/>
        </p:nvSpPr>
        <p:spPr>
          <a:xfrm>
            <a:off x="9305391" y="2990088"/>
            <a:ext cx="1627632" cy="91440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025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Governed execution</a:t>
            </a:r>
          </a:p>
        </p:txBody>
      </p:sp>
      <p:sp>
        <p:nvSpPr>
          <p:cNvPr id="20" name="TextBox 19"/>
          <p:cNvSpPr txBox="1"/>
          <p:nvPr/>
        </p:nvSpPr>
        <p:spPr>
          <a:xfrm>
            <a:off x="9360255" y="3557016"/>
            <a:ext cx="1517904" cy="256032"/>
          </a:xfrm>
          <a:prstGeom prst="rect">
            <a:avLst/>
          </a:prstGeom>
          <a:noFill/>
        </p:spPr>
        <p:txBody>
          <a:bodyPr wrap="square" lIns="0" rIns="0" tIns="0" bIns="0" anchor="t">
            <a:spAutoFit/>
          </a:bodyPr>
          <a:lstStyle/>
          <a:p>
            <a:pPr algn="ctr">
              <a:lnSpc>
                <a:spcPct val="125000"/>
              </a:lnSpc>
            </a:pPr>
            <a:r>
              <a:rPr sz="950" b="0" i="0">
                <a:solidFill>
                  <a:srgbClr val="5F5E5A"/>
                </a:solidFill>
                <a:latin typeface="Helvetica Neue"/>
              </a:rPr>
              <a:t>the machinery</a:t>
            </a:r>
          </a:p>
        </p:txBody>
      </p:sp>
      <p:cxnSp>
        <p:nvCxnSpPr>
          <p:cNvPr id="21" name="Connector 20"/>
          <p:cNvCxnSpPr/>
          <p:nvPr/>
        </p:nvCxnSpPr>
        <p:spPr>
          <a:xfrm>
            <a:off x="2913735.5" y="3447288.0"/>
            <a:ext cx="329184.0" cy="0.0"/>
          </a:xfrm>
          <a:prstGeom prst="line">
            <a:avLst/>
          </a:prstGeom>
          <a:ln w="15875">
            <a:solidFill>
              <a:srgbClr val="444441"/>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925415.5" y="3447288.0"/>
            <a:ext cx="329184.0" cy="0.0"/>
          </a:xfrm>
          <a:prstGeom prst="line">
            <a:avLst/>
          </a:prstGeom>
          <a:ln w="15875">
            <a:solidFill>
              <a:srgbClr val="444441"/>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937095.5" y="3447288.0"/>
            <a:ext cx="329184.0" cy="0.0"/>
          </a:xfrm>
          <a:prstGeom prst="line">
            <a:avLst/>
          </a:prstGeom>
          <a:ln w="15875">
            <a:solidFill>
              <a:srgbClr val="444441"/>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948775.5" y="3447288.0"/>
            <a:ext cx="329184.0" cy="0.0"/>
          </a:xfrm>
          <a:prstGeom prst="line">
            <a:avLst/>
          </a:prstGeom>
          <a:ln w="15875">
            <a:solidFill>
              <a:srgbClr val="444441"/>
            </a:solidFill>
            <a:tailEnd type="triangle" w="med" h="med"/>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68680" y="5897880"/>
            <a:ext cx="118872" cy="118872"/>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9848" y="5897880"/>
            <a:ext cx="118872" cy="118872"/>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271016" y="5897880"/>
            <a:ext cx="118872" cy="118872"/>
          </a:xfrm>
          <a:prstGeom prst="ellipse">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472184" y="5897880"/>
            <a:ext cx="118872" cy="118872"/>
          </a:xfrm>
          <a:prstGeom prst="ellipse">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64792" y="5861304"/>
            <a:ext cx="9558223" cy="274320"/>
          </a:xfrm>
          <a:prstGeom prst="rect">
            <a:avLst/>
          </a:prstGeom>
          <a:noFill/>
        </p:spPr>
        <p:txBody>
          <a:bodyPr wrap="square" lIns="0" rIns="0" tIns="0" bIns="0" anchor="t">
            <a:spAutoFit/>
          </a:bodyPr>
          <a:lstStyle/>
          <a:p>
            <a:pPr algn="l">
              <a:lnSpc>
                <a:spcPct val="125000"/>
              </a:lnSpc>
            </a:pPr>
            <a:r>
              <a:rPr sz="1100" b="0" i="0">
                <a:solidFill>
                  <a:srgbClr val="5F5E5A"/>
                </a:solidFill>
                <a:latin typeface="Helvetica Neue Medium"/>
              </a:rPr>
              <a:t>Specialist and advisor judgment is matched, prepared, and executed under governance.</a:t>
            </a:r>
          </a:p>
        </p:txBody>
      </p:sp>
      <p:sp>
        <p:nvSpPr>
          <p:cNvPr id="30" name="TextBox 29"/>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28</a:t>
            </a:r>
            <a:r>
              <a:rPr sz="1000" b="0" i="0">
                <a:solidFill>
                  <a:srgbClr val="888780"/>
                </a:solidFill>
                <a:latin typeface="Helvetica Neue Medium"/>
              </a:rPr>
              <a:t>  /  32</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12   </a:t>
            </a:r>
            <a:r>
              <a:rPr sz="1100" b="0" i="0">
                <a:solidFill>
                  <a:srgbClr val="993C1D"/>
                </a:solidFill>
                <a:latin typeface="Helvetica Neue Medium"/>
              </a:rPr>
              <a:t>Why it compounds</a:t>
            </a:r>
          </a:p>
        </p:txBody>
      </p:sp>
      <p:sp>
        <p:nvSpPr>
          <p:cNvPr id="3" name="TextBox 2"/>
          <p:cNvSpPr txBox="1"/>
          <p:nvPr/>
        </p:nvSpPr>
        <p:spPr>
          <a:xfrm>
            <a:off x="868680" y="960120"/>
            <a:ext cx="10454335" cy="777240"/>
          </a:xfrm>
          <a:prstGeom prst="rect">
            <a:avLst/>
          </a:prstGeom>
          <a:noFill/>
        </p:spPr>
        <p:txBody>
          <a:bodyPr wrap="square" lIns="0" rIns="0" tIns="0" bIns="0" anchor="t">
            <a:spAutoFit/>
          </a:bodyPr>
          <a:lstStyle/>
          <a:p>
            <a:pPr algn="l">
              <a:lnSpc>
                <a:spcPct val="115000"/>
              </a:lnSpc>
            </a:pPr>
            <a:r>
              <a:rPr sz="3000" b="0" i="0">
                <a:solidFill>
                  <a:srgbClr val="2C2C2A"/>
                </a:solidFill>
                <a:latin typeface="Helvetica Neue Medium"/>
              </a:rPr>
              <a:t>The loop is the moat.</a:t>
            </a:r>
          </a:p>
        </p:txBody>
      </p:sp>
      <p:sp>
        <p:nvSpPr>
          <p:cNvPr id="4" name="TextBox 3"/>
          <p:cNvSpPr txBox="1"/>
          <p:nvPr/>
        </p:nvSpPr>
        <p:spPr>
          <a:xfrm>
            <a:off x="868680" y="1783080"/>
            <a:ext cx="10454335" cy="502920"/>
          </a:xfrm>
          <a:prstGeom prst="rect">
            <a:avLst/>
          </a:prstGeom>
          <a:noFill/>
        </p:spPr>
        <p:txBody>
          <a:bodyPr wrap="square" lIns="0" rIns="0" tIns="0" bIns="0" anchor="t">
            <a:spAutoFit/>
          </a:bodyPr>
          <a:lstStyle/>
          <a:p>
            <a:pPr algn="l">
              <a:lnSpc>
                <a:spcPct val="140000"/>
              </a:lnSpc>
            </a:pPr>
            <a:r>
              <a:rPr sz="1300" b="0" i="1">
                <a:solidFill>
                  <a:srgbClr val="5F5E5A"/>
                </a:solidFill>
                <a:latin typeface="Helvetica Neue"/>
              </a:rPr>
              <a:t>Not the chatbot, the model, or the screen — the system that connects context, expertise, judgment, execution, and outcomes.</a:t>
            </a:r>
          </a:p>
        </p:txBody>
      </p:sp>
      <p:sp>
        <p:nvSpPr>
          <p:cNvPr id="5" name="Rounded Rectangle 4"/>
          <p:cNvSpPr/>
          <p:nvPr/>
        </p:nvSpPr>
        <p:spPr>
          <a:xfrm>
            <a:off x="868680" y="2423160"/>
            <a:ext cx="10454335" cy="3246120"/>
          </a:xfrm>
          <a:prstGeom prst="roundRect">
            <a:avLst>
              <a:gd name="adj" fmla="val 4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258671" y="2990088"/>
            <a:ext cx="1627632" cy="91440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1353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Signals</a:t>
            </a:r>
          </a:p>
        </p:txBody>
      </p:sp>
      <p:sp>
        <p:nvSpPr>
          <p:cNvPr id="8" name="TextBox 7"/>
          <p:cNvSpPr txBox="1"/>
          <p:nvPr/>
        </p:nvSpPr>
        <p:spPr>
          <a:xfrm>
            <a:off x="1313535" y="3557016"/>
            <a:ext cx="1517904" cy="256032"/>
          </a:xfrm>
          <a:prstGeom prst="rect">
            <a:avLst/>
          </a:prstGeom>
          <a:noFill/>
        </p:spPr>
        <p:txBody>
          <a:bodyPr wrap="square" lIns="0" rIns="0" tIns="0" bIns="0" anchor="t">
            <a:spAutoFit/>
          </a:bodyPr>
          <a:lstStyle/>
          <a:p>
            <a:pPr algn="ctr">
              <a:lnSpc>
                <a:spcPct val="125000"/>
              </a:lnSpc>
            </a:pPr>
            <a:r>
              <a:rPr sz="950" b="0" i="0">
                <a:solidFill>
                  <a:srgbClr val="5F5E5A"/>
                </a:solidFill>
                <a:latin typeface="Helvetica Neue"/>
              </a:rPr>
              <a:t>clients · markets</a:t>
            </a:r>
          </a:p>
        </p:txBody>
      </p:sp>
      <p:sp>
        <p:nvSpPr>
          <p:cNvPr id="9" name="Rounded Rectangle 8"/>
          <p:cNvSpPr/>
          <p:nvPr/>
        </p:nvSpPr>
        <p:spPr>
          <a:xfrm>
            <a:off x="3270351" y="2990088"/>
            <a:ext cx="1627632" cy="914400"/>
          </a:xfrm>
          <a:prstGeom prst="roundRect">
            <a:avLst>
              <a:gd name="adj" fmla="val 10000"/>
            </a:avLst>
          </a:prstGeom>
          <a:solidFill>
            <a:srgbClr val="FAECE7"/>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2521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Client Agents + Hive</a:t>
            </a:r>
          </a:p>
        </p:txBody>
      </p:sp>
      <p:sp>
        <p:nvSpPr>
          <p:cNvPr id="11" name="TextBox 10"/>
          <p:cNvSpPr txBox="1"/>
          <p:nvPr/>
        </p:nvSpPr>
        <p:spPr>
          <a:xfrm>
            <a:off x="3325215" y="3557016"/>
            <a:ext cx="1517904" cy="256032"/>
          </a:xfrm>
          <a:prstGeom prst="rect">
            <a:avLst/>
          </a:prstGeom>
          <a:noFill/>
        </p:spPr>
        <p:txBody>
          <a:bodyPr wrap="square" lIns="0" rIns="0" tIns="0" bIns="0" anchor="t">
            <a:spAutoFit/>
          </a:bodyPr>
          <a:lstStyle/>
          <a:p>
            <a:pPr algn="ctr">
              <a:lnSpc>
                <a:spcPct val="125000"/>
              </a:lnSpc>
            </a:pPr>
            <a:r>
              <a:rPr sz="950" b="0" i="0">
                <a:solidFill>
                  <a:srgbClr val="993C1D"/>
                </a:solidFill>
                <a:latin typeface="Helvetica Neue"/>
              </a:rPr>
              <a:t>memory · patterns</a:t>
            </a:r>
          </a:p>
        </p:txBody>
      </p:sp>
      <p:sp>
        <p:nvSpPr>
          <p:cNvPr id="12" name="Rounded Rectangle 11"/>
          <p:cNvSpPr/>
          <p:nvPr/>
        </p:nvSpPr>
        <p:spPr>
          <a:xfrm>
            <a:off x="5282031" y="2990088"/>
            <a:ext cx="1627632" cy="91440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689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Judgment</a:t>
            </a:r>
          </a:p>
        </p:txBody>
      </p:sp>
      <p:sp>
        <p:nvSpPr>
          <p:cNvPr id="14" name="TextBox 13"/>
          <p:cNvSpPr txBox="1"/>
          <p:nvPr/>
        </p:nvSpPr>
        <p:spPr>
          <a:xfrm>
            <a:off x="5336895" y="3557016"/>
            <a:ext cx="1517904" cy="256032"/>
          </a:xfrm>
          <a:prstGeom prst="rect">
            <a:avLst/>
          </a:prstGeom>
          <a:noFill/>
        </p:spPr>
        <p:txBody>
          <a:bodyPr wrap="square" lIns="0" rIns="0" tIns="0" bIns="0" anchor="t">
            <a:spAutoFit/>
          </a:bodyPr>
          <a:lstStyle/>
          <a:p>
            <a:pPr algn="ctr">
              <a:lnSpc>
                <a:spcPct val="125000"/>
              </a:lnSpc>
            </a:pPr>
            <a:r>
              <a:rPr sz="950" b="0" i="0">
                <a:solidFill>
                  <a:srgbClr val="5F5E5A"/>
                </a:solidFill>
                <a:latin typeface="Helvetica Neue"/>
              </a:rPr>
              <a:t>specialists · advisors</a:t>
            </a:r>
          </a:p>
        </p:txBody>
      </p:sp>
      <p:sp>
        <p:nvSpPr>
          <p:cNvPr id="15" name="Rounded Rectangle 14"/>
          <p:cNvSpPr/>
          <p:nvPr/>
        </p:nvSpPr>
        <p:spPr>
          <a:xfrm>
            <a:off x="7293711" y="2990088"/>
            <a:ext cx="1627632" cy="91440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857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Matched &amp; prepared</a:t>
            </a:r>
          </a:p>
        </p:txBody>
      </p:sp>
      <p:sp>
        <p:nvSpPr>
          <p:cNvPr id="17" name="TextBox 16"/>
          <p:cNvSpPr txBox="1"/>
          <p:nvPr/>
        </p:nvSpPr>
        <p:spPr>
          <a:xfrm>
            <a:off x="7348575" y="3557016"/>
            <a:ext cx="1517904" cy="256032"/>
          </a:xfrm>
          <a:prstGeom prst="rect">
            <a:avLst/>
          </a:prstGeom>
          <a:noFill/>
        </p:spPr>
        <p:txBody>
          <a:bodyPr wrap="square" lIns="0" rIns="0" tIns="0" bIns="0" anchor="t">
            <a:spAutoFit/>
          </a:bodyPr>
          <a:lstStyle/>
          <a:p>
            <a:pPr algn="ctr">
              <a:lnSpc>
                <a:spcPct val="125000"/>
              </a:lnSpc>
            </a:pPr>
            <a:r>
              <a:rPr sz="950" b="0" i="0">
                <a:solidFill>
                  <a:srgbClr val="5F5E5A"/>
                </a:solidFill>
                <a:latin typeface="Helvetica Neue"/>
              </a:rPr>
              <a:t>per relationship</a:t>
            </a:r>
          </a:p>
        </p:txBody>
      </p:sp>
      <p:sp>
        <p:nvSpPr>
          <p:cNvPr id="18" name="Rounded Rectangle 17"/>
          <p:cNvSpPr/>
          <p:nvPr/>
        </p:nvSpPr>
        <p:spPr>
          <a:xfrm>
            <a:off x="9305391" y="2990088"/>
            <a:ext cx="1627632" cy="914400"/>
          </a:xfrm>
          <a:prstGeom prst="roundRect">
            <a:avLst>
              <a:gd name="adj" fmla="val 10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0255" y="3172968"/>
            <a:ext cx="1517904" cy="384048"/>
          </a:xfrm>
          <a:prstGeom prst="rect">
            <a:avLst/>
          </a:prstGeom>
          <a:noFill/>
        </p:spPr>
        <p:txBody>
          <a:bodyPr wrap="square" lIns="0" rIns="0" tIns="0" bIns="0" anchor="t">
            <a:spAutoFit/>
          </a:bodyPr>
          <a:lstStyle/>
          <a:p>
            <a:pPr algn="ctr">
              <a:lnSpc>
                <a:spcPct val="110000"/>
              </a:lnSpc>
            </a:pPr>
            <a:r>
              <a:rPr sz="1250" b="0" i="0">
                <a:solidFill>
                  <a:srgbClr val="2C2C2A"/>
                </a:solidFill>
                <a:latin typeface="Helvetica Neue Medium"/>
              </a:rPr>
              <a:t>Governed execution</a:t>
            </a:r>
          </a:p>
        </p:txBody>
      </p:sp>
      <p:sp>
        <p:nvSpPr>
          <p:cNvPr id="20" name="TextBox 19"/>
          <p:cNvSpPr txBox="1"/>
          <p:nvPr/>
        </p:nvSpPr>
        <p:spPr>
          <a:xfrm>
            <a:off x="9360255" y="3557016"/>
            <a:ext cx="1517904" cy="256032"/>
          </a:xfrm>
          <a:prstGeom prst="rect">
            <a:avLst/>
          </a:prstGeom>
          <a:noFill/>
        </p:spPr>
        <p:txBody>
          <a:bodyPr wrap="square" lIns="0" rIns="0" tIns="0" bIns="0" anchor="t">
            <a:spAutoFit/>
          </a:bodyPr>
          <a:lstStyle/>
          <a:p>
            <a:pPr algn="ctr">
              <a:lnSpc>
                <a:spcPct val="125000"/>
              </a:lnSpc>
            </a:pPr>
            <a:r>
              <a:rPr sz="950" b="0" i="0">
                <a:solidFill>
                  <a:srgbClr val="5F5E5A"/>
                </a:solidFill>
                <a:latin typeface="Helvetica Neue"/>
              </a:rPr>
              <a:t>the machinery</a:t>
            </a:r>
          </a:p>
        </p:txBody>
      </p:sp>
      <p:cxnSp>
        <p:nvCxnSpPr>
          <p:cNvPr id="21" name="Connector 20"/>
          <p:cNvCxnSpPr/>
          <p:nvPr/>
        </p:nvCxnSpPr>
        <p:spPr>
          <a:xfrm>
            <a:off x="2913735.5" y="3447288.0"/>
            <a:ext cx="329184.0" cy="0.0"/>
          </a:xfrm>
          <a:prstGeom prst="line">
            <a:avLst/>
          </a:prstGeom>
          <a:ln w="15875">
            <a:solidFill>
              <a:srgbClr val="444441"/>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925415.5" y="3447288.0"/>
            <a:ext cx="329184.0" cy="0.0"/>
          </a:xfrm>
          <a:prstGeom prst="line">
            <a:avLst/>
          </a:prstGeom>
          <a:ln w="15875">
            <a:solidFill>
              <a:srgbClr val="444441"/>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937095.5" y="3447288.0"/>
            <a:ext cx="329184.0" cy="0.0"/>
          </a:xfrm>
          <a:prstGeom prst="line">
            <a:avLst/>
          </a:prstGeom>
          <a:ln w="15875">
            <a:solidFill>
              <a:srgbClr val="444441"/>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948775.5" y="3447288.0"/>
            <a:ext cx="329184.0" cy="0.0"/>
          </a:xfrm>
          <a:prstGeom prst="line">
            <a:avLst/>
          </a:prstGeom>
          <a:ln w="15875">
            <a:solidFill>
              <a:srgbClr val="444441"/>
            </a:solidFill>
            <a:tailEnd type="triangle" w="med" h="med"/>
          </a:ln>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4084167" y="3931920"/>
            <a:ext cx="6035040" cy="539496"/>
          </a:xfrm>
          <a:custGeom>
            <a:avLst/>
            <a:gdLst/>
            <a:ahLst/>
            <a:cxnLst/>
            <a:rect l="l" t="t" r="r" b="b"/>
            <a:pathLst>
              <a:path w="6035040" h="539496">
                <a:moveTo>
                  <a:pt x="6035040" y="0"/>
                </a:moveTo>
                <a:lnTo>
                  <a:pt x="6035040" y="539496"/>
                </a:lnTo>
                <a:lnTo>
                  <a:pt x="0" y="539496"/>
                </a:lnTo>
              </a:path>
            </a:pathLst>
          </a:custGeom>
          <a:noFill/>
          <a:ln w="22225">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flipV="1">
            <a:off x="4084167.5" y="3959352"/>
            <a:ext cx="0.0" cy="512064"/>
          </a:xfrm>
          <a:prstGeom prst="line">
            <a:avLst/>
          </a:prstGeom>
          <a:ln w="22225">
            <a:solidFill>
              <a:srgbClr val="D85A30"/>
            </a:solidFill>
            <a:tailEnd type="triangle" w="med" h="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272887" y="4142232"/>
            <a:ext cx="3657600" cy="274320"/>
          </a:xfrm>
          <a:prstGeom prst="rect">
            <a:avLst/>
          </a:prstGeom>
          <a:noFill/>
        </p:spPr>
        <p:txBody>
          <a:bodyPr wrap="square" lIns="0" rIns="0" tIns="0" bIns="0" anchor="t">
            <a:spAutoFit/>
          </a:bodyPr>
          <a:lstStyle/>
          <a:p>
            <a:pPr algn="ctr">
              <a:lnSpc>
                <a:spcPct val="125000"/>
              </a:lnSpc>
            </a:pPr>
            <a:r>
              <a:rPr sz="1200" b="0" i="0">
                <a:solidFill>
                  <a:srgbClr val="993C1D"/>
                </a:solidFill>
                <a:latin typeface="Helvetica Neue Medium"/>
              </a:rPr>
              <a:t>Outcomes return</a:t>
            </a:r>
          </a:p>
        </p:txBody>
      </p:sp>
      <p:sp>
        <p:nvSpPr>
          <p:cNvPr id="28" name="TextBox 27"/>
          <p:cNvSpPr txBox="1"/>
          <p:nvPr/>
        </p:nvSpPr>
        <p:spPr>
          <a:xfrm>
            <a:off x="3992727" y="4562856"/>
            <a:ext cx="6217920" cy="256032"/>
          </a:xfrm>
          <a:prstGeom prst="rect">
            <a:avLst/>
          </a:prstGeom>
          <a:noFill/>
        </p:spPr>
        <p:txBody>
          <a:bodyPr wrap="square" lIns="0" rIns="0" tIns="0" bIns="0" anchor="t">
            <a:spAutoFit/>
          </a:bodyPr>
          <a:lstStyle/>
          <a:p>
            <a:pPr algn="ctr">
              <a:lnSpc>
                <a:spcPct val="125000"/>
              </a:lnSpc>
            </a:pPr>
            <a:r>
              <a:rPr sz="1000" b="0" i="0">
                <a:solidFill>
                  <a:srgbClr val="5F5E5A"/>
                </a:solidFill>
                <a:latin typeface="Helvetica Neue"/>
              </a:rPr>
              <a:t>better memory · better recommendations · better skills · better coaching</a:t>
            </a:r>
          </a:p>
        </p:txBody>
      </p:sp>
      <p:sp>
        <p:nvSpPr>
          <p:cNvPr id="29" name="TextBox 28"/>
          <p:cNvSpPr txBox="1"/>
          <p:nvPr/>
        </p:nvSpPr>
        <p:spPr>
          <a:xfrm>
            <a:off x="3809847" y="4873752"/>
            <a:ext cx="6583680" cy="274320"/>
          </a:xfrm>
          <a:prstGeom prst="rect">
            <a:avLst/>
          </a:prstGeom>
          <a:noFill/>
        </p:spPr>
        <p:txBody>
          <a:bodyPr wrap="square" lIns="0" rIns="0" tIns="0" bIns="0" anchor="t">
            <a:spAutoFit/>
          </a:bodyPr>
          <a:lstStyle/>
          <a:p>
            <a:pPr algn="ctr">
              <a:lnSpc>
                <a:spcPct val="125000"/>
              </a:lnSpc>
            </a:pPr>
            <a:r>
              <a:rPr sz="1050" b="0" i="1">
                <a:solidFill>
                  <a:srgbClr val="444441"/>
                </a:solidFill>
                <a:latin typeface="Helvetica Neue"/>
              </a:rPr>
              <a:t>Every pass makes the next one smarter. That system — not any model — is the advantage.</a:t>
            </a:r>
          </a:p>
        </p:txBody>
      </p:sp>
      <p:sp>
        <p:nvSpPr>
          <p:cNvPr id="30" name="Oval 29"/>
          <p:cNvSpPr/>
          <p:nvPr/>
        </p:nvSpPr>
        <p:spPr>
          <a:xfrm>
            <a:off x="868680" y="5897880"/>
            <a:ext cx="118872" cy="118872"/>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69848" y="5897880"/>
            <a:ext cx="118872" cy="118872"/>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271016" y="5897880"/>
            <a:ext cx="118872" cy="118872"/>
          </a:xfrm>
          <a:prstGeom prst="ellipse">
            <a:avLst/>
          </a:prstGeom>
          <a:solidFill>
            <a:srgbClr val="D85A30"/>
          </a:solidFill>
          <a:ln w="6350">
            <a:solidFill>
              <a:srgbClr val="D85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472184" y="5897880"/>
            <a:ext cx="118872" cy="118872"/>
          </a:xfrm>
          <a:prstGeom prst="ellipse">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764792" y="5861304"/>
            <a:ext cx="9558223" cy="274320"/>
          </a:xfrm>
          <a:prstGeom prst="rect">
            <a:avLst/>
          </a:prstGeom>
          <a:noFill/>
        </p:spPr>
        <p:txBody>
          <a:bodyPr wrap="square" lIns="0" rIns="0" tIns="0" bIns="0" anchor="t">
            <a:spAutoFit/>
          </a:bodyPr>
          <a:lstStyle/>
          <a:p>
            <a:pPr algn="l">
              <a:lnSpc>
                <a:spcPct val="125000"/>
              </a:lnSpc>
            </a:pPr>
            <a:r>
              <a:rPr sz="1100" b="0" i="0">
                <a:solidFill>
                  <a:srgbClr val="5F5E5A"/>
                </a:solidFill>
                <a:latin typeface="Helvetica Neue Medium"/>
              </a:rPr>
              <a:t>Outcomes return — better memory, skills, and coaching. Every pass compounds.</a:t>
            </a:r>
          </a:p>
        </p:txBody>
      </p:sp>
      <p:sp>
        <p:nvSpPr>
          <p:cNvPr id="35" name="TextBox 34"/>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29</a:t>
            </a:r>
            <a:r>
              <a:rPr sz="1000" b="0" i="0">
                <a:solidFill>
                  <a:srgbClr val="888780"/>
                </a:solidFill>
                <a:latin typeface="Helvetica Neue Medium"/>
              </a:rPr>
              <a:t>  /  32</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13   </a:t>
            </a:r>
            <a:r>
              <a:rPr sz="1100" b="0" i="0">
                <a:solidFill>
                  <a:srgbClr val="993C1D"/>
                </a:solidFill>
                <a:latin typeface="Helvetica Neue Medium"/>
              </a:rPr>
              <a:t>How we will know</a:t>
            </a:r>
          </a:p>
        </p:txBody>
      </p:sp>
      <p:sp>
        <p:nvSpPr>
          <p:cNvPr id="3" name="TextBox 2"/>
          <p:cNvSpPr txBox="1"/>
          <p:nvPr/>
        </p:nvSpPr>
        <p:spPr>
          <a:xfrm>
            <a:off x="868680" y="960120"/>
            <a:ext cx="10454335" cy="1097280"/>
          </a:xfrm>
          <a:prstGeom prst="rect">
            <a:avLst/>
          </a:prstGeom>
          <a:noFill/>
        </p:spPr>
        <p:txBody>
          <a:bodyPr wrap="square" lIns="0" rIns="0" tIns="0" bIns="0" anchor="t">
            <a:spAutoFit/>
          </a:bodyPr>
          <a:lstStyle/>
          <a:p>
            <a:pPr algn="l">
              <a:lnSpc>
                <a:spcPct val="110000"/>
              </a:lnSpc>
            </a:pPr>
            <a:r>
              <a:rPr sz="3400" b="0" i="0">
                <a:solidFill>
                  <a:srgbClr val="2C2C2A"/>
                </a:solidFill>
                <a:latin typeface="Helvetica Neue Medium"/>
              </a:rPr>
              <a:t>Measured by outcomes, not activity.</a:t>
            </a:r>
          </a:p>
        </p:txBody>
      </p:sp>
      <p:sp>
        <p:nvSpPr>
          <p:cNvPr id="4" name="Rounded Rectangle 3"/>
          <p:cNvSpPr/>
          <p:nvPr/>
        </p:nvSpPr>
        <p:spPr>
          <a:xfrm>
            <a:off x="868680" y="2331720"/>
            <a:ext cx="5135727" cy="2926080"/>
          </a:xfrm>
          <a:prstGeom prst="roundRect">
            <a:avLst>
              <a:gd name="adj" fmla="val 5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 y="2587752"/>
            <a:ext cx="4623663" cy="274320"/>
          </a:xfrm>
          <a:prstGeom prst="rect">
            <a:avLst/>
          </a:prstGeom>
          <a:noFill/>
        </p:spPr>
        <p:txBody>
          <a:bodyPr wrap="square" lIns="0" rIns="0" tIns="0" bIns="0" anchor="t">
            <a:spAutoFit/>
          </a:bodyPr>
          <a:lstStyle/>
          <a:p>
            <a:pPr algn="l">
              <a:lnSpc>
                <a:spcPct val="125000"/>
              </a:lnSpc>
            </a:pPr>
            <a:r>
              <a:rPr sz="1100" b="0" i="0">
                <a:solidFill>
                  <a:srgbClr val="5F5E5A"/>
                </a:solidFill>
                <a:latin typeface="Helvetica Neue Medium"/>
              </a:rPr>
              <a:t>Not this</a:t>
            </a:r>
          </a:p>
        </p:txBody>
      </p:sp>
      <p:sp>
        <p:nvSpPr>
          <p:cNvPr id="6" name="TextBox 5"/>
          <p:cNvSpPr txBox="1"/>
          <p:nvPr/>
        </p:nvSpPr>
        <p:spPr>
          <a:xfrm>
            <a:off x="1124712" y="3063240"/>
            <a:ext cx="4623663" cy="2057400"/>
          </a:xfrm>
          <a:prstGeom prst="rect">
            <a:avLst/>
          </a:prstGeom>
          <a:noFill/>
        </p:spPr>
        <p:txBody>
          <a:bodyPr wrap="square" lIns="0" rIns="0" tIns="0" bIns="0" anchor="t">
            <a:spAutoFit/>
          </a:bodyPr>
          <a:lstStyle/>
          <a:p>
            <a:pPr algn="l">
              <a:lnSpc>
                <a:spcPct val="140000"/>
              </a:lnSpc>
            </a:pPr>
            <a:r>
              <a:rPr sz="1300" b="0" i="0">
                <a:solidFill>
                  <a:srgbClr val="2C2C2A"/>
                </a:solidFill>
                <a:latin typeface="Helvetica Neue"/>
              </a:rPr>
              <a:t>Prompts and logins.</a:t>
            </a:r>
          </a:p>
          <a:p>
            <a:pPr algn="l">
              <a:lnSpc>
                <a:spcPct val="140000"/>
              </a:lnSpc>
              <a:spcBef>
                <a:spcPts val="800"/>
              </a:spcBef>
            </a:pPr>
            <a:r>
              <a:rPr sz="1300" b="0" i="0">
                <a:solidFill>
                  <a:srgbClr val="2C2C2A"/>
                </a:solidFill>
                <a:latin typeface="Helvetica Neue"/>
              </a:rPr>
              <a:t>Agents created, demos shipped.</a:t>
            </a:r>
          </a:p>
          <a:p>
            <a:pPr algn="l">
              <a:lnSpc>
                <a:spcPct val="140000"/>
              </a:lnSpc>
              <a:spcBef>
                <a:spcPts val="800"/>
              </a:spcBef>
            </a:pPr>
            <a:r>
              <a:rPr sz="1300" b="0" i="0">
                <a:solidFill>
                  <a:srgbClr val="2C2C2A"/>
                </a:solidFill>
                <a:latin typeface="Helvetica Neue"/>
              </a:rPr>
              <a:t>Activity dashboards.</a:t>
            </a:r>
          </a:p>
        </p:txBody>
      </p:sp>
      <p:sp>
        <p:nvSpPr>
          <p:cNvPr id="7" name="Rounded Rectangle 6"/>
          <p:cNvSpPr/>
          <p:nvPr/>
        </p:nvSpPr>
        <p:spPr>
          <a:xfrm>
            <a:off x="6187287" y="2331720"/>
            <a:ext cx="5135727" cy="2926080"/>
          </a:xfrm>
          <a:prstGeom prst="roundRect">
            <a:avLst>
              <a:gd name="adj" fmla="val 5000"/>
            </a:avLst>
          </a:prstGeom>
          <a:solidFill>
            <a:srgbClr val="FFFFFF"/>
          </a:solidFill>
          <a:ln w="6350">
            <a:solidFill>
              <a:srgbClr val="F099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3319" y="2587752"/>
            <a:ext cx="4623663" cy="274320"/>
          </a:xfrm>
          <a:prstGeom prst="rect">
            <a:avLst/>
          </a:prstGeom>
          <a:noFill/>
        </p:spPr>
        <p:txBody>
          <a:bodyPr wrap="square" lIns="0" rIns="0" tIns="0" bIns="0" anchor="t">
            <a:spAutoFit/>
          </a:bodyPr>
          <a:lstStyle/>
          <a:p>
            <a:pPr algn="l">
              <a:lnSpc>
                <a:spcPct val="125000"/>
              </a:lnSpc>
            </a:pPr>
            <a:r>
              <a:rPr sz="1100" b="0" i="0">
                <a:solidFill>
                  <a:srgbClr val="993C1D"/>
                </a:solidFill>
                <a:latin typeface="Helvetica Neue Medium"/>
              </a:rPr>
              <a:t>This</a:t>
            </a:r>
          </a:p>
        </p:txBody>
      </p:sp>
      <p:sp>
        <p:nvSpPr>
          <p:cNvPr id="9" name="TextBox 8"/>
          <p:cNvSpPr txBox="1"/>
          <p:nvPr/>
        </p:nvSpPr>
        <p:spPr>
          <a:xfrm>
            <a:off x="6443319" y="3063240"/>
            <a:ext cx="4623663" cy="2057400"/>
          </a:xfrm>
          <a:prstGeom prst="rect">
            <a:avLst/>
          </a:prstGeom>
          <a:noFill/>
        </p:spPr>
        <p:txBody>
          <a:bodyPr wrap="square" lIns="0" rIns="0" tIns="0" bIns="0" anchor="t">
            <a:spAutoFit/>
          </a:bodyPr>
          <a:lstStyle/>
          <a:p>
            <a:pPr algn="l">
              <a:lnSpc>
                <a:spcPct val="140000"/>
              </a:lnSpc>
            </a:pPr>
            <a:r>
              <a:rPr sz="1300" b="0" i="0">
                <a:solidFill>
                  <a:srgbClr val="2C2C2A"/>
                </a:solidFill>
                <a:latin typeface="Helvetica Neue"/>
              </a:rPr>
              <a:t>Needs identified earlier. Advice more relevant. Commitments never missed.</a:t>
            </a:r>
          </a:p>
          <a:p>
            <a:pPr algn="l">
              <a:lnSpc>
                <a:spcPct val="140000"/>
              </a:lnSpc>
              <a:spcBef>
                <a:spcPts val="800"/>
              </a:spcBef>
            </a:pPr>
            <a:r>
              <a:rPr sz="1300" b="0" i="0">
                <a:solidFill>
                  <a:srgbClr val="2C2C2A"/>
                </a:solidFill>
                <a:latin typeface="Helvetica Neue"/>
              </a:rPr>
              <a:t>Requests completed faster. More hours with clients. Ideas reaching every fitting relationship.</a:t>
            </a:r>
          </a:p>
          <a:p>
            <a:pPr algn="l">
              <a:lnSpc>
                <a:spcPct val="140000"/>
              </a:lnSpc>
              <a:spcBef>
                <a:spcPts val="800"/>
              </a:spcBef>
            </a:pPr>
            <a:r>
              <a:rPr sz="1300" b="0" i="0">
                <a:solidFill>
                  <a:srgbClr val="2C2C2A"/>
                </a:solidFill>
                <a:latin typeface="Helvetica Neue"/>
              </a:rPr>
              <a:t>Analysts client-ready sooner. Safe autonomy rising while controls strengthen.</a:t>
            </a:r>
          </a:p>
        </p:txBody>
      </p:sp>
      <p:sp>
        <p:nvSpPr>
          <p:cNvPr id="10" name="Rounded Rectangle 9"/>
          <p:cNvSpPr/>
          <p:nvPr/>
        </p:nvSpPr>
        <p:spPr>
          <a:xfrm>
            <a:off x="868680" y="5715000"/>
            <a:ext cx="10454335" cy="777240"/>
          </a:xfrm>
          <a:prstGeom prst="roundRect">
            <a:avLst>
              <a:gd name="adj" fmla="val 18000"/>
            </a:avLst>
          </a:prstGeom>
          <a:solidFill>
            <a:srgbClr val="FAF8F1"/>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164592" bIns="164592" wrap="square"/>
          <a:lstStyle/>
          <a:p>
            <a:pPr algn="l"/>
            <a:r>
              <a:rPr sz="1800" b="0">
                <a:solidFill>
                  <a:srgbClr val="2C2C2A"/>
                </a:solidFill>
                <a:latin typeface="Helvetica Neue Medium"/>
              </a:rPr>
              <a:t>The objective is not to remove people from private banking. It is to remove the work that prevents them from practicing it at its best.</a:t>
            </a:r>
          </a:p>
        </p:txBody>
      </p:sp>
      <p:sp>
        <p:nvSpPr>
          <p:cNvPr id="11" name="TextBox 10"/>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30</a:t>
            </a:r>
            <a:r>
              <a:rPr sz="1000" b="0" i="0">
                <a:solidFill>
                  <a:srgbClr val="888780"/>
                </a:solidFill>
                <a:latin typeface="Helvetica Neue Medium"/>
              </a:rPr>
              <a:t>  /  32</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14   </a:t>
            </a:r>
            <a:r>
              <a:rPr sz="1100" b="0" i="0">
                <a:solidFill>
                  <a:srgbClr val="993C1D"/>
                </a:solidFill>
                <a:latin typeface="Helvetica Neue Medium"/>
              </a:rPr>
              <a:t>The end state</a:t>
            </a:r>
          </a:p>
        </p:txBody>
      </p:sp>
      <p:sp>
        <p:nvSpPr>
          <p:cNvPr id="3" name="TextBox 2"/>
          <p:cNvSpPr txBox="1"/>
          <p:nvPr/>
        </p:nvSpPr>
        <p:spPr>
          <a:xfrm>
            <a:off x="868680" y="960120"/>
            <a:ext cx="10454335" cy="914400"/>
          </a:xfrm>
          <a:prstGeom prst="rect">
            <a:avLst/>
          </a:prstGeom>
          <a:noFill/>
        </p:spPr>
        <p:txBody>
          <a:bodyPr wrap="square" lIns="0" rIns="0" tIns="0" bIns="0" anchor="t">
            <a:spAutoFit/>
          </a:bodyPr>
          <a:lstStyle/>
          <a:p>
            <a:pPr algn="l">
              <a:lnSpc>
                <a:spcPct val="115000"/>
              </a:lnSpc>
            </a:pPr>
            <a:r>
              <a:rPr sz="2600" b="0" i="0">
                <a:solidFill>
                  <a:srgbClr val="2C2C2A"/>
                </a:solidFill>
                <a:latin typeface="Helvetica Neue Medium"/>
              </a:rPr>
              <a:t>Not a private bank filled with chatbots.</a:t>
            </a:r>
          </a:p>
        </p:txBody>
      </p:sp>
      <p:sp>
        <p:nvSpPr>
          <p:cNvPr id="4" name="Rounded Rectangle 3"/>
          <p:cNvSpPr/>
          <p:nvPr/>
        </p:nvSpPr>
        <p:spPr>
          <a:xfrm>
            <a:off x="868680" y="2194560"/>
            <a:ext cx="2503855" cy="173736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lnSpc>
                <a:spcPct val="115000"/>
              </a:lnSpc>
            </a:pPr>
            <a:r>
              <a:rPr sz="2000" b="0">
                <a:solidFill>
                  <a:srgbClr val="2C2C2A"/>
                </a:solidFill>
                <a:latin typeface="Helvetica Neue Medium"/>
              </a:rPr>
              <a:t>Remembers</a:t>
            </a:r>
          </a:p>
        </p:txBody>
      </p:sp>
      <p:sp>
        <p:nvSpPr>
          <p:cNvPr id="5" name="Rounded Rectangle 4"/>
          <p:cNvSpPr/>
          <p:nvPr/>
        </p:nvSpPr>
        <p:spPr>
          <a:xfrm>
            <a:off x="3518839" y="2194560"/>
            <a:ext cx="2503855" cy="173736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lnSpc>
                <a:spcPct val="115000"/>
              </a:lnSpc>
            </a:pPr>
            <a:r>
              <a:rPr sz="2000" b="0">
                <a:solidFill>
                  <a:srgbClr val="2C2C2A"/>
                </a:solidFill>
                <a:latin typeface="Helvetica Neue Medium"/>
              </a:rPr>
              <a:t>Anticipates</a:t>
            </a:r>
          </a:p>
        </p:txBody>
      </p:sp>
      <p:sp>
        <p:nvSpPr>
          <p:cNvPr id="6" name="Rounded Rectangle 5"/>
          <p:cNvSpPr/>
          <p:nvPr/>
        </p:nvSpPr>
        <p:spPr>
          <a:xfrm>
            <a:off x="6168999" y="2194560"/>
            <a:ext cx="2503855" cy="173736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lnSpc>
                <a:spcPct val="115000"/>
              </a:lnSpc>
            </a:pPr>
            <a:r>
              <a:rPr sz="2000" b="0">
                <a:solidFill>
                  <a:srgbClr val="2C2C2A"/>
                </a:solidFill>
                <a:latin typeface="Helvetica Neue Medium"/>
              </a:rPr>
              <a:t>Learns</a:t>
            </a:r>
          </a:p>
        </p:txBody>
      </p:sp>
      <p:sp>
        <p:nvSpPr>
          <p:cNvPr id="7" name="Rounded Rectangle 6"/>
          <p:cNvSpPr/>
          <p:nvPr/>
        </p:nvSpPr>
        <p:spPr>
          <a:xfrm>
            <a:off x="8819159" y="2194560"/>
            <a:ext cx="2503855" cy="1737360"/>
          </a:xfrm>
          <a:prstGeom prst="roundRect">
            <a:avLst>
              <a:gd name="adj" fmla="val 6000"/>
            </a:avLst>
          </a:prstGeom>
          <a:solidFill>
            <a:srgbClr val="FFFFFF"/>
          </a:solidFill>
          <a:ln w="6350">
            <a:solidFill>
              <a:srgbClr val="C8C7C1"/>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lnSpc>
                <a:spcPct val="115000"/>
              </a:lnSpc>
            </a:pPr>
            <a:r>
              <a:rPr sz="2000" b="0">
                <a:solidFill>
                  <a:srgbClr val="2C2C2A"/>
                </a:solidFill>
                <a:latin typeface="Helvetica Neue Medium"/>
              </a:rPr>
              <a:t>Acts as one</a:t>
            </a:r>
          </a:p>
        </p:txBody>
      </p:sp>
      <p:sp>
        <p:nvSpPr>
          <p:cNvPr id="8" name="TextBox 7"/>
          <p:cNvSpPr txBox="1"/>
          <p:nvPr/>
        </p:nvSpPr>
        <p:spPr>
          <a:xfrm>
            <a:off x="868680" y="4297680"/>
            <a:ext cx="9875520" cy="1188720"/>
          </a:xfrm>
          <a:prstGeom prst="rect">
            <a:avLst/>
          </a:prstGeom>
          <a:noFill/>
        </p:spPr>
        <p:txBody>
          <a:bodyPr wrap="square" lIns="0" rIns="0" tIns="0" bIns="0" anchor="t">
            <a:spAutoFit/>
          </a:bodyPr>
          <a:lstStyle/>
          <a:p>
            <a:pPr algn="l">
              <a:lnSpc>
                <a:spcPct val="155000"/>
              </a:lnSpc>
            </a:pPr>
            <a:r>
              <a:rPr sz="1500" b="0" i="0">
                <a:solidFill>
                  <a:srgbClr val="444441"/>
                </a:solidFill>
                <a:latin typeface="Helvetica Neue"/>
              </a:rPr>
              <a:t>AI takes the searching, assembling, monitoring, coordinating, and routine execution. Our people keep judgment, creativity, empathy, trust — the conversations only humans can lead.</a:t>
            </a:r>
          </a:p>
        </p:txBody>
      </p:sp>
      <p:sp>
        <p:nvSpPr>
          <p:cNvPr id="9" name="TextBox 8"/>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31</a:t>
            </a:r>
            <a:r>
              <a:rPr sz="1000" b="0" i="0">
                <a:solidFill>
                  <a:srgbClr val="888780"/>
                </a:solidFill>
                <a:latin typeface="Helvetica Neue Medium"/>
              </a:rPr>
              <a:t>  /  32</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1EFE8"/>
        </a:solidFill>
        <a:effectLst/>
      </p:bgPr>
    </p:bg>
    <p:spTree>
      <p:nvGrpSpPr>
        <p:cNvPr id="1" name=""/>
        <p:cNvGrpSpPr/>
        <p:nvPr/>
      </p:nvGrpSpPr>
      <p:grpSpPr/>
      <p:sp>
        <p:nvSpPr>
          <p:cNvPr id="2" name="TextBox 1"/>
          <p:cNvSpPr txBox="1"/>
          <p:nvPr/>
        </p:nvSpPr>
        <p:spPr>
          <a:xfrm>
            <a:off x="868680" y="502920"/>
            <a:ext cx="10454335" cy="292608"/>
          </a:xfrm>
          <a:prstGeom prst="rect">
            <a:avLst/>
          </a:prstGeom>
          <a:noFill/>
        </p:spPr>
        <p:txBody>
          <a:bodyPr wrap="square" lIns="0" rIns="0" tIns="0" bIns="0" anchor="t">
            <a:spAutoFit/>
          </a:bodyPr>
          <a:lstStyle/>
          <a:p>
            <a:pPr algn="l">
              <a:lnSpc>
                <a:spcPct val="125000"/>
              </a:lnSpc>
            </a:pPr>
            <a:r>
              <a:rPr sz="1100" b="0" i="0">
                <a:solidFill>
                  <a:srgbClr val="888780"/>
                </a:solidFill>
                <a:latin typeface="Helvetica Neue Medium"/>
              </a:rPr>
              <a:t>15   </a:t>
            </a:r>
            <a:r>
              <a:rPr sz="1100" b="0" i="0">
                <a:solidFill>
                  <a:srgbClr val="993C1D"/>
                </a:solidFill>
                <a:latin typeface="Helvetica Neue Medium"/>
              </a:rPr>
              <a:t>Close</a:t>
            </a:r>
          </a:p>
        </p:txBody>
      </p:sp>
      <p:sp>
        <p:nvSpPr>
          <p:cNvPr id="3" name="TextBox 2"/>
          <p:cNvSpPr txBox="1"/>
          <p:nvPr/>
        </p:nvSpPr>
        <p:spPr>
          <a:xfrm>
            <a:off x="868680" y="2651760"/>
            <a:ext cx="10424160" cy="2286000"/>
          </a:xfrm>
          <a:prstGeom prst="rect">
            <a:avLst/>
          </a:prstGeom>
          <a:noFill/>
        </p:spPr>
        <p:txBody>
          <a:bodyPr wrap="square" lIns="0" rIns="0" tIns="0" bIns="0" anchor="t">
            <a:spAutoFit/>
          </a:bodyPr>
          <a:lstStyle/>
          <a:p>
            <a:pPr algn="l">
              <a:lnSpc>
                <a:spcPct val="120000"/>
              </a:lnSpc>
            </a:pPr>
            <a:r>
              <a:rPr sz="3600" b="0" i="0">
                <a:solidFill>
                  <a:srgbClr val="2C2C2A"/>
                </a:solidFill>
                <a:latin typeface="Helvetica Neue Medium"/>
              </a:rPr>
              <a:t>The full intelligence of the firm, working for every client, all the time. </a:t>
            </a:r>
            <a:r>
              <a:rPr sz="3600" b="0" i="1">
                <a:solidFill>
                  <a:srgbClr val="D85A30"/>
                </a:solidFill>
                <a:latin typeface="Helvetica Neue Medium"/>
              </a:rPr>
              <a:t>That is the AI-native private bank.</a:t>
            </a:r>
          </a:p>
        </p:txBody>
      </p:sp>
      <p:sp>
        <p:nvSpPr>
          <p:cNvPr id="4" name="TextBox 3"/>
          <p:cNvSpPr txBox="1"/>
          <p:nvPr/>
        </p:nvSpPr>
        <p:spPr>
          <a:xfrm>
            <a:off x="10362895" y="6492240"/>
            <a:ext cx="1463040" cy="274320"/>
          </a:xfrm>
          <a:prstGeom prst="rect">
            <a:avLst/>
          </a:prstGeom>
          <a:noFill/>
        </p:spPr>
        <p:txBody>
          <a:bodyPr wrap="square" lIns="0" rIns="0" tIns="0" bIns="0" anchor="t">
            <a:spAutoFit/>
          </a:bodyPr>
          <a:lstStyle/>
          <a:p>
            <a:pPr algn="r">
              <a:lnSpc>
                <a:spcPct val="125000"/>
              </a:lnSpc>
            </a:pPr>
            <a:r>
              <a:rPr sz="1000" b="0" i="0">
                <a:solidFill>
                  <a:srgbClr val="5F5E5A"/>
                </a:solidFill>
                <a:latin typeface="Helvetica Neue Medium"/>
              </a:rPr>
              <a:t>32</a:t>
            </a:r>
            <a:r>
              <a:rPr sz="1000" b="0" i="0">
                <a:solidFill>
                  <a:srgbClr val="888780"/>
                </a:solidFill>
                <a:latin typeface="Helvetica Neue Medium"/>
              </a:rPr>
              <a:t>  /  32</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