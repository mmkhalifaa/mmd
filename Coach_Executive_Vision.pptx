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The full intelligence of the firm. Around every client.
Start with the relationship, not the tool. Our north star is an advisor operating system that connects the firm around each client, while the advisor remains accountable for judgment and the relationship. A conversational interface is the entry point. It should also generate the analysis, document, workspace or next step that the task requires.
The diagram is a conceptual target vision, not a production architecture certification. Coach's multi-agent foundation, Meeting Prep and Call Assist are existing building blocks described internally. Persistent client memory, the complete shared action state and broader always-on coordination belong to the roadmap.
Transition: Anthropic's announcement validates the direction of travel. The strategic question is the intelligence we build underneath the interface.
EVIDENCE AND SCOPE
Research snapshot: September 15, 2026. Public descriptions are not hands-on product validation. Internal documents are discussion drafts. Foundation does not imply feature-for-feature parity. Roadmap and concept elements are marked.
I1. AI_Native_Private_Bank_Master_Vision.docx, August 2026 discussion draft. Pages 2 and 5-8: north star, Client Agent, orchestration, shared capabilities, Command and Guided Modes, specialist intelligence and feedback.
I2. Coach_Integrated_Roadmap.docx, August 2026 discussion draft. Coach 3.0 foundation, prepare-only Assists, broader proactive workday, persistent client memory and later governed execution. Dates and capabilities remain subject to rollout validation.
I3. User-supplied screenshots of Future_of_Sales_Technology_in_Financia... executive paper, September 2026. Only visible content from pages 2, 4 and 5 was used. No claims about unseen pages or unverified statistics.
I4. User descriptions in this conversation, September 15, 2026: Coach Insights pushed to advisors; Coach Ideas; Coach, Meeting Prep, Call Assist and Playbook AI; deeper planning work in development. Not an independent production certification.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Claude validates the direction.
Anthropic announced Claude for Financial Advisors on September 14, 2026. It packages third-party connectors and eight advisor-oriented workflows in Cowork. The graphic groups selected partners by the capabilities they contribute; it is not a complete partner directory.
Important nuance: this is not merely Q&amp;A. Cowork supports generated work products and scheduled tasks. BlackRock contributes Advisor Center portfolio analysis, opportunities and other skills. Wealth.com contributes source-grounded document analysis and tax scenarios. Critical client communications, investment decisions and administrative writes remain subject to review and approval.
BlackRock is specifically Advisor Center and a separate Advisor Center plugin. Do not describe the announcement as proof of access to the full Aladdin platform. Access to partner data and tools depends on entitlements and configuration. The public advisor repository is a reference implementation, not evidence of independently tested performance.
Transition: The overlap in visible workflows is real. What matters next is how deeply the context, expertise and follow-through are unified.
EVIDENCE AND SCOPE
Research snapshot: September 15, 2026. Public descriptions are not hands-on product validation. Internal documents are discussion drafts. Foundation does not imply feature-for-feature parity. Roadmap and concept elements are marked.
P1. Anthropic launch: https://claude.com/blog/claude-for-financial-advisors
P2. Advisor skills: https://raw.githubusercontent.com/anthropics/claude-for-financial-advisors/main/README.md
P3. BlackRock skills: https://raw.githubusercontent.com/blackrock/advisor-center-agent-skills/main/README.md
P4. Wealth.com planning: https://www.wealth.com/resources/press/wealth-com-brings-estate-and-tax-planning-into-claude-for-financial-advisors/
P5. Cowork: https://claude.com/product/cowork
P6. Scheduled tasks: https://support.claude.com/en/articles/13854387-schedule-recurring-tasks-in-claude-cowork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The interface converges. The intelligence layer differentiates.
This is the central slide. Both approaches offer a conversational interface and workflow orchestration. The left-hand architecture is a simplified synthesis of the public advisor plugin and its reliance on connected provider systems. It should not be read as a claim that Claude lacks context, analytical depth, customization or proactive tasks.
The right-hand side is our target design: common client context, firm expertise, contextual priorities and a shared action state underneath the different advisor experiences. It includes future capabilities, especially persistent Client Agent memory, broader Autopilot and full shared action state. The comparison is strategic architecture, not a claim that the Coach roadmap is fully deployed or that a third-party stack could never be integrated more deeply.
The implication is to own and develop the common intelligence and control services, while using leading models and external tools where appropriate. Owning the ecosystem does not mean building every component.
Transition: A practical planning scenario shows why this difference in integration ambition matters.
EVIDENCE AND SCOPE
Research snapshot: September 15, 2026. Public descriptions are not hands-on product validation. Internal documents are discussion drafts. Foundation does not imply feature-for-feature parity. Roadmap and concept elements are marked.
P1. Anthropic launch: https://claude.com/blog/claude-for-financial-advisors
P2. Advisor skills: https://raw.githubusercontent.com/anthropics/claude-for-financial-advisors/main/README.md
P4. Wealth.com planning: https://www.wealth.com/resources/press/wealth-com-brings-estate-and-tax-planning-into-claude-for-financial-advisors/
P6. Scheduled tasks: https://support.claude.com/en/articles/13854387-schedule-recurring-tasks-in-claude-cowork
I1. AI_Native_Private_Bank_Master_Vision.docx, August 2026 discussion draft. Pages 2 and 5-8: north star, Client Agent, orchestration, shared capabilities, Command and Guided Modes, specialist intelligence and feedback.
I2. Coach_Integrated_Roadmap.docx, August 2026 discussion draft. Coach 3.0 foundation, prepare-only Assists, broader proactive workday, persistent client memory and later governed execution. Dates and capabilities remain subject to rollout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From a client signal to a prepared next step.
Use this as an illustrative future-state story, not as a live product demonstration or a financial recommendation. A permitted client conversation indicates that a business sale may be under consideration. The timing remains unconfirmed. The system connects that signal to the family, holdings and goals, as well as approved specialist expertise.
The intended experience is to prepare a planning discussion with an explanation of why the client might benefit, which assumptions need validation, which scenarios have been prepared using approved tools and who should review the work. A named person owns the next step.
Wealth.com already supports document analysis and tax scenarios, so the distinction is not 'they retrieve, we plan.' The intended differentiation is how the full relationship, specialist team, multiple planning domains and follow-through become one controlled workflow. No claim is made that Claude cannot support individual parts of this journey.
Transition: This same shared layer should serve both expert-directed work and a guided advisor day.
EVIDENCE AND SCOPE
Research snapshot: September 15, 2026. Public descriptions are not hands-on product validation. Internal documents are discussion drafts. Foundation does not imply feature-for-feature parity. Roadmap and concept elements are marked.
P4. Wealth.com planning: https://www.wealth.com/resources/press/wealth-com-brings-estate-and-tax-planning-into-claude-for-financial-advisors/
I1. AI_Native_Private_Bank_Master_Vision.docx, August 2026 discussion draft. Pages 2 and 5-8: north star, Client Agent, orchestration, shared capabilities, Command and Guided Modes, specialist intelligence and feedback.
I2. Coach_Integrated_Roadmap.docx, August 2026 discussion draft. Coach 3.0 foundation, prepare-only Assists, broader proactive workday, persistent client memory and later governed execution. Dates and capabilities remain subject to rollout validation.
I4. User descriptions in this conversation, September 15, 2026: Coach Insights pushed to advisors; Coach Ideas; Coach, Meeting Prep, Call Assist and Playbook AI; deeper planning work in development. Not an independent production certification.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Raise the ceiling. Raise the standard.
Our strongest advisors should have substantially greater leverage: sophisticated analysis, generated workspaces and the ability to direct the system around their judgment. The broader advisor population should receive relevant priorities and prepared work without needing to discover the perfect prompt. These are task modes, not fixed categories of employees. The same person may want either mode depending on the moment.
The long-term institutional opportunity is a permissioned learning loop. Aggregated client questions and unmet needs inform specialists. Approved expertise and effective practices become reusable workflows. Advisor decisions, client engagement and completed outcomes help improve the system. Popularity alone is not evidence of advice quality.
This is a target experience, not a claim that the complete loop is live. The implementation must preserve household entitlements, sources, uncertainty, human judgment and control over consequential actions.
Close: Own the common intelligence and operating model, integrate leading external capabilities and prove the advantage in client outcomes, advisor capacity and follow-through.
EVIDENCE AND SCOPE
Research snapshot: September 15, 2026. Public descriptions are not hands-on product validation. Internal documents are discussion drafts. Foundation does not imply feature-for-feature parity. Roadmap and concept elements are marked.
I1. AI_Native_Private_Bank_Master_Vision.docx, August 2026 discussion draft. Pages 2 and 5-8: north star, Client Agent, orchestration, shared capabilities, Command and Guided Modes, specialist intelligence and feedback.
I2. Coach_Integrated_Roadmap.docx, August 2026 discussion draft. Coach 3.0 foundation, prepare-only Assists, broader proactive workday, persistent client memory and later governed execution. Dates and capabilities remain subject to rollout validation.
I3. User-supplied screenshots of Future_of_Sales_Technology_in_Financia... executive paper, September 2026. Only visible content from pages 2, 4 and 5 was used. No claims about unseen pages or unverified statistics.
I4. User descriptions in this conversation, September 15, 2026: Coach Insights pushed to advisors; Coach Ideas; Coach, Meeting Prep, Call Assist and Playbook AI; deeper planning work in development. Not an independent production certification.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Comparable workflows. A different integration ambition.
Use this slide for executive questions after the main narrative, or as a reference with the internal note. It maps each workflow to the closest Coach capability without claiming feature-for-feature parity.
Foundation means building blocks supported by internal descriptions; it is not an independently certified release state. Evolving means development or rollout. Mixed indicates existing foundations and a broader roadmap. Roadmap refers to a future target. Persistent Client Agent memory, broad event-driven Autopilot, shared action state, Assists and the institution-wide outcome learning loop should not be presented as fully deployed without current product confirmation.
Claude includes meaningful context through connected CRM and conversation platforms, BlackRock opportunity analysis, Wealth.com source-grounded estate analysis and tax scenarios, configurable skills, generated work products and recurring tasks. Do not reduce it to reactive Q&amp;A. Its launch materials do not establish a specific, fully implemented equivalent of our entire target operating model; that is not a claim of technical impossibility.
This is a research and architecture comparison, not a product benchmark or a procurement score. Public evidence checked on September 15, 2026.
EVIDENCE AND SCOPE
Research snapshot: September 15, 2026. Public descriptions are not hands-on product validation. Internal documents are discussion drafts. Foundation does not imply feature-for-feature parity. Roadmap and concept elements are marked.
P1. Anthropic launch: https://claude.com/blog/claude-for-financial-advisors
P2. Advisor skills: https://raw.githubusercontent.com/anthropics/claude-for-financial-advisors/main/README.md
P3. BlackRock skills: https://raw.githubusercontent.com/blackrock/advisor-center-agent-skills/main/README.md
P4. Wealth.com planning: https://www.wealth.com/resources/press/wealth-com-brings-estate-and-tax-planning-into-claude-for-financial-advisors/
P5. Cowork: https://claude.com/product/cowork
P6. Scheduled tasks: https://support.claude.com/en/articles/13854387-schedule-recurring-tasks-in-claude-cowork
I1. AI_Native_Private_Bank_Master_Vision.docx, August 2026 discussion draft. Pages 2 and 5-8: north star, Client Agent, orchestration, shared capabilities, Command and Guided Modes, specialist intelligence and feedback.
I2. Coach_Integrated_Roadmap.docx, August 2026 discussion draft. Coach 3.0 foundation, prepare-only Assists, broader proactive workday, persistent client memory and later governed execution. Dates and capabilities remain subject to rollout validation.
I4. User descriptions in this conversation, September 15, 2026: Coach Insights pushed to advisors; Coach Ideas; Coach, Meeting Prep, Call Assist and Playbook AI; deeper planning work in development. Not an independent production certification.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claude.com/blog/claude-for-financial-advisors" TargetMode="External"/><Relationship Id="rId2" Type="http://schemas.openxmlformats.org/officeDocument/2006/relationships/hyperlink" Target="https://raw.githubusercontent.com/anthropics/claude-for-financial-advisors/main/README.md" TargetMode="External"/><Relationship Id="rId3" Type="http://schemas.openxmlformats.org/officeDocument/2006/relationships/hyperlink" Target="https://raw.githubusercontent.com/blackrock/advisor-center-agent-skills/main/README.md" TargetMode="External"/><Relationship Id="rId4" Type="http://schemas.openxmlformats.org/officeDocument/2006/relationships/hyperlink" Target="https://claude.com/product/cowork" TargetMode="External"/><Relationship Id="rId5" Type="http://schemas.openxmlformats.org/officeDocument/2006/relationships/hyperlink" Target="https://support.claude.com/en/articles/13854387-schedule-recurring-tasks-in-claude-cowork" TargetMode="External"/><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claude.com/blog/claude-for-financial-advisors" TargetMode="External"/><Relationship Id="rId2" Type="http://schemas.openxmlformats.org/officeDocument/2006/relationships/hyperlink" Target="https://raw.githubusercontent.com/anthropics/claude-for-financial-advisors/main/README.md" TargetMode="External"/><Relationship Id="rId3" Type="http://schemas.openxmlformats.org/officeDocument/2006/relationships/hyperlink" Target="https://support.claude.com/en/articles/13854387-schedule-recurring-tasks-in-claude-cowork" TargetMode="External"/><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claude.com/blog/claude-for-financial-advisors" TargetMode="External"/><Relationship Id="rId2" Type="http://schemas.openxmlformats.org/officeDocument/2006/relationships/hyperlink" Target="https://raw.githubusercontent.com/anthropics/claude-for-financial-advisors/main/README.md" TargetMode="External"/><Relationship Id="rId3" Type="http://schemas.openxmlformats.org/officeDocument/2006/relationships/hyperlink" Target="https://raw.githubusercontent.com/blackrock/advisor-center-agent-skills/main/README.md" TargetMode="External"/><Relationship Id="rId4" Type="http://schemas.openxmlformats.org/officeDocument/2006/relationships/hyperlink" Target="https://www.wealth.com/resources/press/wealth-com-brings-estate-and-tax-planning-into-claude-for-financial-advisors/" TargetMode="External"/><Relationship Id="rId5" Type="http://schemas.openxmlformats.org/officeDocument/2006/relationships/hyperlink" Target="https://claude.com/product/cowork" TargetMode="External"/><Relationship Id="rId6" Type="http://schemas.openxmlformats.org/officeDocument/2006/relationships/hyperlink" Target="https://support.claude.com/en/articles/13854387-schedule-recurring-tasks-in-claude-cowork" TargetMode="External"/><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1E30"/>
        </a:solidFill>
      </p:bgPr>
    </p:bg>
    <p:spTree>
      <p:nvGrpSpPr>
        <p:cNvPr id="1" name=""/>
        <p:cNvGrpSpPr/>
        <p:nvPr/>
      </p:nvGrpSpPr>
      <p:grpSpPr>
        <a:xfrm>
          <a:off x="0" y="0"/>
          <a:ext cx="0" cy="0"/>
          <a:chOff x="0" y="0"/>
          <a:chExt cx="0" cy="0"/>
        </a:xfrm>
      </p:grpSpPr>
      <p:sp>
        <p:nvSpPr>
          <p:cNvPr id="2" name="Text 0"/>
          <p:cNvSpPr/>
          <p:nvPr/>
        </p:nvSpPr>
        <p:spPr>
          <a:xfrm>
            <a:off x="548640" y="429768"/>
            <a:ext cx="11091672" cy="182880"/>
          </a:xfrm>
          <a:prstGeom prst="rect">
            <a:avLst/>
          </a:prstGeom>
          <a:noFill/>
          <a:ln/>
        </p:spPr>
        <p:txBody>
          <a:bodyPr wrap="square" lIns="0" tIns="0" rIns="0" bIns="0" rtlCol="0" anchor="ctr"/>
          <a:lstStyle/>
          <a:p>
            <a:pPr algn="l" indent="0" marL="0">
              <a:buNone/>
            </a:pPr>
            <a:r>
              <a:rPr lang="en-US" sz="960" b="1" spc="150" kern="0" dirty="0">
                <a:solidFill>
                  <a:srgbClr val="D9BE97"/>
                </a:solidFill>
                <a:latin typeface="Inter" pitchFamily="34" charset="0"/>
                <a:ea typeface="Inter" pitchFamily="34" charset="-122"/>
                <a:cs typeface="Inter" pitchFamily="34" charset="-120"/>
              </a:rPr>
              <a:t>OUR VISION  /  THE AI-NATIVE PRIVATE BANK</a:t>
            </a:r>
            <a:endParaRPr lang="en-US" sz="960" dirty="0"/>
          </a:p>
        </p:txBody>
      </p:sp>
      <p:sp>
        <p:nvSpPr>
          <p:cNvPr id="3" name="Shape 1"/>
          <p:cNvSpPr/>
          <p:nvPr/>
        </p:nvSpPr>
        <p:spPr>
          <a:xfrm>
            <a:off x="10168128" y="365760"/>
            <a:ext cx="1463040" cy="292608"/>
          </a:xfrm>
          <a:prstGeom prst="roundRect">
            <a:avLst>
              <a:gd name="adj" fmla="val 21875"/>
            </a:avLst>
          </a:prstGeom>
          <a:solidFill>
            <a:srgbClr val="102C40"/>
          </a:solidFill>
          <a:ln w="8890">
            <a:solidFill>
              <a:srgbClr val="355163"/>
            </a:solidFill>
            <a:prstDash val="solid"/>
          </a:ln>
        </p:spPr>
      </p:sp>
      <p:sp>
        <p:nvSpPr>
          <p:cNvPr id="4" name="Text 2"/>
          <p:cNvSpPr/>
          <p:nvPr/>
        </p:nvSpPr>
        <p:spPr>
          <a:xfrm>
            <a:off x="10232136" y="379476"/>
            <a:ext cx="1335024" cy="265176"/>
          </a:xfrm>
          <a:prstGeom prst="rect">
            <a:avLst/>
          </a:prstGeom>
          <a:noFill/>
          <a:ln/>
        </p:spPr>
        <p:txBody>
          <a:bodyPr wrap="square" lIns="0" tIns="0" rIns="0" bIns="0" rtlCol="0" anchor="ctr"/>
          <a:lstStyle/>
          <a:p>
            <a:pPr algn="ctr" indent="0" marL="0">
              <a:buNone/>
            </a:pPr>
            <a:r>
              <a:rPr lang="en-US" sz="880" b="1" dirty="0">
                <a:solidFill>
                  <a:srgbClr val="C3D2D7"/>
                </a:solidFill>
                <a:latin typeface="Inter" pitchFamily="34" charset="0"/>
                <a:ea typeface="Inter" pitchFamily="34" charset="-122"/>
                <a:cs typeface="Inter" pitchFamily="34" charset="-120"/>
              </a:rPr>
              <a:t>TARGET VISION</a:t>
            </a:r>
            <a:endParaRPr lang="en-US" sz="880" dirty="0"/>
          </a:p>
        </p:txBody>
      </p:sp>
      <p:sp>
        <p:nvSpPr>
          <p:cNvPr id="5" name="Text 3"/>
          <p:cNvSpPr/>
          <p:nvPr/>
        </p:nvSpPr>
        <p:spPr>
          <a:xfrm>
            <a:off x="548640" y="1188720"/>
            <a:ext cx="6327648" cy="1444752"/>
          </a:xfrm>
          <a:prstGeom prst="rect">
            <a:avLst/>
          </a:prstGeom>
          <a:noFill/>
          <a:ln/>
        </p:spPr>
        <p:txBody>
          <a:bodyPr wrap="square" lIns="0" tIns="0" rIns="0" bIns="0" rtlCol="0" anchor="ctr"/>
          <a:lstStyle/>
          <a:p>
            <a:pPr algn="l" indent="0" marL="0">
              <a:buNone/>
            </a:pPr>
            <a:r>
              <a:rPr lang="en-US" sz="4300" b="1" spc="-60" kern="0" dirty="0">
                <a:solidFill>
                  <a:srgbClr val="FFFFFF"/>
                </a:solidFill>
                <a:latin typeface="Inter Display" pitchFamily="34" charset="0"/>
                <a:ea typeface="Inter Display" pitchFamily="34" charset="-122"/>
                <a:cs typeface="Inter Display" pitchFamily="34" charset="-120"/>
              </a:rPr>
              <a:t>The full intelligence</a:t>
            </a:r>
            <a:endParaRPr lang="en-US" sz="4300" dirty="0"/>
          </a:p>
          <a:p>
            <a:pPr algn="l" indent="0" marL="0">
              <a:buNone/>
            </a:pPr>
            <a:r>
              <a:rPr lang="en-US" sz="4300" b="1" spc="-60" kern="0" dirty="0">
                <a:solidFill>
                  <a:srgbClr val="FFFFFF"/>
                </a:solidFill>
                <a:latin typeface="Inter Display" pitchFamily="34" charset="0"/>
                <a:ea typeface="Inter Display" pitchFamily="34" charset="-122"/>
                <a:cs typeface="Inter Display" pitchFamily="34" charset="-120"/>
              </a:rPr>
              <a:t>of the firm.</a:t>
            </a:r>
            <a:endParaRPr lang="en-US" sz="4300" dirty="0"/>
          </a:p>
        </p:txBody>
      </p:sp>
      <p:sp>
        <p:nvSpPr>
          <p:cNvPr id="6" name="Text 4"/>
          <p:cNvSpPr/>
          <p:nvPr/>
        </p:nvSpPr>
        <p:spPr>
          <a:xfrm>
            <a:off x="548640" y="2660904"/>
            <a:ext cx="6419088" cy="722376"/>
          </a:xfrm>
          <a:prstGeom prst="rect">
            <a:avLst/>
          </a:prstGeom>
          <a:noFill/>
          <a:ln/>
        </p:spPr>
        <p:txBody>
          <a:bodyPr wrap="square" lIns="0" tIns="0" rIns="0" bIns="0" rtlCol="0" anchor="ctr"/>
          <a:lstStyle/>
          <a:p>
            <a:pPr algn="l" indent="0" marL="0">
              <a:buNone/>
            </a:pPr>
            <a:r>
              <a:rPr lang="en-US" sz="4300" b="1" spc="-60" kern="0" dirty="0">
                <a:solidFill>
                  <a:srgbClr val="D9BE97"/>
                </a:solidFill>
                <a:latin typeface="Inter Display" pitchFamily="34" charset="0"/>
                <a:ea typeface="Inter Display" pitchFamily="34" charset="-122"/>
                <a:cs typeface="Inter Display" pitchFamily="34" charset="-120"/>
              </a:rPr>
              <a:t>Around every client.</a:t>
            </a:r>
            <a:endParaRPr lang="en-US" sz="4300" dirty="0"/>
          </a:p>
        </p:txBody>
      </p:sp>
      <p:sp>
        <p:nvSpPr>
          <p:cNvPr id="7" name="Text 5"/>
          <p:cNvSpPr/>
          <p:nvPr/>
        </p:nvSpPr>
        <p:spPr>
          <a:xfrm>
            <a:off x="576072" y="3712464"/>
            <a:ext cx="5394960" cy="813816"/>
          </a:xfrm>
          <a:prstGeom prst="rect">
            <a:avLst/>
          </a:prstGeom>
          <a:noFill/>
          <a:ln/>
        </p:spPr>
        <p:txBody>
          <a:bodyPr wrap="square" lIns="0" tIns="0" rIns="0" bIns="0" rtlCol="0" anchor="ctr"/>
          <a:lstStyle/>
          <a:p>
            <a:pPr algn="l" indent="0" marL="0">
              <a:lnSpc>
                <a:spcPct val="108000"/>
              </a:lnSpc>
              <a:buNone/>
            </a:pPr>
            <a:r>
              <a:rPr lang="en-US" sz="2200" dirty="0">
                <a:solidFill>
                  <a:srgbClr val="C3D2D7"/>
                </a:solidFill>
                <a:latin typeface="Inter" pitchFamily="34" charset="0"/>
                <a:ea typeface="Inter" pitchFamily="34" charset="-122"/>
                <a:cs typeface="Inter" pitchFamily="34" charset="-120"/>
              </a:rPr>
              <a:t>Not another chatbot.</a:t>
            </a:r>
            <a:endParaRPr lang="en-US" sz="2200" dirty="0"/>
          </a:p>
          <a:p>
            <a:pPr algn="l" indent="0" marL="0">
              <a:lnSpc>
                <a:spcPct val="108000"/>
              </a:lnSpc>
              <a:buNone/>
            </a:pPr>
            <a:r>
              <a:rPr lang="en-US" sz="2200" dirty="0">
                <a:solidFill>
                  <a:srgbClr val="C3D2D7"/>
                </a:solidFill>
                <a:latin typeface="Inter" pitchFamily="34" charset="0"/>
                <a:ea typeface="Inter" pitchFamily="34" charset="-122"/>
                <a:cs typeface="Inter" pitchFamily="34" charset="-120"/>
              </a:rPr>
              <a:t>One advisor operating system.</a:t>
            </a:r>
            <a:endParaRPr lang="en-US" sz="2200" dirty="0"/>
          </a:p>
        </p:txBody>
      </p:sp>
      <p:sp>
        <p:nvSpPr>
          <p:cNvPr id="8" name="Shape 6"/>
          <p:cNvSpPr/>
          <p:nvPr/>
        </p:nvSpPr>
        <p:spPr>
          <a:xfrm>
            <a:off x="585216" y="4901184"/>
            <a:ext cx="5010912" cy="0"/>
          </a:xfrm>
          <a:prstGeom prst="line">
            <a:avLst/>
          </a:prstGeom>
          <a:noFill/>
          <a:ln w="11430">
            <a:solidFill>
              <a:srgbClr val="355163"/>
            </a:solidFill>
            <a:prstDash val="solid"/>
          </a:ln>
        </p:spPr>
      </p:sp>
      <p:sp>
        <p:nvSpPr>
          <p:cNvPr id="9" name="Text 7"/>
          <p:cNvSpPr/>
          <p:nvPr/>
        </p:nvSpPr>
        <p:spPr>
          <a:xfrm>
            <a:off x="585216" y="5166360"/>
            <a:ext cx="1188720" cy="256032"/>
          </a:xfrm>
          <a:prstGeom prst="rect">
            <a:avLst/>
          </a:prstGeom>
          <a:noFill/>
          <a:ln/>
        </p:spPr>
        <p:txBody>
          <a:bodyPr wrap="square" lIns="0" tIns="0" rIns="0" bIns="0" rtlCol="0" anchor="ctr"/>
          <a:lstStyle/>
          <a:p>
            <a:pPr algn="l" indent="0" marL="0">
              <a:buNone/>
            </a:pPr>
            <a:r>
              <a:rPr lang="en-US" sz="1710" dirty="0">
                <a:solidFill>
                  <a:srgbClr val="FFFFFF"/>
                </a:solidFill>
                <a:latin typeface="Inter" pitchFamily="34" charset="0"/>
                <a:ea typeface="Inter" pitchFamily="34" charset="-122"/>
                <a:cs typeface="Inter" pitchFamily="34" charset="-120"/>
              </a:rPr>
              <a:t>Ask</a:t>
            </a:r>
            <a:endParaRPr lang="en-US" sz="1710" dirty="0"/>
          </a:p>
        </p:txBody>
      </p:sp>
      <p:sp>
        <p:nvSpPr>
          <p:cNvPr id="10" name="Text 8"/>
          <p:cNvSpPr/>
          <p:nvPr/>
        </p:nvSpPr>
        <p:spPr>
          <a:xfrm>
            <a:off x="1179576" y="5166360"/>
            <a:ext cx="210312" cy="246888"/>
          </a:xfrm>
          <a:prstGeom prst="rect">
            <a:avLst/>
          </a:prstGeom>
          <a:noFill/>
          <a:ln/>
        </p:spPr>
        <p:txBody>
          <a:bodyPr wrap="square" lIns="0" tIns="0" rIns="0" bIns="0" rtlCol="0" anchor="ctr"/>
          <a:lstStyle/>
          <a:p>
            <a:pPr algn="l" indent="0" marL="0">
              <a:buNone/>
            </a:pPr>
            <a:r>
              <a:rPr lang="en-US" sz="1600" dirty="0">
                <a:solidFill>
                  <a:srgbClr val="355163"/>
                </a:solidFill>
                <a:latin typeface="Inter" pitchFamily="34" charset="0"/>
                <a:ea typeface="Inter" pitchFamily="34" charset="-122"/>
                <a:cs typeface="Inter" pitchFamily="34" charset="-120"/>
              </a:rPr>
              <a:t>/</a:t>
            </a:r>
            <a:endParaRPr lang="en-US" sz="1600" dirty="0"/>
          </a:p>
        </p:txBody>
      </p:sp>
      <p:sp>
        <p:nvSpPr>
          <p:cNvPr id="11" name="Text 9"/>
          <p:cNvSpPr/>
          <p:nvPr/>
        </p:nvSpPr>
        <p:spPr>
          <a:xfrm>
            <a:off x="1536192" y="5166360"/>
            <a:ext cx="1188720" cy="256032"/>
          </a:xfrm>
          <a:prstGeom prst="rect">
            <a:avLst/>
          </a:prstGeom>
          <a:noFill/>
          <a:ln/>
        </p:spPr>
        <p:txBody>
          <a:bodyPr wrap="square" lIns="0" tIns="0" rIns="0" bIns="0" rtlCol="0" anchor="ctr"/>
          <a:lstStyle/>
          <a:p>
            <a:pPr algn="l" indent="0" marL="0">
              <a:buNone/>
            </a:pPr>
            <a:r>
              <a:rPr lang="en-US" sz="1710" dirty="0">
                <a:solidFill>
                  <a:srgbClr val="FFFFFF"/>
                </a:solidFill>
                <a:latin typeface="Inter" pitchFamily="34" charset="0"/>
                <a:ea typeface="Inter" pitchFamily="34" charset="-122"/>
                <a:cs typeface="Inter" pitchFamily="34" charset="-120"/>
              </a:rPr>
              <a:t>Analyze</a:t>
            </a:r>
            <a:endParaRPr lang="en-US" sz="1710" dirty="0"/>
          </a:p>
        </p:txBody>
      </p:sp>
      <p:sp>
        <p:nvSpPr>
          <p:cNvPr id="12" name="Text 10"/>
          <p:cNvSpPr/>
          <p:nvPr/>
        </p:nvSpPr>
        <p:spPr>
          <a:xfrm>
            <a:off x="2523744" y="5166360"/>
            <a:ext cx="210312" cy="246888"/>
          </a:xfrm>
          <a:prstGeom prst="rect">
            <a:avLst/>
          </a:prstGeom>
          <a:noFill/>
          <a:ln/>
        </p:spPr>
        <p:txBody>
          <a:bodyPr wrap="square" lIns="0" tIns="0" rIns="0" bIns="0" rtlCol="0" anchor="ctr"/>
          <a:lstStyle/>
          <a:p>
            <a:pPr algn="l" indent="0" marL="0">
              <a:buNone/>
            </a:pPr>
            <a:r>
              <a:rPr lang="en-US" sz="1600" dirty="0">
                <a:solidFill>
                  <a:srgbClr val="355163"/>
                </a:solidFill>
                <a:latin typeface="Inter" pitchFamily="34" charset="0"/>
                <a:ea typeface="Inter" pitchFamily="34" charset="-122"/>
                <a:cs typeface="Inter" pitchFamily="34" charset="-120"/>
              </a:rPr>
              <a:t>/</a:t>
            </a:r>
            <a:endParaRPr lang="en-US" sz="1600" dirty="0"/>
          </a:p>
        </p:txBody>
      </p:sp>
      <p:sp>
        <p:nvSpPr>
          <p:cNvPr id="13" name="Text 11"/>
          <p:cNvSpPr/>
          <p:nvPr/>
        </p:nvSpPr>
        <p:spPr>
          <a:xfrm>
            <a:off x="2862072" y="5166360"/>
            <a:ext cx="1188720" cy="256032"/>
          </a:xfrm>
          <a:prstGeom prst="rect">
            <a:avLst/>
          </a:prstGeom>
          <a:noFill/>
          <a:ln/>
        </p:spPr>
        <p:txBody>
          <a:bodyPr wrap="square" lIns="0" tIns="0" rIns="0" bIns="0" rtlCol="0" anchor="ctr"/>
          <a:lstStyle/>
          <a:p>
            <a:pPr algn="l" indent="0" marL="0">
              <a:buNone/>
            </a:pPr>
            <a:r>
              <a:rPr lang="en-US" sz="1710" dirty="0">
                <a:solidFill>
                  <a:srgbClr val="FFFFFF"/>
                </a:solidFill>
                <a:latin typeface="Inter" pitchFamily="34" charset="0"/>
                <a:ea typeface="Inter" pitchFamily="34" charset="-122"/>
                <a:cs typeface="Inter" pitchFamily="34" charset="-120"/>
              </a:rPr>
              <a:t>Create</a:t>
            </a:r>
            <a:endParaRPr lang="en-US" sz="1710" dirty="0"/>
          </a:p>
        </p:txBody>
      </p:sp>
      <p:sp>
        <p:nvSpPr>
          <p:cNvPr id="14" name="Text 12"/>
          <p:cNvSpPr/>
          <p:nvPr/>
        </p:nvSpPr>
        <p:spPr>
          <a:xfrm>
            <a:off x="3758184" y="5166360"/>
            <a:ext cx="210312" cy="246888"/>
          </a:xfrm>
          <a:prstGeom prst="rect">
            <a:avLst/>
          </a:prstGeom>
          <a:noFill/>
          <a:ln/>
        </p:spPr>
        <p:txBody>
          <a:bodyPr wrap="square" lIns="0" tIns="0" rIns="0" bIns="0" rtlCol="0" anchor="ctr"/>
          <a:lstStyle/>
          <a:p>
            <a:pPr algn="l" indent="0" marL="0">
              <a:buNone/>
            </a:pPr>
            <a:r>
              <a:rPr lang="en-US" sz="1600" dirty="0">
                <a:solidFill>
                  <a:srgbClr val="355163"/>
                </a:solidFill>
                <a:latin typeface="Inter" pitchFamily="34" charset="0"/>
                <a:ea typeface="Inter" pitchFamily="34" charset="-122"/>
                <a:cs typeface="Inter" pitchFamily="34" charset="-120"/>
              </a:rPr>
              <a:t>/</a:t>
            </a:r>
            <a:endParaRPr lang="en-US" sz="1600" dirty="0"/>
          </a:p>
        </p:txBody>
      </p:sp>
      <p:sp>
        <p:nvSpPr>
          <p:cNvPr id="15" name="Text 13"/>
          <p:cNvSpPr/>
          <p:nvPr/>
        </p:nvSpPr>
        <p:spPr>
          <a:xfrm>
            <a:off x="4059936" y="5166360"/>
            <a:ext cx="1426464" cy="256032"/>
          </a:xfrm>
          <a:prstGeom prst="rect">
            <a:avLst/>
          </a:prstGeom>
          <a:noFill/>
          <a:ln/>
        </p:spPr>
        <p:txBody>
          <a:bodyPr wrap="square" lIns="0" tIns="0" rIns="0" bIns="0" rtlCol="0" anchor="ctr"/>
          <a:lstStyle/>
          <a:p>
            <a:pPr algn="l" indent="0" marL="0">
              <a:buNone/>
            </a:pPr>
            <a:r>
              <a:rPr lang="en-US" sz="1710" b="1" dirty="0">
                <a:solidFill>
                  <a:srgbClr val="64C9BA"/>
                </a:solidFill>
                <a:latin typeface="Inter" pitchFamily="34" charset="0"/>
                <a:ea typeface="Inter" pitchFamily="34" charset="-122"/>
                <a:cs typeface="Inter" pitchFamily="34" charset="-120"/>
              </a:rPr>
              <a:t>Anticipate</a:t>
            </a:r>
            <a:endParaRPr lang="en-US" sz="1710" dirty="0"/>
          </a:p>
        </p:txBody>
      </p:sp>
      <p:sp>
        <p:nvSpPr>
          <p:cNvPr id="16" name="Text 14"/>
          <p:cNvSpPr/>
          <p:nvPr/>
        </p:nvSpPr>
        <p:spPr>
          <a:xfrm>
            <a:off x="5358384" y="5166360"/>
            <a:ext cx="210312" cy="246888"/>
          </a:xfrm>
          <a:prstGeom prst="rect">
            <a:avLst/>
          </a:prstGeom>
          <a:noFill/>
          <a:ln/>
        </p:spPr>
        <p:txBody>
          <a:bodyPr wrap="square" lIns="0" tIns="0" rIns="0" bIns="0" rtlCol="0" anchor="ctr"/>
          <a:lstStyle/>
          <a:p>
            <a:pPr algn="l" indent="0" marL="0">
              <a:buNone/>
            </a:pPr>
            <a:r>
              <a:rPr lang="en-US" sz="1600" dirty="0">
                <a:solidFill>
                  <a:srgbClr val="355163"/>
                </a:solidFill>
                <a:latin typeface="Inter" pitchFamily="34" charset="0"/>
                <a:ea typeface="Inter" pitchFamily="34" charset="-122"/>
                <a:cs typeface="Inter" pitchFamily="34" charset="-120"/>
              </a:rPr>
              <a:t>/</a:t>
            </a:r>
            <a:endParaRPr lang="en-US" sz="1600" dirty="0"/>
          </a:p>
        </p:txBody>
      </p:sp>
      <p:sp>
        <p:nvSpPr>
          <p:cNvPr id="17" name="Text 15"/>
          <p:cNvSpPr/>
          <p:nvPr/>
        </p:nvSpPr>
        <p:spPr>
          <a:xfrm>
            <a:off x="5669280" y="5166360"/>
            <a:ext cx="1188720" cy="256032"/>
          </a:xfrm>
          <a:prstGeom prst="rect">
            <a:avLst/>
          </a:prstGeom>
          <a:noFill/>
          <a:ln/>
        </p:spPr>
        <p:txBody>
          <a:bodyPr wrap="square" lIns="0" tIns="0" rIns="0" bIns="0" rtlCol="0" anchor="ctr"/>
          <a:lstStyle/>
          <a:p>
            <a:pPr algn="l" indent="0" marL="0">
              <a:buNone/>
            </a:pPr>
            <a:r>
              <a:rPr lang="en-US" sz="1710" b="1" dirty="0">
                <a:solidFill>
                  <a:srgbClr val="64C9BA"/>
                </a:solidFill>
                <a:latin typeface="Inter" pitchFamily="34" charset="0"/>
                <a:ea typeface="Inter" pitchFamily="34" charset="-122"/>
                <a:cs typeface="Inter" pitchFamily="34" charset="-120"/>
              </a:rPr>
              <a:t>Act</a:t>
            </a:r>
            <a:endParaRPr lang="en-US" sz="1710" dirty="0"/>
          </a:p>
        </p:txBody>
      </p:sp>
      <p:sp>
        <p:nvSpPr>
          <p:cNvPr id="18" name="Text 16"/>
          <p:cNvSpPr/>
          <p:nvPr/>
        </p:nvSpPr>
        <p:spPr>
          <a:xfrm>
            <a:off x="585216" y="5605272"/>
            <a:ext cx="5897880" cy="466344"/>
          </a:xfrm>
          <a:prstGeom prst="rect">
            <a:avLst/>
          </a:prstGeom>
          <a:noFill/>
          <a:ln/>
        </p:spPr>
        <p:txBody>
          <a:bodyPr wrap="square" lIns="0" tIns="0" rIns="0" bIns="0" rtlCol="0" anchor="ctr"/>
          <a:lstStyle/>
          <a:p>
            <a:pPr algn="l" indent="0" marL="0">
              <a:buNone/>
            </a:pPr>
            <a:r>
              <a:rPr lang="en-US" sz="1460" dirty="0">
                <a:solidFill>
                  <a:srgbClr val="8FA5AF"/>
                </a:solidFill>
                <a:latin typeface="Inter" pitchFamily="34" charset="0"/>
                <a:ea typeface="Inter" pitchFamily="34" charset="-122"/>
                <a:cs typeface="Inter" pitchFamily="34" charset="-120"/>
              </a:rPr>
              <a:t>The chat window is the entry point.</a:t>
            </a:r>
            <a:endParaRPr lang="en-US" sz="1460" dirty="0"/>
          </a:p>
          <a:p>
            <a:pPr algn="l" indent="0" marL="0">
              <a:buNone/>
            </a:pPr>
            <a:r>
              <a:rPr lang="en-US" sz="1460" dirty="0">
                <a:solidFill>
                  <a:srgbClr val="8FA5AF"/>
                </a:solidFill>
                <a:latin typeface="Inter" pitchFamily="34" charset="0"/>
                <a:ea typeface="Inter" pitchFamily="34" charset="-122"/>
                <a:cs typeface="Inter" pitchFamily="34" charset="-120"/>
              </a:rPr>
              <a:t>The intelligence underneath is the advantage.</a:t>
            </a:r>
            <a:endParaRPr lang="en-US" sz="1460" dirty="0"/>
          </a:p>
        </p:txBody>
      </p:sp>
      <p:sp>
        <p:nvSpPr>
          <p:cNvPr id="19" name="Shape 17"/>
          <p:cNvSpPr/>
          <p:nvPr/>
        </p:nvSpPr>
        <p:spPr>
          <a:xfrm>
            <a:off x="7379208" y="1335024"/>
            <a:ext cx="3730752" cy="3730752"/>
          </a:xfrm>
          <a:prstGeom prst="ellipse">
            <a:avLst/>
          </a:prstGeom>
          <a:solidFill>
            <a:srgbClr val="FFFFFF">
              <a:alpha val="0"/>
            </a:srgbClr>
          </a:solidFill>
          <a:ln w="8255">
            <a:solidFill>
              <a:srgbClr val="355163">
                <a:alpha val="64000"/>
              </a:srgbClr>
            </a:solidFill>
            <a:prstDash val="solid"/>
          </a:ln>
        </p:spPr>
      </p:sp>
      <p:sp>
        <p:nvSpPr>
          <p:cNvPr id="20" name="Shape 18"/>
          <p:cNvSpPr/>
          <p:nvPr/>
        </p:nvSpPr>
        <p:spPr>
          <a:xfrm>
            <a:off x="7754112" y="1709928"/>
            <a:ext cx="2980944" cy="2980944"/>
          </a:xfrm>
          <a:prstGeom prst="ellipse">
            <a:avLst/>
          </a:prstGeom>
          <a:solidFill>
            <a:srgbClr val="FFFFFF">
              <a:alpha val="0"/>
            </a:srgbClr>
          </a:solidFill>
          <a:ln w="12700">
            <a:solidFill>
              <a:srgbClr val="B89970">
                <a:alpha val="78000"/>
              </a:srgbClr>
            </a:solidFill>
            <a:prstDash val="solid"/>
          </a:ln>
        </p:spPr>
      </p:sp>
      <p:sp>
        <p:nvSpPr>
          <p:cNvPr id="21" name="Shape 19"/>
          <p:cNvSpPr/>
          <p:nvPr/>
        </p:nvSpPr>
        <p:spPr>
          <a:xfrm>
            <a:off x="8055864" y="2011680"/>
            <a:ext cx="2377440" cy="2377440"/>
          </a:xfrm>
          <a:prstGeom prst="ellipse">
            <a:avLst/>
          </a:prstGeom>
          <a:solidFill>
            <a:srgbClr val="FFFFFF">
              <a:alpha val="0"/>
            </a:srgbClr>
          </a:solidFill>
          <a:ln w="8255">
            <a:solidFill>
              <a:srgbClr val="355163"/>
            </a:solidFill>
            <a:prstDash val="solid"/>
          </a:ln>
        </p:spPr>
      </p:sp>
      <p:sp>
        <p:nvSpPr>
          <p:cNvPr id="22" name="Shape 20"/>
          <p:cNvSpPr/>
          <p:nvPr/>
        </p:nvSpPr>
        <p:spPr>
          <a:xfrm>
            <a:off x="9244584" y="3200400"/>
            <a:ext cx="0" cy="-1837944"/>
          </a:xfrm>
          <a:prstGeom prst="line">
            <a:avLst/>
          </a:prstGeom>
          <a:noFill/>
          <a:ln w="10160">
            <a:solidFill>
              <a:srgbClr val="355163"/>
            </a:solidFill>
            <a:prstDash val="solid"/>
          </a:ln>
        </p:spPr>
      </p:sp>
      <p:sp>
        <p:nvSpPr>
          <p:cNvPr id="23" name="Shape 21"/>
          <p:cNvSpPr/>
          <p:nvPr/>
        </p:nvSpPr>
        <p:spPr>
          <a:xfrm>
            <a:off x="9211666" y="1677010"/>
            <a:ext cx="65837" cy="65837"/>
          </a:xfrm>
          <a:prstGeom prst="ellipse">
            <a:avLst/>
          </a:prstGeom>
          <a:solidFill>
            <a:srgbClr val="D9BE97"/>
          </a:solidFill>
          <a:ln w="12700">
            <a:solidFill>
              <a:srgbClr val="333333">
                <a:alpha val="0"/>
              </a:srgbClr>
            </a:solidFill>
            <a:prstDash val="solid"/>
          </a:ln>
        </p:spPr>
      </p:sp>
      <p:sp>
        <p:nvSpPr>
          <p:cNvPr id="24" name="Shape 22"/>
          <p:cNvSpPr/>
          <p:nvPr/>
        </p:nvSpPr>
        <p:spPr>
          <a:xfrm>
            <a:off x="9244584" y="3200400"/>
            <a:ext cx="1691640" cy="-1019556"/>
          </a:xfrm>
          <a:prstGeom prst="line">
            <a:avLst/>
          </a:prstGeom>
          <a:noFill/>
          <a:ln w="10160">
            <a:solidFill>
              <a:srgbClr val="355163"/>
            </a:solidFill>
            <a:prstDash val="solid"/>
          </a:ln>
        </p:spPr>
      </p:sp>
      <p:sp>
        <p:nvSpPr>
          <p:cNvPr id="25" name="Shape 23"/>
          <p:cNvSpPr/>
          <p:nvPr/>
        </p:nvSpPr>
        <p:spPr>
          <a:xfrm>
            <a:off x="10488210" y="2398105"/>
            <a:ext cx="65837" cy="65837"/>
          </a:xfrm>
          <a:prstGeom prst="ellipse">
            <a:avLst/>
          </a:prstGeom>
          <a:solidFill>
            <a:srgbClr val="D9BE97"/>
          </a:solidFill>
          <a:ln w="12700">
            <a:solidFill>
              <a:srgbClr val="333333">
                <a:alpha val="0"/>
              </a:srgbClr>
            </a:solidFill>
            <a:prstDash val="solid"/>
          </a:ln>
        </p:spPr>
      </p:sp>
      <p:sp>
        <p:nvSpPr>
          <p:cNvPr id="26" name="Shape 24"/>
          <p:cNvSpPr/>
          <p:nvPr/>
        </p:nvSpPr>
        <p:spPr>
          <a:xfrm>
            <a:off x="9244584" y="3200400"/>
            <a:ext cx="1645920" cy="1088136"/>
          </a:xfrm>
          <a:prstGeom prst="line">
            <a:avLst/>
          </a:prstGeom>
          <a:noFill/>
          <a:ln w="10160">
            <a:solidFill>
              <a:srgbClr val="355163"/>
            </a:solidFill>
            <a:prstDash val="solid"/>
          </a:ln>
        </p:spPr>
      </p:sp>
      <p:sp>
        <p:nvSpPr>
          <p:cNvPr id="27" name="Shape 25"/>
          <p:cNvSpPr/>
          <p:nvPr/>
        </p:nvSpPr>
        <p:spPr>
          <a:xfrm>
            <a:off x="10454992" y="3989459"/>
            <a:ext cx="65837" cy="65837"/>
          </a:xfrm>
          <a:prstGeom prst="ellipse">
            <a:avLst/>
          </a:prstGeom>
          <a:solidFill>
            <a:srgbClr val="D9BE97"/>
          </a:solidFill>
          <a:ln w="12700">
            <a:solidFill>
              <a:srgbClr val="333333">
                <a:alpha val="0"/>
              </a:srgbClr>
            </a:solidFill>
            <a:prstDash val="solid"/>
          </a:ln>
        </p:spPr>
      </p:sp>
      <p:sp>
        <p:nvSpPr>
          <p:cNvPr id="28" name="Shape 26"/>
          <p:cNvSpPr/>
          <p:nvPr/>
        </p:nvSpPr>
        <p:spPr>
          <a:xfrm>
            <a:off x="9244584" y="3200400"/>
            <a:ext cx="0" cy="1819656"/>
          </a:xfrm>
          <a:prstGeom prst="line">
            <a:avLst/>
          </a:prstGeom>
          <a:noFill/>
          <a:ln w="10160">
            <a:solidFill>
              <a:srgbClr val="355163"/>
            </a:solidFill>
            <a:prstDash val="solid"/>
          </a:ln>
        </p:spPr>
      </p:sp>
      <p:sp>
        <p:nvSpPr>
          <p:cNvPr id="29" name="Shape 27"/>
          <p:cNvSpPr/>
          <p:nvPr/>
        </p:nvSpPr>
        <p:spPr>
          <a:xfrm>
            <a:off x="9211666" y="4657954"/>
            <a:ext cx="65837" cy="65837"/>
          </a:xfrm>
          <a:prstGeom prst="ellipse">
            <a:avLst/>
          </a:prstGeom>
          <a:solidFill>
            <a:srgbClr val="D9BE97"/>
          </a:solidFill>
          <a:ln w="12700">
            <a:solidFill>
              <a:srgbClr val="333333">
                <a:alpha val="0"/>
              </a:srgbClr>
            </a:solidFill>
            <a:prstDash val="solid"/>
          </a:ln>
        </p:spPr>
      </p:sp>
      <p:sp>
        <p:nvSpPr>
          <p:cNvPr id="30" name="Shape 28"/>
          <p:cNvSpPr/>
          <p:nvPr/>
        </p:nvSpPr>
        <p:spPr>
          <a:xfrm>
            <a:off x="9244584" y="3200400"/>
            <a:ext cx="-1664208" cy="1101852"/>
          </a:xfrm>
          <a:prstGeom prst="line">
            <a:avLst/>
          </a:prstGeom>
          <a:noFill/>
          <a:ln w="10160">
            <a:solidFill>
              <a:srgbClr val="355163"/>
            </a:solidFill>
            <a:prstDash val="solid"/>
          </a:ln>
        </p:spPr>
      </p:sp>
      <p:sp>
        <p:nvSpPr>
          <p:cNvPr id="31" name="Shape 29"/>
          <p:cNvSpPr/>
          <p:nvPr/>
        </p:nvSpPr>
        <p:spPr>
          <a:xfrm>
            <a:off x="7968898" y="3990303"/>
            <a:ext cx="65837" cy="65837"/>
          </a:xfrm>
          <a:prstGeom prst="ellipse">
            <a:avLst/>
          </a:prstGeom>
          <a:solidFill>
            <a:srgbClr val="D9BE97"/>
          </a:solidFill>
          <a:ln w="12700">
            <a:solidFill>
              <a:srgbClr val="333333">
                <a:alpha val="0"/>
              </a:srgbClr>
            </a:solidFill>
            <a:prstDash val="solid"/>
          </a:ln>
        </p:spPr>
      </p:sp>
      <p:sp>
        <p:nvSpPr>
          <p:cNvPr id="32" name="Shape 30"/>
          <p:cNvSpPr/>
          <p:nvPr/>
        </p:nvSpPr>
        <p:spPr>
          <a:xfrm>
            <a:off x="9244584" y="3200400"/>
            <a:ext cx="-1668780" cy="-1019556"/>
          </a:xfrm>
          <a:prstGeom prst="line">
            <a:avLst/>
          </a:prstGeom>
          <a:noFill/>
          <a:ln w="10160">
            <a:solidFill>
              <a:srgbClr val="355163"/>
            </a:solidFill>
            <a:prstDash val="solid"/>
          </a:ln>
        </p:spPr>
      </p:sp>
      <p:sp>
        <p:nvSpPr>
          <p:cNvPr id="33" name="Shape 31"/>
          <p:cNvSpPr/>
          <p:nvPr/>
        </p:nvSpPr>
        <p:spPr>
          <a:xfrm>
            <a:off x="7939787" y="2390416"/>
            <a:ext cx="65837" cy="65837"/>
          </a:xfrm>
          <a:prstGeom prst="ellipse">
            <a:avLst/>
          </a:prstGeom>
          <a:solidFill>
            <a:srgbClr val="D9BE97"/>
          </a:solidFill>
          <a:ln w="12700">
            <a:solidFill>
              <a:srgbClr val="333333">
                <a:alpha val="0"/>
              </a:srgbClr>
            </a:solidFill>
            <a:prstDash val="solid"/>
          </a:ln>
        </p:spPr>
      </p:sp>
      <p:sp>
        <p:nvSpPr>
          <p:cNvPr id="34" name="Shape 32"/>
          <p:cNvSpPr/>
          <p:nvPr/>
        </p:nvSpPr>
        <p:spPr>
          <a:xfrm>
            <a:off x="8238744" y="2194560"/>
            <a:ext cx="2011680" cy="2011680"/>
          </a:xfrm>
          <a:prstGeom prst="ellipse">
            <a:avLst/>
          </a:prstGeom>
          <a:solidFill>
            <a:srgbClr val="102C40"/>
          </a:solidFill>
          <a:ln w="16510">
            <a:solidFill>
              <a:srgbClr val="B89970"/>
            </a:solidFill>
            <a:prstDash val="solid"/>
          </a:ln>
        </p:spPr>
      </p:sp>
      <p:sp>
        <p:nvSpPr>
          <p:cNvPr id="35" name="Shape 33"/>
          <p:cNvSpPr/>
          <p:nvPr/>
        </p:nvSpPr>
        <p:spPr>
          <a:xfrm>
            <a:off x="8412480" y="2368296"/>
            <a:ext cx="1664208" cy="1664208"/>
          </a:xfrm>
          <a:prstGeom prst="ellipse">
            <a:avLst/>
          </a:prstGeom>
          <a:solidFill>
            <a:srgbClr val="FFFFFF">
              <a:alpha val="0"/>
            </a:srgbClr>
          </a:solidFill>
          <a:ln w="6985">
            <a:solidFill>
              <a:srgbClr val="355163"/>
            </a:solidFill>
            <a:prstDash val="solid"/>
          </a:ln>
        </p:spPr>
      </p:sp>
      <p:sp>
        <p:nvSpPr>
          <p:cNvPr id="36" name="Text 34"/>
          <p:cNvSpPr/>
          <p:nvPr/>
        </p:nvSpPr>
        <p:spPr>
          <a:xfrm>
            <a:off x="8467344" y="2697480"/>
            <a:ext cx="1554480" cy="310896"/>
          </a:xfrm>
          <a:prstGeom prst="rect">
            <a:avLst/>
          </a:prstGeom>
          <a:noFill/>
          <a:ln/>
        </p:spPr>
        <p:txBody>
          <a:bodyPr wrap="square" lIns="0" tIns="0" rIns="0" bIns="0" rtlCol="0" anchor="ctr"/>
          <a:lstStyle/>
          <a:p>
            <a:pPr algn="ctr" indent="0" marL="0">
              <a:buNone/>
            </a:pPr>
            <a:r>
              <a:rPr lang="en-US" sz="2200" b="1" spc="220" kern="0" dirty="0">
                <a:solidFill>
                  <a:srgbClr val="D9BE97"/>
                </a:solidFill>
                <a:latin typeface="Inter" pitchFamily="34" charset="0"/>
                <a:ea typeface="Inter" pitchFamily="34" charset="-122"/>
                <a:cs typeface="Inter" pitchFamily="34" charset="-120"/>
              </a:rPr>
              <a:t>ONE</a:t>
            </a:r>
            <a:endParaRPr lang="en-US" sz="2200" dirty="0"/>
          </a:p>
        </p:txBody>
      </p:sp>
      <p:sp>
        <p:nvSpPr>
          <p:cNvPr id="37" name="Text 35"/>
          <p:cNvSpPr/>
          <p:nvPr/>
        </p:nvSpPr>
        <p:spPr>
          <a:xfrm>
            <a:off x="8366760" y="3090672"/>
            <a:ext cx="1755648" cy="393192"/>
          </a:xfrm>
          <a:prstGeom prst="rect">
            <a:avLst/>
          </a:prstGeom>
          <a:noFill/>
          <a:ln/>
        </p:spPr>
        <p:txBody>
          <a:bodyPr wrap="square" lIns="0" tIns="0" rIns="0" bIns="0" rtlCol="0" anchor="ctr"/>
          <a:lstStyle/>
          <a:p>
            <a:pPr algn="ctr" indent="0" marL="0">
              <a:buNone/>
            </a:pPr>
            <a:r>
              <a:rPr lang="en-US" sz="2900" b="1" spc="100" kern="0" dirty="0">
                <a:solidFill>
                  <a:srgbClr val="FFFFFF"/>
                </a:solidFill>
                <a:latin typeface="Inter" pitchFamily="34" charset="0"/>
                <a:ea typeface="Inter" pitchFamily="34" charset="-122"/>
                <a:cs typeface="Inter" pitchFamily="34" charset="-120"/>
              </a:rPr>
              <a:t>CLIENT</a:t>
            </a:r>
            <a:endParaRPr lang="en-US" sz="2900" dirty="0"/>
          </a:p>
        </p:txBody>
      </p:sp>
      <p:sp>
        <p:nvSpPr>
          <p:cNvPr id="38" name="Text 36"/>
          <p:cNvSpPr/>
          <p:nvPr/>
        </p:nvSpPr>
        <p:spPr>
          <a:xfrm>
            <a:off x="8348472" y="3630168"/>
            <a:ext cx="1792224" cy="182880"/>
          </a:xfrm>
          <a:prstGeom prst="rect">
            <a:avLst/>
          </a:prstGeom>
          <a:noFill/>
          <a:ln/>
        </p:spPr>
        <p:txBody>
          <a:bodyPr wrap="square" lIns="0" tIns="0" rIns="0" bIns="0" rtlCol="0" anchor="ctr"/>
          <a:lstStyle/>
          <a:p>
            <a:pPr algn="ctr" indent="0" marL="0">
              <a:buNone/>
            </a:pPr>
            <a:r>
              <a:rPr lang="en-US" sz="930" dirty="0">
                <a:solidFill>
                  <a:srgbClr val="C3D2D7"/>
                </a:solidFill>
                <a:latin typeface="Inter" pitchFamily="34" charset="0"/>
                <a:ea typeface="Inter" pitchFamily="34" charset="-122"/>
                <a:cs typeface="Inter" pitchFamily="34" charset="-120"/>
              </a:rPr>
              <a:t>One coordinated team</a:t>
            </a:r>
            <a:endParaRPr lang="en-US" sz="930" dirty="0"/>
          </a:p>
        </p:txBody>
      </p:sp>
      <p:sp>
        <p:nvSpPr>
          <p:cNvPr id="39" name="Shape 37"/>
          <p:cNvSpPr/>
          <p:nvPr/>
        </p:nvSpPr>
        <p:spPr>
          <a:xfrm>
            <a:off x="8421624" y="1097280"/>
            <a:ext cx="1645920" cy="530352"/>
          </a:xfrm>
          <a:prstGeom prst="roundRect">
            <a:avLst>
              <a:gd name="adj" fmla="val 15517"/>
            </a:avLst>
          </a:prstGeom>
          <a:solidFill>
            <a:srgbClr val="102C40"/>
          </a:solidFill>
          <a:ln w="8890">
            <a:solidFill>
              <a:srgbClr val="355163"/>
            </a:solidFill>
            <a:prstDash val="solid"/>
          </a:ln>
        </p:spPr>
      </p:sp>
      <p:sp>
        <p:nvSpPr>
          <p:cNvPr id="40" name="Text 38"/>
          <p:cNvSpPr/>
          <p:nvPr/>
        </p:nvSpPr>
        <p:spPr>
          <a:xfrm>
            <a:off x="8485632" y="1143000"/>
            <a:ext cx="1517904" cy="438912"/>
          </a:xfrm>
          <a:prstGeom prst="rect">
            <a:avLst/>
          </a:prstGeom>
          <a:noFill/>
          <a:ln/>
        </p:spPr>
        <p:txBody>
          <a:bodyPr wrap="square" lIns="0" tIns="0" rIns="0" bIns="0" rtlCol="0" anchor="ctr"/>
          <a:lstStyle/>
          <a:p>
            <a:pPr algn="ctr" indent="0" marL="0">
              <a:buNone/>
            </a:pPr>
            <a:r>
              <a:rPr lang="en-US" sz="1210" b="1" dirty="0">
                <a:solidFill>
                  <a:srgbClr val="C3D2D7"/>
                </a:solidFill>
                <a:latin typeface="Inter" pitchFamily="34" charset="0"/>
                <a:ea typeface="Inter" pitchFamily="34" charset="-122"/>
                <a:cs typeface="Inter" pitchFamily="34" charset="-120"/>
              </a:rPr>
              <a:t>Client context</a:t>
            </a:r>
            <a:endParaRPr lang="en-US" sz="1210" dirty="0"/>
          </a:p>
        </p:txBody>
      </p:sp>
      <p:sp>
        <p:nvSpPr>
          <p:cNvPr id="41" name="Shape 39"/>
          <p:cNvSpPr/>
          <p:nvPr/>
        </p:nvSpPr>
        <p:spPr>
          <a:xfrm>
            <a:off x="10213848" y="1901952"/>
            <a:ext cx="1444752" cy="557784"/>
          </a:xfrm>
          <a:prstGeom prst="roundRect">
            <a:avLst>
              <a:gd name="adj" fmla="val 14754"/>
            </a:avLst>
          </a:prstGeom>
          <a:solidFill>
            <a:srgbClr val="102C40"/>
          </a:solidFill>
          <a:ln w="8890">
            <a:solidFill>
              <a:srgbClr val="355163"/>
            </a:solidFill>
            <a:prstDash val="solid"/>
          </a:ln>
        </p:spPr>
      </p:sp>
      <p:sp>
        <p:nvSpPr>
          <p:cNvPr id="42" name="Text 40"/>
          <p:cNvSpPr/>
          <p:nvPr/>
        </p:nvSpPr>
        <p:spPr>
          <a:xfrm>
            <a:off x="10277856" y="1947672"/>
            <a:ext cx="1316736" cy="466344"/>
          </a:xfrm>
          <a:prstGeom prst="rect">
            <a:avLst/>
          </a:prstGeom>
          <a:noFill/>
          <a:ln/>
        </p:spPr>
        <p:txBody>
          <a:bodyPr wrap="square" lIns="0" tIns="0" rIns="0" bIns="0" rtlCol="0" anchor="ctr"/>
          <a:lstStyle/>
          <a:p>
            <a:pPr algn="ctr" indent="0" marL="0">
              <a:buNone/>
            </a:pPr>
            <a:r>
              <a:rPr lang="en-US" sz="1210" b="1" dirty="0">
                <a:solidFill>
                  <a:srgbClr val="C3D2D7"/>
                </a:solidFill>
                <a:latin typeface="Inter" pitchFamily="34" charset="0"/>
                <a:ea typeface="Inter" pitchFamily="34" charset="-122"/>
                <a:cs typeface="Inter" pitchFamily="34" charset="-120"/>
              </a:rPr>
              <a:t>Investments</a:t>
            </a:r>
            <a:endParaRPr lang="en-US" sz="1210" dirty="0"/>
          </a:p>
        </p:txBody>
      </p:sp>
      <p:sp>
        <p:nvSpPr>
          <p:cNvPr id="43" name="Shape 41"/>
          <p:cNvSpPr/>
          <p:nvPr/>
        </p:nvSpPr>
        <p:spPr>
          <a:xfrm>
            <a:off x="10122408" y="3995928"/>
            <a:ext cx="1536192" cy="585216"/>
          </a:xfrm>
          <a:prstGeom prst="roundRect">
            <a:avLst>
              <a:gd name="adj" fmla="val 14063"/>
            </a:avLst>
          </a:prstGeom>
          <a:solidFill>
            <a:srgbClr val="102C40"/>
          </a:solidFill>
          <a:ln w="8890">
            <a:solidFill>
              <a:srgbClr val="355163"/>
            </a:solidFill>
            <a:prstDash val="solid"/>
          </a:ln>
        </p:spPr>
      </p:sp>
      <p:sp>
        <p:nvSpPr>
          <p:cNvPr id="44" name="Text 42"/>
          <p:cNvSpPr/>
          <p:nvPr/>
        </p:nvSpPr>
        <p:spPr>
          <a:xfrm>
            <a:off x="10186416" y="4041648"/>
            <a:ext cx="1408176" cy="493776"/>
          </a:xfrm>
          <a:prstGeom prst="rect">
            <a:avLst/>
          </a:prstGeom>
          <a:noFill/>
          <a:ln/>
        </p:spPr>
        <p:txBody>
          <a:bodyPr wrap="square" lIns="0" tIns="0" rIns="0" bIns="0" rtlCol="0" anchor="ctr"/>
          <a:lstStyle/>
          <a:p>
            <a:pPr algn="ctr" indent="0" marL="0">
              <a:buNone/>
            </a:pPr>
            <a:r>
              <a:rPr lang="en-US" sz="1210" b="1" dirty="0">
                <a:solidFill>
                  <a:srgbClr val="C3D2D7"/>
                </a:solidFill>
                <a:latin typeface="Inter" pitchFamily="34" charset="0"/>
                <a:ea typeface="Inter" pitchFamily="34" charset="-122"/>
                <a:cs typeface="Inter" pitchFamily="34" charset="-120"/>
              </a:rPr>
              <a:t>Wealth</a:t>
            </a:r>
            <a:endParaRPr lang="en-US" sz="1210" dirty="0"/>
          </a:p>
          <a:p>
            <a:pPr algn="ctr" indent="0" marL="0">
              <a:buNone/>
            </a:pPr>
            <a:r>
              <a:rPr lang="en-US" sz="1210" b="1" dirty="0">
                <a:solidFill>
                  <a:srgbClr val="C3D2D7"/>
                </a:solidFill>
                <a:latin typeface="Inter" pitchFamily="34" charset="0"/>
                <a:ea typeface="Inter" pitchFamily="34" charset="-122"/>
                <a:cs typeface="Inter" pitchFamily="34" charset="-120"/>
              </a:rPr>
              <a:t>planning</a:t>
            </a:r>
            <a:endParaRPr lang="en-US" sz="1210" dirty="0"/>
          </a:p>
        </p:txBody>
      </p:sp>
      <p:sp>
        <p:nvSpPr>
          <p:cNvPr id="45" name="Shape 43"/>
          <p:cNvSpPr/>
          <p:nvPr/>
        </p:nvSpPr>
        <p:spPr>
          <a:xfrm>
            <a:off x="8449056" y="4754880"/>
            <a:ext cx="1591056" cy="530352"/>
          </a:xfrm>
          <a:prstGeom prst="roundRect">
            <a:avLst>
              <a:gd name="adj" fmla="val 15517"/>
            </a:avLst>
          </a:prstGeom>
          <a:solidFill>
            <a:srgbClr val="102C40"/>
          </a:solidFill>
          <a:ln w="8890">
            <a:solidFill>
              <a:srgbClr val="355163"/>
            </a:solidFill>
            <a:prstDash val="solid"/>
          </a:ln>
        </p:spPr>
      </p:sp>
      <p:sp>
        <p:nvSpPr>
          <p:cNvPr id="46" name="Text 44"/>
          <p:cNvSpPr/>
          <p:nvPr/>
        </p:nvSpPr>
        <p:spPr>
          <a:xfrm>
            <a:off x="8513064" y="4800600"/>
            <a:ext cx="1463040" cy="438912"/>
          </a:xfrm>
          <a:prstGeom prst="rect">
            <a:avLst/>
          </a:prstGeom>
          <a:noFill/>
          <a:ln/>
        </p:spPr>
        <p:txBody>
          <a:bodyPr wrap="square" lIns="0" tIns="0" rIns="0" bIns="0" rtlCol="0" anchor="ctr"/>
          <a:lstStyle/>
          <a:p>
            <a:pPr algn="ctr" indent="0" marL="0">
              <a:buNone/>
            </a:pPr>
            <a:r>
              <a:rPr lang="en-US" sz="1210" b="1" dirty="0">
                <a:solidFill>
                  <a:srgbClr val="C3D2D7"/>
                </a:solidFill>
                <a:latin typeface="Inter" pitchFamily="34" charset="0"/>
                <a:ea typeface="Inter" pitchFamily="34" charset="-122"/>
                <a:cs typeface="Inter" pitchFamily="34" charset="-120"/>
              </a:rPr>
              <a:t>Service</a:t>
            </a:r>
            <a:endParaRPr lang="en-US" sz="1210" dirty="0"/>
          </a:p>
        </p:txBody>
      </p:sp>
      <p:sp>
        <p:nvSpPr>
          <p:cNvPr id="47" name="Shape 45"/>
          <p:cNvSpPr/>
          <p:nvPr/>
        </p:nvSpPr>
        <p:spPr>
          <a:xfrm>
            <a:off x="6839712" y="4023360"/>
            <a:ext cx="1481328" cy="557784"/>
          </a:xfrm>
          <a:prstGeom prst="roundRect">
            <a:avLst>
              <a:gd name="adj" fmla="val 14754"/>
            </a:avLst>
          </a:prstGeom>
          <a:solidFill>
            <a:srgbClr val="102C40"/>
          </a:solidFill>
          <a:ln w="8890">
            <a:solidFill>
              <a:srgbClr val="355163"/>
            </a:solidFill>
            <a:prstDash val="solid"/>
          </a:ln>
        </p:spPr>
      </p:sp>
      <p:sp>
        <p:nvSpPr>
          <p:cNvPr id="48" name="Text 46"/>
          <p:cNvSpPr/>
          <p:nvPr/>
        </p:nvSpPr>
        <p:spPr>
          <a:xfrm>
            <a:off x="6903720" y="4069080"/>
            <a:ext cx="1353312" cy="466344"/>
          </a:xfrm>
          <a:prstGeom prst="rect">
            <a:avLst/>
          </a:prstGeom>
          <a:noFill/>
          <a:ln/>
        </p:spPr>
        <p:txBody>
          <a:bodyPr wrap="square" lIns="0" tIns="0" rIns="0" bIns="0" rtlCol="0" anchor="ctr"/>
          <a:lstStyle/>
          <a:p>
            <a:pPr algn="ctr" indent="0" marL="0">
              <a:buNone/>
            </a:pPr>
            <a:r>
              <a:rPr lang="en-US" sz="1210" b="1" dirty="0">
                <a:solidFill>
                  <a:srgbClr val="C3D2D7"/>
                </a:solidFill>
                <a:latin typeface="Inter" pitchFamily="34" charset="0"/>
                <a:ea typeface="Inter" pitchFamily="34" charset="-122"/>
                <a:cs typeface="Inter" pitchFamily="34" charset="-120"/>
              </a:rPr>
              <a:t>Lending</a:t>
            </a:r>
            <a:endParaRPr lang="en-US" sz="1210" dirty="0"/>
          </a:p>
        </p:txBody>
      </p:sp>
      <p:sp>
        <p:nvSpPr>
          <p:cNvPr id="49" name="Shape 47"/>
          <p:cNvSpPr/>
          <p:nvPr/>
        </p:nvSpPr>
        <p:spPr>
          <a:xfrm>
            <a:off x="6803136" y="1901952"/>
            <a:ext cx="1545336" cy="557784"/>
          </a:xfrm>
          <a:prstGeom prst="roundRect">
            <a:avLst>
              <a:gd name="adj" fmla="val 14754"/>
            </a:avLst>
          </a:prstGeom>
          <a:solidFill>
            <a:srgbClr val="102C40"/>
          </a:solidFill>
          <a:ln w="8890">
            <a:solidFill>
              <a:srgbClr val="355163"/>
            </a:solidFill>
            <a:prstDash val="solid"/>
          </a:ln>
        </p:spPr>
      </p:sp>
      <p:sp>
        <p:nvSpPr>
          <p:cNvPr id="50" name="Text 48"/>
          <p:cNvSpPr/>
          <p:nvPr/>
        </p:nvSpPr>
        <p:spPr>
          <a:xfrm>
            <a:off x="6867144" y="1947672"/>
            <a:ext cx="1417320" cy="466344"/>
          </a:xfrm>
          <a:prstGeom prst="rect">
            <a:avLst/>
          </a:prstGeom>
          <a:noFill/>
          <a:ln/>
        </p:spPr>
        <p:txBody>
          <a:bodyPr wrap="square" lIns="0" tIns="0" rIns="0" bIns="0" rtlCol="0" anchor="ctr"/>
          <a:lstStyle/>
          <a:p>
            <a:pPr algn="ctr" indent="0" marL="0">
              <a:buNone/>
            </a:pPr>
            <a:r>
              <a:rPr lang="en-US" sz="1210" b="1" dirty="0">
                <a:solidFill>
                  <a:srgbClr val="C3D2D7"/>
                </a:solidFill>
                <a:latin typeface="Inter" pitchFamily="34" charset="0"/>
                <a:ea typeface="Inter" pitchFamily="34" charset="-122"/>
                <a:cs typeface="Inter" pitchFamily="34" charset="-120"/>
              </a:rPr>
              <a:t>Firm expertise</a:t>
            </a:r>
            <a:endParaRPr lang="en-US" sz="1210" dirty="0"/>
          </a:p>
        </p:txBody>
      </p:sp>
      <p:sp>
        <p:nvSpPr>
          <p:cNvPr id="51" name="Text 49"/>
          <p:cNvSpPr/>
          <p:nvPr/>
        </p:nvSpPr>
        <p:spPr>
          <a:xfrm>
            <a:off x="6821424" y="5632704"/>
            <a:ext cx="4864608" cy="210312"/>
          </a:xfrm>
          <a:prstGeom prst="rect">
            <a:avLst/>
          </a:prstGeom>
          <a:noFill/>
          <a:ln/>
        </p:spPr>
        <p:txBody>
          <a:bodyPr wrap="square" lIns="0" tIns="0" rIns="0" bIns="0" rtlCol="0" anchor="ctr"/>
          <a:lstStyle/>
          <a:p>
            <a:pPr algn="ctr" indent="0" marL="0">
              <a:buNone/>
            </a:pPr>
            <a:r>
              <a:rPr lang="en-US" sz="1000" b="1" spc="155" kern="0" dirty="0">
                <a:solidFill>
                  <a:srgbClr val="D9BE97"/>
                </a:solidFill>
                <a:latin typeface="Inter" pitchFamily="34" charset="0"/>
                <a:ea typeface="Inter" pitchFamily="34" charset="-122"/>
                <a:cs typeface="Inter" pitchFamily="34" charset="-120"/>
              </a:rPr>
              <a:t>ONE SHARED INTELLIGENCE LAYER</a:t>
            </a:r>
            <a:endParaRPr lang="en-US" sz="1000" dirty="0"/>
          </a:p>
        </p:txBody>
      </p:sp>
      <p:sp>
        <p:nvSpPr>
          <p:cNvPr id="52" name="Text 50"/>
          <p:cNvSpPr/>
          <p:nvPr/>
        </p:nvSpPr>
        <p:spPr>
          <a:xfrm>
            <a:off x="548640" y="6368796"/>
            <a:ext cx="11091672" cy="105156"/>
          </a:xfrm>
          <a:prstGeom prst="rect">
            <a:avLst/>
          </a:prstGeom>
          <a:noFill/>
          <a:ln/>
        </p:spPr>
        <p:txBody>
          <a:bodyPr wrap="square" lIns="0" tIns="0" rIns="0" bIns="0" rtlCol="0" anchor="ctr"/>
          <a:lstStyle/>
          <a:p>
            <a:pPr algn="l" indent="0" marL="0">
              <a:buNone/>
            </a:pPr>
            <a:r>
              <a:rPr lang="en-US" sz="740" dirty="0">
                <a:solidFill>
                  <a:srgbClr val="8FA5AF"/>
                </a:solidFill>
                <a:latin typeface="Inter" pitchFamily="34" charset="0"/>
                <a:ea typeface="Inter" pitchFamily="34" charset="-122"/>
                <a:cs typeface="Inter" pitchFamily="34" charset="-120"/>
              </a:rPr>
              <a:t>Sources: </a:t>
            </a:r>
            <a:pPr algn="l" indent="0" marL="0">
              <a:buNone/>
            </a:pPr>
            <a:r>
              <a:rPr lang="en-US" sz="740" dirty="0">
                <a:solidFill>
                  <a:srgbClr val="8FA5AF"/>
                </a:solidFill>
                <a:latin typeface="Inter" pitchFamily="34" charset="0"/>
                <a:ea typeface="Inter" pitchFamily="34" charset="-122"/>
                <a:cs typeface="Inter" pitchFamily="34" charset="-120"/>
              </a:rPr>
              <a:t>Internal vision (Aug 2026)</a:t>
            </a:r>
            <a:pPr algn="l" indent="0" marL="0">
              <a:buNone/>
            </a:pPr>
            <a:r>
              <a:rPr lang="en-US" sz="740" dirty="0">
                <a:solidFill>
                  <a:srgbClr val="8FA5AF"/>
                </a:solidFill>
                <a:latin typeface="Inter" pitchFamily="34" charset="0"/>
                <a:ea typeface="Inter" pitchFamily="34" charset="-122"/>
                <a:cs typeface="Inter" pitchFamily="34" charset="-120"/>
              </a:rPr>
              <a:t>  ·  </a:t>
            </a:r>
            <a:pPr algn="l" indent="0" marL="0">
              <a:buNone/>
            </a:pPr>
            <a:r>
              <a:rPr lang="en-US" sz="740" dirty="0">
                <a:solidFill>
                  <a:srgbClr val="8FA5AF"/>
                </a:solidFill>
                <a:latin typeface="Inter" pitchFamily="34" charset="0"/>
                <a:ea typeface="Inter" pitchFamily="34" charset="-122"/>
                <a:cs typeface="Inter" pitchFamily="34" charset="-120"/>
              </a:rPr>
              <a:t>Supplied executive paper</a:t>
            </a:r>
            <a:endParaRPr lang="en-US" sz="740" dirty="0"/>
          </a:p>
        </p:txBody>
      </p:sp>
      <p:sp>
        <p:nvSpPr>
          <p:cNvPr id="53" name="Shape 51"/>
          <p:cNvSpPr/>
          <p:nvPr/>
        </p:nvSpPr>
        <p:spPr>
          <a:xfrm>
            <a:off x="548640" y="6510528"/>
            <a:ext cx="11091672" cy="0"/>
          </a:xfrm>
          <a:prstGeom prst="line">
            <a:avLst/>
          </a:prstGeom>
          <a:noFill/>
          <a:ln w="7620">
            <a:solidFill>
              <a:srgbClr val="355163"/>
            </a:solidFill>
            <a:prstDash val="solid"/>
          </a:ln>
        </p:spPr>
      </p:sp>
      <p:sp>
        <p:nvSpPr>
          <p:cNvPr id="54" name="Text 52"/>
          <p:cNvSpPr/>
          <p:nvPr/>
        </p:nvSpPr>
        <p:spPr>
          <a:xfrm>
            <a:off x="548640" y="6611112"/>
            <a:ext cx="3794760" cy="118872"/>
          </a:xfrm>
          <a:prstGeom prst="rect">
            <a:avLst/>
          </a:prstGeom>
          <a:noFill/>
          <a:ln/>
        </p:spPr>
        <p:txBody>
          <a:bodyPr wrap="square" lIns="0" tIns="0" rIns="0" bIns="0" rtlCol="0" anchor="ctr"/>
          <a:lstStyle/>
          <a:p>
            <a:pPr algn="l" indent="0" marL="0">
              <a:buNone/>
            </a:pPr>
            <a:r>
              <a:rPr lang="en-US" sz="780" b="1" spc="70" kern="0" dirty="0">
                <a:solidFill>
                  <a:srgbClr val="8FA5AF"/>
                </a:solidFill>
                <a:latin typeface="Inter" pitchFamily="34" charset="0"/>
                <a:ea typeface="Inter" pitchFamily="34" charset="-122"/>
                <a:cs typeface="Inter" pitchFamily="34" charset="-120"/>
              </a:rPr>
              <a:t>J.P. MORGAN  |  PRIVATE BANK</a:t>
            </a:r>
            <a:endParaRPr lang="en-US" sz="780" dirty="0"/>
          </a:p>
        </p:txBody>
      </p:sp>
      <p:sp>
        <p:nvSpPr>
          <p:cNvPr id="55" name="Text 53"/>
          <p:cNvSpPr/>
          <p:nvPr/>
        </p:nvSpPr>
        <p:spPr>
          <a:xfrm>
            <a:off x="6492240" y="6611112"/>
            <a:ext cx="4663440" cy="118872"/>
          </a:xfrm>
          <a:prstGeom prst="rect">
            <a:avLst/>
          </a:prstGeom>
          <a:noFill/>
          <a:ln/>
        </p:spPr>
        <p:txBody>
          <a:bodyPr wrap="square" lIns="0" tIns="0" rIns="0" bIns="0" rtlCol="0" anchor="ctr"/>
          <a:lstStyle/>
          <a:p>
            <a:pPr algn="r" indent="0" marL="0">
              <a:buNone/>
            </a:pPr>
            <a:r>
              <a:rPr lang="en-US" sz="770" spc="55" kern="0" dirty="0">
                <a:solidFill>
                  <a:srgbClr val="8FA5AF"/>
                </a:solidFill>
                <a:latin typeface="Inter" pitchFamily="34" charset="0"/>
                <a:ea typeface="Inter" pitchFamily="34" charset="-122"/>
                <a:cs typeface="Inter" pitchFamily="34" charset="-120"/>
              </a:rPr>
              <a:t>INTERNAL DISCUSSION  /  SEPTEMBER 2026</a:t>
            </a:r>
            <a:endParaRPr lang="en-US" sz="770" dirty="0"/>
          </a:p>
        </p:txBody>
      </p:sp>
      <p:sp>
        <p:nvSpPr>
          <p:cNvPr id="56" name="Text 54"/>
          <p:cNvSpPr/>
          <p:nvPr/>
        </p:nvSpPr>
        <p:spPr>
          <a:xfrm>
            <a:off x="11292840" y="6588252"/>
            <a:ext cx="347472" cy="173736"/>
          </a:xfrm>
          <a:prstGeom prst="rect">
            <a:avLst/>
          </a:prstGeom>
          <a:noFill/>
          <a:ln/>
        </p:spPr>
        <p:txBody>
          <a:bodyPr wrap="square" lIns="0" tIns="0" rIns="0" bIns="0" rtlCol="0" anchor="ctr"/>
          <a:lstStyle/>
          <a:p>
            <a:pPr algn="r" indent="0" marL="0">
              <a:buNone/>
            </a:pPr>
            <a:r>
              <a:rPr lang="en-US" sz="1000" b="1" dirty="0">
                <a:solidFill>
                  <a:srgbClr val="D9BE97"/>
                </a:solidFill>
                <a:latin typeface="Inter" pitchFamily="34" charset="0"/>
                <a:ea typeface="Inter" pitchFamily="34" charset="-122"/>
                <a:cs typeface="Inter" pitchFamily="34" charset="-120"/>
              </a:rPr>
              <a:t>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48640" y="429768"/>
            <a:ext cx="11091672" cy="182880"/>
          </a:xfrm>
          <a:prstGeom prst="rect">
            <a:avLst/>
          </a:prstGeom>
          <a:noFill/>
          <a:ln/>
        </p:spPr>
        <p:txBody>
          <a:bodyPr wrap="square" lIns="0" tIns="0" rIns="0" bIns="0" rtlCol="0" anchor="ctr"/>
          <a:lstStyle/>
          <a:p>
            <a:pPr algn="l" indent="0" marL="0">
              <a:buNone/>
            </a:pPr>
            <a:r>
              <a:rPr lang="en-US" sz="960" b="1" spc="150" kern="0" dirty="0">
                <a:solidFill>
                  <a:srgbClr val="9E5F46"/>
                </a:solidFill>
                <a:latin typeface="Inter" pitchFamily="34" charset="0"/>
                <a:ea typeface="Inter" pitchFamily="34" charset="-122"/>
                <a:cs typeface="Inter" pitchFamily="34" charset="-120"/>
              </a:rPr>
              <a:t>THE ANNOUNCEMENT  /  14 SEPTEMBER 2026</a:t>
            </a:r>
            <a:endParaRPr lang="en-US" sz="960" dirty="0"/>
          </a:p>
        </p:txBody>
      </p:sp>
      <p:sp>
        <p:nvSpPr>
          <p:cNvPr id="3" name="Text 1"/>
          <p:cNvSpPr/>
          <p:nvPr/>
        </p:nvSpPr>
        <p:spPr>
          <a:xfrm>
            <a:off x="548640" y="841248"/>
            <a:ext cx="11091672" cy="539496"/>
          </a:xfrm>
          <a:prstGeom prst="rect">
            <a:avLst/>
          </a:prstGeom>
          <a:noFill/>
          <a:ln/>
        </p:spPr>
        <p:txBody>
          <a:bodyPr wrap="square" lIns="0" tIns="0" rIns="0" bIns="0" rtlCol="0" anchor="ctr"/>
          <a:lstStyle/>
          <a:p>
            <a:pPr algn="l" indent="0" marL="0">
              <a:buNone/>
            </a:pPr>
            <a:r>
              <a:rPr lang="en-US" sz="3600" b="1" spc="-60" kern="0" dirty="0">
                <a:solidFill>
                  <a:srgbClr val="122B3E"/>
                </a:solidFill>
                <a:latin typeface="Inter Display" pitchFamily="34" charset="0"/>
                <a:ea typeface="Inter Display" pitchFamily="34" charset="-122"/>
                <a:cs typeface="Inter Display" pitchFamily="34" charset="-120"/>
              </a:rPr>
              <a:t>Claude validates the direction.</a:t>
            </a:r>
            <a:endParaRPr lang="en-US" sz="3600" dirty="0"/>
          </a:p>
        </p:txBody>
      </p:sp>
      <p:sp>
        <p:nvSpPr>
          <p:cNvPr id="4" name="Text 2"/>
          <p:cNvSpPr/>
          <p:nvPr/>
        </p:nvSpPr>
        <p:spPr>
          <a:xfrm>
            <a:off x="576072" y="1499616"/>
            <a:ext cx="10972800" cy="329184"/>
          </a:xfrm>
          <a:prstGeom prst="rect">
            <a:avLst/>
          </a:prstGeom>
          <a:noFill/>
          <a:ln/>
        </p:spPr>
        <p:txBody>
          <a:bodyPr wrap="square" lIns="0" tIns="0" rIns="0" bIns="0" rtlCol="0" anchor="ctr"/>
          <a:lstStyle/>
          <a:p>
            <a:pPr algn="l" indent="0" marL="0">
              <a:buNone/>
            </a:pPr>
            <a:r>
              <a:rPr lang="en-US" sz="1810" dirty="0">
                <a:solidFill>
                  <a:srgbClr val="60717A"/>
                </a:solidFill>
                <a:latin typeface="Inter" pitchFamily="34" charset="0"/>
                <a:ea typeface="Inter" pitchFamily="34" charset="-122"/>
                <a:cs typeface="Inter" pitchFamily="34" charset="-120"/>
              </a:rPr>
              <a:t>A conversational front door that connects the tools advisors already use.</a:t>
            </a:r>
            <a:endParaRPr lang="en-US" sz="1810" dirty="0"/>
          </a:p>
        </p:txBody>
      </p:sp>
      <p:sp>
        <p:nvSpPr>
          <p:cNvPr id="5" name="Text 3"/>
          <p:cNvSpPr/>
          <p:nvPr/>
        </p:nvSpPr>
        <p:spPr>
          <a:xfrm>
            <a:off x="594360" y="2121408"/>
            <a:ext cx="3017520" cy="219456"/>
          </a:xfrm>
          <a:prstGeom prst="rect">
            <a:avLst/>
          </a:prstGeom>
          <a:noFill/>
          <a:ln/>
        </p:spPr>
        <p:txBody>
          <a:bodyPr wrap="square" lIns="0" tIns="0" rIns="0" bIns="0" rtlCol="0" anchor="ctr"/>
          <a:lstStyle/>
          <a:p>
            <a:pPr algn="l" indent="0" marL="0">
              <a:buNone/>
            </a:pPr>
            <a:r>
              <a:rPr lang="en-US" sz="1040" b="1" spc="100" kern="0" dirty="0">
                <a:solidFill>
                  <a:srgbClr val="9E5F46"/>
                </a:solidFill>
                <a:latin typeface="Inter" pitchFamily="34" charset="0"/>
                <a:ea typeface="Inter" pitchFamily="34" charset="-122"/>
                <a:cs typeface="Inter" pitchFamily="34" charset="-120"/>
              </a:rPr>
              <a:t>01  /  CONNECT</a:t>
            </a:r>
            <a:endParaRPr lang="en-US" sz="1040" dirty="0"/>
          </a:p>
        </p:txBody>
      </p:sp>
      <p:sp>
        <p:nvSpPr>
          <p:cNvPr id="6" name="Text 4"/>
          <p:cNvSpPr/>
          <p:nvPr/>
        </p:nvSpPr>
        <p:spPr>
          <a:xfrm>
            <a:off x="4206240" y="2121408"/>
            <a:ext cx="3767328" cy="219456"/>
          </a:xfrm>
          <a:prstGeom prst="rect">
            <a:avLst/>
          </a:prstGeom>
          <a:noFill/>
          <a:ln/>
        </p:spPr>
        <p:txBody>
          <a:bodyPr wrap="square" lIns="0" tIns="0" rIns="0" bIns="0" rtlCol="0" anchor="ctr"/>
          <a:lstStyle/>
          <a:p>
            <a:pPr algn="l" indent="0" marL="0">
              <a:buNone/>
            </a:pPr>
            <a:r>
              <a:rPr lang="en-US" sz="1040" b="1" spc="100" kern="0" dirty="0">
                <a:solidFill>
                  <a:srgbClr val="9E5F46"/>
                </a:solidFill>
                <a:latin typeface="Inter" pitchFamily="34" charset="0"/>
                <a:ea typeface="Inter" pitchFamily="34" charset="-122"/>
                <a:cs typeface="Inter" pitchFamily="34" charset="-120"/>
              </a:rPr>
              <a:t>02  /  ORCHESTRATE</a:t>
            </a:r>
            <a:endParaRPr lang="en-US" sz="1040" dirty="0"/>
          </a:p>
        </p:txBody>
      </p:sp>
      <p:sp>
        <p:nvSpPr>
          <p:cNvPr id="7" name="Text 5"/>
          <p:cNvSpPr/>
          <p:nvPr/>
        </p:nvSpPr>
        <p:spPr>
          <a:xfrm>
            <a:off x="8641080" y="2121408"/>
            <a:ext cx="2980944" cy="219456"/>
          </a:xfrm>
          <a:prstGeom prst="rect">
            <a:avLst/>
          </a:prstGeom>
          <a:noFill/>
          <a:ln/>
        </p:spPr>
        <p:txBody>
          <a:bodyPr wrap="square" lIns="0" tIns="0" rIns="0" bIns="0" rtlCol="0" anchor="ctr"/>
          <a:lstStyle/>
          <a:p>
            <a:pPr algn="l" indent="0" marL="0">
              <a:buNone/>
            </a:pPr>
            <a:r>
              <a:rPr lang="en-US" sz="1040" b="1" spc="100" kern="0" dirty="0">
                <a:solidFill>
                  <a:srgbClr val="9E5F46"/>
                </a:solidFill>
                <a:latin typeface="Inter" pitchFamily="34" charset="0"/>
                <a:ea typeface="Inter" pitchFamily="34" charset="-122"/>
                <a:cs typeface="Inter" pitchFamily="34" charset="-120"/>
              </a:rPr>
              <a:t>03  /  PRODUCE</a:t>
            </a:r>
            <a:endParaRPr lang="en-US" sz="1040" dirty="0"/>
          </a:p>
        </p:txBody>
      </p:sp>
      <p:sp>
        <p:nvSpPr>
          <p:cNvPr id="8" name="Shape 6"/>
          <p:cNvSpPr/>
          <p:nvPr/>
        </p:nvSpPr>
        <p:spPr>
          <a:xfrm>
            <a:off x="548640" y="2496312"/>
            <a:ext cx="3063240" cy="603504"/>
          </a:xfrm>
          <a:prstGeom prst="roundRect">
            <a:avLst>
              <a:gd name="adj" fmla="val 12121"/>
            </a:avLst>
          </a:prstGeom>
          <a:solidFill>
            <a:srgbClr val="FFFFFF"/>
          </a:solidFill>
          <a:ln w="8890">
            <a:solidFill>
              <a:srgbClr val="D7DEDD"/>
            </a:solidFill>
            <a:prstDash val="solid"/>
          </a:ln>
        </p:spPr>
      </p:sp>
      <p:sp>
        <p:nvSpPr>
          <p:cNvPr id="9" name="Text 7"/>
          <p:cNvSpPr/>
          <p:nvPr/>
        </p:nvSpPr>
        <p:spPr>
          <a:xfrm>
            <a:off x="731520" y="2592324"/>
            <a:ext cx="2688336" cy="128016"/>
          </a:xfrm>
          <a:prstGeom prst="rect">
            <a:avLst/>
          </a:prstGeom>
          <a:noFill/>
          <a:ln/>
        </p:spPr>
        <p:txBody>
          <a:bodyPr wrap="square" lIns="0" tIns="0" rIns="0" bIns="0" rtlCol="0" anchor="ctr"/>
          <a:lstStyle/>
          <a:p>
            <a:pPr algn="l" indent="0" marL="0">
              <a:buNone/>
            </a:pPr>
            <a:r>
              <a:rPr lang="en-US" sz="860" b="1" spc="60" kern="0" dirty="0">
                <a:solidFill>
                  <a:srgbClr val="60717A"/>
                </a:solidFill>
                <a:latin typeface="Inter" pitchFamily="34" charset="0"/>
                <a:ea typeface="Inter" pitchFamily="34" charset="-122"/>
                <a:cs typeface="Inter" pitchFamily="34" charset="-120"/>
              </a:rPr>
              <a:t>PORTFOLIO + ANALYTICS</a:t>
            </a:r>
            <a:endParaRPr lang="en-US" sz="860" dirty="0"/>
          </a:p>
        </p:txBody>
      </p:sp>
      <p:sp>
        <p:nvSpPr>
          <p:cNvPr id="10" name="Text 8"/>
          <p:cNvSpPr/>
          <p:nvPr/>
        </p:nvSpPr>
        <p:spPr>
          <a:xfrm>
            <a:off x="731520" y="2734056"/>
            <a:ext cx="2688336" cy="310896"/>
          </a:xfrm>
          <a:prstGeom prst="rect">
            <a:avLst/>
          </a:prstGeom>
          <a:noFill/>
          <a:ln/>
        </p:spPr>
        <p:txBody>
          <a:bodyPr wrap="square" lIns="0" tIns="0" rIns="0" bIns="0" rtlCol="0" anchor="ctr"/>
          <a:lstStyle/>
          <a:p>
            <a:pPr algn="l" indent="0" marL="0">
              <a:buNone/>
            </a:pPr>
            <a:r>
              <a:rPr lang="en-US" sz="1140" b="1" dirty="0">
                <a:solidFill>
                  <a:srgbClr val="122B3E"/>
                </a:solidFill>
                <a:latin typeface="Inter" pitchFamily="34" charset="0"/>
                <a:ea typeface="Inter" pitchFamily="34" charset="-122"/>
                <a:cs typeface="Inter" pitchFamily="34" charset="-120"/>
              </a:rPr>
              <a:t>BlackRock Advisor Center</a:t>
            </a:r>
            <a:endParaRPr lang="en-US" sz="1140" dirty="0"/>
          </a:p>
          <a:p>
            <a:pPr algn="l" indent="0" marL="0">
              <a:buNone/>
            </a:pPr>
            <a:r>
              <a:rPr lang="en-US" sz="1140" b="1" dirty="0">
                <a:solidFill>
                  <a:srgbClr val="122B3E"/>
                </a:solidFill>
                <a:latin typeface="Inter" pitchFamily="34" charset="0"/>
                <a:ea typeface="Inter" pitchFamily="34" charset="-122"/>
                <a:cs typeface="Inter" pitchFamily="34" charset="-120"/>
              </a:rPr>
              <a:t>Addepar · Orion</a:t>
            </a:r>
            <a:endParaRPr lang="en-US" sz="1140" dirty="0"/>
          </a:p>
        </p:txBody>
      </p:sp>
      <p:sp>
        <p:nvSpPr>
          <p:cNvPr id="11" name="Shape 9"/>
          <p:cNvSpPr/>
          <p:nvPr/>
        </p:nvSpPr>
        <p:spPr>
          <a:xfrm>
            <a:off x="548640" y="3209544"/>
            <a:ext cx="3063240" cy="603504"/>
          </a:xfrm>
          <a:prstGeom prst="roundRect">
            <a:avLst>
              <a:gd name="adj" fmla="val 12121"/>
            </a:avLst>
          </a:prstGeom>
          <a:solidFill>
            <a:srgbClr val="FFFFFF"/>
          </a:solidFill>
          <a:ln w="8890">
            <a:solidFill>
              <a:srgbClr val="D7DEDD"/>
            </a:solidFill>
            <a:prstDash val="solid"/>
          </a:ln>
        </p:spPr>
      </p:sp>
      <p:sp>
        <p:nvSpPr>
          <p:cNvPr id="12" name="Text 10"/>
          <p:cNvSpPr/>
          <p:nvPr/>
        </p:nvSpPr>
        <p:spPr>
          <a:xfrm>
            <a:off x="731520" y="3305556"/>
            <a:ext cx="2688336" cy="128016"/>
          </a:xfrm>
          <a:prstGeom prst="rect">
            <a:avLst/>
          </a:prstGeom>
          <a:noFill/>
          <a:ln/>
        </p:spPr>
        <p:txBody>
          <a:bodyPr wrap="square" lIns="0" tIns="0" rIns="0" bIns="0" rtlCol="0" anchor="ctr"/>
          <a:lstStyle/>
          <a:p>
            <a:pPr algn="l" indent="0" marL="0">
              <a:buNone/>
            </a:pPr>
            <a:r>
              <a:rPr lang="en-US" sz="860" b="1" spc="60" kern="0" dirty="0">
                <a:solidFill>
                  <a:srgbClr val="60717A"/>
                </a:solidFill>
                <a:latin typeface="Inter" pitchFamily="34" charset="0"/>
                <a:ea typeface="Inter" pitchFamily="34" charset="-122"/>
                <a:cs typeface="Inter" pitchFamily="34" charset="-120"/>
              </a:rPr>
              <a:t>CRM + CONVERSATION</a:t>
            </a:r>
            <a:endParaRPr lang="en-US" sz="860" dirty="0"/>
          </a:p>
        </p:txBody>
      </p:sp>
      <p:sp>
        <p:nvSpPr>
          <p:cNvPr id="13" name="Text 11"/>
          <p:cNvSpPr/>
          <p:nvPr/>
        </p:nvSpPr>
        <p:spPr>
          <a:xfrm>
            <a:off x="731520" y="3483864"/>
            <a:ext cx="2688336" cy="210312"/>
          </a:xfrm>
          <a:prstGeom prst="rect">
            <a:avLst/>
          </a:prstGeom>
          <a:noFill/>
          <a:ln/>
        </p:spPr>
        <p:txBody>
          <a:bodyPr wrap="square" lIns="0" tIns="0" rIns="0" bIns="0" rtlCol="0" anchor="ctr"/>
          <a:lstStyle/>
          <a:p>
            <a:pPr algn="l" indent="0" marL="0">
              <a:buNone/>
            </a:pPr>
            <a:r>
              <a:rPr lang="en-US" sz="1300" b="1" dirty="0">
                <a:solidFill>
                  <a:srgbClr val="122B3E"/>
                </a:solidFill>
                <a:latin typeface="Inter" pitchFamily="34" charset="0"/>
                <a:ea typeface="Inter" pitchFamily="34" charset="-122"/>
                <a:cs typeface="Inter" pitchFamily="34" charset="-120"/>
              </a:rPr>
              <a:t>Wealthbox · Redtail · Zocks</a:t>
            </a:r>
            <a:endParaRPr lang="en-US" sz="1300" dirty="0"/>
          </a:p>
        </p:txBody>
      </p:sp>
      <p:sp>
        <p:nvSpPr>
          <p:cNvPr id="14" name="Shape 12"/>
          <p:cNvSpPr/>
          <p:nvPr/>
        </p:nvSpPr>
        <p:spPr>
          <a:xfrm>
            <a:off x="548640" y="3922776"/>
            <a:ext cx="3063240" cy="603504"/>
          </a:xfrm>
          <a:prstGeom prst="roundRect">
            <a:avLst>
              <a:gd name="adj" fmla="val 12121"/>
            </a:avLst>
          </a:prstGeom>
          <a:solidFill>
            <a:srgbClr val="FFFFFF"/>
          </a:solidFill>
          <a:ln w="8890">
            <a:solidFill>
              <a:srgbClr val="D7DEDD"/>
            </a:solidFill>
            <a:prstDash val="solid"/>
          </a:ln>
        </p:spPr>
      </p:sp>
      <p:sp>
        <p:nvSpPr>
          <p:cNvPr id="15" name="Text 13"/>
          <p:cNvSpPr/>
          <p:nvPr/>
        </p:nvSpPr>
        <p:spPr>
          <a:xfrm>
            <a:off x="731520" y="4018788"/>
            <a:ext cx="2688336" cy="128016"/>
          </a:xfrm>
          <a:prstGeom prst="rect">
            <a:avLst/>
          </a:prstGeom>
          <a:noFill/>
          <a:ln/>
        </p:spPr>
        <p:txBody>
          <a:bodyPr wrap="square" lIns="0" tIns="0" rIns="0" bIns="0" rtlCol="0" anchor="ctr"/>
          <a:lstStyle/>
          <a:p>
            <a:pPr algn="l" indent="0" marL="0">
              <a:buNone/>
            </a:pPr>
            <a:r>
              <a:rPr lang="en-US" sz="860" b="1" spc="60" kern="0" dirty="0">
                <a:solidFill>
                  <a:srgbClr val="60717A"/>
                </a:solidFill>
                <a:latin typeface="Inter" pitchFamily="34" charset="0"/>
                <a:ea typeface="Inter" pitchFamily="34" charset="-122"/>
                <a:cs typeface="Inter" pitchFamily="34" charset="-120"/>
              </a:rPr>
              <a:t>ESTATE + TAX</a:t>
            </a:r>
            <a:endParaRPr lang="en-US" sz="860" dirty="0"/>
          </a:p>
        </p:txBody>
      </p:sp>
      <p:sp>
        <p:nvSpPr>
          <p:cNvPr id="16" name="Text 14"/>
          <p:cNvSpPr/>
          <p:nvPr/>
        </p:nvSpPr>
        <p:spPr>
          <a:xfrm>
            <a:off x="731520" y="4197096"/>
            <a:ext cx="2688336" cy="210312"/>
          </a:xfrm>
          <a:prstGeom prst="rect">
            <a:avLst/>
          </a:prstGeom>
          <a:noFill/>
          <a:ln/>
        </p:spPr>
        <p:txBody>
          <a:bodyPr wrap="square" lIns="0" tIns="0" rIns="0" bIns="0" rtlCol="0" anchor="ctr"/>
          <a:lstStyle/>
          <a:p>
            <a:pPr algn="l" indent="0" marL="0">
              <a:buNone/>
            </a:pPr>
            <a:r>
              <a:rPr lang="en-US" sz="1300" b="1" dirty="0">
                <a:solidFill>
                  <a:srgbClr val="122B3E"/>
                </a:solidFill>
                <a:latin typeface="Inter" pitchFamily="34" charset="0"/>
                <a:ea typeface="Inter" pitchFamily="34" charset="-122"/>
                <a:cs typeface="Inter" pitchFamily="34" charset="-120"/>
              </a:rPr>
              <a:t>Wealth.com</a:t>
            </a:r>
            <a:endParaRPr lang="en-US" sz="1300" dirty="0"/>
          </a:p>
        </p:txBody>
      </p:sp>
      <p:sp>
        <p:nvSpPr>
          <p:cNvPr id="17" name="Shape 15"/>
          <p:cNvSpPr/>
          <p:nvPr/>
        </p:nvSpPr>
        <p:spPr>
          <a:xfrm>
            <a:off x="548640" y="4636008"/>
            <a:ext cx="3063240" cy="603504"/>
          </a:xfrm>
          <a:prstGeom prst="roundRect">
            <a:avLst>
              <a:gd name="adj" fmla="val 12121"/>
            </a:avLst>
          </a:prstGeom>
          <a:solidFill>
            <a:srgbClr val="FFFFFF"/>
          </a:solidFill>
          <a:ln w="8890">
            <a:solidFill>
              <a:srgbClr val="D7DEDD"/>
            </a:solidFill>
            <a:prstDash val="solid"/>
          </a:ln>
        </p:spPr>
      </p:sp>
      <p:sp>
        <p:nvSpPr>
          <p:cNvPr id="18" name="Text 16"/>
          <p:cNvSpPr/>
          <p:nvPr/>
        </p:nvSpPr>
        <p:spPr>
          <a:xfrm>
            <a:off x="731520" y="4732020"/>
            <a:ext cx="2688336" cy="128016"/>
          </a:xfrm>
          <a:prstGeom prst="rect">
            <a:avLst/>
          </a:prstGeom>
          <a:noFill/>
          <a:ln/>
        </p:spPr>
        <p:txBody>
          <a:bodyPr wrap="square" lIns="0" tIns="0" rIns="0" bIns="0" rtlCol="0" anchor="ctr"/>
          <a:lstStyle/>
          <a:p>
            <a:pPr algn="l" indent="0" marL="0">
              <a:buNone/>
            </a:pPr>
            <a:r>
              <a:rPr lang="en-US" sz="860" b="1" spc="60" kern="0" dirty="0">
                <a:solidFill>
                  <a:srgbClr val="60717A"/>
                </a:solidFill>
                <a:latin typeface="Inter" pitchFamily="34" charset="0"/>
                <a:ea typeface="Inter" pitchFamily="34" charset="-122"/>
                <a:cs typeface="Inter" pitchFamily="34" charset="-120"/>
              </a:rPr>
              <a:t>ALTERNATIVES + PLANNING</a:t>
            </a:r>
            <a:endParaRPr lang="en-US" sz="860" dirty="0"/>
          </a:p>
        </p:txBody>
      </p:sp>
      <p:sp>
        <p:nvSpPr>
          <p:cNvPr id="19" name="Text 17"/>
          <p:cNvSpPr/>
          <p:nvPr/>
        </p:nvSpPr>
        <p:spPr>
          <a:xfrm>
            <a:off x="731520" y="4910328"/>
            <a:ext cx="2688336" cy="210312"/>
          </a:xfrm>
          <a:prstGeom prst="rect">
            <a:avLst/>
          </a:prstGeom>
          <a:noFill/>
          <a:ln/>
        </p:spPr>
        <p:txBody>
          <a:bodyPr wrap="square" lIns="0" tIns="0" rIns="0" bIns="0" rtlCol="0" anchor="ctr"/>
          <a:lstStyle/>
          <a:p>
            <a:pPr algn="l" indent="0" marL="0">
              <a:buNone/>
            </a:pPr>
            <a:r>
              <a:rPr lang="en-US" sz="1300" b="1" dirty="0">
                <a:solidFill>
                  <a:srgbClr val="122B3E"/>
                </a:solidFill>
                <a:latin typeface="Inter" pitchFamily="34" charset="0"/>
                <a:ea typeface="Inter" pitchFamily="34" charset="-122"/>
                <a:cs typeface="Inter" pitchFamily="34" charset="-120"/>
              </a:rPr>
              <a:t>iCapital · Envestnet</a:t>
            </a:r>
            <a:endParaRPr lang="en-US" sz="1300" dirty="0"/>
          </a:p>
        </p:txBody>
      </p:sp>
      <p:sp>
        <p:nvSpPr>
          <p:cNvPr id="20" name="Shape 18"/>
          <p:cNvSpPr/>
          <p:nvPr/>
        </p:nvSpPr>
        <p:spPr>
          <a:xfrm>
            <a:off x="3749040" y="3803904"/>
            <a:ext cx="292608" cy="0"/>
          </a:xfrm>
          <a:prstGeom prst="line">
            <a:avLst/>
          </a:prstGeom>
          <a:noFill/>
          <a:ln w="21590">
            <a:solidFill>
              <a:srgbClr val="B89970"/>
            </a:solidFill>
            <a:prstDash val="solid"/>
            <a:tailEnd type="triangle"/>
          </a:ln>
        </p:spPr>
      </p:sp>
      <p:sp>
        <p:nvSpPr>
          <p:cNvPr id="21" name="Shape 19"/>
          <p:cNvSpPr/>
          <p:nvPr/>
        </p:nvSpPr>
        <p:spPr>
          <a:xfrm>
            <a:off x="4206240" y="2496312"/>
            <a:ext cx="3785616" cy="886968"/>
          </a:xfrm>
          <a:prstGeom prst="roundRect">
            <a:avLst>
              <a:gd name="adj" fmla="val 12371"/>
            </a:avLst>
          </a:prstGeom>
          <a:solidFill>
            <a:srgbClr val="F1DFD3"/>
          </a:solidFill>
          <a:ln w="12700">
            <a:solidFill>
              <a:srgbClr val="F1DFD3">
                <a:alpha val="0"/>
              </a:srgbClr>
            </a:solidFill>
            <a:prstDash val="solid"/>
          </a:ln>
        </p:spPr>
      </p:sp>
      <p:sp>
        <p:nvSpPr>
          <p:cNvPr id="22" name="Text 20"/>
          <p:cNvSpPr/>
          <p:nvPr/>
        </p:nvSpPr>
        <p:spPr>
          <a:xfrm>
            <a:off x="4443984" y="2670048"/>
            <a:ext cx="3337560" cy="292608"/>
          </a:xfrm>
          <a:prstGeom prst="rect">
            <a:avLst/>
          </a:prstGeom>
          <a:noFill/>
          <a:ln/>
        </p:spPr>
        <p:txBody>
          <a:bodyPr wrap="square" lIns="0" tIns="0" rIns="0" bIns="0" rtlCol="0" anchor="ctr"/>
          <a:lstStyle/>
          <a:p>
            <a:pPr algn="l" indent="0" marL="0">
              <a:buNone/>
            </a:pPr>
            <a:r>
              <a:rPr lang="en-US" sz="2380" b="1" dirty="0">
                <a:solidFill>
                  <a:srgbClr val="122B3E"/>
                </a:solidFill>
                <a:latin typeface="Inter Display" pitchFamily="34" charset="0"/>
                <a:ea typeface="Inter Display" pitchFamily="34" charset="-122"/>
                <a:cs typeface="Inter Display" pitchFamily="34" charset="-120"/>
              </a:rPr>
              <a:t>Claude Cowork</a:t>
            </a:r>
            <a:endParaRPr lang="en-US" sz="2380" dirty="0"/>
          </a:p>
        </p:txBody>
      </p:sp>
      <p:sp>
        <p:nvSpPr>
          <p:cNvPr id="23" name="Text 21"/>
          <p:cNvSpPr/>
          <p:nvPr/>
        </p:nvSpPr>
        <p:spPr>
          <a:xfrm>
            <a:off x="4462272" y="3044952"/>
            <a:ext cx="3319272" cy="164592"/>
          </a:xfrm>
          <a:prstGeom prst="rect">
            <a:avLst/>
          </a:prstGeom>
          <a:noFill/>
          <a:ln/>
        </p:spPr>
        <p:txBody>
          <a:bodyPr wrap="square" lIns="0" tIns="0" rIns="0" bIns="0" rtlCol="0" anchor="ctr"/>
          <a:lstStyle/>
          <a:p>
            <a:pPr algn="l" indent="0" marL="0">
              <a:buNone/>
            </a:pPr>
            <a:r>
              <a:rPr lang="en-US" sz="1200" dirty="0">
                <a:solidFill>
                  <a:srgbClr val="9E5F46"/>
                </a:solidFill>
                <a:latin typeface="Inter" pitchFamily="34" charset="0"/>
                <a:ea typeface="Inter" pitchFamily="34" charset="-122"/>
                <a:cs typeface="Inter" pitchFamily="34" charset="-120"/>
              </a:rPr>
              <a:t>Financial Advisors plugin</a:t>
            </a:r>
            <a:endParaRPr lang="en-US" sz="1200" dirty="0"/>
          </a:p>
        </p:txBody>
      </p:sp>
      <p:sp>
        <p:nvSpPr>
          <p:cNvPr id="24" name="Shape 22"/>
          <p:cNvSpPr/>
          <p:nvPr/>
        </p:nvSpPr>
        <p:spPr>
          <a:xfrm>
            <a:off x="4206240" y="3602736"/>
            <a:ext cx="1837944" cy="370332"/>
          </a:xfrm>
          <a:prstGeom prst="roundRect">
            <a:avLst>
              <a:gd name="adj" fmla="val 17284"/>
            </a:avLst>
          </a:prstGeom>
          <a:solidFill>
            <a:srgbClr val="FFFFFF"/>
          </a:solidFill>
          <a:ln w="8890">
            <a:solidFill>
              <a:srgbClr val="D7DEDD"/>
            </a:solidFill>
            <a:prstDash val="solid"/>
          </a:ln>
        </p:spPr>
      </p:sp>
      <p:sp>
        <p:nvSpPr>
          <p:cNvPr id="25" name="Text 23"/>
          <p:cNvSpPr/>
          <p:nvPr/>
        </p:nvSpPr>
        <p:spPr>
          <a:xfrm>
            <a:off x="4270248" y="3616452"/>
            <a:ext cx="1709928" cy="342900"/>
          </a:xfrm>
          <a:prstGeom prst="rect">
            <a:avLst/>
          </a:prstGeom>
          <a:noFill/>
          <a:ln/>
        </p:spPr>
        <p:txBody>
          <a:bodyPr wrap="square" lIns="0" tIns="0" rIns="0" bIns="0" rtlCol="0" anchor="ctr"/>
          <a:lstStyle/>
          <a:p>
            <a:pPr algn="ctr" indent="0" marL="0">
              <a:buNone/>
            </a:pPr>
            <a:r>
              <a:rPr lang="en-US" sz="1080" b="1" dirty="0">
                <a:solidFill>
                  <a:srgbClr val="122B3E"/>
                </a:solidFill>
                <a:latin typeface="Inter" pitchFamily="34" charset="0"/>
                <a:ea typeface="Inter" pitchFamily="34" charset="-122"/>
                <a:cs typeface="Inter" pitchFamily="34" charset="-120"/>
              </a:rPr>
              <a:t>Meeting prep</a:t>
            </a:r>
            <a:endParaRPr lang="en-US" sz="1080" dirty="0"/>
          </a:p>
        </p:txBody>
      </p:sp>
      <p:sp>
        <p:nvSpPr>
          <p:cNvPr id="26" name="Shape 24"/>
          <p:cNvSpPr/>
          <p:nvPr/>
        </p:nvSpPr>
        <p:spPr>
          <a:xfrm>
            <a:off x="6153912" y="3602736"/>
            <a:ext cx="1837944" cy="370332"/>
          </a:xfrm>
          <a:prstGeom prst="roundRect">
            <a:avLst>
              <a:gd name="adj" fmla="val 17284"/>
            </a:avLst>
          </a:prstGeom>
          <a:solidFill>
            <a:srgbClr val="FFFFFF"/>
          </a:solidFill>
          <a:ln w="8890">
            <a:solidFill>
              <a:srgbClr val="D7DEDD"/>
            </a:solidFill>
            <a:prstDash val="solid"/>
          </a:ln>
        </p:spPr>
      </p:sp>
      <p:sp>
        <p:nvSpPr>
          <p:cNvPr id="27" name="Text 25"/>
          <p:cNvSpPr/>
          <p:nvPr/>
        </p:nvSpPr>
        <p:spPr>
          <a:xfrm>
            <a:off x="6217920" y="3616452"/>
            <a:ext cx="1709928" cy="342900"/>
          </a:xfrm>
          <a:prstGeom prst="rect">
            <a:avLst/>
          </a:prstGeom>
          <a:noFill/>
          <a:ln/>
        </p:spPr>
        <p:txBody>
          <a:bodyPr wrap="square" lIns="0" tIns="0" rIns="0" bIns="0" rtlCol="0" anchor="ctr"/>
          <a:lstStyle/>
          <a:p>
            <a:pPr algn="ctr" indent="0" marL="0">
              <a:buNone/>
            </a:pPr>
            <a:r>
              <a:rPr lang="en-US" sz="1080" b="1" dirty="0">
                <a:solidFill>
                  <a:srgbClr val="122B3E"/>
                </a:solidFill>
                <a:latin typeface="Inter" pitchFamily="34" charset="0"/>
                <a:ea typeface="Inter" pitchFamily="34" charset="-122"/>
                <a:cs typeface="Inter" pitchFamily="34" charset="-120"/>
              </a:rPr>
              <a:t>Post-meeting follow-up</a:t>
            </a:r>
            <a:endParaRPr lang="en-US" sz="1080" dirty="0"/>
          </a:p>
        </p:txBody>
      </p:sp>
      <p:sp>
        <p:nvSpPr>
          <p:cNvPr id="28" name="Shape 26"/>
          <p:cNvSpPr/>
          <p:nvPr/>
        </p:nvSpPr>
        <p:spPr>
          <a:xfrm>
            <a:off x="4206240" y="4087368"/>
            <a:ext cx="1837944" cy="370332"/>
          </a:xfrm>
          <a:prstGeom prst="roundRect">
            <a:avLst>
              <a:gd name="adj" fmla="val 17284"/>
            </a:avLst>
          </a:prstGeom>
          <a:solidFill>
            <a:srgbClr val="FFFFFF"/>
          </a:solidFill>
          <a:ln w="8890">
            <a:solidFill>
              <a:srgbClr val="D7DEDD"/>
            </a:solidFill>
            <a:prstDash val="solid"/>
          </a:ln>
        </p:spPr>
      </p:sp>
      <p:sp>
        <p:nvSpPr>
          <p:cNvPr id="29" name="Text 27"/>
          <p:cNvSpPr/>
          <p:nvPr/>
        </p:nvSpPr>
        <p:spPr>
          <a:xfrm>
            <a:off x="4270248" y="4101084"/>
            <a:ext cx="1709928" cy="342900"/>
          </a:xfrm>
          <a:prstGeom prst="rect">
            <a:avLst/>
          </a:prstGeom>
          <a:noFill/>
          <a:ln/>
        </p:spPr>
        <p:txBody>
          <a:bodyPr wrap="square" lIns="0" tIns="0" rIns="0" bIns="0" rtlCol="0" anchor="ctr"/>
          <a:lstStyle/>
          <a:p>
            <a:pPr algn="ctr" indent="0" marL="0">
              <a:buNone/>
            </a:pPr>
            <a:r>
              <a:rPr lang="en-US" sz="1080" b="1" dirty="0">
                <a:solidFill>
                  <a:srgbClr val="122B3E"/>
                </a:solidFill>
                <a:latin typeface="Inter" pitchFamily="34" charset="0"/>
                <a:ea typeface="Inter" pitchFamily="34" charset="-122"/>
                <a:cs typeface="Inter" pitchFamily="34" charset="-120"/>
              </a:rPr>
              <a:t>Portfolio review</a:t>
            </a:r>
            <a:endParaRPr lang="en-US" sz="1080" dirty="0"/>
          </a:p>
        </p:txBody>
      </p:sp>
      <p:sp>
        <p:nvSpPr>
          <p:cNvPr id="30" name="Shape 28"/>
          <p:cNvSpPr/>
          <p:nvPr/>
        </p:nvSpPr>
        <p:spPr>
          <a:xfrm>
            <a:off x="6153912" y="4087368"/>
            <a:ext cx="1837944" cy="370332"/>
          </a:xfrm>
          <a:prstGeom prst="roundRect">
            <a:avLst>
              <a:gd name="adj" fmla="val 17284"/>
            </a:avLst>
          </a:prstGeom>
          <a:solidFill>
            <a:srgbClr val="FFFFFF"/>
          </a:solidFill>
          <a:ln w="8890">
            <a:solidFill>
              <a:srgbClr val="D7DEDD"/>
            </a:solidFill>
            <a:prstDash val="solid"/>
          </a:ln>
        </p:spPr>
      </p:sp>
      <p:sp>
        <p:nvSpPr>
          <p:cNvPr id="31" name="Text 29"/>
          <p:cNvSpPr/>
          <p:nvPr/>
        </p:nvSpPr>
        <p:spPr>
          <a:xfrm>
            <a:off x="6217920" y="4101084"/>
            <a:ext cx="1709928" cy="342900"/>
          </a:xfrm>
          <a:prstGeom prst="rect">
            <a:avLst/>
          </a:prstGeom>
          <a:noFill/>
          <a:ln/>
        </p:spPr>
        <p:txBody>
          <a:bodyPr wrap="square" lIns="0" tIns="0" rIns="0" bIns="0" rtlCol="0" anchor="ctr"/>
          <a:lstStyle/>
          <a:p>
            <a:pPr algn="ctr" indent="0" marL="0">
              <a:buNone/>
            </a:pPr>
            <a:r>
              <a:rPr lang="en-US" sz="1080" b="1" dirty="0">
                <a:solidFill>
                  <a:srgbClr val="122B3E"/>
                </a:solidFill>
                <a:latin typeface="Inter" pitchFamily="34" charset="0"/>
                <a:ea typeface="Inter" pitchFamily="34" charset="-122"/>
                <a:cs typeface="Inter" pitchFamily="34" charset="-120"/>
              </a:rPr>
              <a:t>Estate + tax brief</a:t>
            </a:r>
            <a:endParaRPr lang="en-US" sz="1080" dirty="0"/>
          </a:p>
        </p:txBody>
      </p:sp>
      <p:sp>
        <p:nvSpPr>
          <p:cNvPr id="32" name="Shape 30"/>
          <p:cNvSpPr/>
          <p:nvPr/>
        </p:nvSpPr>
        <p:spPr>
          <a:xfrm>
            <a:off x="4206240" y="4572000"/>
            <a:ext cx="1837944" cy="370332"/>
          </a:xfrm>
          <a:prstGeom prst="roundRect">
            <a:avLst>
              <a:gd name="adj" fmla="val 17284"/>
            </a:avLst>
          </a:prstGeom>
          <a:solidFill>
            <a:srgbClr val="FFFFFF"/>
          </a:solidFill>
          <a:ln w="8890">
            <a:solidFill>
              <a:srgbClr val="D7DEDD"/>
            </a:solidFill>
            <a:prstDash val="solid"/>
          </a:ln>
        </p:spPr>
      </p:sp>
      <p:sp>
        <p:nvSpPr>
          <p:cNvPr id="33" name="Text 31"/>
          <p:cNvSpPr/>
          <p:nvPr/>
        </p:nvSpPr>
        <p:spPr>
          <a:xfrm>
            <a:off x="4270248" y="4585716"/>
            <a:ext cx="1709928" cy="342900"/>
          </a:xfrm>
          <a:prstGeom prst="rect">
            <a:avLst/>
          </a:prstGeom>
          <a:noFill/>
          <a:ln/>
        </p:spPr>
        <p:txBody>
          <a:bodyPr wrap="square" lIns="0" tIns="0" rIns="0" bIns="0" rtlCol="0" anchor="ctr"/>
          <a:lstStyle/>
          <a:p>
            <a:pPr algn="ctr" indent="0" marL="0">
              <a:buNone/>
            </a:pPr>
            <a:r>
              <a:rPr lang="en-US" sz="1080" b="1" dirty="0">
                <a:solidFill>
                  <a:srgbClr val="122B3E"/>
                </a:solidFill>
                <a:latin typeface="Inter" pitchFamily="34" charset="0"/>
                <a:ea typeface="Inter" pitchFamily="34" charset="-122"/>
                <a:cs typeface="Inter" pitchFamily="34" charset="-120"/>
              </a:rPr>
              <a:t>Alternatives brief</a:t>
            </a:r>
            <a:endParaRPr lang="en-US" sz="1080" dirty="0"/>
          </a:p>
        </p:txBody>
      </p:sp>
      <p:sp>
        <p:nvSpPr>
          <p:cNvPr id="34" name="Shape 32"/>
          <p:cNvSpPr/>
          <p:nvPr/>
        </p:nvSpPr>
        <p:spPr>
          <a:xfrm>
            <a:off x="6153912" y="4572000"/>
            <a:ext cx="1837944" cy="370332"/>
          </a:xfrm>
          <a:prstGeom prst="roundRect">
            <a:avLst>
              <a:gd name="adj" fmla="val 17284"/>
            </a:avLst>
          </a:prstGeom>
          <a:solidFill>
            <a:srgbClr val="FFFFFF"/>
          </a:solidFill>
          <a:ln w="8890">
            <a:solidFill>
              <a:srgbClr val="D7DEDD"/>
            </a:solidFill>
            <a:prstDash val="solid"/>
          </a:ln>
        </p:spPr>
      </p:sp>
      <p:sp>
        <p:nvSpPr>
          <p:cNvPr id="35" name="Text 33"/>
          <p:cNvSpPr/>
          <p:nvPr/>
        </p:nvSpPr>
        <p:spPr>
          <a:xfrm>
            <a:off x="6217920" y="4585716"/>
            <a:ext cx="1709928" cy="342900"/>
          </a:xfrm>
          <a:prstGeom prst="rect">
            <a:avLst/>
          </a:prstGeom>
          <a:noFill/>
          <a:ln/>
        </p:spPr>
        <p:txBody>
          <a:bodyPr wrap="square" lIns="0" tIns="0" rIns="0" bIns="0" rtlCol="0" anchor="ctr"/>
          <a:lstStyle/>
          <a:p>
            <a:pPr algn="ctr" indent="0" marL="0">
              <a:buNone/>
            </a:pPr>
            <a:r>
              <a:rPr lang="en-US" sz="1080" b="1" dirty="0">
                <a:solidFill>
                  <a:srgbClr val="122B3E"/>
                </a:solidFill>
                <a:latin typeface="Inter" pitchFamily="34" charset="0"/>
                <a:ea typeface="Inter" pitchFamily="34" charset="-122"/>
                <a:cs typeface="Inter" pitchFamily="34" charset="-120"/>
              </a:rPr>
              <a:t>Prospect intake</a:t>
            </a:r>
            <a:endParaRPr lang="en-US" sz="1080" dirty="0"/>
          </a:p>
        </p:txBody>
      </p:sp>
      <p:sp>
        <p:nvSpPr>
          <p:cNvPr id="36" name="Shape 34"/>
          <p:cNvSpPr/>
          <p:nvPr/>
        </p:nvSpPr>
        <p:spPr>
          <a:xfrm>
            <a:off x="4206240" y="5056632"/>
            <a:ext cx="1837944" cy="370332"/>
          </a:xfrm>
          <a:prstGeom prst="roundRect">
            <a:avLst>
              <a:gd name="adj" fmla="val 17284"/>
            </a:avLst>
          </a:prstGeom>
          <a:solidFill>
            <a:srgbClr val="FFFFFF"/>
          </a:solidFill>
          <a:ln w="8890">
            <a:solidFill>
              <a:srgbClr val="D7DEDD"/>
            </a:solidFill>
            <a:prstDash val="solid"/>
          </a:ln>
        </p:spPr>
      </p:sp>
      <p:sp>
        <p:nvSpPr>
          <p:cNvPr id="37" name="Text 35"/>
          <p:cNvSpPr/>
          <p:nvPr/>
        </p:nvSpPr>
        <p:spPr>
          <a:xfrm>
            <a:off x="4270248" y="5070348"/>
            <a:ext cx="1709928" cy="342900"/>
          </a:xfrm>
          <a:prstGeom prst="rect">
            <a:avLst/>
          </a:prstGeom>
          <a:noFill/>
          <a:ln/>
        </p:spPr>
        <p:txBody>
          <a:bodyPr wrap="square" lIns="0" tIns="0" rIns="0" bIns="0" rtlCol="0" anchor="ctr"/>
          <a:lstStyle/>
          <a:p>
            <a:pPr algn="ctr" indent="0" marL="0">
              <a:buNone/>
            </a:pPr>
            <a:r>
              <a:rPr lang="en-US" sz="1080" b="1" dirty="0">
                <a:solidFill>
                  <a:srgbClr val="122B3E"/>
                </a:solidFill>
                <a:latin typeface="Inter" pitchFamily="34" charset="0"/>
                <a:ea typeface="Inter" pitchFamily="34" charset="-122"/>
                <a:cs typeface="Inter" pitchFamily="34" charset="-120"/>
              </a:rPr>
              <a:t>Compliance pre-check</a:t>
            </a:r>
            <a:endParaRPr lang="en-US" sz="1080" dirty="0"/>
          </a:p>
        </p:txBody>
      </p:sp>
      <p:sp>
        <p:nvSpPr>
          <p:cNvPr id="38" name="Shape 36"/>
          <p:cNvSpPr/>
          <p:nvPr/>
        </p:nvSpPr>
        <p:spPr>
          <a:xfrm>
            <a:off x="6153912" y="5056632"/>
            <a:ext cx="1837944" cy="370332"/>
          </a:xfrm>
          <a:prstGeom prst="roundRect">
            <a:avLst>
              <a:gd name="adj" fmla="val 17284"/>
            </a:avLst>
          </a:prstGeom>
          <a:solidFill>
            <a:srgbClr val="FFFFFF"/>
          </a:solidFill>
          <a:ln w="8890">
            <a:solidFill>
              <a:srgbClr val="D7DEDD"/>
            </a:solidFill>
            <a:prstDash val="solid"/>
          </a:ln>
        </p:spPr>
      </p:sp>
      <p:sp>
        <p:nvSpPr>
          <p:cNvPr id="39" name="Text 37"/>
          <p:cNvSpPr/>
          <p:nvPr/>
        </p:nvSpPr>
        <p:spPr>
          <a:xfrm>
            <a:off x="6217920" y="5070348"/>
            <a:ext cx="1709928" cy="342900"/>
          </a:xfrm>
          <a:prstGeom prst="rect">
            <a:avLst/>
          </a:prstGeom>
          <a:noFill/>
          <a:ln/>
        </p:spPr>
        <p:txBody>
          <a:bodyPr wrap="square" lIns="0" tIns="0" rIns="0" bIns="0" rtlCol="0" anchor="ctr"/>
          <a:lstStyle/>
          <a:p>
            <a:pPr algn="ctr" indent="0" marL="0">
              <a:buNone/>
            </a:pPr>
            <a:r>
              <a:rPr lang="en-US" sz="1080" b="1" dirty="0">
                <a:solidFill>
                  <a:srgbClr val="122B3E"/>
                </a:solidFill>
                <a:latin typeface="Inter" pitchFamily="34" charset="0"/>
                <a:ea typeface="Inter" pitchFamily="34" charset="-122"/>
                <a:cs typeface="Inter" pitchFamily="34" charset="-120"/>
              </a:rPr>
              <a:t>Advisor onboarding</a:t>
            </a:r>
            <a:endParaRPr lang="en-US" sz="1080" dirty="0"/>
          </a:p>
        </p:txBody>
      </p:sp>
      <p:sp>
        <p:nvSpPr>
          <p:cNvPr id="40" name="Text 38"/>
          <p:cNvSpPr/>
          <p:nvPr/>
        </p:nvSpPr>
        <p:spPr>
          <a:xfrm>
            <a:off x="4215384" y="5586984"/>
            <a:ext cx="3776472" cy="146304"/>
          </a:xfrm>
          <a:prstGeom prst="rect">
            <a:avLst/>
          </a:prstGeom>
          <a:noFill/>
          <a:ln/>
        </p:spPr>
        <p:txBody>
          <a:bodyPr wrap="square" lIns="0" tIns="0" rIns="0" bIns="0" rtlCol="0" anchor="ctr"/>
          <a:lstStyle/>
          <a:p>
            <a:pPr algn="ctr" indent="0" marL="0">
              <a:buNone/>
            </a:pPr>
            <a:r>
              <a:rPr lang="en-US" sz="1030" dirty="0">
                <a:solidFill>
                  <a:srgbClr val="60717A"/>
                </a:solidFill>
                <a:latin typeface="Inter" pitchFamily="34" charset="0"/>
                <a:ea typeface="Inter" pitchFamily="34" charset="-122"/>
                <a:cs typeface="Inter" pitchFamily="34" charset="-120"/>
              </a:rPr>
              <a:t>Eight published advisor workflows</a:t>
            </a:r>
            <a:endParaRPr lang="en-US" sz="1030" dirty="0"/>
          </a:p>
        </p:txBody>
      </p:sp>
      <p:sp>
        <p:nvSpPr>
          <p:cNvPr id="41" name="Shape 39"/>
          <p:cNvSpPr/>
          <p:nvPr/>
        </p:nvSpPr>
        <p:spPr>
          <a:xfrm>
            <a:off x="8119872" y="3803904"/>
            <a:ext cx="292608" cy="0"/>
          </a:xfrm>
          <a:prstGeom prst="line">
            <a:avLst/>
          </a:prstGeom>
          <a:noFill/>
          <a:ln w="21590">
            <a:solidFill>
              <a:srgbClr val="B89970"/>
            </a:solidFill>
            <a:prstDash val="solid"/>
            <a:tailEnd type="triangle"/>
          </a:ln>
        </p:spPr>
      </p:sp>
      <p:sp>
        <p:nvSpPr>
          <p:cNvPr id="42" name="Shape 40"/>
          <p:cNvSpPr/>
          <p:nvPr/>
        </p:nvSpPr>
        <p:spPr>
          <a:xfrm>
            <a:off x="8622792" y="2496312"/>
            <a:ext cx="3017520" cy="2834640"/>
          </a:xfrm>
          <a:prstGeom prst="roundRect">
            <a:avLst>
              <a:gd name="adj" fmla="val 4194"/>
            </a:avLst>
          </a:prstGeom>
          <a:solidFill>
            <a:srgbClr val="081E30"/>
          </a:solidFill>
          <a:ln w="12700">
            <a:solidFill>
              <a:srgbClr val="081E30">
                <a:alpha val="0"/>
              </a:srgbClr>
            </a:solidFill>
            <a:prstDash val="solid"/>
          </a:ln>
        </p:spPr>
      </p:sp>
      <p:sp>
        <p:nvSpPr>
          <p:cNvPr id="43" name="Shape 41"/>
          <p:cNvSpPr/>
          <p:nvPr/>
        </p:nvSpPr>
        <p:spPr>
          <a:xfrm>
            <a:off x="8862365" y="2789834"/>
            <a:ext cx="204826" cy="265633"/>
          </a:xfrm>
          <a:prstGeom prst="roundRect">
            <a:avLst>
              <a:gd name="adj" fmla="val 11161"/>
            </a:avLst>
          </a:prstGeom>
          <a:solidFill>
            <a:srgbClr val="102C40"/>
          </a:solidFill>
          <a:ln w="8890">
            <a:solidFill>
              <a:srgbClr val="64C9BA"/>
            </a:solidFill>
            <a:prstDash val="solid"/>
          </a:ln>
        </p:spPr>
      </p:sp>
      <p:sp>
        <p:nvSpPr>
          <p:cNvPr id="44" name="Shape 42"/>
          <p:cNvSpPr/>
          <p:nvPr/>
        </p:nvSpPr>
        <p:spPr>
          <a:xfrm>
            <a:off x="8900770" y="2866644"/>
            <a:ext cx="124816" cy="0"/>
          </a:xfrm>
          <a:prstGeom prst="line">
            <a:avLst/>
          </a:prstGeom>
          <a:noFill/>
          <a:ln w="13970">
            <a:solidFill>
              <a:srgbClr val="64C9BA"/>
            </a:solidFill>
            <a:prstDash val="solid"/>
          </a:ln>
        </p:spPr>
      </p:sp>
      <p:sp>
        <p:nvSpPr>
          <p:cNvPr id="45" name="Shape 43"/>
          <p:cNvSpPr/>
          <p:nvPr/>
        </p:nvSpPr>
        <p:spPr>
          <a:xfrm>
            <a:off x="8900770" y="2921051"/>
            <a:ext cx="124816" cy="0"/>
          </a:xfrm>
          <a:prstGeom prst="line">
            <a:avLst/>
          </a:prstGeom>
          <a:noFill/>
          <a:ln w="13970">
            <a:solidFill>
              <a:srgbClr val="64C9BA"/>
            </a:solidFill>
            <a:prstDash val="solid"/>
          </a:ln>
        </p:spPr>
      </p:sp>
      <p:sp>
        <p:nvSpPr>
          <p:cNvPr id="46" name="Shape 44"/>
          <p:cNvSpPr/>
          <p:nvPr/>
        </p:nvSpPr>
        <p:spPr>
          <a:xfrm>
            <a:off x="8900770" y="2975458"/>
            <a:ext cx="83210" cy="0"/>
          </a:xfrm>
          <a:prstGeom prst="line">
            <a:avLst/>
          </a:prstGeom>
          <a:noFill/>
          <a:ln w="13970">
            <a:solidFill>
              <a:srgbClr val="64C9BA"/>
            </a:solidFill>
            <a:prstDash val="solid"/>
          </a:ln>
        </p:spPr>
      </p:sp>
      <p:sp>
        <p:nvSpPr>
          <p:cNvPr id="47" name="Text 45"/>
          <p:cNvSpPr/>
          <p:nvPr/>
        </p:nvSpPr>
        <p:spPr>
          <a:xfrm>
            <a:off x="9244584" y="2807208"/>
            <a:ext cx="2194560" cy="237744"/>
          </a:xfrm>
          <a:prstGeom prst="rect">
            <a:avLst/>
          </a:prstGeom>
          <a:noFill/>
          <a:ln/>
        </p:spPr>
        <p:txBody>
          <a:bodyPr wrap="square" lIns="0" tIns="0" rIns="0" bIns="0" rtlCol="0" anchor="ctr"/>
          <a:lstStyle/>
          <a:p>
            <a:pPr algn="l" indent="0" marL="0">
              <a:buNone/>
            </a:pPr>
            <a:r>
              <a:rPr lang="en-US" sz="1280" b="1" dirty="0">
                <a:solidFill>
                  <a:srgbClr val="FFFFFF"/>
                </a:solidFill>
                <a:latin typeface="Inter" pitchFamily="34" charset="0"/>
                <a:ea typeface="Inter" pitchFamily="34" charset="-122"/>
                <a:cs typeface="Inter" pitchFamily="34" charset="-120"/>
              </a:rPr>
              <a:t>Meeting-ready briefs</a:t>
            </a:r>
            <a:endParaRPr lang="en-US" sz="1280" dirty="0"/>
          </a:p>
        </p:txBody>
      </p:sp>
      <p:sp>
        <p:nvSpPr>
          <p:cNvPr id="48" name="Shape 46"/>
          <p:cNvSpPr/>
          <p:nvPr/>
        </p:nvSpPr>
        <p:spPr>
          <a:xfrm>
            <a:off x="8869680" y="3209544"/>
            <a:ext cx="2514600" cy="0"/>
          </a:xfrm>
          <a:prstGeom prst="line">
            <a:avLst/>
          </a:prstGeom>
          <a:noFill/>
          <a:ln w="7620">
            <a:solidFill>
              <a:srgbClr val="355163"/>
            </a:solidFill>
            <a:prstDash val="solid"/>
          </a:ln>
        </p:spPr>
      </p:sp>
      <p:sp>
        <p:nvSpPr>
          <p:cNvPr id="49" name="Shape 47"/>
          <p:cNvSpPr/>
          <p:nvPr/>
        </p:nvSpPr>
        <p:spPr>
          <a:xfrm>
            <a:off x="8862365" y="3619195"/>
            <a:ext cx="243230" cy="0"/>
          </a:xfrm>
          <a:prstGeom prst="line">
            <a:avLst/>
          </a:prstGeom>
          <a:noFill/>
          <a:ln w="13970">
            <a:solidFill>
              <a:srgbClr val="64C9BA"/>
            </a:solidFill>
            <a:prstDash val="solid"/>
          </a:ln>
        </p:spPr>
      </p:sp>
      <p:sp>
        <p:nvSpPr>
          <p:cNvPr id="50" name="Shape 48"/>
          <p:cNvSpPr/>
          <p:nvPr/>
        </p:nvSpPr>
        <p:spPr>
          <a:xfrm>
            <a:off x="8862365" y="3363163"/>
            <a:ext cx="0" cy="256032"/>
          </a:xfrm>
          <a:prstGeom prst="line">
            <a:avLst/>
          </a:prstGeom>
          <a:noFill/>
          <a:ln w="13970">
            <a:solidFill>
              <a:srgbClr val="64C9BA"/>
            </a:solidFill>
            <a:prstDash val="solid"/>
          </a:ln>
        </p:spPr>
      </p:sp>
      <p:sp>
        <p:nvSpPr>
          <p:cNvPr id="51" name="Shape 49"/>
          <p:cNvSpPr/>
          <p:nvPr/>
        </p:nvSpPr>
        <p:spPr>
          <a:xfrm>
            <a:off x="8910371" y="3500780"/>
            <a:ext cx="38405" cy="92812"/>
          </a:xfrm>
          <a:prstGeom prst="rect">
            <a:avLst/>
          </a:prstGeom>
          <a:solidFill>
            <a:srgbClr val="64C9BA"/>
          </a:solidFill>
          <a:ln w="12700">
            <a:solidFill>
              <a:srgbClr val="64C9BA">
                <a:alpha val="0"/>
              </a:srgbClr>
            </a:solidFill>
            <a:prstDash val="solid"/>
          </a:ln>
        </p:spPr>
      </p:sp>
      <p:sp>
        <p:nvSpPr>
          <p:cNvPr id="52" name="Shape 50"/>
          <p:cNvSpPr/>
          <p:nvPr/>
        </p:nvSpPr>
        <p:spPr>
          <a:xfrm>
            <a:off x="8977579" y="3436772"/>
            <a:ext cx="38405" cy="156820"/>
          </a:xfrm>
          <a:prstGeom prst="rect">
            <a:avLst/>
          </a:prstGeom>
          <a:solidFill>
            <a:srgbClr val="64C9BA"/>
          </a:solidFill>
          <a:ln w="12700">
            <a:solidFill>
              <a:srgbClr val="64C9BA">
                <a:alpha val="0"/>
              </a:srgbClr>
            </a:solidFill>
            <a:prstDash val="solid"/>
          </a:ln>
        </p:spPr>
      </p:sp>
      <p:sp>
        <p:nvSpPr>
          <p:cNvPr id="53" name="Shape 51"/>
          <p:cNvSpPr/>
          <p:nvPr/>
        </p:nvSpPr>
        <p:spPr>
          <a:xfrm>
            <a:off x="9044788" y="3375965"/>
            <a:ext cx="38405" cy="217627"/>
          </a:xfrm>
          <a:prstGeom prst="rect">
            <a:avLst/>
          </a:prstGeom>
          <a:solidFill>
            <a:srgbClr val="64C9BA"/>
          </a:solidFill>
          <a:ln w="12700">
            <a:solidFill>
              <a:srgbClr val="64C9BA">
                <a:alpha val="0"/>
              </a:srgbClr>
            </a:solidFill>
            <a:prstDash val="solid"/>
          </a:ln>
        </p:spPr>
      </p:sp>
      <p:sp>
        <p:nvSpPr>
          <p:cNvPr id="54" name="Text 52"/>
          <p:cNvSpPr/>
          <p:nvPr/>
        </p:nvSpPr>
        <p:spPr>
          <a:xfrm>
            <a:off x="9244584" y="3374136"/>
            <a:ext cx="2194560" cy="237744"/>
          </a:xfrm>
          <a:prstGeom prst="rect">
            <a:avLst/>
          </a:prstGeom>
          <a:noFill/>
          <a:ln/>
        </p:spPr>
        <p:txBody>
          <a:bodyPr wrap="square" lIns="0" tIns="0" rIns="0" bIns="0" rtlCol="0" anchor="ctr"/>
          <a:lstStyle/>
          <a:p>
            <a:pPr algn="l" indent="0" marL="0">
              <a:buNone/>
            </a:pPr>
            <a:r>
              <a:rPr lang="en-US" sz="1280" dirty="0">
                <a:solidFill>
                  <a:srgbClr val="FFFFFF"/>
                </a:solidFill>
                <a:latin typeface="Inter" pitchFamily="34" charset="0"/>
                <a:ea typeface="Inter" pitchFamily="34" charset="-122"/>
                <a:cs typeface="Inter" pitchFamily="34" charset="-120"/>
              </a:rPr>
              <a:t>Analysis + work products</a:t>
            </a:r>
            <a:endParaRPr lang="en-US" sz="1280" dirty="0"/>
          </a:p>
        </p:txBody>
      </p:sp>
      <p:sp>
        <p:nvSpPr>
          <p:cNvPr id="55" name="Shape 53"/>
          <p:cNvSpPr/>
          <p:nvPr/>
        </p:nvSpPr>
        <p:spPr>
          <a:xfrm>
            <a:off x="8869680" y="3776472"/>
            <a:ext cx="2514600" cy="0"/>
          </a:xfrm>
          <a:prstGeom prst="line">
            <a:avLst/>
          </a:prstGeom>
          <a:noFill/>
          <a:ln w="7620">
            <a:solidFill>
              <a:srgbClr val="355163"/>
            </a:solidFill>
            <a:prstDash val="solid"/>
          </a:ln>
        </p:spPr>
      </p:sp>
      <p:sp>
        <p:nvSpPr>
          <p:cNvPr id="56" name="Shape 54"/>
          <p:cNvSpPr/>
          <p:nvPr/>
        </p:nvSpPr>
        <p:spPr>
          <a:xfrm>
            <a:off x="8839962" y="3974897"/>
            <a:ext cx="265633" cy="185623"/>
          </a:xfrm>
          <a:prstGeom prst="roundRect">
            <a:avLst>
              <a:gd name="adj" fmla="val 9852"/>
            </a:avLst>
          </a:prstGeom>
          <a:solidFill>
            <a:srgbClr val="102C40"/>
          </a:solidFill>
          <a:ln w="8890">
            <a:solidFill>
              <a:srgbClr val="64C9BA"/>
            </a:solidFill>
            <a:prstDash val="solid"/>
          </a:ln>
        </p:spPr>
      </p:sp>
      <p:sp>
        <p:nvSpPr>
          <p:cNvPr id="57" name="Shape 55"/>
          <p:cNvSpPr/>
          <p:nvPr/>
        </p:nvSpPr>
        <p:spPr>
          <a:xfrm>
            <a:off x="8843162" y="3981298"/>
            <a:ext cx="128016" cy="92812"/>
          </a:xfrm>
          <a:prstGeom prst="line">
            <a:avLst/>
          </a:prstGeom>
          <a:noFill/>
          <a:ln w="13970">
            <a:solidFill>
              <a:srgbClr val="64C9BA"/>
            </a:solidFill>
            <a:prstDash val="solid"/>
          </a:ln>
        </p:spPr>
      </p:sp>
      <p:sp>
        <p:nvSpPr>
          <p:cNvPr id="58" name="Shape 56"/>
          <p:cNvSpPr/>
          <p:nvPr/>
        </p:nvSpPr>
        <p:spPr>
          <a:xfrm>
            <a:off x="8971178" y="4074109"/>
            <a:ext cx="131216" cy="-92812"/>
          </a:xfrm>
          <a:prstGeom prst="line">
            <a:avLst/>
          </a:prstGeom>
          <a:noFill/>
          <a:ln w="13970">
            <a:solidFill>
              <a:srgbClr val="64C9BA"/>
            </a:solidFill>
            <a:prstDash val="solid"/>
          </a:ln>
        </p:spPr>
      </p:sp>
      <p:sp>
        <p:nvSpPr>
          <p:cNvPr id="59" name="Text 57"/>
          <p:cNvSpPr/>
          <p:nvPr/>
        </p:nvSpPr>
        <p:spPr>
          <a:xfrm>
            <a:off x="9244584" y="3941064"/>
            <a:ext cx="2194560" cy="237744"/>
          </a:xfrm>
          <a:prstGeom prst="rect">
            <a:avLst/>
          </a:prstGeom>
          <a:noFill/>
          <a:ln/>
        </p:spPr>
        <p:txBody>
          <a:bodyPr wrap="square" lIns="0" tIns="0" rIns="0" bIns="0" rtlCol="0" anchor="ctr"/>
          <a:lstStyle/>
          <a:p>
            <a:pPr algn="l" indent="0" marL="0">
              <a:buNone/>
            </a:pPr>
            <a:r>
              <a:rPr lang="en-US" sz="1280" dirty="0">
                <a:solidFill>
                  <a:srgbClr val="FFFFFF"/>
                </a:solidFill>
                <a:latin typeface="Inter" pitchFamily="34" charset="0"/>
                <a:ea typeface="Inter" pitchFamily="34" charset="-122"/>
                <a:cs typeface="Inter" pitchFamily="34" charset="-120"/>
              </a:rPr>
              <a:t>Draft communications</a:t>
            </a:r>
            <a:endParaRPr lang="en-US" sz="1280" dirty="0"/>
          </a:p>
        </p:txBody>
      </p:sp>
      <p:sp>
        <p:nvSpPr>
          <p:cNvPr id="60" name="Shape 58"/>
          <p:cNvSpPr/>
          <p:nvPr/>
        </p:nvSpPr>
        <p:spPr>
          <a:xfrm>
            <a:off x="8869680" y="4343400"/>
            <a:ext cx="2514600" cy="0"/>
          </a:xfrm>
          <a:prstGeom prst="line">
            <a:avLst/>
          </a:prstGeom>
          <a:noFill/>
          <a:ln w="7620">
            <a:solidFill>
              <a:srgbClr val="355163"/>
            </a:solidFill>
            <a:prstDash val="solid"/>
          </a:ln>
        </p:spPr>
      </p:sp>
      <p:sp>
        <p:nvSpPr>
          <p:cNvPr id="61" name="Shape 59"/>
          <p:cNvSpPr/>
          <p:nvPr/>
        </p:nvSpPr>
        <p:spPr>
          <a:xfrm>
            <a:off x="8849563" y="4503420"/>
            <a:ext cx="249631" cy="249631"/>
          </a:xfrm>
          <a:prstGeom prst="ellipse">
            <a:avLst/>
          </a:prstGeom>
          <a:solidFill>
            <a:srgbClr val="FFFFFF">
              <a:alpha val="0"/>
            </a:srgbClr>
          </a:solidFill>
          <a:ln w="13970">
            <a:solidFill>
              <a:srgbClr val="64C9BA"/>
            </a:solidFill>
            <a:prstDash val="solid"/>
          </a:ln>
        </p:spPr>
      </p:sp>
      <p:sp>
        <p:nvSpPr>
          <p:cNvPr id="62" name="Shape 60"/>
          <p:cNvSpPr/>
          <p:nvPr/>
        </p:nvSpPr>
        <p:spPr>
          <a:xfrm>
            <a:off x="8913571" y="4628236"/>
            <a:ext cx="44806" cy="44806"/>
          </a:xfrm>
          <a:prstGeom prst="line">
            <a:avLst/>
          </a:prstGeom>
          <a:noFill/>
          <a:ln w="17780">
            <a:solidFill>
              <a:srgbClr val="64C9BA"/>
            </a:solidFill>
            <a:prstDash val="solid"/>
          </a:ln>
        </p:spPr>
      </p:sp>
      <p:sp>
        <p:nvSpPr>
          <p:cNvPr id="63" name="Shape 61"/>
          <p:cNvSpPr/>
          <p:nvPr/>
        </p:nvSpPr>
        <p:spPr>
          <a:xfrm>
            <a:off x="8958377" y="4673041"/>
            <a:ext cx="83210" cy="-92812"/>
          </a:xfrm>
          <a:prstGeom prst="line">
            <a:avLst/>
          </a:prstGeom>
          <a:noFill/>
          <a:ln w="17780">
            <a:solidFill>
              <a:srgbClr val="64C9BA"/>
            </a:solidFill>
            <a:prstDash val="solid"/>
          </a:ln>
        </p:spPr>
      </p:sp>
      <p:sp>
        <p:nvSpPr>
          <p:cNvPr id="64" name="Text 62"/>
          <p:cNvSpPr/>
          <p:nvPr/>
        </p:nvSpPr>
        <p:spPr>
          <a:xfrm>
            <a:off x="9244584" y="4507992"/>
            <a:ext cx="2194560" cy="237744"/>
          </a:xfrm>
          <a:prstGeom prst="rect">
            <a:avLst/>
          </a:prstGeom>
          <a:noFill/>
          <a:ln/>
        </p:spPr>
        <p:txBody>
          <a:bodyPr wrap="square" lIns="0" tIns="0" rIns="0" bIns="0" rtlCol="0" anchor="ctr"/>
          <a:lstStyle/>
          <a:p>
            <a:pPr algn="l" indent="0" marL="0">
              <a:buNone/>
            </a:pPr>
            <a:r>
              <a:rPr lang="en-US" sz="1280" dirty="0">
                <a:solidFill>
                  <a:srgbClr val="FFFFFF"/>
                </a:solidFill>
                <a:latin typeface="Inter" pitchFamily="34" charset="0"/>
                <a:ea typeface="Inter" pitchFamily="34" charset="-122"/>
                <a:cs typeface="Inter" pitchFamily="34" charset="-120"/>
              </a:rPr>
              <a:t>CRM actions for review</a:t>
            </a:r>
            <a:endParaRPr lang="en-US" sz="1280" dirty="0"/>
          </a:p>
        </p:txBody>
      </p:sp>
      <p:sp>
        <p:nvSpPr>
          <p:cNvPr id="65" name="Text 63"/>
          <p:cNvSpPr/>
          <p:nvPr/>
        </p:nvSpPr>
        <p:spPr>
          <a:xfrm>
            <a:off x="8641080" y="5468112"/>
            <a:ext cx="3008376" cy="429768"/>
          </a:xfrm>
          <a:prstGeom prst="rect">
            <a:avLst/>
          </a:prstGeom>
          <a:noFill/>
          <a:ln/>
        </p:spPr>
        <p:txBody>
          <a:bodyPr wrap="square" lIns="0" tIns="0" rIns="0" bIns="0" rtlCol="0" anchor="ctr"/>
          <a:lstStyle/>
          <a:p>
            <a:pPr algn="ctr" indent="0" marL="0">
              <a:buNone/>
            </a:pPr>
            <a:r>
              <a:rPr lang="en-US" sz="1240" dirty="0">
                <a:solidFill>
                  <a:srgbClr val="60717A"/>
                </a:solidFill>
                <a:latin typeface="Inter" pitchFamily="34" charset="0"/>
                <a:ea typeface="Inter" pitchFamily="34" charset="-122"/>
                <a:cs typeface="Inter" pitchFamily="34" charset="-120"/>
              </a:rPr>
              <a:t>Critical actions remain</a:t>
            </a:r>
            <a:endParaRPr lang="en-US" sz="1240" dirty="0"/>
          </a:p>
          <a:p>
            <a:pPr algn="ctr" indent="0" marL="0">
              <a:buNone/>
            </a:pPr>
            <a:r>
              <a:rPr lang="en-US" sz="1240" dirty="0">
                <a:solidFill>
                  <a:srgbClr val="60717A"/>
                </a:solidFill>
                <a:latin typeface="Inter" pitchFamily="34" charset="0"/>
                <a:ea typeface="Inter" pitchFamily="34" charset="-122"/>
                <a:cs typeface="Inter" pitchFamily="34" charset="-120"/>
              </a:rPr>
              <a:t>subject to human review.</a:t>
            </a:r>
            <a:endParaRPr lang="en-US" sz="1240" dirty="0"/>
          </a:p>
        </p:txBody>
      </p:sp>
      <p:sp>
        <p:nvSpPr>
          <p:cNvPr id="66" name="Shape 64"/>
          <p:cNvSpPr/>
          <p:nvPr/>
        </p:nvSpPr>
        <p:spPr>
          <a:xfrm>
            <a:off x="548640" y="5961888"/>
            <a:ext cx="11091672" cy="283464"/>
          </a:xfrm>
          <a:prstGeom prst="roundRect">
            <a:avLst>
              <a:gd name="adj" fmla="val 16129"/>
            </a:avLst>
          </a:prstGeom>
          <a:solidFill>
            <a:srgbClr val="E3F3EE"/>
          </a:solidFill>
          <a:ln w="12700">
            <a:solidFill>
              <a:srgbClr val="E3F3EE">
                <a:alpha val="0"/>
              </a:srgbClr>
            </a:solidFill>
            <a:prstDash val="solid"/>
          </a:ln>
        </p:spPr>
      </p:sp>
      <p:sp>
        <p:nvSpPr>
          <p:cNvPr id="67" name="Text 65"/>
          <p:cNvSpPr/>
          <p:nvPr/>
        </p:nvSpPr>
        <p:spPr>
          <a:xfrm>
            <a:off x="713232" y="6007608"/>
            <a:ext cx="10780776" cy="155448"/>
          </a:xfrm>
          <a:prstGeom prst="rect">
            <a:avLst/>
          </a:prstGeom>
          <a:noFill/>
          <a:ln/>
        </p:spPr>
        <p:txBody>
          <a:bodyPr wrap="square" lIns="0" tIns="0" rIns="0" bIns="0" rtlCol="0" anchor="ctr"/>
          <a:lstStyle/>
          <a:p>
            <a:pPr algn="l" indent="0" marL="0">
              <a:buNone/>
            </a:pPr>
            <a:r>
              <a:rPr lang="en-US" sz="1160" dirty="0">
                <a:solidFill>
                  <a:srgbClr val="122B3E"/>
                </a:solidFill>
                <a:latin typeface="Inter" pitchFamily="34" charset="0"/>
                <a:ea typeface="Inter" pitchFamily="34" charset="-122"/>
                <a:cs typeface="Inter" pitchFamily="34" charset="-120"/>
              </a:rPr>
              <a:t>Beyond Q&amp;A: recurring tasks, partner analytics and generated work products are also documented.</a:t>
            </a:r>
            <a:endParaRPr lang="en-US" sz="1160" dirty="0"/>
          </a:p>
        </p:txBody>
      </p:sp>
      <p:sp>
        <p:nvSpPr>
          <p:cNvPr id="68" name="Text 66"/>
          <p:cNvSpPr/>
          <p:nvPr/>
        </p:nvSpPr>
        <p:spPr>
          <a:xfrm>
            <a:off x="548640" y="6368796"/>
            <a:ext cx="11091672" cy="105156"/>
          </a:xfrm>
          <a:prstGeom prst="rect">
            <a:avLst/>
          </a:prstGeom>
          <a:noFill/>
          <a:ln/>
        </p:spPr>
        <p:txBody>
          <a:bodyPr wrap="square" lIns="0" tIns="0" rIns="0" bIns="0" rtlCol="0" anchor="ctr"/>
          <a:lstStyle/>
          <a:p>
            <a:pPr algn="l" indent="0" marL="0">
              <a:buNone/>
            </a:pPr>
            <a:r>
              <a:rPr lang="en-US" sz="740" dirty="0">
                <a:solidFill>
                  <a:srgbClr val="60717A"/>
                </a:solidFill>
                <a:latin typeface="Inter" pitchFamily="34" charset="0"/>
                <a:ea typeface="Inter" pitchFamily="34" charset="-122"/>
                <a:cs typeface="Inter" pitchFamily="34" charset="-120"/>
              </a:rPr>
              <a:t>Sources: </a:t>
            </a:r>
            <a:pPr algn="l" indent="0" marL="0">
              <a:buNone/>
            </a:pPr>
            <a:r>
              <a:rPr lang="en-US" sz="740" u="sng" dirty="0">
                <a:solidFill>
                  <a:srgbClr val="60717A"/>
                </a:solidFill>
                <a:latin typeface="Inter" pitchFamily="34" charset="0"/>
                <a:ea typeface="Inter" pitchFamily="34" charset="-122"/>
                <a:cs typeface="Inter" pitchFamily="34" charset="-120"/>
                <a:hlinkClick r:id="rId1" invalidUrl="" action="" tgtFrame="" tooltip="" history="1" highlightClick="0" endSnd="0">
                  <a:extLst>
                    <a:ext uri="{A12FA001-AC4F-418D-AE19-62706E023703}">
                      <ahyp:hlinkClr xmlns:ahyp="http://schemas.microsoft.com/office/drawing/2018/hyperlinkcolor" val="tx"/>
                    </a:ext>
                  </a:extLst>
                </a:hlinkClick>
              </a:rPr>
              <a:t>Anthropic launch</a:t>
            </a:r>
            <a:pPr algn="l" indent="0" marL="0">
              <a:buNone/>
            </a:pPr>
            <a:r>
              <a:rPr lang="en-US" sz="740" dirty="0">
                <a:solidFill>
                  <a:srgbClr val="60717A"/>
                </a:solidFill>
                <a:latin typeface="Inter" pitchFamily="34" charset="0"/>
                <a:ea typeface="Inter" pitchFamily="34" charset="-122"/>
                <a:cs typeface="Inter" pitchFamily="34" charset="-120"/>
              </a:rPr>
              <a:t>  ·  </a:t>
            </a:r>
            <a:pPr algn="l" indent="0" marL="0">
              <a:buNone/>
            </a:pPr>
            <a:r>
              <a:rPr lang="en-US" sz="740" u="sng" dirty="0">
                <a:solidFill>
                  <a:srgbClr val="60717A"/>
                </a:solidFill>
                <a:latin typeface="Inter" pitchFamily="34" charset="0"/>
                <a:ea typeface="Inter" pitchFamily="34" charset="-122"/>
                <a:cs typeface="Inter" pitchFamily="34" charset="-120"/>
                <a:hlinkClick r:id="rId2" invalidUrl="" action="" tgtFrame="" tooltip="" history="1" highlightClick="0" endSnd="0">
                  <a:extLst>
                    <a:ext uri="{A12FA001-AC4F-418D-AE19-62706E023703}">
                      <ahyp:hlinkClr xmlns:ahyp="http://schemas.microsoft.com/office/drawing/2018/hyperlinkcolor" val="tx"/>
                    </a:ext>
                  </a:extLst>
                </a:hlinkClick>
              </a:rPr>
              <a:t>Advisor skills</a:t>
            </a:r>
            <a:pPr algn="l" indent="0" marL="0">
              <a:buNone/>
            </a:pPr>
            <a:r>
              <a:rPr lang="en-US" sz="740" dirty="0">
                <a:solidFill>
                  <a:srgbClr val="60717A"/>
                </a:solidFill>
                <a:latin typeface="Inter" pitchFamily="34" charset="0"/>
                <a:ea typeface="Inter" pitchFamily="34" charset="-122"/>
                <a:cs typeface="Inter" pitchFamily="34" charset="-120"/>
              </a:rPr>
              <a:t>  ·  </a:t>
            </a:r>
            <a:pPr algn="l" indent="0" marL="0">
              <a:buNone/>
            </a:pPr>
            <a:r>
              <a:rPr lang="en-US" sz="740" u="sng" dirty="0">
                <a:solidFill>
                  <a:srgbClr val="60717A"/>
                </a:solidFill>
                <a:latin typeface="Inter" pitchFamily="34" charset="0"/>
                <a:ea typeface="Inter" pitchFamily="34" charset="-122"/>
                <a:cs typeface="Inter" pitchFamily="34" charset="-120"/>
                <a:hlinkClick r:id="rId3" invalidUrl="" action="" tgtFrame="" tooltip="" history="1" highlightClick="0" endSnd="0">
                  <a:extLst>
                    <a:ext uri="{A12FA001-AC4F-418D-AE19-62706E023703}">
                      <ahyp:hlinkClr xmlns:ahyp="http://schemas.microsoft.com/office/drawing/2018/hyperlinkcolor" val="tx"/>
                    </a:ext>
                  </a:extLst>
                </a:hlinkClick>
              </a:rPr>
              <a:t>BlackRock skills</a:t>
            </a:r>
            <a:pPr algn="l" indent="0" marL="0">
              <a:buNone/>
            </a:pPr>
            <a:r>
              <a:rPr lang="en-US" sz="740" dirty="0">
                <a:solidFill>
                  <a:srgbClr val="60717A"/>
                </a:solidFill>
                <a:latin typeface="Inter" pitchFamily="34" charset="0"/>
                <a:ea typeface="Inter" pitchFamily="34" charset="-122"/>
                <a:cs typeface="Inter" pitchFamily="34" charset="-120"/>
              </a:rPr>
              <a:t>  ·  </a:t>
            </a:r>
            <a:pPr algn="l" indent="0" marL="0">
              <a:buNone/>
            </a:pPr>
            <a:r>
              <a:rPr lang="en-US" sz="740" u="sng" dirty="0">
                <a:solidFill>
                  <a:srgbClr val="60717A"/>
                </a:solidFill>
                <a:latin typeface="Inter" pitchFamily="34" charset="0"/>
                <a:ea typeface="Inter" pitchFamily="34" charset="-122"/>
                <a:cs typeface="Inter" pitchFamily="34" charset="-120"/>
                <a:hlinkClick r:id="rId4" invalidUrl="" action="" tgtFrame="" tooltip="" history="1" highlightClick="0" endSnd="0">
                  <a:extLst>
                    <a:ext uri="{A12FA001-AC4F-418D-AE19-62706E023703}">
                      <ahyp:hlinkClr xmlns:ahyp="http://schemas.microsoft.com/office/drawing/2018/hyperlinkcolor" val="tx"/>
                    </a:ext>
                  </a:extLst>
                </a:hlinkClick>
              </a:rPr>
              <a:t>Cowork</a:t>
            </a:r>
            <a:pPr algn="l" indent="0" marL="0">
              <a:buNone/>
            </a:pPr>
            <a:r>
              <a:rPr lang="en-US" sz="740" dirty="0">
                <a:solidFill>
                  <a:srgbClr val="60717A"/>
                </a:solidFill>
                <a:latin typeface="Inter" pitchFamily="34" charset="0"/>
                <a:ea typeface="Inter" pitchFamily="34" charset="-122"/>
                <a:cs typeface="Inter" pitchFamily="34" charset="-120"/>
              </a:rPr>
              <a:t>  ·  </a:t>
            </a:r>
            <a:pPr algn="l" indent="0" marL="0">
              <a:buNone/>
            </a:pPr>
            <a:r>
              <a:rPr lang="en-US" sz="740" u="sng" dirty="0">
                <a:solidFill>
                  <a:srgbClr val="60717A"/>
                </a:solidFill>
                <a:latin typeface="Inter" pitchFamily="34" charset="0"/>
                <a:ea typeface="Inter" pitchFamily="34" charset="-122"/>
                <a:cs typeface="Inter" pitchFamily="34" charset="-120"/>
                <a:hlinkClick r:id="rId5" invalidUrl="" action="" tgtFrame="" tooltip="" history="1" highlightClick="0" endSnd="0">
                  <a:extLst>
                    <a:ext uri="{A12FA001-AC4F-418D-AE19-62706E023703}">
                      <ahyp:hlinkClr xmlns:ahyp="http://schemas.microsoft.com/office/drawing/2018/hyperlinkcolor" val="tx"/>
                    </a:ext>
                  </a:extLst>
                </a:hlinkClick>
              </a:rPr>
              <a:t>Scheduled tasks</a:t>
            </a:r>
            <a:endParaRPr lang="en-US" sz="740" dirty="0"/>
          </a:p>
        </p:txBody>
      </p:sp>
      <p:sp>
        <p:nvSpPr>
          <p:cNvPr id="69" name="Shape 67"/>
          <p:cNvSpPr/>
          <p:nvPr/>
        </p:nvSpPr>
        <p:spPr>
          <a:xfrm>
            <a:off x="548640" y="6510528"/>
            <a:ext cx="11091672" cy="0"/>
          </a:xfrm>
          <a:prstGeom prst="line">
            <a:avLst/>
          </a:prstGeom>
          <a:noFill/>
          <a:ln w="7620">
            <a:solidFill>
              <a:srgbClr val="D7DEDD"/>
            </a:solidFill>
            <a:prstDash val="solid"/>
          </a:ln>
        </p:spPr>
      </p:sp>
      <p:sp>
        <p:nvSpPr>
          <p:cNvPr id="70" name="Text 68"/>
          <p:cNvSpPr/>
          <p:nvPr/>
        </p:nvSpPr>
        <p:spPr>
          <a:xfrm>
            <a:off x="548640" y="6611112"/>
            <a:ext cx="3794760" cy="118872"/>
          </a:xfrm>
          <a:prstGeom prst="rect">
            <a:avLst/>
          </a:prstGeom>
          <a:noFill/>
          <a:ln/>
        </p:spPr>
        <p:txBody>
          <a:bodyPr wrap="square" lIns="0" tIns="0" rIns="0" bIns="0" rtlCol="0" anchor="ctr"/>
          <a:lstStyle/>
          <a:p>
            <a:pPr algn="l" indent="0" marL="0">
              <a:buNone/>
            </a:pPr>
            <a:r>
              <a:rPr lang="en-US" sz="780" b="1" spc="70" kern="0" dirty="0">
                <a:solidFill>
                  <a:srgbClr val="60717A"/>
                </a:solidFill>
                <a:latin typeface="Inter" pitchFamily="34" charset="0"/>
                <a:ea typeface="Inter" pitchFamily="34" charset="-122"/>
                <a:cs typeface="Inter" pitchFamily="34" charset="-120"/>
              </a:rPr>
              <a:t>J.P. MORGAN  |  PRIVATE BANK</a:t>
            </a:r>
            <a:endParaRPr lang="en-US" sz="780" dirty="0"/>
          </a:p>
        </p:txBody>
      </p:sp>
      <p:sp>
        <p:nvSpPr>
          <p:cNvPr id="71" name="Text 69"/>
          <p:cNvSpPr/>
          <p:nvPr/>
        </p:nvSpPr>
        <p:spPr>
          <a:xfrm>
            <a:off x="6492240" y="6611112"/>
            <a:ext cx="4663440" cy="118872"/>
          </a:xfrm>
          <a:prstGeom prst="rect">
            <a:avLst/>
          </a:prstGeom>
          <a:noFill/>
          <a:ln/>
        </p:spPr>
        <p:txBody>
          <a:bodyPr wrap="square" lIns="0" tIns="0" rIns="0" bIns="0" rtlCol="0" anchor="ctr"/>
          <a:lstStyle/>
          <a:p>
            <a:pPr algn="r" indent="0" marL="0">
              <a:buNone/>
            </a:pPr>
            <a:r>
              <a:rPr lang="en-US" sz="770" spc="55" kern="0" dirty="0">
                <a:solidFill>
                  <a:srgbClr val="60717A"/>
                </a:solidFill>
                <a:latin typeface="Inter" pitchFamily="34" charset="0"/>
                <a:ea typeface="Inter" pitchFamily="34" charset="-122"/>
                <a:cs typeface="Inter" pitchFamily="34" charset="-120"/>
              </a:rPr>
              <a:t>INTERNAL DISCUSSION  /  SEPTEMBER 2026</a:t>
            </a:r>
            <a:endParaRPr lang="en-US" sz="770" dirty="0"/>
          </a:p>
        </p:txBody>
      </p:sp>
      <p:sp>
        <p:nvSpPr>
          <p:cNvPr id="72" name="Text 70"/>
          <p:cNvSpPr/>
          <p:nvPr/>
        </p:nvSpPr>
        <p:spPr>
          <a:xfrm>
            <a:off x="11292840" y="6588252"/>
            <a:ext cx="347472" cy="173736"/>
          </a:xfrm>
          <a:prstGeom prst="rect">
            <a:avLst/>
          </a:prstGeom>
          <a:noFill/>
          <a:ln/>
        </p:spPr>
        <p:txBody>
          <a:bodyPr wrap="square" lIns="0" tIns="0" rIns="0" bIns="0" rtlCol="0" anchor="ctr"/>
          <a:lstStyle/>
          <a:p>
            <a:pPr algn="r" indent="0" marL="0">
              <a:buNone/>
            </a:pPr>
            <a:r>
              <a:rPr lang="en-US" sz="1000" b="1" dirty="0">
                <a:solidFill>
                  <a:srgbClr val="9E5F46"/>
                </a:solidFill>
                <a:latin typeface="Inter" pitchFamily="34" charset="0"/>
                <a:ea typeface="Inter" pitchFamily="34" charset="-122"/>
                <a:cs typeface="Inter"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48640" y="429768"/>
            <a:ext cx="11091672" cy="182880"/>
          </a:xfrm>
          <a:prstGeom prst="rect">
            <a:avLst/>
          </a:prstGeom>
          <a:noFill/>
          <a:ln/>
        </p:spPr>
        <p:txBody>
          <a:bodyPr wrap="square" lIns="0" tIns="0" rIns="0" bIns="0" rtlCol="0" anchor="ctr"/>
          <a:lstStyle/>
          <a:p>
            <a:pPr algn="l" indent="0" marL="0">
              <a:buNone/>
            </a:pPr>
            <a:r>
              <a:rPr lang="en-US" sz="960" b="1" spc="150" kern="0" dirty="0">
                <a:solidFill>
                  <a:srgbClr val="9E5F46"/>
                </a:solidFill>
                <a:latin typeface="Inter" pitchFamily="34" charset="0"/>
                <a:ea typeface="Inter" pitchFamily="34" charset="-122"/>
                <a:cs typeface="Inter" pitchFamily="34" charset="-120"/>
              </a:rPr>
              <a:t>THE STRATEGIC DISTINCTION</a:t>
            </a:r>
            <a:endParaRPr lang="en-US" sz="960" dirty="0"/>
          </a:p>
        </p:txBody>
      </p:sp>
      <p:sp>
        <p:nvSpPr>
          <p:cNvPr id="3" name="Text 1"/>
          <p:cNvSpPr/>
          <p:nvPr/>
        </p:nvSpPr>
        <p:spPr>
          <a:xfrm>
            <a:off x="548640" y="795528"/>
            <a:ext cx="11091672" cy="969264"/>
          </a:xfrm>
          <a:prstGeom prst="rect">
            <a:avLst/>
          </a:prstGeom>
          <a:noFill/>
          <a:ln/>
        </p:spPr>
        <p:txBody>
          <a:bodyPr wrap="square" lIns="0" tIns="0" rIns="0" bIns="0" rtlCol="0" anchor="ctr"/>
          <a:lstStyle/>
          <a:p>
            <a:pPr algn="l" indent="0" marL="0">
              <a:buNone/>
            </a:pPr>
            <a:r>
              <a:rPr lang="en-US" sz="3480" b="1" spc="-60" kern="0" dirty="0">
                <a:solidFill>
                  <a:srgbClr val="122B3E"/>
                </a:solidFill>
                <a:latin typeface="Inter Display" pitchFamily="34" charset="0"/>
                <a:ea typeface="Inter Display" pitchFamily="34" charset="-122"/>
                <a:cs typeface="Inter Display" pitchFamily="34" charset="-120"/>
              </a:rPr>
              <a:t>The interface converges.</a:t>
            </a:r>
            <a:endParaRPr lang="en-US" sz="3480" dirty="0"/>
          </a:p>
          <a:p>
            <a:pPr algn="l" indent="0" marL="0">
              <a:buNone/>
            </a:pPr>
            <a:r>
              <a:rPr lang="en-US" sz="3480" b="1" spc="-60" kern="0" dirty="0">
                <a:solidFill>
                  <a:srgbClr val="122B3E"/>
                </a:solidFill>
                <a:latin typeface="Inter Display" pitchFamily="34" charset="0"/>
                <a:ea typeface="Inter Display" pitchFamily="34" charset="-122"/>
                <a:cs typeface="Inter Display" pitchFamily="34" charset="-120"/>
              </a:rPr>
              <a:t>The intelligence layer differentiates.</a:t>
            </a:r>
            <a:endParaRPr lang="en-US" sz="3480" dirty="0"/>
          </a:p>
        </p:txBody>
      </p:sp>
      <p:sp>
        <p:nvSpPr>
          <p:cNvPr id="4" name="Text 2"/>
          <p:cNvSpPr/>
          <p:nvPr/>
        </p:nvSpPr>
        <p:spPr>
          <a:xfrm>
            <a:off x="576072" y="1837944"/>
            <a:ext cx="10972800" cy="256032"/>
          </a:xfrm>
          <a:prstGeom prst="rect">
            <a:avLst/>
          </a:prstGeom>
          <a:noFill/>
          <a:ln/>
        </p:spPr>
        <p:txBody>
          <a:bodyPr wrap="square" lIns="0" tIns="0" rIns="0" bIns="0" rtlCol="0" anchor="ctr"/>
          <a:lstStyle/>
          <a:p>
            <a:pPr algn="l" indent="0" marL="0">
              <a:buNone/>
            </a:pPr>
            <a:r>
              <a:rPr lang="en-US" sz="1640" dirty="0">
                <a:solidFill>
                  <a:srgbClr val="60717A"/>
                </a:solidFill>
                <a:latin typeface="Inter" pitchFamily="34" charset="0"/>
                <a:ea typeface="Inter" pitchFamily="34" charset="-122"/>
                <a:cs typeface="Inter" pitchFamily="34" charset="-120"/>
              </a:rPr>
              <a:t>What we unify underneath the chat window is the durable opportunity.</a:t>
            </a:r>
            <a:endParaRPr lang="en-US" sz="1640" dirty="0"/>
          </a:p>
        </p:txBody>
      </p:sp>
      <p:sp>
        <p:nvSpPr>
          <p:cNvPr id="5" name="Shape 3"/>
          <p:cNvSpPr/>
          <p:nvPr/>
        </p:nvSpPr>
        <p:spPr>
          <a:xfrm>
            <a:off x="548640" y="2395728"/>
            <a:ext cx="4160520" cy="3483864"/>
          </a:xfrm>
          <a:prstGeom prst="roundRect">
            <a:avLst>
              <a:gd name="adj" fmla="val 3675"/>
            </a:avLst>
          </a:prstGeom>
          <a:solidFill>
            <a:srgbClr val="EDEEE8"/>
          </a:solidFill>
          <a:ln w="8890">
            <a:solidFill>
              <a:srgbClr val="D7DEDD"/>
            </a:solidFill>
            <a:prstDash val="solid"/>
          </a:ln>
        </p:spPr>
      </p:sp>
      <p:sp>
        <p:nvSpPr>
          <p:cNvPr id="6" name="Text 4"/>
          <p:cNvSpPr/>
          <p:nvPr/>
        </p:nvSpPr>
        <p:spPr>
          <a:xfrm>
            <a:off x="786384" y="2596896"/>
            <a:ext cx="3666744" cy="173736"/>
          </a:xfrm>
          <a:prstGeom prst="rect">
            <a:avLst/>
          </a:prstGeom>
          <a:noFill/>
          <a:ln/>
        </p:spPr>
        <p:txBody>
          <a:bodyPr wrap="square" lIns="0" tIns="0" rIns="0" bIns="0" rtlCol="0" anchor="ctr"/>
          <a:lstStyle/>
          <a:p>
            <a:pPr algn="l" indent="0" marL="0">
              <a:buNone/>
            </a:pPr>
            <a:r>
              <a:rPr lang="en-US" sz="910" b="1" spc="100" kern="0" dirty="0">
                <a:solidFill>
                  <a:srgbClr val="9E5F46"/>
                </a:solidFill>
                <a:latin typeface="Inter" pitchFamily="34" charset="0"/>
                <a:ea typeface="Inter" pitchFamily="34" charset="-122"/>
                <a:cs typeface="Inter" pitchFamily="34" charset="-120"/>
              </a:rPr>
              <a:t>CLAUDE / PUBLISHED APPROACH</a:t>
            </a:r>
            <a:endParaRPr lang="en-US" sz="910" dirty="0"/>
          </a:p>
        </p:txBody>
      </p:sp>
      <p:sp>
        <p:nvSpPr>
          <p:cNvPr id="7" name="Text 5"/>
          <p:cNvSpPr/>
          <p:nvPr/>
        </p:nvSpPr>
        <p:spPr>
          <a:xfrm>
            <a:off x="777240" y="2962656"/>
            <a:ext cx="3648456" cy="658368"/>
          </a:xfrm>
          <a:prstGeom prst="rect">
            <a:avLst/>
          </a:prstGeom>
          <a:noFill/>
          <a:ln/>
        </p:spPr>
        <p:txBody>
          <a:bodyPr wrap="square" lIns="0" tIns="0" rIns="0" bIns="0" rtlCol="0" anchor="ctr"/>
          <a:lstStyle/>
          <a:p>
            <a:pPr algn="l" indent="0" marL="0">
              <a:buNone/>
            </a:pPr>
            <a:r>
              <a:rPr lang="en-US" sz="2320" b="1" spc="-60" kern="0" dirty="0">
                <a:solidFill>
                  <a:srgbClr val="122B3E"/>
                </a:solidFill>
                <a:latin typeface="Inter Display" pitchFamily="34" charset="0"/>
                <a:ea typeface="Inter Display" pitchFamily="34" charset="-122"/>
                <a:cs typeface="Inter Display" pitchFamily="34" charset="-120"/>
              </a:rPr>
              <a:t>Connect distinct</a:t>
            </a:r>
            <a:endParaRPr lang="en-US" sz="2320" dirty="0"/>
          </a:p>
          <a:p>
            <a:pPr algn="l" indent="0" marL="0">
              <a:buNone/>
            </a:pPr>
            <a:r>
              <a:rPr lang="en-US" sz="2320" b="1" spc="-60" kern="0" dirty="0">
                <a:solidFill>
                  <a:srgbClr val="122B3E"/>
                </a:solidFill>
                <a:latin typeface="Inter Display" pitchFamily="34" charset="0"/>
                <a:ea typeface="Inter Display" pitchFamily="34" charset="-122"/>
                <a:cs typeface="Inter Display" pitchFamily="34" charset="-120"/>
              </a:rPr>
              <a:t>vendor capabilities</a:t>
            </a:r>
            <a:endParaRPr lang="en-US" sz="2320" dirty="0"/>
          </a:p>
        </p:txBody>
      </p:sp>
      <p:sp>
        <p:nvSpPr>
          <p:cNvPr id="8" name="Shape 6"/>
          <p:cNvSpPr/>
          <p:nvPr/>
        </p:nvSpPr>
        <p:spPr>
          <a:xfrm>
            <a:off x="804672" y="3785616"/>
            <a:ext cx="3648456" cy="429768"/>
          </a:xfrm>
          <a:prstGeom prst="roundRect">
            <a:avLst>
              <a:gd name="adj" fmla="val 12766"/>
            </a:avLst>
          </a:prstGeom>
          <a:solidFill>
            <a:srgbClr val="FFFFFF"/>
          </a:solidFill>
          <a:ln w="8890">
            <a:solidFill>
              <a:srgbClr val="D7DEDD"/>
            </a:solidFill>
            <a:prstDash val="solid"/>
          </a:ln>
        </p:spPr>
      </p:sp>
      <p:sp>
        <p:nvSpPr>
          <p:cNvPr id="9" name="Text 7"/>
          <p:cNvSpPr/>
          <p:nvPr/>
        </p:nvSpPr>
        <p:spPr>
          <a:xfrm>
            <a:off x="932688" y="3881628"/>
            <a:ext cx="3383280" cy="192024"/>
          </a:xfrm>
          <a:prstGeom prst="rect">
            <a:avLst/>
          </a:prstGeom>
          <a:noFill/>
          <a:ln/>
        </p:spPr>
        <p:txBody>
          <a:bodyPr wrap="square" lIns="0" tIns="0" rIns="0" bIns="0" rtlCol="0" anchor="ctr"/>
          <a:lstStyle/>
          <a:p>
            <a:pPr algn="ctr" indent="0" marL="0">
              <a:buNone/>
            </a:pPr>
            <a:r>
              <a:rPr lang="en-US" sz="1280" b="1" dirty="0">
                <a:solidFill>
                  <a:srgbClr val="122B3E"/>
                </a:solidFill>
                <a:latin typeface="Inter" pitchFamily="34" charset="0"/>
                <a:ea typeface="Inter" pitchFamily="34" charset="-122"/>
                <a:cs typeface="Inter" pitchFamily="34" charset="-120"/>
              </a:rPr>
              <a:t>Common conversational front door</a:t>
            </a:r>
            <a:endParaRPr lang="en-US" sz="1280" dirty="0"/>
          </a:p>
        </p:txBody>
      </p:sp>
      <p:sp>
        <p:nvSpPr>
          <p:cNvPr id="10" name="Shape 8"/>
          <p:cNvSpPr/>
          <p:nvPr/>
        </p:nvSpPr>
        <p:spPr>
          <a:xfrm>
            <a:off x="2628900" y="4215384"/>
            <a:ext cx="0" cy="219456"/>
          </a:xfrm>
          <a:prstGeom prst="line">
            <a:avLst/>
          </a:prstGeom>
          <a:noFill/>
          <a:ln w="13970">
            <a:solidFill>
              <a:srgbClr val="B89970"/>
            </a:solidFill>
            <a:prstDash val="solid"/>
            <a:tailEnd type="triangle"/>
          </a:ln>
        </p:spPr>
      </p:sp>
      <p:sp>
        <p:nvSpPr>
          <p:cNvPr id="11" name="Shape 9"/>
          <p:cNvSpPr/>
          <p:nvPr/>
        </p:nvSpPr>
        <p:spPr>
          <a:xfrm>
            <a:off x="804672" y="4462272"/>
            <a:ext cx="3648456" cy="420624"/>
          </a:xfrm>
          <a:prstGeom prst="roundRect">
            <a:avLst>
              <a:gd name="adj" fmla="val 13043"/>
            </a:avLst>
          </a:prstGeom>
          <a:solidFill>
            <a:srgbClr val="F1DFD3"/>
          </a:solidFill>
          <a:ln w="12700">
            <a:solidFill>
              <a:srgbClr val="F1DFD3">
                <a:alpha val="0"/>
              </a:srgbClr>
            </a:solidFill>
            <a:prstDash val="solid"/>
          </a:ln>
        </p:spPr>
      </p:sp>
      <p:sp>
        <p:nvSpPr>
          <p:cNvPr id="12" name="Text 10"/>
          <p:cNvSpPr/>
          <p:nvPr/>
        </p:nvSpPr>
        <p:spPr>
          <a:xfrm>
            <a:off x="923544" y="4562856"/>
            <a:ext cx="3401568" cy="182880"/>
          </a:xfrm>
          <a:prstGeom prst="rect">
            <a:avLst/>
          </a:prstGeom>
          <a:noFill/>
          <a:ln/>
        </p:spPr>
        <p:txBody>
          <a:bodyPr wrap="square" lIns="0" tIns="0" rIns="0" bIns="0" rtlCol="0" anchor="ctr"/>
          <a:lstStyle/>
          <a:p>
            <a:pPr algn="ctr" indent="0" marL="0">
              <a:buNone/>
            </a:pPr>
            <a:r>
              <a:rPr lang="en-US" sz="1310" b="1" dirty="0">
                <a:solidFill>
                  <a:srgbClr val="122B3E"/>
                </a:solidFill>
                <a:latin typeface="Inter" pitchFamily="34" charset="0"/>
                <a:ea typeface="Inter" pitchFamily="34" charset="-122"/>
                <a:cs typeface="Inter" pitchFamily="34" charset="-120"/>
              </a:rPr>
              <a:t>Skills + workflow orchestration</a:t>
            </a:r>
            <a:endParaRPr lang="en-US" sz="1310" dirty="0"/>
          </a:p>
        </p:txBody>
      </p:sp>
      <p:sp>
        <p:nvSpPr>
          <p:cNvPr id="13" name="Shape 11"/>
          <p:cNvSpPr/>
          <p:nvPr/>
        </p:nvSpPr>
        <p:spPr>
          <a:xfrm>
            <a:off x="2628900" y="4882896"/>
            <a:ext cx="0" cy="137160"/>
          </a:xfrm>
          <a:prstGeom prst="line">
            <a:avLst/>
          </a:prstGeom>
          <a:noFill/>
          <a:ln w="12700">
            <a:solidFill>
              <a:srgbClr val="D7DEDD"/>
            </a:solidFill>
            <a:prstDash val="solid"/>
          </a:ln>
        </p:spPr>
      </p:sp>
      <p:sp>
        <p:nvSpPr>
          <p:cNvPr id="14" name="Shape 12"/>
          <p:cNvSpPr/>
          <p:nvPr/>
        </p:nvSpPr>
        <p:spPr>
          <a:xfrm>
            <a:off x="1216152" y="5020056"/>
            <a:ext cx="2834640" cy="0"/>
          </a:xfrm>
          <a:prstGeom prst="line">
            <a:avLst/>
          </a:prstGeom>
          <a:noFill/>
          <a:ln w="12700">
            <a:solidFill>
              <a:srgbClr val="D7DEDD"/>
            </a:solidFill>
            <a:prstDash val="solid"/>
          </a:ln>
        </p:spPr>
      </p:sp>
      <p:sp>
        <p:nvSpPr>
          <p:cNvPr id="15" name="Shape 13"/>
          <p:cNvSpPr/>
          <p:nvPr/>
        </p:nvSpPr>
        <p:spPr>
          <a:xfrm>
            <a:off x="1225296" y="5020056"/>
            <a:ext cx="0" cy="109728"/>
          </a:xfrm>
          <a:prstGeom prst="line">
            <a:avLst/>
          </a:prstGeom>
          <a:noFill/>
          <a:ln w="12700">
            <a:solidFill>
              <a:srgbClr val="D7DEDD"/>
            </a:solidFill>
            <a:prstDash val="solid"/>
          </a:ln>
        </p:spPr>
      </p:sp>
      <p:sp>
        <p:nvSpPr>
          <p:cNvPr id="16" name="Shape 14"/>
          <p:cNvSpPr/>
          <p:nvPr/>
        </p:nvSpPr>
        <p:spPr>
          <a:xfrm>
            <a:off x="804672" y="5148072"/>
            <a:ext cx="822960" cy="320040"/>
          </a:xfrm>
          <a:prstGeom prst="roundRect">
            <a:avLst>
              <a:gd name="adj" fmla="val 20000"/>
            </a:avLst>
          </a:prstGeom>
          <a:solidFill>
            <a:srgbClr val="FFFFFF"/>
          </a:solidFill>
          <a:ln w="8890">
            <a:solidFill>
              <a:srgbClr val="D7DEDD"/>
            </a:solidFill>
            <a:prstDash val="solid"/>
          </a:ln>
        </p:spPr>
      </p:sp>
      <p:sp>
        <p:nvSpPr>
          <p:cNvPr id="17" name="Text 15"/>
          <p:cNvSpPr/>
          <p:nvPr/>
        </p:nvSpPr>
        <p:spPr>
          <a:xfrm>
            <a:off x="868680" y="5161788"/>
            <a:ext cx="694944" cy="292608"/>
          </a:xfrm>
          <a:prstGeom prst="rect">
            <a:avLst/>
          </a:prstGeom>
          <a:noFill/>
          <a:ln/>
        </p:spPr>
        <p:txBody>
          <a:bodyPr wrap="square" lIns="0" tIns="0" rIns="0" bIns="0" rtlCol="0" anchor="ctr"/>
          <a:lstStyle/>
          <a:p>
            <a:pPr algn="ctr" indent="0" marL="0">
              <a:buNone/>
            </a:pPr>
            <a:r>
              <a:rPr lang="en-US" sz="1010" b="1" dirty="0">
                <a:solidFill>
                  <a:srgbClr val="60717A"/>
                </a:solidFill>
                <a:latin typeface="Inter" pitchFamily="34" charset="0"/>
                <a:ea typeface="Inter" pitchFamily="34" charset="-122"/>
                <a:cs typeface="Inter" pitchFamily="34" charset="-120"/>
              </a:rPr>
              <a:t>CRM</a:t>
            </a:r>
            <a:endParaRPr lang="en-US" sz="1010" dirty="0"/>
          </a:p>
        </p:txBody>
      </p:sp>
      <p:sp>
        <p:nvSpPr>
          <p:cNvPr id="18" name="Shape 16"/>
          <p:cNvSpPr/>
          <p:nvPr/>
        </p:nvSpPr>
        <p:spPr>
          <a:xfrm>
            <a:off x="2167128" y="5020056"/>
            <a:ext cx="0" cy="109728"/>
          </a:xfrm>
          <a:prstGeom prst="line">
            <a:avLst/>
          </a:prstGeom>
          <a:noFill/>
          <a:ln w="12700">
            <a:solidFill>
              <a:srgbClr val="D7DEDD"/>
            </a:solidFill>
            <a:prstDash val="solid"/>
          </a:ln>
        </p:spPr>
      </p:sp>
      <p:sp>
        <p:nvSpPr>
          <p:cNvPr id="19" name="Shape 17"/>
          <p:cNvSpPr/>
          <p:nvPr/>
        </p:nvSpPr>
        <p:spPr>
          <a:xfrm>
            <a:off x="1746504" y="5148072"/>
            <a:ext cx="822960" cy="320040"/>
          </a:xfrm>
          <a:prstGeom prst="roundRect">
            <a:avLst>
              <a:gd name="adj" fmla="val 20000"/>
            </a:avLst>
          </a:prstGeom>
          <a:solidFill>
            <a:srgbClr val="FFFFFF"/>
          </a:solidFill>
          <a:ln w="8890">
            <a:solidFill>
              <a:srgbClr val="D7DEDD"/>
            </a:solidFill>
            <a:prstDash val="solid"/>
          </a:ln>
        </p:spPr>
      </p:sp>
      <p:sp>
        <p:nvSpPr>
          <p:cNvPr id="20" name="Text 18"/>
          <p:cNvSpPr/>
          <p:nvPr/>
        </p:nvSpPr>
        <p:spPr>
          <a:xfrm>
            <a:off x="1810512" y="5161788"/>
            <a:ext cx="694944" cy="292608"/>
          </a:xfrm>
          <a:prstGeom prst="rect">
            <a:avLst/>
          </a:prstGeom>
          <a:noFill/>
          <a:ln/>
        </p:spPr>
        <p:txBody>
          <a:bodyPr wrap="square" lIns="0" tIns="0" rIns="0" bIns="0" rtlCol="0" anchor="ctr"/>
          <a:lstStyle/>
          <a:p>
            <a:pPr algn="ctr" indent="0" marL="0">
              <a:buNone/>
            </a:pPr>
            <a:r>
              <a:rPr lang="en-US" sz="1010" b="1" dirty="0">
                <a:solidFill>
                  <a:srgbClr val="60717A"/>
                </a:solidFill>
                <a:latin typeface="Inter" pitchFamily="34" charset="0"/>
                <a:ea typeface="Inter" pitchFamily="34" charset="-122"/>
                <a:cs typeface="Inter" pitchFamily="34" charset="-120"/>
              </a:rPr>
              <a:t>Portfolio</a:t>
            </a:r>
            <a:endParaRPr lang="en-US" sz="1010" dirty="0"/>
          </a:p>
        </p:txBody>
      </p:sp>
      <p:sp>
        <p:nvSpPr>
          <p:cNvPr id="21" name="Shape 19"/>
          <p:cNvSpPr/>
          <p:nvPr/>
        </p:nvSpPr>
        <p:spPr>
          <a:xfrm>
            <a:off x="3108960" y="5020056"/>
            <a:ext cx="0" cy="109728"/>
          </a:xfrm>
          <a:prstGeom prst="line">
            <a:avLst/>
          </a:prstGeom>
          <a:noFill/>
          <a:ln w="12700">
            <a:solidFill>
              <a:srgbClr val="D7DEDD"/>
            </a:solidFill>
            <a:prstDash val="solid"/>
          </a:ln>
        </p:spPr>
      </p:sp>
      <p:sp>
        <p:nvSpPr>
          <p:cNvPr id="22" name="Shape 20"/>
          <p:cNvSpPr/>
          <p:nvPr/>
        </p:nvSpPr>
        <p:spPr>
          <a:xfrm>
            <a:off x="2688336" y="5148072"/>
            <a:ext cx="822960" cy="320040"/>
          </a:xfrm>
          <a:prstGeom prst="roundRect">
            <a:avLst>
              <a:gd name="adj" fmla="val 20000"/>
            </a:avLst>
          </a:prstGeom>
          <a:solidFill>
            <a:srgbClr val="FFFFFF"/>
          </a:solidFill>
          <a:ln w="8890">
            <a:solidFill>
              <a:srgbClr val="D7DEDD"/>
            </a:solidFill>
            <a:prstDash val="solid"/>
          </a:ln>
        </p:spPr>
      </p:sp>
      <p:sp>
        <p:nvSpPr>
          <p:cNvPr id="23" name="Text 21"/>
          <p:cNvSpPr/>
          <p:nvPr/>
        </p:nvSpPr>
        <p:spPr>
          <a:xfrm>
            <a:off x="2752344" y="5161788"/>
            <a:ext cx="694944" cy="292608"/>
          </a:xfrm>
          <a:prstGeom prst="rect">
            <a:avLst/>
          </a:prstGeom>
          <a:noFill/>
          <a:ln/>
        </p:spPr>
        <p:txBody>
          <a:bodyPr wrap="square" lIns="0" tIns="0" rIns="0" bIns="0" rtlCol="0" anchor="ctr"/>
          <a:lstStyle/>
          <a:p>
            <a:pPr algn="ctr" indent="0" marL="0">
              <a:buNone/>
            </a:pPr>
            <a:r>
              <a:rPr lang="en-US" sz="1010" b="1" dirty="0">
                <a:solidFill>
                  <a:srgbClr val="60717A"/>
                </a:solidFill>
                <a:latin typeface="Inter" pitchFamily="34" charset="0"/>
                <a:ea typeface="Inter" pitchFamily="34" charset="-122"/>
                <a:cs typeface="Inter" pitchFamily="34" charset="-120"/>
              </a:rPr>
              <a:t>Planning</a:t>
            </a:r>
            <a:endParaRPr lang="en-US" sz="1010" dirty="0"/>
          </a:p>
        </p:txBody>
      </p:sp>
      <p:sp>
        <p:nvSpPr>
          <p:cNvPr id="24" name="Shape 22"/>
          <p:cNvSpPr/>
          <p:nvPr/>
        </p:nvSpPr>
        <p:spPr>
          <a:xfrm>
            <a:off x="4050792" y="5020056"/>
            <a:ext cx="0" cy="109728"/>
          </a:xfrm>
          <a:prstGeom prst="line">
            <a:avLst/>
          </a:prstGeom>
          <a:noFill/>
          <a:ln w="12700">
            <a:solidFill>
              <a:srgbClr val="D7DEDD"/>
            </a:solidFill>
            <a:prstDash val="solid"/>
          </a:ln>
        </p:spPr>
      </p:sp>
      <p:sp>
        <p:nvSpPr>
          <p:cNvPr id="25" name="Shape 23"/>
          <p:cNvSpPr/>
          <p:nvPr/>
        </p:nvSpPr>
        <p:spPr>
          <a:xfrm>
            <a:off x="3630168" y="5148072"/>
            <a:ext cx="822960" cy="320040"/>
          </a:xfrm>
          <a:prstGeom prst="roundRect">
            <a:avLst>
              <a:gd name="adj" fmla="val 20000"/>
            </a:avLst>
          </a:prstGeom>
          <a:solidFill>
            <a:srgbClr val="FFFFFF"/>
          </a:solidFill>
          <a:ln w="8890">
            <a:solidFill>
              <a:srgbClr val="D7DEDD"/>
            </a:solidFill>
            <a:prstDash val="solid"/>
          </a:ln>
        </p:spPr>
      </p:sp>
      <p:sp>
        <p:nvSpPr>
          <p:cNvPr id="26" name="Text 24"/>
          <p:cNvSpPr/>
          <p:nvPr/>
        </p:nvSpPr>
        <p:spPr>
          <a:xfrm>
            <a:off x="3694176" y="5161788"/>
            <a:ext cx="694944" cy="292608"/>
          </a:xfrm>
          <a:prstGeom prst="rect">
            <a:avLst/>
          </a:prstGeom>
          <a:noFill/>
          <a:ln/>
        </p:spPr>
        <p:txBody>
          <a:bodyPr wrap="square" lIns="0" tIns="0" rIns="0" bIns="0" rtlCol="0" anchor="ctr"/>
          <a:lstStyle/>
          <a:p>
            <a:pPr algn="ctr" indent="0" marL="0">
              <a:buNone/>
            </a:pPr>
            <a:r>
              <a:rPr lang="en-US" sz="1010" b="1" dirty="0">
                <a:solidFill>
                  <a:srgbClr val="60717A"/>
                </a:solidFill>
                <a:latin typeface="Inter" pitchFamily="34" charset="0"/>
                <a:ea typeface="Inter" pitchFamily="34" charset="-122"/>
                <a:cs typeface="Inter" pitchFamily="34" charset="-120"/>
              </a:rPr>
              <a:t>Calls</a:t>
            </a:r>
            <a:endParaRPr lang="en-US" sz="1010" dirty="0"/>
          </a:p>
        </p:txBody>
      </p:sp>
      <p:sp>
        <p:nvSpPr>
          <p:cNvPr id="27" name="Text 25"/>
          <p:cNvSpPr/>
          <p:nvPr/>
        </p:nvSpPr>
        <p:spPr>
          <a:xfrm>
            <a:off x="804672" y="5596128"/>
            <a:ext cx="3648456" cy="146304"/>
          </a:xfrm>
          <a:prstGeom prst="rect">
            <a:avLst/>
          </a:prstGeom>
          <a:noFill/>
          <a:ln/>
        </p:spPr>
        <p:txBody>
          <a:bodyPr wrap="square" lIns="0" tIns="0" rIns="0" bIns="0" rtlCol="0" anchor="ctr"/>
          <a:lstStyle/>
          <a:p>
            <a:pPr algn="ctr" indent="0" marL="0">
              <a:buNone/>
            </a:pPr>
            <a:r>
              <a:rPr lang="en-US" sz="1060" dirty="0">
                <a:solidFill>
                  <a:srgbClr val="60717A"/>
                </a:solidFill>
                <a:latin typeface="Inter" pitchFamily="34" charset="0"/>
                <a:ea typeface="Inter" pitchFamily="34" charset="-122"/>
                <a:cs typeface="Inter" pitchFamily="34" charset="-120"/>
              </a:rPr>
              <a:t>Provider data, tools and permissions</a:t>
            </a:r>
            <a:endParaRPr lang="en-US" sz="1060" dirty="0"/>
          </a:p>
        </p:txBody>
      </p:sp>
      <p:sp>
        <p:nvSpPr>
          <p:cNvPr id="28" name="Shape 26"/>
          <p:cNvSpPr/>
          <p:nvPr/>
        </p:nvSpPr>
        <p:spPr>
          <a:xfrm>
            <a:off x="4992624" y="2395728"/>
            <a:ext cx="6647688" cy="3483864"/>
          </a:xfrm>
          <a:prstGeom prst="roundRect">
            <a:avLst>
              <a:gd name="adj" fmla="val 3675"/>
            </a:avLst>
          </a:prstGeom>
          <a:solidFill>
            <a:srgbClr val="081E30"/>
          </a:solidFill>
          <a:ln w="12700">
            <a:solidFill>
              <a:srgbClr val="081E30">
                <a:alpha val="0"/>
              </a:srgbClr>
            </a:solidFill>
            <a:prstDash val="solid"/>
          </a:ln>
        </p:spPr>
      </p:sp>
      <p:sp>
        <p:nvSpPr>
          <p:cNvPr id="29" name="Text 27"/>
          <p:cNvSpPr/>
          <p:nvPr/>
        </p:nvSpPr>
        <p:spPr>
          <a:xfrm>
            <a:off x="5257800" y="2596896"/>
            <a:ext cx="6108192" cy="173736"/>
          </a:xfrm>
          <a:prstGeom prst="rect">
            <a:avLst/>
          </a:prstGeom>
          <a:noFill/>
          <a:ln/>
        </p:spPr>
        <p:txBody>
          <a:bodyPr wrap="square" lIns="0" tIns="0" rIns="0" bIns="0" rtlCol="0" anchor="ctr"/>
          <a:lstStyle/>
          <a:p>
            <a:pPr algn="l" indent="0" marL="0">
              <a:buNone/>
            </a:pPr>
            <a:r>
              <a:rPr lang="en-US" sz="920" b="1" spc="100" kern="0" dirty="0">
                <a:solidFill>
                  <a:srgbClr val="64C9BA"/>
                </a:solidFill>
                <a:latin typeface="Inter" pitchFamily="34" charset="0"/>
                <a:ea typeface="Inter" pitchFamily="34" charset="-122"/>
                <a:cs typeface="Inter" pitchFamily="34" charset="-120"/>
              </a:rPr>
              <a:t>COACH / TARGET ARCHITECTURE</a:t>
            </a:r>
            <a:endParaRPr lang="en-US" sz="920" dirty="0"/>
          </a:p>
        </p:txBody>
      </p:sp>
      <p:sp>
        <p:nvSpPr>
          <p:cNvPr id="30" name="Text 28"/>
          <p:cNvSpPr/>
          <p:nvPr/>
        </p:nvSpPr>
        <p:spPr>
          <a:xfrm>
            <a:off x="5257800" y="2962656"/>
            <a:ext cx="6080760" cy="658368"/>
          </a:xfrm>
          <a:prstGeom prst="rect">
            <a:avLst/>
          </a:prstGeom>
          <a:noFill/>
          <a:ln/>
        </p:spPr>
        <p:txBody>
          <a:bodyPr wrap="square" lIns="0" tIns="0" rIns="0" bIns="0" rtlCol="0" anchor="ctr"/>
          <a:lstStyle/>
          <a:p>
            <a:pPr algn="l" indent="0" marL="0">
              <a:buNone/>
            </a:pPr>
            <a:r>
              <a:rPr lang="en-US" sz="2320" b="1" spc="-60" kern="0" dirty="0">
                <a:solidFill>
                  <a:srgbClr val="FFFFFF"/>
                </a:solidFill>
                <a:latin typeface="Inter Display" pitchFamily="34" charset="0"/>
                <a:ea typeface="Inter Display" pitchFamily="34" charset="-122"/>
                <a:cs typeface="Inter Display" pitchFamily="34" charset="-120"/>
              </a:rPr>
              <a:t>Unify the Private Bank</a:t>
            </a:r>
            <a:endParaRPr lang="en-US" sz="2320" dirty="0"/>
          </a:p>
          <a:p>
            <a:pPr algn="l" indent="0" marL="0">
              <a:buNone/>
            </a:pPr>
            <a:r>
              <a:rPr lang="en-US" sz="2320" b="1" spc="-60" kern="0" dirty="0">
                <a:solidFill>
                  <a:srgbClr val="FFFFFF"/>
                </a:solidFill>
                <a:latin typeface="Inter Display" pitchFamily="34" charset="0"/>
                <a:ea typeface="Inter Display" pitchFamily="34" charset="-122"/>
                <a:cs typeface="Inter Display" pitchFamily="34" charset="-120"/>
              </a:rPr>
              <a:t>around each client</a:t>
            </a:r>
            <a:endParaRPr lang="en-US" sz="2320" dirty="0"/>
          </a:p>
        </p:txBody>
      </p:sp>
      <p:sp>
        <p:nvSpPr>
          <p:cNvPr id="31" name="Shape 29"/>
          <p:cNvSpPr/>
          <p:nvPr/>
        </p:nvSpPr>
        <p:spPr>
          <a:xfrm>
            <a:off x="5257800" y="3785616"/>
            <a:ext cx="6108192" cy="429768"/>
          </a:xfrm>
          <a:prstGeom prst="roundRect">
            <a:avLst>
              <a:gd name="adj" fmla="val 12766"/>
            </a:avLst>
          </a:prstGeom>
          <a:solidFill>
            <a:srgbClr val="17394D"/>
          </a:solidFill>
          <a:ln w="12700">
            <a:solidFill>
              <a:srgbClr val="17394D">
                <a:alpha val="0"/>
              </a:srgbClr>
            </a:solidFill>
            <a:prstDash val="solid"/>
          </a:ln>
        </p:spPr>
      </p:sp>
      <p:sp>
        <p:nvSpPr>
          <p:cNvPr id="32" name="Text 30"/>
          <p:cNvSpPr/>
          <p:nvPr/>
        </p:nvSpPr>
        <p:spPr>
          <a:xfrm>
            <a:off x="5394960" y="3881628"/>
            <a:ext cx="5833872" cy="192024"/>
          </a:xfrm>
          <a:prstGeom prst="rect">
            <a:avLst/>
          </a:prstGeom>
          <a:noFill/>
          <a:ln/>
        </p:spPr>
        <p:txBody>
          <a:bodyPr wrap="square" lIns="0" tIns="0" rIns="0" bIns="0" rtlCol="0" anchor="ctr"/>
          <a:lstStyle/>
          <a:p>
            <a:pPr algn="ctr" indent="0" marL="0">
              <a:buNone/>
            </a:pPr>
            <a:r>
              <a:rPr lang="en-US" sz="1300" b="1" dirty="0">
                <a:solidFill>
                  <a:srgbClr val="FFFFFF"/>
                </a:solidFill>
                <a:latin typeface="Inter" pitchFamily="34" charset="0"/>
                <a:ea typeface="Inter" pitchFamily="34" charset="-122"/>
                <a:cs typeface="Inter" pitchFamily="34" charset="-120"/>
              </a:rPr>
              <a:t>Coach  ·  Playbook AI  ·  Discover / Autopilot</a:t>
            </a:r>
            <a:endParaRPr lang="en-US" sz="1300" dirty="0"/>
          </a:p>
        </p:txBody>
      </p:sp>
      <p:sp>
        <p:nvSpPr>
          <p:cNvPr id="33" name="Text 31"/>
          <p:cNvSpPr/>
          <p:nvPr/>
        </p:nvSpPr>
        <p:spPr>
          <a:xfrm>
            <a:off x="5285232" y="4370832"/>
            <a:ext cx="6053328" cy="137160"/>
          </a:xfrm>
          <a:prstGeom prst="rect">
            <a:avLst/>
          </a:prstGeom>
          <a:noFill/>
          <a:ln/>
        </p:spPr>
        <p:txBody>
          <a:bodyPr wrap="square" lIns="0" tIns="0" rIns="0" bIns="0" rtlCol="0" anchor="ctr"/>
          <a:lstStyle/>
          <a:p>
            <a:pPr algn="ctr" indent="0" marL="0">
              <a:buNone/>
            </a:pPr>
            <a:r>
              <a:rPr lang="en-US" sz="920" b="1" spc="105" kern="0" dirty="0">
                <a:solidFill>
                  <a:srgbClr val="D9BE97"/>
                </a:solidFill>
                <a:latin typeface="Inter" pitchFamily="34" charset="0"/>
                <a:ea typeface="Inter" pitchFamily="34" charset="-122"/>
                <a:cs typeface="Inter" pitchFamily="34" charset="-120"/>
              </a:rPr>
              <a:t>SHARED INTELLIGENCE + CONTROL LAYER</a:t>
            </a:r>
            <a:endParaRPr lang="en-US" sz="920" dirty="0"/>
          </a:p>
        </p:txBody>
      </p:sp>
      <p:sp>
        <p:nvSpPr>
          <p:cNvPr id="34" name="Shape 32"/>
          <p:cNvSpPr/>
          <p:nvPr/>
        </p:nvSpPr>
        <p:spPr>
          <a:xfrm>
            <a:off x="5257800" y="4590288"/>
            <a:ext cx="6108192" cy="685800"/>
          </a:xfrm>
          <a:prstGeom prst="roundRect">
            <a:avLst>
              <a:gd name="adj" fmla="val 8000"/>
            </a:avLst>
          </a:prstGeom>
          <a:solidFill>
            <a:srgbClr val="102C40"/>
          </a:solidFill>
          <a:ln w="8890">
            <a:solidFill>
              <a:srgbClr val="B89970"/>
            </a:solidFill>
            <a:prstDash val="solid"/>
          </a:ln>
        </p:spPr>
      </p:sp>
      <p:sp>
        <p:nvSpPr>
          <p:cNvPr id="35" name="Text 33"/>
          <p:cNvSpPr/>
          <p:nvPr/>
        </p:nvSpPr>
        <p:spPr>
          <a:xfrm>
            <a:off x="5321808" y="4690872"/>
            <a:ext cx="1399032" cy="438912"/>
          </a:xfrm>
          <a:prstGeom prst="rect">
            <a:avLst/>
          </a:prstGeom>
          <a:noFill/>
          <a:ln/>
        </p:spPr>
        <p:txBody>
          <a:bodyPr wrap="square" lIns="0" tIns="0" rIns="0" bIns="0" rtlCol="0" anchor="ctr"/>
          <a:lstStyle/>
          <a:p>
            <a:pPr algn="ctr" indent="0" marL="0">
              <a:buNone/>
            </a:pPr>
            <a:r>
              <a:rPr lang="en-US" sz="1340" b="1" dirty="0">
                <a:solidFill>
                  <a:srgbClr val="D9BE97"/>
                </a:solidFill>
                <a:latin typeface="Inter" pitchFamily="34" charset="0"/>
                <a:ea typeface="Inter" pitchFamily="34" charset="-122"/>
                <a:cs typeface="Inter" pitchFamily="34" charset="-120"/>
              </a:rPr>
              <a:t>Client</a:t>
            </a:r>
            <a:endParaRPr lang="en-US" sz="1340" dirty="0"/>
          </a:p>
          <a:p>
            <a:pPr algn="ctr" indent="0" marL="0">
              <a:buNone/>
            </a:pPr>
            <a:r>
              <a:rPr lang="en-US" sz="1340" b="1" dirty="0">
                <a:solidFill>
                  <a:srgbClr val="D9BE97"/>
                </a:solidFill>
                <a:latin typeface="Inter" pitchFamily="34" charset="0"/>
                <a:ea typeface="Inter" pitchFamily="34" charset="-122"/>
                <a:cs typeface="Inter" pitchFamily="34" charset="-120"/>
              </a:rPr>
              <a:t>memory</a:t>
            </a:r>
            <a:endParaRPr lang="en-US" sz="1340" dirty="0"/>
          </a:p>
        </p:txBody>
      </p:sp>
      <p:sp>
        <p:nvSpPr>
          <p:cNvPr id="36" name="Shape 34"/>
          <p:cNvSpPr/>
          <p:nvPr/>
        </p:nvSpPr>
        <p:spPr>
          <a:xfrm>
            <a:off x="6784848" y="4718304"/>
            <a:ext cx="0" cy="429768"/>
          </a:xfrm>
          <a:prstGeom prst="line">
            <a:avLst/>
          </a:prstGeom>
          <a:noFill/>
          <a:ln w="9525">
            <a:solidFill>
              <a:srgbClr val="355163"/>
            </a:solidFill>
            <a:prstDash val="solid"/>
          </a:ln>
        </p:spPr>
      </p:sp>
      <p:sp>
        <p:nvSpPr>
          <p:cNvPr id="37" name="Text 35"/>
          <p:cNvSpPr/>
          <p:nvPr/>
        </p:nvSpPr>
        <p:spPr>
          <a:xfrm>
            <a:off x="6848856" y="4690872"/>
            <a:ext cx="1399032" cy="438912"/>
          </a:xfrm>
          <a:prstGeom prst="rect">
            <a:avLst/>
          </a:prstGeom>
          <a:noFill/>
          <a:ln/>
        </p:spPr>
        <p:txBody>
          <a:bodyPr wrap="square" lIns="0" tIns="0" rIns="0" bIns="0" rtlCol="0" anchor="ctr"/>
          <a:lstStyle/>
          <a:p>
            <a:pPr algn="ctr" indent="0" marL="0">
              <a:buNone/>
            </a:pPr>
            <a:r>
              <a:rPr lang="en-US" sz="1340" b="1" dirty="0">
                <a:solidFill>
                  <a:srgbClr val="FFFFFF"/>
                </a:solidFill>
                <a:latin typeface="Inter" pitchFamily="34" charset="0"/>
                <a:ea typeface="Inter" pitchFamily="34" charset="-122"/>
                <a:cs typeface="Inter" pitchFamily="34" charset="-120"/>
              </a:rPr>
              <a:t>Firm</a:t>
            </a:r>
            <a:endParaRPr lang="en-US" sz="1340" dirty="0"/>
          </a:p>
          <a:p>
            <a:pPr algn="ctr" indent="0" marL="0">
              <a:buNone/>
            </a:pPr>
            <a:r>
              <a:rPr lang="en-US" sz="1340" b="1" dirty="0">
                <a:solidFill>
                  <a:srgbClr val="FFFFFF"/>
                </a:solidFill>
                <a:latin typeface="Inter" pitchFamily="34" charset="0"/>
                <a:ea typeface="Inter" pitchFamily="34" charset="-122"/>
                <a:cs typeface="Inter" pitchFamily="34" charset="-120"/>
              </a:rPr>
              <a:t>expertise</a:t>
            </a:r>
            <a:endParaRPr lang="en-US" sz="1340" dirty="0"/>
          </a:p>
        </p:txBody>
      </p:sp>
      <p:sp>
        <p:nvSpPr>
          <p:cNvPr id="38" name="Shape 36"/>
          <p:cNvSpPr/>
          <p:nvPr/>
        </p:nvSpPr>
        <p:spPr>
          <a:xfrm>
            <a:off x="8311896" y="4718304"/>
            <a:ext cx="0" cy="429768"/>
          </a:xfrm>
          <a:prstGeom prst="line">
            <a:avLst/>
          </a:prstGeom>
          <a:noFill/>
          <a:ln w="9525">
            <a:solidFill>
              <a:srgbClr val="355163"/>
            </a:solidFill>
            <a:prstDash val="solid"/>
          </a:ln>
        </p:spPr>
      </p:sp>
      <p:sp>
        <p:nvSpPr>
          <p:cNvPr id="39" name="Text 37"/>
          <p:cNvSpPr/>
          <p:nvPr/>
        </p:nvSpPr>
        <p:spPr>
          <a:xfrm>
            <a:off x="8375904" y="4690872"/>
            <a:ext cx="1399032" cy="438912"/>
          </a:xfrm>
          <a:prstGeom prst="rect">
            <a:avLst/>
          </a:prstGeom>
          <a:noFill/>
          <a:ln/>
        </p:spPr>
        <p:txBody>
          <a:bodyPr wrap="square" lIns="0" tIns="0" rIns="0" bIns="0" rtlCol="0" anchor="ctr"/>
          <a:lstStyle/>
          <a:p>
            <a:pPr algn="ctr" indent="0" marL="0">
              <a:buNone/>
            </a:pPr>
            <a:r>
              <a:rPr lang="en-US" sz="1340" b="1" dirty="0">
                <a:solidFill>
                  <a:srgbClr val="FFFFFF"/>
                </a:solidFill>
                <a:latin typeface="Inter" pitchFamily="34" charset="0"/>
                <a:ea typeface="Inter" pitchFamily="34" charset="-122"/>
                <a:cs typeface="Inter" pitchFamily="34" charset="-120"/>
              </a:rPr>
              <a:t>Contextual</a:t>
            </a:r>
            <a:endParaRPr lang="en-US" sz="1340" dirty="0"/>
          </a:p>
          <a:p>
            <a:pPr algn="ctr" indent="0" marL="0">
              <a:buNone/>
            </a:pPr>
            <a:r>
              <a:rPr lang="en-US" sz="1340" b="1" dirty="0">
                <a:solidFill>
                  <a:srgbClr val="FFFFFF"/>
                </a:solidFill>
                <a:latin typeface="Inter" pitchFamily="34" charset="0"/>
                <a:ea typeface="Inter" pitchFamily="34" charset="-122"/>
                <a:cs typeface="Inter" pitchFamily="34" charset="-120"/>
              </a:rPr>
              <a:t>priorities</a:t>
            </a:r>
            <a:endParaRPr lang="en-US" sz="1340" dirty="0"/>
          </a:p>
        </p:txBody>
      </p:sp>
      <p:sp>
        <p:nvSpPr>
          <p:cNvPr id="40" name="Shape 38"/>
          <p:cNvSpPr/>
          <p:nvPr/>
        </p:nvSpPr>
        <p:spPr>
          <a:xfrm>
            <a:off x="9838944" y="4718304"/>
            <a:ext cx="0" cy="429768"/>
          </a:xfrm>
          <a:prstGeom prst="line">
            <a:avLst/>
          </a:prstGeom>
          <a:noFill/>
          <a:ln w="9525">
            <a:solidFill>
              <a:srgbClr val="355163"/>
            </a:solidFill>
            <a:prstDash val="solid"/>
          </a:ln>
        </p:spPr>
      </p:sp>
      <p:sp>
        <p:nvSpPr>
          <p:cNvPr id="41" name="Text 39"/>
          <p:cNvSpPr/>
          <p:nvPr/>
        </p:nvSpPr>
        <p:spPr>
          <a:xfrm>
            <a:off x="9902952" y="4690872"/>
            <a:ext cx="1399032" cy="438912"/>
          </a:xfrm>
          <a:prstGeom prst="rect">
            <a:avLst/>
          </a:prstGeom>
          <a:noFill/>
          <a:ln/>
        </p:spPr>
        <p:txBody>
          <a:bodyPr wrap="square" lIns="0" tIns="0" rIns="0" bIns="0" rtlCol="0" anchor="ctr"/>
          <a:lstStyle/>
          <a:p>
            <a:pPr algn="ctr" indent="0" marL="0">
              <a:buNone/>
            </a:pPr>
            <a:r>
              <a:rPr lang="en-US" sz="1340" b="1" dirty="0">
                <a:solidFill>
                  <a:srgbClr val="FFFFFF"/>
                </a:solidFill>
                <a:latin typeface="Inter" pitchFamily="34" charset="0"/>
                <a:ea typeface="Inter" pitchFamily="34" charset="-122"/>
                <a:cs typeface="Inter" pitchFamily="34" charset="-120"/>
              </a:rPr>
              <a:t>Shared</a:t>
            </a:r>
            <a:endParaRPr lang="en-US" sz="1340" dirty="0"/>
          </a:p>
          <a:p>
            <a:pPr algn="ctr" indent="0" marL="0">
              <a:buNone/>
            </a:pPr>
            <a:r>
              <a:rPr lang="en-US" sz="1340" b="1" dirty="0">
                <a:solidFill>
                  <a:srgbClr val="FFFFFF"/>
                </a:solidFill>
                <a:latin typeface="Inter" pitchFamily="34" charset="0"/>
                <a:ea typeface="Inter" pitchFamily="34" charset="-122"/>
                <a:cs typeface="Inter" pitchFamily="34" charset="-120"/>
              </a:rPr>
              <a:t>action state</a:t>
            </a:r>
            <a:endParaRPr lang="en-US" sz="1340" dirty="0"/>
          </a:p>
        </p:txBody>
      </p:sp>
      <p:sp>
        <p:nvSpPr>
          <p:cNvPr id="42" name="Text 40"/>
          <p:cNvSpPr/>
          <p:nvPr/>
        </p:nvSpPr>
        <p:spPr>
          <a:xfrm>
            <a:off x="5266944" y="5431536"/>
            <a:ext cx="1207008" cy="146304"/>
          </a:xfrm>
          <a:prstGeom prst="rect">
            <a:avLst/>
          </a:prstGeom>
          <a:noFill/>
          <a:ln/>
        </p:spPr>
        <p:txBody>
          <a:bodyPr wrap="square" lIns="0" tIns="0" rIns="0" bIns="0" rtlCol="0" anchor="ctr"/>
          <a:lstStyle/>
          <a:p>
            <a:pPr algn="ctr" indent="0" marL="0">
              <a:buNone/>
            </a:pPr>
            <a:r>
              <a:rPr lang="en-US" sz="1010" dirty="0">
                <a:solidFill>
                  <a:srgbClr val="C3D2D7"/>
                </a:solidFill>
                <a:latin typeface="Inter" pitchFamily="34" charset="0"/>
                <a:ea typeface="Inter" pitchFamily="34" charset="-122"/>
                <a:cs typeface="Inter" pitchFamily="34" charset="-120"/>
              </a:rPr>
              <a:t>Investments</a:t>
            </a:r>
            <a:endParaRPr lang="en-US" sz="1010" dirty="0"/>
          </a:p>
        </p:txBody>
      </p:sp>
      <p:sp>
        <p:nvSpPr>
          <p:cNvPr id="43" name="Text 41"/>
          <p:cNvSpPr/>
          <p:nvPr/>
        </p:nvSpPr>
        <p:spPr>
          <a:xfrm>
            <a:off x="6492240" y="5431536"/>
            <a:ext cx="1207008" cy="146304"/>
          </a:xfrm>
          <a:prstGeom prst="rect">
            <a:avLst/>
          </a:prstGeom>
          <a:noFill/>
          <a:ln/>
        </p:spPr>
        <p:txBody>
          <a:bodyPr wrap="square" lIns="0" tIns="0" rIns="0" bIns="0" rtlCol="0" anchor="ctr"/>
          <a:lstStyle/>
          <a:p>
            <a:pPr algn="ctr" indent="0" marL="0">
              <a:buNone/>
            </a:pPr>
            <a:r>
              <a:rPr lang="en-US" sz="1010" dirty="0">
                <a:solidFill>
                  <a:srgbClr val="C3D2D7"/>
                </a:solidFill>
                <a:latin typeface="Inter" pitchFamily="34" charset="0"/>
                <a:ea typeface="Inter" pitchFamily="34" charset="-122"/>
                <a:cs typeface="Inter" pitchFamily="34" charset="-120"/>
              </a:rPr>
              <a:t>Planning</a:t>
            </a:r>
            <a:endParaRPr lang="en-US" sz="1010" dirty="0"/>
          </a:p>
        </p:txBody>
      </p:sp>
      <p:sp>
        <p:nvSpPr>
          <p:cNvPr id="44" name="Text 42"/>
          <p:cNvSpPr/>
          <p:nvPr/>
        </p:nvSpPr>
        <p:spPr>
          <a:xfrm>
            <a:off x="7717536" y="5431536"/>
            <a:ext cx="1207008" cy="146304"/>
          </a:xfrm>
          <a:prstGeom prst="rect">
            <a:avLst/>
          </a:prstGeom>
          <a:noFill/>
          <a:ln/>
        </p:spPr>
        <p:txBody>
          <a:bodyPr wrap="square" lIns="0" tIns="0" rIns="0" bIns="0" rtlCol="0" anchor="ctr"/>
          <a:lstStyle/>
          <a:p>
            <a:pPr algn="ctr" indent="0" marL="0">
              <a:buNone/>
            </a:pPr>
            <a:r>
              <a:rPr lang="en-US" sz="1010" dirty="0">
                <a:solidFill>
                  <a:srgbClr val="C3D2D7"/>
                </a:solidFill>
                <a:latin typeface="Inter" pitchFamily="34" charset="0"/>
                <a:ea typeface="Inter" pitchFamily="34" charset="-122"/>
                <a:cs typeface="Inter" pitchFamily="34" charset="-120"/>
              </a:rPr>
              <a:t>Lending</a:t>
            </a:r>
            <a:endParaRPr lang="en-US" sz="1010" dirty="0"/>
          </a:p>
        </p:txBody>
      </p:sp>
      <p:sp>
        <p:nvSpPr>
          <p:cNvPr id="45" name="Text 43"/>
          <p:cNvSpPr/>
          <p:nvPr/>
        </p:nvSpPr>
        <p:spPr>
          <a:xfrm>
            <a:off x="8942832" y="5431536"/>
            <a:ext cx="1207008" cy="146304"/>
          </a:xfrm>
          <a:prstGeom prst="rect">
            <a:avLst/>
          </a:prstGeom>
          <a:noFill/>
          <a:ln/>
        </p:spPr>
        <p:txBody>
          <a:bodyPr wrap="square" lIns="0" tIns="0" rIns="0" bIns="0" rtlCol="0" anchor="ctr"/>
          <a:lstStyle/>
          <a:p>
            <a:pPr algn="ctr" indent="0" marL="0">
              <a:buNone/>
            </a:pPr>
            <a:r>
              <a:rPr lang="en-US" sz="1010" dirty="0">
                <a:solidFill>
                  <a:srgbClr val="C3D2D7"/>
                </a:solidFill>
                <a:latin typeface="Inter" pitchFamily="34" charset="0"/>
                <a:ea typeface="Inter" pitchFamily="34" charset="-122"/>
                <a:cs typeface="Inter" pitchFamily="34" charset="-120"/>
              </a:rPr>
              <a:t>Service</a:t>
            </a:r>
            <a:endParaRPr lang="en-US" sz="1010" dirty="0"/>
          </a:p>
        </p:txBody>
      </p:sp>
      <p:sp>
        <p:nvSpPr>
          <p:cNvPr id="46" name="Text 44"/>
          <p:cNvSpPr/>
          <p:nvPr/>
        </p:nvSpPr>
        <p:spPr>
          <a:xfrm>
            <a:off x="10168128" y="5431536"/>
            <a:ext cx="1207008" cy="146304"/>
          </a:xfrm>
          <a:prstGeom prst="rect">
            <a:avLst/>
          </a:prstGeom>
          <a:noFill/>
          <a:ln/>
        </p:spPr>
        <p:txBody>
          <a:bodyPr wrap="square" lIns="0" tIns="0" rIns="0" bIns="0" rtlCol="0" anchor="ctr"/>
          <a:lstStyle/>
          <a:p>
            <a:pPr algn="ctr" indent="0" marL="0">
              <a:buNone/>
            </a:pPr>
            <a:r>
              <a:rPr lang="en-US" sz="1010" dirty="0">
                <a:solidFill>
                  <a:srgbClr val="C3D2D7"/>
                </a:solidFill>
                <a:latin typeface="Inter" pitchFamily="34" charset="0"/>
                <a:ea typeface="Inter" pitchFamily="34" charset="-122"/>
                <a:cs typeface="Inter" pitchFamily="34" charset="-120"/>
              </a:rPr>
              <a:t>Research</a:t>
            </a:r>
            <a:endParaRPr lang="en-US" sz="1010" dirty="0"/>
          </a:p>
        </p:txBody>
      </p:sp>
      <p:sp>
        <p:nvSpPr>
          <p:cNvPr id="47" name="Text 45"/>
          <p:cNvSpPr/>
          <p:nvPr/>
        </p:nvSpPr>
        <p:spPr>
          <a:xfrm>
            <a:off x="5276088" y="5660136"/>
            <a:ext cx="6071616" cy="118872"/>
          </a:xfrm>
          <a:prstGeom prst="rect">
            <a:avLst/>
          </a:prstGeom>
          <a:noFill/>
          <a:ln/>
        </p:spPr>
        <p:txBody>
          <a:bodyPr wrap="square" lIns="0" tIns="0" rIns="0" bIns="0" rtlCol="0" anchor="ctr"/>
          <a:lstStyle/>
          <a:p>
            <a:pPr algn="ctr" indent="0" marL="0">
              <a:buNone/>
            </a:pPr>
            <a:r>
              <a:rPr lang="en-US" sz="880" dirty="0">
                <a:solidFill>
                  <a:srgbClr val="8FA5AF"/>
                </a:solidFill>
                <a:latin typeface="Inter" pitchFamily="34" charset="0"/>
                <a:ea typeface="Inter" pitchFamily="34" charset="-122"/>
                <a:cs typeface="Inter" pitchFamily="34" charset="-120"/>
              </a:rPr>
              <a:t>Identity  /  Entitlements  /  Approval  /  Audit  /  Feedback</a:t>
            </a:r>
            <a:endParaRPr lang="en-US" sz="880" dirty="0"/>
          </a:p>
        </p:txBody>
      </p:sp>
      <p:sp>
        <p:nvSpPr>
          <p:cNvPr id="48" name="Text 46"/>
          <p:cNvSpPr/>
          <p:nvPr/>
        </p:nvSpPr>
        <p:spPr>
          <a:xfrm>
            <a:off x="566928" y="6016752"/>
            <a:ext cx="11036808" cy="219456"/>
          </a:xfrm>
          <a:prstGeom prst="rect">
            <a:avLst/>
          </a:prstGeom>
          <a:noFill/>
          <a:ln/>
        </p:spPr>
        <p:txBody>
          <a:bodyPr wrap="square" lIns="0" tIns="0" rIns="0" bIns="0" rtlCol="0" anchor="ctr"/>
          <a:lstStyle/>
          <a:p>
            <a:pPr algn="l" indent="0" marL="0">
              <a:buNone/>
            </a:pPr>
            <a:r>
              <a:rPr lang="en-US" sz="1550" b="1" dirty="0">
                <a:solidFill>
                  <a:srgbClr val="122B3E"/>
                </a:solidFill>
                <a:latin typeface="Inter" pitchFamily="34" charset="0"/>
                <a:ea typeface="Inter" pitchFamily="34" charset="-122"/>
                <a:cs typeface="Inter" pitchFamily="34" charset="-120"/>
              </a:rPr>
              <a:t>Access is the starting point. Shared memory, priorities and follow-through must be designed.</a:t>
            </a:r>
            <a:endParaRPr lang="en-US" sz="1550" dirty="0"/>
          </a:p>
        </p:txBody>
      </p:sp>
      <p:sp>
        <p:nvSpPr>
          <p:cNvPr id="49" name="Text 47"/>
          <p:cNvSpPr/>
          <p:nvPr/>
        </p:nvSpPr>
        <p:spPr>
          <a:xfrm>
            <a:off x="576072" y="6281928"/>
            <a:ext cx="11009376" cy="100584"/>
          </a:xfrm>
          <a:prstGeom prst="rect">
            <a:avLst/>
          </a:prstGeom>
          <a:noFill/>
          <a:ln/>
        </p:spPr>
        <p:txBody>
          <a:bodyPr wrap="square" lIns="0" tIns="0" rIns="0" bIns="0" rtlCol="0" anchor="ctr"/>
          <a:lstStyle/>
          <a:p>
            <a:pPr algn="l" indent="0" marL="0">
              <a:buNone/>
            </a:pPr>
            <a:r>
              <a:rPr lang="en-US" sz="780" dirty="0">
                <a:solidFill>
                  <a:srgbClr val="60717A"/>
                </a:solidFill>
                <a:latin typeface="Inter" pitchFamily="34" charset="0"/>
                <a:ea typeface="Inter" pitchFamily="34" charset="-122"/>
                <a:cs typeface="Inter" pitchFamily="34" charset="-120"/>
              </a:rPr>
              <a:t>Strategic architecture comparison. Coach target includes roadmap capabilities; Claude also supports context, analytics and scheduled work.</a:t>
            </a:r>
            <a:endParaRPr lang="en-US" sz="780" dirty="0"/>
          </a:p>
        </p:txBody>
      </p:sp>
      <p:sp>
        <p:nvSpPr>
          <p:cNvPr id="50" name="Text 48"/>
          <p:cNvSpPr/>
          <p:nvPr/>
        </p:nvSpPr>
        <p:spPr>
          <a:xfrm>
            <a:off x="548640" y="6409944"/>
            <a:ext cx="11091672" cy="105156"/>
          </a:xfrm>
          <a:prstGeom prst="rect">
            <a:avLst/>
          </a:prstGeom>
          <a:noFill/>
          <a:ln/>
        </p:spPr>
        <p:txBody>
          <a:bodyPr wrap="square" lIns="0" tIns="0" rIns="0" bIns="0" rtlCol="0" anchor="ctr"/>
          <a:lstStyle/>
          <a:p>
            <a:pPr algn="l" indent="0" marL="0">
              <a:buNone/>
            </a:pPr>
            <a:r>
              <a:rPr lang="en-US" sz="740" dirty="0">
                <a:solidFill>
                  <a:srgbClr val="60717A"/>
                </a:solidFill>
                <a:latin typeface="Inter" pitchFamily="34" charset="0"/>
                <a:ea typeface="Inter" pitchFamily="34" charset="-122"/>
                <a:cs typeface="Inter" pitchFamily="34" charset="-120"/>
              </a:rPr>
              <a:t>Sources: </a:t>
            </a:r>
            <a:pPr algn="l" indent="0" marL="0">
              <a:buNone/>
            </a:pPr>
            <a:r>
              <a:rPr lang="en-US" sz="740" u="sng" dirty="0">
                <a:solidFill>
                  <a:srgbClr val="60717A"/>
                </a:solidFill>
                <a:latin typeface="Inter" pitchFamily="34" charset="0"/>
                <a:ea typeface="Inter" pitchFamily="34" charset="-122"/>
                <a:cs typeface="Inter" pitchFamily="34" charset="-120"/>
                <a:hlinkClick r:id="rId1" invalidUrl="" action="" tgtFrame="" tooltip="" history="1" highlightClick="0" endSnd="0">
                  <a:extLst>
                    <a:ext uri="{A12FA001-AC4F-418D-AE19-62706E023703}">
                      <ahyp:hlinkClr xmlns:ahyp="http://schemas.microsoft.com/office/drawing/2018/hyperlinkcolor" val="tx"/>
                    </a:ext>
                  </a:extLst>
                </a:hlinkClick>
              </a:rPr>
              <a:t>Anthropic launch</a:t>
            </a:r>
            <a:pPr algn="l" indent="0" marL="0">
              <a:buNone/>
            </a:pPr>
            <a:r>
              <a:rPr lang="en-US" sz="740" dirty="0">
                <a:solidFill>
                  <a:srgbClr val="60717A"/>
                </a:solidFill>
                <a:latin typeface="Inter" pitchFamily="34" charset="0"/>
                <a:ea typeface="Inter" pitchFamily="34" charset="-122"/>
                <a:cs typeface="Inter" pitchFamily="34" charset="-120"/>
              </a:rPr>
              <a:t>  ·  </a:t>
            </a:r>
            <a:pPr algn="l" indent="0" marL="0">
              <a:buNone/>
            </a:pPr>
            <a:r>
              <a:rPr lang="en-US" sz="740" u="sng" dirty="0">
                <a:solidFill>
                  <a:srgbClr val="60717A"/>
                </a:solidFill>
                <a:latin typeface="Inter" pitchFamily="34" charset="0"/>
                <a:ea typeface="Inter" pitchFamily="34" charset="-122"/>
                <a:cs typeface="Inter" pitchFamily="34" charset="-120"/>
                <a:hlinkClick r:id="rId2" invalidUrl="" action="" tgtFrame="" tooltip="" history="1" highlightClick="0" endSnd="0">
                  <a:extLst>
                    <a:ext uri="{A12FA001-AC4F-418D-AE19-62706E023703}">
                      <ahyp:hlinkClr xmlns:ahyp="http://schemas.microsoft.com/office/drawing/2018/hyperlinkcolor" val="tx"/>
                    </a:ext>
                  </a:extLst>
                </a:hlinkClick>
              </a:rPr>
              <a:t>Advisor skills</a:t>
            </a:r>
            <a:pPr algn="l" indent="0" marL="0">
              <a:buNone/>
            </a:pPr>
            <a:r>
              <a:rPr lang="en-US" sz="740" dirty="0">
                <a:solidFill>
                  <a:srgbClr val="60717A"/>
                </a:solidFill>
                <a:latin typeface="Inter" pitchFamily="34" charset="0"/>
                <a:ea typeface="Inter" pitchFamily="34" charset="-122"/>
                <a:cs typeface="Inter" pitchFamily="34" charset="-120"/>
              </a:rPr>
              <a:t>  ·  </a:t>
            </a:r>
            <a:pPr algn="l" indent="0" marL="0">
              <a:buNone/>
            </a:pPr>
            <a:r>
              <a:rPr lang="en-US" sz="740" u="sng" dirty="0">
                <a:solidFill>
                  <a:srgbClr val="60717A"/>
                </a:solidFill>
                <a:latin typeface="Inter" pitchFamily="34" charset="0"/>
                <a:ea typeface="Inter" pitchFamily="34" charset="-122"/>
                <a:cs typeface="Inter" pitchFamily="34" charset="-120"/>
                <a:hlinkClick r:id="rId3" invalidUrl="" action="" tgtFrame="" tooltip="" history="1" highlightClick="0" endSnd="0">
                  <a:extLst>
                    <a:ext uri="{A12FA001-AC4F-418D-AE19-62706E023703}">
                      <ahyp:hlinkClr xmlns:ahyp="http://schemas.microsoft.com/office/drawing/2018/hyperlinkcolor" val="tx"/>
                    </a:ext>
                  </a:extLst>
                </a:hlinkClick>
              </a:rPr>
              <a:t>Scheduled tasks</a:t>
            </a:r>
            <a:pPr algn="l" indent="0" marL="0">
              <a:buNone/>
            </a:pPr>
            <a:r>
              <a:rPr lang="en-US" sz="740" dirty="0">
                <a:solidFill>
                  <a:srgbClr val="60717A"/>
                </a:solidFill>
                <a:latin typeface="Inter" pitchFamily="34" charset="0"/>
                <a:ea typeface="Inter" pitchFamily="34" charset="-122"/>
                <a:cs typeface="Inter" pitchFamily="34" charset="-120"/>
              </a:rPr>
              <a:t>  ·  </a:t>
            </a:r>
            <a:pPr algn="l" indent="0" marL="0">
              <a:buNone/>
            </a:pPr>
            <a:r>
              <a:rPr lang="en-US" sz="740" dirty="0">
                <a:solidFill>
                  <a:srgbClr val="60717A"/>
                </a:solidFill>
                <a:latin typeface="Inter" pitchFamily="34" charset="0"/>
                <a:ea typeface="Inter" pitchFamily="34" charset="-122"/>
                <a:cs typeface="Inter" pitchFamily="34" charset="-120"/>
              </a:rPr>
              <a:t>Internal vision (Aug 2026)</a:t>
            </a:r>
            <a:pPr algn="l" indent="0" marL="0">
              <a:buNone/>
            </a:pPr>
            <a:r>
              <a:rPr lang="en-US" sz="740" dirty="0">
                <a:solidFill>
                  <a:srgbClr val="60717A"/>
                </a:solidFill>
                <a:latin typeface="Inter" pitchFamily="34" charset="0"/>
                <a:ea typeface="Inter" pitchFamily="34" charset="-122"/>
                <a:cs typeface="Inter" pitchFamily="34" charset="-120"/>
              </a:rPr>
              <a:t>  ·  </a:t>
            </a:r>
            <a:pPr algn="l" indent="0" marL="0">
              <a:buNone/>
            </a:pPr>
            <a:r>
              <a:rPr lang="en-US" sz="740" dirty="0">
                <a:solidFill>
                  <a:srgbClr val="60717A"/>
                </a:solidFill>
                <a:latin typeface="Inter" pitchFamily="34" charset="0"/>
                <a:ea typeface="Inter" pitchFamily="34" charset="-122"/>
                <a:cs typeface="Inter" pitchFamily="34" charset="-120"/>
              </a:rPr>
              <a:t>Internal roadmap (Aug 2026)</a:t>
            </a:r>
            <a:endParaRPr lang="en-US" sz="740" dirty="0"/>
          </a:p>
        </p:txBody>
      </p:sp>
      <p:sp>
        <p:nvSpPr>
          <p:cNvPr id="51" name="Shape 49"/>
          <p:cNvSpPr/>
          <p:nvPr/>
        </p:nvSpPr>
        <p:spPr>
          <a:xfrm>
            <a:off x="548640" y="6510528"/>
            <a:ext cx="11091672" cy="0"/>
          </a:xfrm>
          <a:prstGeom prst="line">
            <a:avLst/>
          </a:prstGeom>
          <a:noFill/>
          <a:ln w="7620">
            <a:solidFill>
              <a:srgbClr val="D7DEDD"/>
            </a:solidFill>
            <a:prstDash val="solid"/>
          </a:ln>
        </p:spPr>
      </p:sp>
      <p:sp>
        <p:nvSpPr>
          <p:cNvPr id="52" name="Text 50"/>
          <p:cNvSpPr/>
          <p:nvPr/>
        </p:nvSpPr>
        <p:spPr>
          <a:xfrm>
            <a:off x="548640" y="6611112"/>
            <a:ext cx="3794760" cy="118872"/>
          </a:xfrm>
          <a:prstGeom prst="rect">
            <a:avLst/>
          </a:prstGeom>
          <a:noFill/>
          <a:ln/>
        </p:spPr>
        <p:txBody>
          <a:bodyPr wrap="square" lIns="0" tIns="0" rIns="0" bIns="0" rtlCol="0" anchor="ctr"/>
          <a:lstStyle/>
          <a:p>
            <a:pPr algn="l" indent="0" marL="0">
              <a:buNone/>
            </a:pPr>
            <a:r>
              <a:rPr lang="en-US" sz="780" b="1" spc="70" kern="0" dirty="0">
                <a:solidFill>
                  <a:srgbClr val="60717A"/>
                </a:solidFill>
                <a:latin typeface="Inter" pitchFamily="34" charset="0"/>
                <a:ea typeface="Inter" pitchFamily="34" charset="-122"/>
                <a:cs typeface="Inter" pitchFamily="34" charset="-120"/>
              </a:rPr>
              <a:t>J.P. MORGAN  |  PRIVATE BANK</a:t>
            </a:r>
            <a:endParaRPr lang="en-US" sz="780" dirty="0"/>
          </a:p>
        </p:txBody>
      </p:sp>
      <p:sp>
        <p:nvSpPr>
          <p:cNvPr id="53" name="Text 51"/>
          <p:cNvSpPr/>
          <p:nvPr/>
        </p:nvSpPr>
        <p:spPr>
          <a:xfrm>
            <a:off x="6492240" y="6611112"/>
            <a:ext cx="4663440" cy="118872"/>
          </a:xfrm>
          <a:prstGeom prst="rect">
            <a:avLst/>
          </a:prstGeom>
          <a:noFill/>
          <a:ln/>
        </p:spPr>
        <p:txBody>
          <a:bodyPr wrap="square" lIns="0" tIns="0" rIns="0" bIns="0" rtlCol="0" anchor="ctr"/>
          <a:lstStyle/>
          <a:p>
            <a:pPr algn="r" indent="0" marL="0">
              <a:buNone/>
            </a:pPr>
            <a:r>
              <a:rPr lang="en-US" sz="770" spc="55" kern="0" dirty="0">
                <a:solidFill>
                  <a:srgbClr val="60717A"/>
                </a:solidFill>
                <a:latin typeface="Inter" pitchFamily="34" charset="0"/>
                <a:ea typeface="Inter" pitchFamily="34" charset="-122"/>
                <a:cs typeface="Inter" pitchFamily="34" charset="-120"/>
              </a:rPr>
              <a:t>INTERNAL DISCUSSION  /  SEPTEMBER 2026</a:t>
            </a:r>
            <a:endParaRPr lang="en-US" sz="770" dirty="0"/>
          </a:p>
        </p:txBody>
      </p:sp>
      <p:sp>
        <p:nvSpPr>
          <p:cNvPr id="54" name="Text 52"/>
          <p:cNvSpPr/>
          <p:nvPr/>
        </p:nvSpPr>
        <p:spPr>
          <a:xfrm>
            <a:off x="11292840" y="6588252"/>
            <a:ext cx="347472" cy="173736"/>
          </a:xfrm>
          <a:prstGeom prst="rect">
            <a:avLst/>
          </a:prstGeom>
          <a:noFill/>
          <a:ln/>
        </p:spPr>
        <p:txBody>
          <a:bodyPr wrap="square" lIns="0" tIns="0" rIns="0" bIns="0" rtlCol="0" anchor="ctr"/>
          <a:lstStyle/>
          <a:p>
            <a:pPr algn="r" indent="0" marL="0">
              <a:buNone/>
            </a:pPr>
            <a:r>
              <a:rPr lang="en-US" sz="1000" b="1" dirty="0">
                <a:solidFill>
                  <a:srgbClr val="9E5F46"/>
                </a:solidFill>
                <a:latin typeface="Inter" pitchFamily="34" charset="0"/>
                <a:ea typeface="Inter" pitchFamily="34" charset="-122"/>
                <a:cs typeface="Inter"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48640" y="429768"/>
            <a:ext cx="11091672" cy="182880"/>
          </a:xfrm>
          <a:prstGeom prst="rect">
            <a:avLst/>
          </a:prstGeom>
          <a:noFill/>
          <a:ln/>
        </p:spPr>
        <p:txBody>
          <a:bodyPr wrap="square" lIns="0" tIns="0" rIns="0" bIns="0" rtlCol="0" anchor="ctr"/>
          <a:lstStyle/>
          <a:p>
            <a:pPr algn="l" indent="0" marL="0">
              <a:buNone/>
            </a:pPr>
            <a:r>
              <a:rPr lang="en-US" sz="960" b="1" spc="150" kern="0" dirty="0">
                <a:solidFill>
                  <a:srgbClr val="9E5F46"/>
                </a:solidFill>
                <a:latin typeface="Inter" pitchFamily="34" charset="0"/>
                <a:ea typeface="Inter" pitchFamily="34" charset="-122"/>
                <a:cs typeface="Inter" pitchFamily="34" charset="-120"/>
              </a:rPr>
              <a:t>THE PROACTIVE EXPERIENCE  /  ILLUSTRATIVE TARGET WORKFLOW</a:t>
            </a:r>
            <a:endParaRPr lang="en-US" sz="960" dirty="0"/>
          </a:p>
        </p:txBody>
      </p:sp>
      <p:sp>
        <p:nvSpPr>
          <p:cNvPr id="3" name="Text 1"/>
          <p:cNvSpPr/>
          <p:nvPr/>
        </p:nvSpPr>
        <p:spPr>
          <a:xfrm>
            <a:off x="548640" y="786384"/>
            <a:ext cx="11091672" cy="978408"/>
          </a:xfrm>
          <a:prstGeom prst="rect">
            <a:avLst/>
          </a:prstGeom>
          <a:noFill/>
          <a:ln/>
        </p:spPr>
        <p:txBody>
          <a:bodyPr wrap="square" lIns="0" tIns="0" rIns="0" bIns="0" rtlCol="0" anchor="ctr"/>
          <a:lstStyle/>
          <a:p>
            <a:pPr algn="l" indent="0" marL="0">
              <a:buNone/>
            </a:pPr>
            <a:r>
              <a:rPr lang="en-US" sz="3590" b="1" spc="-60" kern="0" dirty="0">
                <a:solidFill>
                  <a:srgbClr val="122B3E"/>
                </a:solidFill>
                <a:latin typeface="Inter Display" pitchFamily="34" charset="0"/>
                <a:ea typeface="Inter Display" pitchFamily="34" charset="-122"/>
                <a:cs typeface="Inter Display" pitchFamily="34" charset="-120"/>
              </a:rPr>
              <a:t>From a client signal</a:t>
            </a:r>
            <a:endParaRPr lang="en-US" sz="3590" dirty="0"/>
          </a:p>
          <a:p>
            <a:pPr algn="l" indent="0" marL="0">
              <a:buNone/>
            </a:pPr>
            <a:r>
              <a:rPr lang="en-US" sz="3590" b="1" spc="-60" kern="0" dirty="0">
                <a:solidFill>
                  <a:srgbClr val="122B3E"/>
                </a:solidFill>
                <a:latin typeface="Inter Display" pitchFamily="34" charset="0"/>
                <a:ea typeface="Inter Display" pitchFamily="34" charset="-122"/>
                <a:cs typeface="Inter Display" pitchFamily="34" charset="-120"/>
              </a:rPr>
              <a:t>to a prepared next step.</a:t>
            </a:r>
            <a:endParaRPr lang="en-US" sz="3590" dirty="0"/>
          </a:p>
        </p:txBody>
      </p:sp>
      <p:sp>
        <p:nvSpPr>
          <p:cNvPr id="4" name="Text 2"/>
          <p:cNvSpPr/>
          <p:nvPr/>
        </p:nvSpPr>
        <p:spPr>
          <a:xfrm>
            <a:off x="576072" y="1847088"/>
            <a:ext cx="10972800" cy="274320"/>
          </a:xfrm>
          <a:prstGeom prst="rect">
            <a:avLst/>
          </a:prstGeom>
          <a:noFill/>
          <a:ln/>
        </p:spPr>
        <p:txBody>
          <a:bodyPr wrap="square" lIns="0" tIns="0" rIns="0" bIns="0" rtlCol="0" anchor="ctr"/>
          <a:lstStyle/>
          <a:p>
            <a:pPr algn="l" indent="0" marL="0">
              <a:buNone/>
            </a:pPr>
            <a:r>
              <a:rPr lang="en-US" sz="1610" dirty="0">
                <a:solidFill>
                  <a:srgbClr val="60717A"/>
                </a:solidFill>
                <a:latin typeface="Inter" pitchFamily="34" charset="0"/>
                <a:ea typeface="Inter" pitchFamily="34" charset="-122"/>
                <a:cs typeface="Inter" pitchFamily="34" charset="-120"/>
              </a:rPr>
              <a:t>Connect the relationship, the firm’s expertise and the work needed to move forward.</a:t>
            </a:r>
            <a:endParaRPr lang="en-US" sz="1610" dirty="0"/>
          </a:p>
        </p:txBody>
      </p:sp>
      <p:sp>
        <p:nvSpPr>
          <p:cNvPr id="5" name="Shape 3"/>
          <p:cNvSpPr/>
          <p:nvPr/>
        </p:nvSpPr>
        <p:spPr>
          <a:xfrm>
            <a:off x="548640" y="2478024"/>
            <a:ext cx="2048256" cy="850392"/>
          </a:xfrm>
          <a:prstGeom prst="roundRect">
            <a:avLst>
              <a:gd name="adj" fmla="val 8602"/>
            </a:avLst>
          </a:prstGeom>
          <a:solidFill>
            <a:srgbClr val="FFFFFF"/>
          </a:solidFill>
          <a:ln w="8890">
            <a:solidFill>
              <a:srgbClr val="D7DEDD"/>
            </a:solidFill>
            <a:prstDash val="solid"/>
          </a:ln>
        </p:spPr>
      </p:sp>
      <p:sp>
        <p:nvSpPr>
          <p:cNvPr id="6" name="Text 4"/>
          <p:cNvSpPr/>
          <p:nvPr/>
        </p:nvSpPr>
        <p:spPr>
          <a:xfrm>
            <a:off x="694944" y="2615184"/>
            <a:ext cx="1755648" cy="137160"/>
          </a:xfrm>
          <a:prstGeom prst="rect">
            <a:avLst/>
          </a:prstGeom>
          <a:noFill/>
          <a:ln/>
        </p:spPr>
        <p:txBody>
          <a:bodyPr wrap="square" lIns="0" tIns="0" rIns="0" bIns="0" rtlCol="0" anchor="ctr"/>
          <a:lstStyle/>
          <a:p>
            <a:pPr algn="l" indent="0" marL="0">
              <a:buNone/>
            </a:pPr>
            <a:r>
              <a:rPr lang="en-US" sz="860" b="1" spc="60" kern="0" dirty="0">
                <a:solidFill>
                  <a:srgbClr val="9E5F46"/>
                </a:solidFill>
                <a:latin typeface="Inter" pitchFamily="34" charset="0"/>
                <a:ea typeface="Inter" pitchFamily="34" charset="-122"/>
                <a:cs typeface="Inter" pitchFamily="34" charset="-120"/>
              </a:rPr>
              <a:t>CONVERSATION</a:t>
            </a:r>
            <a:endParaRPr lang="en-US" sz="860" dirty="0"/>
          </a:p>
        </p:txBody>
      </p:sp>
      <p:sp>
        <p:nvSpPr>
          <p:cNvPr id="7" name="Text 5"/>
          <p:cNvSpPr/>
          <p:nvPr/>
        </p:nvSpPr>
        <p:spPr>
          <a:xfrm>
            <a:off x="694944" y="2839212"/>
            <a:ext cx="1755648" cy="201168"/>
          </a:xfrm>
          <a:prstGeom prst="rect">
            <a:avLst/>
          </a:prstGeom>
          <a:noFill/>
          <a:ln/>
        </p:spPr>
        <p:txBody>
          <a:bodyPr wrap="square" lIns="0" tIns="0" rIns="0" bIns="0" rtlCol="0" anchor="ctr"/>
          <a:lstStyle/>
          <a:p>
            <a:pPr algn="l" indent="0" marL="0">
              <a:buNone/>
            </a:pPr>
            <a:r>
              <a:rPr lang="en-US" sz="1250" b="1" dirty="0">
                <a:solidFill>
                  <a:srgbClr val="122B3E"/>
                </a:solidFill>
                <a:latin typeface="Inter" pitchFamily="34" charset="0"/>
                <a:ea typeface="Inter" pitchFamily="34" charset="-122"/>
                <a:cs typeface="Inter" pitchFamily="34" charset="-120"/>
              </a:rPr>
              <a:t>Possible business sale</a:t>
            </a:r>
            <a:endParaRPr lang="en-US" sz="1250" dirty="0"/>
          </a:p>
        </p:txBody>
      </p:sp>
      <p:sp>
        <p:nvSpPr>
          <p:cNvPr id="8" name="Text 6"/>
          <p:cNvSpPr/>
          <p:nvPr/>
        </p:nvSpPr>
        <p:spPr>
          <a:xfrm>
            <a:off x="694944" y="3113532"/>
            <a:ext cx="1755648" cy="109728"/>
          </a:xfrm>
          <a:prstGeom prst="rect">
            <a:avLst/>
          </a:prstGeom>
          <a:noFill/>
          <a:ln/>
        </p:spPr>
        <p:txBody>
          <a:bodyPr wrap="square" lIns="0" tIns="0" rIns="0" bIns="0" rtlCol="0" anchor="ctr"/>
          <a:lstStyle/>
          <a:p>
            <a:pPr algn="l" indent="0" marL="0">
              <a:buNone/>
            </a:pPr>
            <a:r>
              <a:rPr lang="en-US" sz="800" dirty="0">
                <a:solidFill>
                  <a:srgbClr val="60717A"/>
                </a:solidFill>
                <a:latin typeface="Inter" pitchFamily="34" charset="0"/>
                <a:ea typeface="Inter" pitchFamily="34" charset="-122"/>
                <a:cs typeface="Inter" pitchFamily="34" charset="-120"/>
              </a:rPr>
              <a:t>Timing needs validation</a:t>
            </a:r>
            <a:endParaRPr lang="en-US" sz="800" dirty="0"/>
          </a:p>
        </p:txBody>
      </p:sp>
      <p:sp>
        <p:nvSpPr>
          <p:cNvPr id="9" name="Shape 7"/>
          <p:cNvSpPr/>
          <p:nvPr/>
        </p:nvSpPr>
        <p:spPr>
          <a:xfrm>
            <a:off x="2752344" y="2478024"/>
            <a:ext cx="2048256" cy="850392"/>
          </a:xfrm>
          <a:prstGeom prst="roundRect">
            <a:avLst>
              <a:gd name="adj" fmla="val 8602"/>
            </a:avLst>
          </a:prstGeom>
          <a:solidFill>
            <a:srgbClr val="FFFFFF"/>
          </a:solidFill>
          <a:ln w="8890">
            <a:solidFill>
              <a:srgbClr val="D7DEDD"/>
            </a:solidFill>
            <a:prstDash val="solid"/>
          </a:ln>
        </p:spPr>
      </p:sp>
      <p:sp>
        <p:nvSpPr>
          <p:cNvPr id="10" name="Text 8"/>
          <p:cNvSpPr/>
          <p:nvPr/>
        </p:nvSpPr>
        <p:spPr>
          <a:xfrm>
            <a:off x="2898648" y="2615184"/>
            <a:ext cx="1755648" cy="137160"/>
          </a:xfrm>
          <a:prstGeom prst="rect">
            <a:avLst/>
          </a:prstGeom>
          <a:noFill/>
          <a:ln/>
        </p:spPr>
        <p:txBody>
          <a:bodyPr wrap="square" lIns="0" tIns="0" rIns="0" bIns="0" rtlCol="0" anchor="ctr"/>
          <a:lstStyle/>
          <a:p>
            <a:pPr algn="l" indent="0" marL="0">
              <a:buNone/>
            </a:pPr>
            <a:r>
              <a:rPr lang="en-US" sz="860" b="1" spc="60" kern="0" dirty="0">
                <a:solidFill>
                  <a:srgbClr val="9E5F46"/>
                </a:solidFill>
                <a:latin typeface="Inter" pitchFamily="34" charset="0"/>
                <a:ea typeface="Inter" pitchFamily="34" charset="-122"/>
                <a:cs typeface="Inter" pitchFamily="34" charset="-120"/>
              </a:rPr>
              <a:t>RELATIONSHIP</a:t>
            </a:r>
            <a:endParaRPr lang="en-US" sz="860" dirty="0"/>
          </a:p>
        </p:txBody>
      </p:sp>
      <p:sp>
        <p:nvSpPr>
          <p:cNvPr id="11" name="Text 9"/>
          <p:cNvSpPr/>
          <p:nvPr/>
        </p:nvSpPr>
        <p:spPr>
          <a:xfrm>
            <a:off x="2898648" y="2839212"/>
            <a:ext cx="1755648" cy="201168"/>
          </a:xfrm>
          <a:prstGeom prst="rect">
            <a:avLst/>
          </a:prstGeom>
          <a:noFill/>
          <a:ln/>
        </p:spPr>
        <p:txBody>
          <a:bodyPr wrap="square" lIns="0" tIns="0" rIns="0" bIns="0" rtlCol="0" anchor="ctr"/>
          <a:lstStyle/>
          <a:p>
            <a:pPr algn="l" indent="0" marL="0">
              <a:buNone/>
            </a:pPr>
            <a:r>
              <a:rPr lang="en-US" sz="1250" b="1" dirty="0">
                <a:solidFill>
                  <a:srgbClr val="122B3E"/>
                </a:solidFill>
                <a:latin typeface="Inter" pitchFamily="34" charset="0"/>
                <a:ea typeface="Inter" pitchFamily="34" charset="-122"/>
                <a:cs typeface="Inter" pitchFamily="34" charset="-120"/>
              </a:rPr>
              <a:t>Family + portfolio</a:t>
            </a:r>
            <a:endParaRPr lang="en-US" sz="1250" dirty="0"/>
          </a:p>
        </p:txBody>
      </p:sp>
      <p:sp>
        <p:nvSpPr>
          <p:cNvPr id="12" name="Text 10"/>
          <p:cNvSpPr/>
          <p:nvPr/>
        </p:nvSpPr>
        <p:spPr>
          <a:xfrm>
            <a:off x="2898648" y="3113532"/>
            <a:ext cx="1755648" cy="109728"/>
          </a:xfrm>
          <a:prstGeom prst="rect">
            <a:avLst/>
          </a:prstGeom>
          <a:noFill/>
          <a:ln/>
        </p:spPr>
        <p:txBody>
          <a:bodyPr wrap="square" lIns="0" tIns="0" rIns="0" bIns="0" rtlCol="0" anchor="ctr"/>
          <a:lstStyle/>
          <a:p>
            <a:pPr algn="l" indent="0" marL="0">
              <a:buNone/>
            </a:pPr>
            <a:r>
              <a:rPr lang="en-US" sz="800" dirty="0">
                <a:solidFill>
                  <a:srgbClr val="60717A"/>
                </a:solidFill>
                <a:latin typeface="Inter" pitchFamily="34" charset="0"/>
                <a:ea typeface="Inter" pitchFamily="34" charset="-122"/>
                <a:cs typeface="Inter" pitchFamily="34" charset="-120"/>
              </a:rPr>
              <a:t>Goals, ownership and holdings</a:t>
            </a:r>
            <a:endParaRPr lang="en-US" sz="800" dirty="0"/>
          </a:p>
        </p:txBody>
      </p:sp>
      <p:sp>
        <p:nvSpPr>
          <p:cNvPr id="13" name="Shape 11"/>
          <p:cNvSpPr/>
          <p:nvPr/>
        </p:nvSpPr>
        <p:spPr>
          <a:xfrm>
            <a:off x="4956048" y="2478024"/>
            <a:ext cx="2048256" cy="850392"/>
          </a:xfrm>
          <a:prstGeom prst="roundRect">
            <a:avLst>
              <a:gd name="adj" fmla="val 8602"/>
            </a:avLst>
          </a:prstGeom>
          <a:solidFill>
            <a:srgbClr val="FFFFFF"/>
          </a:solidFill>
          <a:ln w="8890">
            <a:solidFill>
              <a:srgbClr val="D7DEDD"/>
            </a:solidFill>
            <a:prstDash val="solid"/>
          </a:ln>
        </p:spPr>
      </p:sp>
      <p:sp>
        <p:nvSpPr>
          <p:cNvPr id="14" name="Text 12"/>
          <p:cNvSpPr/>
          <p:nvPr/>
        </p:nvSpPr>
        <p:spPr>
          <a:xfrm>
            <a:off x="5102352" y="2615184"/>
            <a:ext cx="1755648" cy="137160"/>
          </a:xfrm>
          <a:prstGeom prst="rect">
            <a:avLst/>
          </a:prstGeom>
          <a:noFill/>
          <a:ln/>
        </p:spPr>
        <p:txBody>
          <a:bodyPr wrap="square" lIns="0" tIns="0" rIns="0" bIns="0" rtlCol="0" anchor="ctr"/>
          <a:lstStyle/>
          <a:p>
            <a:pPr algn="l" indent="0" marL="0">
              <a:buNone/>
            </a:pPr>
            <a:r>
              <a:rPr lang="en-US" sz="860" b="1" spc="60" kern="0" dirty="0">
                <a:solidFill>
                  <a:srgbClr val="9E5F46"/>
                </a:solidFill>
                <a:latin typeface="Inter" pitchFamily="34" charset="0"/>
                <a:ea typeface="Inter" pitchFamily="34" charset="-122"/>
                <a:cs typeface="Inter" pitchFamily="34" charset="-120"/>
              </a:rPr>
              <a:t>FIRM EXPERTISE</a:t>
            </a:r>
            <a:endParaRPr lang="en-US" sz="860" dirty="0"/>
          </a:p>
        </p:txBody>
      </p:sp>
      <p:sp>
        <p:nvSpPr>
          <p:cNvPr id="15" name="Text 13"/>
          <p:cNvSpPr/>
          <p:nvPr/>
        </p:nvSpPr>
        <p:spPr>
          <a:xfrm>
            <a:off x="5102352" y="2839212"/>
            <a:ext cx="1755648" cy="201168"/>
          </a:xfrm>
          <a:prstGeom prst="rect">
            <a:avLst/>
          </a:prstGeom>
          <a:noFill/>
          <a:ln/>
        </p:spPr>
        <p:txBody>
          <a:bodyPr wrap="square" lIns="0" tIns="0" rIns="0" bIns="0" rtlCol="0" anchor="ctr"/>
          <a:lstStyle/>
          <a:p>
            <a:pPr algn="l" indent="0" marL="0">
              <a:buNone/>
            </a:pPr>
            <a:r>
              <a:rPr lang="en-US" sz="1250" b="1" dirty="0">
                <a:solidFill>
                  <a:srgbClr val="122B3E"/>
                </a:solidFill>
                <a:latin typeface="Inter" pitchFamily="34" charset="0"/>
                <a:ea typeface="Inter" pitchFamily="34" charset="-122"/>
                <a:cs typeface="Inter" pitchFamily="34" charset="-120"/>
              </a:rPr>
              <a:t>Planning expertise</a:t>
            </a:r>
            <a:endParaRPr lang="en-US" sz="1250" dirty="0"/>
          </a:p>
        </p:txBody>
      </p:sp>
      <p:sp>
        <p:nvSpPr>
          <p:cNvPr id="16" name="Text 14"/>
          <p:cNvSpPr/>
          <p:nvPr/>
        </p:nvSpPr>
        <p:spPr>
          <a:xfrm>
            <a:off x="5102352" y="3113532"/>
            <a:ext cx="1755648" cy="109728"/>
          </a:xfrm>
          <a:prstGeom prst="rect">
            <a:avLst/>
          </a:prstGeom>
          <a:noFill/>
          <a:ln/>
        </p:spPr>
        <p:txBody>
          <a:bodyPr wrap="square" lIns="0" tIns="0" rIns="0" bIns="0" rtlCol="0" anchor="ctr"/>
          <a:lstStyle/>
          <a:p>
            <a:pPr algn="l" indent="0" marL="0">
              <a:buNone/>
            </a:pPr>
            <a:r>
              <a:rPr lang="en-US" sz="800" dirty="0">
                <a:solidFill>
                  <a:srgbClr val="60717A"/>
                </a:solidFill>
                <a:latin typeface="Inter" pitchFamily="34" charset="0"/>
                <a:ea typeface="Inter" pitchFamily="34" charset="-122"/>
                <a:cs typeface="Inter" pitchFamily="34" charset="-120"/>
              </a:rPr>
              <a:t>Approved sources and limits</a:t>
            </a:r>
            <a:endParaRPr lang="en-US" sz="800" dirty="0"/>
          </a:p>
        </p:txBody>
      </p:sp>
      <p:sp>
        <p:nvSpPr>
          <p:cNvPr id="17" name="Shape 15"/>
          <p:cNvSpPr/>
          <p:nvPr/>
        </p:nvSpPr>
        <p:spPr>
          <a:xfrm>
            <a:off x="1572768" y="3328416"/>
            <a:ext cx="0" cy="256032"/>
          </a:xfrm>
          <a:prstGeom prst="line">
            <a:avLst/>
          </a:prstGeom>
          <a:noFill/>
          <a:ln w="12700">
            <a:solidFill>
              <a:srgbClr val="B89970"/>
            </a:solidFill>
            <a:prstDash val="solid"/>
          </a:ln>
        </p:spPr>
      </p:sp>
      <p:sp>
        <p:nvSpPr>
          <p:cNvPr id="18" name="Shape 16"/>
          <p:cNvSpPr/>
          <p:nvPr/>
        </p:nvSpPr>
        <p:spPr>
          <a:xfrm>
            <a:off x="3776472" y="3328416"/>
            <a:ext cx="0" cy="256032"/>
          </a:xfrm>
          <a:prstGeom prst="line">
            <a:avLst/>
          </a:prstGeom>
          <a:noFill/>
          <a:ln w="12700">
            <a:solidFill>
              <a:srgbClr val="B89970"/>
            </a:solidFill>
            <a:prstDash val="solid"/>
          </a:ln>
        </p:spPr>
      </p:sp>
      <p:sp>
        <p:nvSpPr>
          <p:cNvPr id="19" name="Shape 17"/>
          <p:cNvSpPr/>
          <p:nvPr/>
        </p:nvSpPr>
        <p:spPr>
          <a:xfrm>
            <a:off x="5980176" y="3328416"/>
            <a:ext cx="0" cy="256032"/>
          </a:xfrm>
          <a:prstGeom prst="line">
            <a:avLst/>
          </a:prstGeom>
          <a:noFill/>
          <a:ln w="12700">
            <a:solidFill>
              <a:srgbClr val="B89970"/>
            </a:solidFill>
            <a:prstDash val="solid"/>
          </a:ln>
        </p:spPr>
      </p:sp>
      <p:sp>
        <p:nvSpPr>
          <p:cNvPr id="20" name="Shape 18"/>
          <p:cNvSpPr/>
          <p:nvPr/>
        </p:nvSpPr>
        <p:spPr>
          <a:xfrm>
            <a:off x="1572768" y="3584448"/>
            <a:ext cx="4407408" cy="0"/>
          </a:xfrm>
          <a:prstGeom prst="line">
            <a:avLst/>
          </a:prstGeom>
          <a:noFill/>
          <a:ln w="12700">
            <a:solidFill>
              <a:srgbClr val="B89970"/>
            </a:solidFill>
            <a:prstDash val="solid"/>
          </a:ln>
        </p:spPr>
      </p:sp>
      <p:sp>
        <p:nvSpPr>
          <p:cNvPr id="21" name="Shape 19"/>
          <p:cNvSpPr/>
          <p:nvPr/>
        </p:nvSpPr>
        <p:spPr>
          <a:xfrm>
            <a:off x="3776472" y="3584448"/>
            <a:ext cx="0" cy="173736"/>
          </a:xfrm>
          <a:prstGeom prst="line">
            <a:avLst/>
          </a:prstGeom>
          <a:noFill/>
          <a:ln w="13970">
            <a:solidFill>
              <a:srgbClr val="B89970"/>
            </a:solidFill>
            <a:prstDash val="solid"/>
            <a:tailEnd type="triangle"/>
          </a:ln>
        </p:spPr>
      </p:sp>
      <p:sp>
        <p:nvSpPr>
          <p:cNvPr id="22" name="Shape 20"/>
          <p:cNvSpPr/>
          <p:nvPr/>
        </p:nvSpPr>
        <p:spPr>
          <a:xfrm>
            <a:off x="548640" y="3794760"/>
            <a:ext cx="6455664" cy="676656"/>
          </a:xfrm>
          <a:prstGeom prst="roundRect">
            <a:avLst>
              <a:gd name="adj" fmla="val 10811"/>
            </a:avLst>
          </a:prstGeom>
          <a:solidFill>
            <a:srgbClr val="081E30"/>
          </a:solidFill>
          <a:ln w="12700">
            <a:solidFill>
              <a:srgbClr val="081E30">
                <a:alpha val="0"/>
              </a:srgbClr>
            </a:solidFill>
            <a:prstDash val="solid"/>
          </a:ln>
        </p:spPr>
      </p:sp>
      <p:sp>
        <p:nvSpPr>
          <p:cNvPr id="23" name="Shape 21"/>
          <p:cNvSpPr/>
          <p:nvPr/>
        </p:nvSpPr>
        <p:spPr>
          <a:xfrm>
            <a:off x="749808" y="4055364"/>
            <a:ext cx="91440" cy="91440"/>
          </a:xfrm>
          <a:prstGeom prst="ellipse">
            <a:avLst/>
          </a:prstGeom>
          <a:solidFill>
            <a:srgbClr val="64C9BA"/>
          </a:solidFill>
          <a:ln w="12700">
            <a:solidFill>
              <a:srgbClr val="333333">
                <a:alpha val="0"/>
              </a:srgbClr>
            </a:solidFill>
            <a:prstDash val="solid"/>
          </a:ln>
        </p:spPr>
      </p:sp>
      <p:sp>
        <p:nvSpPr>
          <p:cNvPr id="24" name="Text 22"/>
          <p:cNvSpPr/>
          <p:nvPr/>
        </p:nvSpPr>
        <p:spPr>
          <a:xfrm>
            <a:off x="950976" y="3918204"/>
            <a:ext cx="5669280" cy="237744"/>
          </a:xfrm>
          <a:prstGeom prst="rect">
            <a:avLst/>
          </a:prstGeom>
          <a:noFill/>
          <a:ln/>
        </p:spPr>
        <p:txBody>
          <a:bodyPr wrap="square" lIns="0" tIns="0" rIns="0" bIns="0" rtlCol="0" anchor="ctr"/>
          <a:lstStyle/>
          <a:p>
            <a:pPr algn="l" indent="0" marL="0">
              <a:buNone/>
            </a:pPr>
            <a:r>
              <a:rPr lang="en-US" sz="1700" b="1" dirty="0">
                <a:solidFill>
                  <a:srgbClr val="FFFFFF"/>
                </a:solidFill>
                <a:latin typeface="Inter" pitchFamily="34" charset="0"/>
                <a:ea typeface="Inter" pitchFamily="34" charset="-122"/>
                <a:cs typeface="Inter" pitchFamily="34" charset="-120"/>
              </a:rPr>
              <a:t>One permissioned client context</a:t>
            </a:r>
            <a:endParaRPr lang="en-US" sz="1700" dirty="0"/>
          </a:p>
        </p:txBody>
      </p:sp>
      <p:sp>
        <p:nvSpPr>
          <p:cNvPr id="25" name="Text 23"/>
          <p:cNvSpPr/>
          <p:nvPr/>
        </p:nvSpPr>
        <p:spPr>
          <a:xfrm>
            <a:off x="960120" y="4251960"/>
            <a:ext cx="5641848" cy="109728"/>
          </a:xfrm>
          <a:prstGeom prst="rect">
            <a:avLst/>
          </a:prstGeom>
          <a:noFill/>
          <a:ln/>
        </p:spPr>
        <p:txBody>
          <a:bodyPr wrap="square" lIns="0" tIns="0" rIns="0" bIns="0" rtlCol="0" anchor="ctr"/>
          <a:lstStyle/>
          <a:p>
            <a:pPr algn="l" indent="0" marL="0">
              <a:buNone/>
            </a:pPr>
            <a:r>
              <a:rPr lang="en-US" sz="950" dirty="0">
                <a:solidFill>
                  <a:srgbClr val="C3D2D7"/>
                </a:solidFill>
                <a:latin typeface="Inter" pitchFamily="34" charset="0"/>
                <a:ea typeface="Inter" pitchFamily="34" charset="-122"/>
                <a:cs typeface="Inter" pitchFamily="34" charset="-120"/>
              </a:rPr>
              <a:t>Confirmed facts stay distinct from assumptions.</a:t>
            </a:r>
            <a:endParaRPr lang="en-US" sz="950" dirty="0"/>
          </a:p>
        </p:txBody>
      </p:sp>
      <p:sp>
        <p:nvSpPr>
          <p:cNvPr id="26" name="Shape 24"/>
          <p:cNvSpPr/>
          <p:nvPr/>
        </p:nvSpPr>
        <p:spPr>
          <a:xfrm>
            <a:off x="1572768" y="4471416"/>
            <a:ext cx="0" cy="173736"/>
          </a:xfrm>
          <a:prstGeom prst="line">
            <a:avLst/>
          </a:prstGeom>
          <a:noFill/>
          <a:ln w="12700">
            <a:solidFill>
              <a:srgbClr val="B89970"/>
            </a:solidFill>
            <a:prstDash val="solid"/>
          </a:ln>
        </p:spPr>
      </p:sp>
      <p:sp>
        <p:nvSpPr>
          <p:cNvPr id="27" name="Shape 25"/>
          <p:cNvSpPr/>
          <p:nvPr/>
        </p:nvSpPr>
        <p:spPr>
          <a:xfrm>
            <a:off x="3776472" y="4471416"/>
            <a:ext cx="0" cy="173736"/>
          </a:xfrm>
          <a:prstGeom prst="line">
            <a:avLst/>
          </a:prstGeom>
          <a:noFill/>
          <a:ln w="12700">
            <a:solidFill>
              <a:srgbClr val="B89970"/>
            </a:solidFill>
            <a:prstDash val="solid"/>
          </a:ln>
        </p:spPr>
      </p:sp>
      <p:sp>
        <p:nvSpPr>
          <p:cNvPr id="28" name="Shape 26"/>
          <p:cNvSpPr/>
          <p:nvPr/>
        </p:nvSpPr>
        <p:spPr>
          <a:xfrm>
            <a:off x="5980176" y="4471416"/>
            <a:ext cx="0" cy="173736"/>
          </a:xfrm>
          <a:prstGeom prst="line">
            <a:avLst/>
          </a:prstGeom>
          <a:noFill/>
          <a:ln w="12700">
            <a:solidFill>
              <a:srgbClr val="B89970"/>
            </a:solidFill>
            <a:prstDash val="solid"/>
          </a:ln>
        </p:spPr>
      </p:sp>
      <p:sp>
        <p:nvSpPr>
          <p:cNvPr id="29" name="Shape 27"/>
          <p:cNvSpPr/>
          <p:nvPr/>
        </p:nvSpPr>
        <p:spPr>
          <a:xfrm>
            <a:off x="548640" y="4681728"/>
            <a:ext cx="2048256" cy="420624"/>
          </a:xfrm>
          <a:prstGeom prst="roundRect">
            <a:avLst>
              <a:gd name="adj" fmla="val 15217"/>
            </a:avLst>
          </a:prstGeom>
          <a:solidFill>
            <a:srgbClr val="E3F3EE"/>
          </a:solidFill>
          <a:ln w="12700">
            <a:solidFill>
              <a:srgbClr val="E3F3EE">
                <a:alpha val="0"/>
              </a:srgbClr>
            </a:solidFill>
            <a:prstDash val="solid"/>
          </a:ln>
        </p:spPr>
      </p:sp>
      <p:sp>
        <p:nvSpPr>
          <p:cNvPr id="30" name="Text 28"/>
          <p:cNvSpPr/>
          <p:nvPr/>
        </p:nvSpPr>
        <p:spPr>
          <a:xfrm>
            <a:off x="612648" y="4695444"/>
            <a:ext cx="1920240" cy="393192"/>
          </a:xfrm>
          <a:prstGeom prst="rect">
            <a:avLst/>
          </a:prstGeom>
          <a:noFill/>
          <a:ln/>
        </p:spPr>
        <p:txBody>
          <a:bodyPr wrap="square" lIns="0" tIns="0" rIns="0" bIns="0" rtlCol="0" anchor="ctr"/>
          <a:lstStyle/>
          <a:p>
            <a:pPr algn="ctr" indent="0" marL="0">
              <a:buNone/>
            </a:pPr>
            <a:r>
              <a:rPr lang="en-US" sz="1160" b="1" dirty="0">
                <a:solidFill>
                  <a:srgbClr val="122B3E"/>
                </a:solidFill>
                <a:latin typeface="Inter" pitchFamily="34" charset="0"/>
                <a:ea typeface="Inter" pitchFamily="34" charset="-122"/>
                <a:cs typeface="Inter" pitchFamily="34" charset="-120"/>
              </a:rPr>
              <a:t>Planning analysis</a:t>
            </a:r>
            <a:endParaRPr lang="en-US" sz="1160" dirty="0"/>
          </a:p>
        </p:txBody>
      </p:sp>
      <p:sp>
        <p:nvSpPr>
          <p:cNvPr id="31" name="Shape 29"/>
          <p:cNvSpPr/>
          <p:nvPr/>
        </p:nvSpPr>
        <p:spPr>
          <a:xfrm>
            <a:off x="2752344" y="4681728"/>
            <a:ext cx="2048256" cy="420624"/>
          </a:xfrm>
          <a:prstGeom prst="roundRect">
            <a:avLst>
              <a:gd name="adj" fmla="val 15217"/>
            </a:avLst>
          </a:prstGeom>
          <a:solidFill>
            <a:srgbClr val="E3F3EE"/>
          </a:solidFill>
          <a:ln w="12700">
            <a:solidFill>
              <a:srgbClr val="E3F3EE">
                <a:alpha val="0"/>
              </a:srgbClr>
            </a:solidFill>
            <a:prstDash val="solid"/>
          </a:ln>
        </p:spPr>
      </p:sp>
      <p:sp>
        <p:nvSpPr>
          <p:cNvPr id="32" name="Text 30"/>
          <p:cNvSpPr/>
          <p:nvPr/>
        </p:nvSpPr>
        <p:spPr>
          <a:xfrm>
            <a:off x="2816352" y="4695444"/>
            <a:ext cx="1920240" cy="393192"/>
          </a:xfrm>
          <a:prstGeom prst="rect">
            <a:avLst/>
          </a:prstGeom>
          <a:noFill/>
          <a:ln/>
        </p:spPr>
        <p:txBody>
          <a:bodyPr wrap="square" lIns="0" tIns="0" rIns="0" bIns="0" rtlCol="0" anchor="ctr"/>
          <a:lstStyle/>
          <a:p>
            <a:pPr algn="ctr" indent="0" marL="0">
              <a:buNone/>
            </a:pPr>
            <a:r>
              <a:rPr lang="en-US" sz="1160" b="1" dirty="0">
                <a:solidFill>
                  <a:srgbClr val="122B3E"/>
                </a:solidFill>
                <a:latin typeface="Inter" pitchFamily="34" charset="0"/>
                <a:ea typeface="Inter" pitchFamily="34" charset="-122"/>
                <a:cs typeface="Inter" pitchFamily="34" charset="-120"/>
              </a:rPr>
              <a:t>Liquidity scenarios</a:t>
            </a:r>
            <a:endParaRPr lang="en-US" sz="1160" dirty="0"/>
          </a:p>
        </p:txBody>
      </p:sp>
      <p:sp>
        <p:nvSpPr>
          <p:cNvPr id="33" name="Shape 31"/>
          <p:cNvSpPr/>
          <p:nvPr/>
        </p:nvSpPr>
        <p:spPr>
          <a:xfrm>
            <a:off x="4956048" y="4681728"/>
            <a:ext cx="2048256" cy="420624"/>
          </a:xfrm>
          <a:prstGeom prst="roundRect">
            <a:avLst>
              <a:gd name="adj" fmla="val 15217"/>
            </a:avLst>
          </a:prstGeom>
          <a:solidFill>
            <a:srgbClr val="E3F3EE"/>
          </a:solidFill>
          <a:ln w="12700">
            <a:solidFill>
              <a:srgbClr val="E3F3EE">
                <a:alpha val="0"/>
              </a:srgbClr>
            </a:solidFill>
            <a:prstDash val="solid"/>
          </a:ln>
        </p:spPr>
      </p:sp>
      <p:sp>
        <p:nvSpPr>
          <p:cNvPr id="34" name="Text 32"/>
          <p:cNvSpPr/>
          <p:nvPr/>
        </p:nvSpPr>
        <p:spPr>
          <a:xfrm>
            <a:off x="5020056" y="4695444"/>
            <a:ext cx="1920240" cy="393192"/>
          </a:xfrm>
          <a:prstGeom prst="rect">
            <a:avLst/>
          </a:prstGeom>
          <a:noFill/>
          <a:ln/>
        </p:spPr>
        <p:txBody>
          <a:bodyPr wrap="square" lIns="0" tIns="0" rIns="0" bIns="0" rtlCol="0" anchor="ctr"/>
          <a:lstStyle/>
          <a:p>
            <a:pPr algn="ctr" indent="0" marL="0">
              <a:buNone/>
            </a:pPr>
            <a:r>
              <a:rPr lang="en-US" sz="1160" b="1" dirty="0">
                <a:solidFill>
                  <a:srgbClr val="122B3E"/>
                </a:solidFill>
                <a:latin typeface="Inter" pitchFamily="34" charset="0"/>
                <a:ea typeface="Inter" pitchFamily="34" charset="-122"/>
                <a:cs typeface="Inter" pitchFamily="34" charset="-120"/>
              </a:rPr>
              <a:t>Portfolio implications</a:t>
            </a:r>
            <a:endParaRPr lang="en-US" sz="1160" dirty="0"/>
          </a:p>
        </p:txBody>
      </p:sp>
      <p:sp>
        <p:nvSpPr>
          <p:cNvPr id="35" name="Text 33"/>
          <p:cNvSpPr/>
          <p:nvPr/>
        </p:nvSpPr>
        <p:spPr>
          <a:xfrm>
            <a:off x="585216" y="5468112"/>
            <a:ext cx="6400800" cy="603504"/>
          </a:xfrm>
          <a:prstGeom prst="rect">
            <a:avLst/>
          </a:prstGeom>
          <a:noFill/>
          <a:ln/>
        </p:spPr>
        <p:txBody>
          <a:bodyPr wrap="square" lIns="0" tIns="0" rIns="0" bIns="0" rtlCol="0" anchor="ctr"/>
          <a:lstStyle/>
          <a:p>
            <a:pPr algn="l" indent="0" marL="0">
              <a:buNone/>
            </a:pPr>
            <a:r>
              <a:rPr lang="en-US" sz="2060" b="1" dirty="0">
                <a:solidFill>
                  <a:srgbClr val="122B3E"/>
                </a:solidFill>
                <a:latin typeface="Inter Display" pitchFamily="34" charset="0"/>
                <a:ea typeface="Inter Display" pitchFamily="34" charset="-122"/>
                <a:cs typeface="Inter Display" pitchFamily="34" charset="-120"/>
              </a:rPr>
              <a:t>Not a document summary.</a:t>
            </a:r>
            <a:endParaRPr lang="en-US" sz="2060" dirty="0"/>
          </a:p>
          <a:p>
            <a:pPr algn="l" indent="0" marL="0">
              <a:buNone/>
            </a:pPr>
            <a:r>
              <a:rPr lang="en-US" sz="2060" b="1" dirty="0">
                <a:solidFill>
                  <a:srgbClr val="122B3E"/>
                </a:solidFill>
                <a:latin typeface="Inter Display" pitchFamily="34" charset="0"/>
                <a:ea typeface="Inter Display" pitchFamily="34" charset="-122"/>
                <a:cs typeface="Inter Display" pitchFamily="34" charset="-120"/>
              </a:rPr>
              <a:t>A coordinated planning workflow.</a:t>
            </a:r>
            <a:endParaRPr lang="en-US" sz="2060" dirty="0"/>
          </a:p>
        </p:txBody>
      </p:sp>
      <p:sp>
        <p:nvSpPr>
          <p:cNvPr id="36" name="Shape 34"/>
          <p:cNvSpPr/>
          <p:nvPr/>
        </p:nvSpPr>
        <p:spPr>
          <a:xfrm>
            <a:off x="7013448" y="4123944"/>
            <a:ext cx="329184" cy="0"/>
          </a:xfrm>
          <a:prstGeom prst="line">
            <a:avLst/>
          </a:prstGeom>
          <a:noFill/>
          <a:ln w="20320">
            <a:solidFill>
              <a:srgbClr val="B89970"/>
            </a:solidFill>
            <a:prstDash val="solid"/>
            <a:tailEnd type="triangle"/>
          </a:ln>
        </p:spPr>
      </p:sp>
      <p:sp>
        <p:nvSpPr>
          <p:cNvPr id="37" name="Shape 35"/>
          <p:cNvSpPr/>
          <p:nvPr/>
        </p:nvSpPr>
        <p:spPr>
          <a:xfrm>
            <a:off x="7397496" y="2478024"/>
            <a:ext cx="4242816" cy="3575304"/>
          </a:xfrm>
          <a:prstGeom prst="roundRect">
            <a:avLst>
              <a:gd name="adj" fmla="val 3325"/>
            </a:avLst>
          </a:prstGeom>
          <a:solidFill>
            <a:srgbClr val="081E30"/>
          </a:solidFill>
          <a:ln w="12700">
            <a:solidFill>
              <a:srgbClr val="081E30">
                <a:alpha val="0"/>
              </a:srgbClr>
            </a:solidFill>
            <a:prstDash val="solid"/>
          </a:ln>
          <a:effectLst>
            <a:outerShdw sx="100000" sy="100000" kx="0" ky="0" algn="bl" rotWithShape="0" blurRad="63500" dist="50800" dir="5400000">
              <a:srgbClr val="051927">
                <a:alpha val="10000"/>
              </a:srgbClr>
            </a:outerShdw>
          </a:effectLst>
        </p:spPr>
      </p:sp>
      <p:sp>
        <p:nvSpPr>
          <p:cNvPr id="38" name="Text 36"/>
          <p:cNvSpPr/>
          <p:nvPr/>
        </p:nvSpPr>
        <p:spPr>
          <a:xfrm>
            <a:off x="7644384" y="2706624"/>
            <a:ext cx="3749040" cy="146304"/>
          </a:xfrm>
          <a:prstGeom prst="rect">
            <a:avLst/>
          </a:prstGeom>
          <a:noFill/>
          <a:ln/>
        </p:spPr>
        <p:txBody>
          <a:bodyPr wrap="square" lIns="0" tIns="0" rIns="0" bIns="0" rtlCol="0" anchor="ctr"/>
          <a:lstStyle/>
          <a:p>
            <a:pPr algn="l" indent="0" marL="0">
              <a:buNone/>
            </a:pPr>
            <a:r>
              <a:rPr lang="en-US" sz="900" b="1" spc="100" kern="0" dirty="0">
                <a:solidFill>
                  <a:srgbClr val="64C9BA"/>
                </a:solidFill>
                <a:latin typeface="Inter" pitchFamily="34" charset="0"/>
                <a:ea typeface="Inter" pitchFamily="34" charset="-122"/>
                <a:cs typeface="Inter" pitchFamily="34" charset="-120"/>
              </a:rPr>
              <a:t>COACH / PREPARED FOR REVIEW</a:t>
            </a:r>
            <a:endParaRPr lang="en-US" sz="900" dirty="0"/>
          </a:p>
        </p:txBody>
      </p:sp>
      <p:sp>
        <p:nvSpPr>
          <p:cNvPr id="39" name="Text 37"/>
          <p:cNvSpPr/>
          <p:nvPr/>
        </p:nvSpPr>
        <p:spPr>
          <a:xfrm>
            <a:off x="7644384" y="3035808"/>
            <a:ext cx="3749040" cy="612648"/>
          </a:xfrm>
          <a:prstGeom prst="rect">
            <a:avLst/>
          </a:prstGeom>
          <a:noFill/>
          <a:ln/>
        </p:spPr>
        <p:txBody>
          <a:bodyPr wrap="square" lIns="0" tIns="0" rIns="0" bIns="0" rtlCol="0" anchor="ctr"/>
          <a:lstStyle/>
          <a:p>
            <a:pPr algn="l" indent="0" marL="0">
              <a:buNone/>
            </a:pPr>
            <a:r>
              <a:rPr lang="en-US" sz="2220" b="1" spc="-60" kern="0" dirty="0">
                <a:solidFill>
                  <a:srgbClr val="FFFFFF"/>
                </a:solidFill>
                <a:latin typeface="Inter Display" pitchFamily="34" charset="0"/>
                <a:ea typeface="Inter Display" pitchFamily="34" charset="-122"/>
                <a:cs typeface="Inter Display" pitchFamily="34" charset="-120"/>
              </a:rPr>
              <a:t>Bring the planning</a:t>
            </a:r>
            <a:endParaRPr lang="en-US" sz="2220" dirty="0"/>
          </a:p>
          <a:p>
            <a:pPr algn="l" indent="0" marL="0">
              <a:buNone/>
            </a:pPr>
            <a:r>
              <a:rPr lang="en-US" sz="2220" b="1" spc="-60" kern="0" dirty="0">
                <a:solidFill>
                  <a:srgbClr val="FFFFFF"/>
                </a:solidFill>
                <a:latin typeface="Inter Display" pitchFamily="34" charset="0"/>
                <a:ea typeface="Inter Display" pitchFamily="34" charset="-122"/>
                <a:cs typeface="Inter Display" pitchFamily="34" charset="-120"/>
              </a:rPr>
              <a:t>conversation forward.</a:t>
            </a:r>
            <a:endParaRPr lang="en-US" sz="2220" dirty="0"/>
          </a:p>
        </p:txBody>
      </p:sp>
      <p:sp>
        <p:nvSpPr>
          <p:cNvPr id="40" name="Text 38"/>
          <p:cNvSpPr/>
          <p:nvPr/>
        </p:nvSpPr>
        <p:spPr>
          <a:xfrm>
            <a:off x="7662672" y="3867912"/>
            <a:ext cx="3657600" cy="118872"/>
          </a:xfrm>
          <a:prstGeom prst="rect">
            <a:avLst/>
          </a:prstGeom>
          <a:noFill/>
          <a:ln/>
        </p:spPr>
        <p:txBody>
          <a:bodyPr wrap="square" lIns="0" tIns="0" rIns="0" bIns="0" rtlCol="0" anchor="ctr"/>
          <a:lstStyle/>
          <a:p>
            <a:pPr algn="l" indent="0" marL="0">
              <a:buNone/>
            </a:pPr>
            <a:r>
              <a:rPr lang="en-US" sz="810" b="1" spc="90" kern="0" dirty="0">
                <a:solidFill>
                  <a:srgbClr val="D9BE97"/>
                </a:solidFill>
                <a:latin typeface="Inter" pitchFamily="34" charset="0"/>
                <a:ea typeface="Inter" pitchFamily="34" charset="-122"/>
                <a:cs typeface="Inter" pitchFamily="34" charset="-120"/>
              </a:rPr>
              <a:t>WHY THIS CLIENT</a:t>
            </a:r>
            <a:endParaRPr lang="en-US" sz="810" dirty="0"/>
          </a:p>
        </p:txBody>
      </p:sp>
      <p:sp>
        <p:nvSpPr>
          <p:cNvPr id="41" name="Text 39"/>
          <p:cNvSpPr/>
          <p:nvPr/>
        </p:nvSpPr>
        <p:spPr>
          <a:xfrm>
            <a:off x="7662672" y="4055364"/>
            <a:ext cx="3694176" cy="201168"/>
          </a:xfrm>
          <a:prstGeom prst="rect">
            <a:avLst/>
          </a:prstGeom>
          <a:noFill/>
          <a:ln/>
        </p:spPr>
        <p:txBody>
          <a:bodyPr wrap="square" lIns="0" tIns="0" rIns="0" bIns="0" rtlCol="0" anchor="ctr"/>
          <a:lstStyle/>
          <a:p>
            <a:pPr algn="l" indent="0" marL="0">
              <a:buNone/>
            </a:pPr>
            <a:r>
              <a:rPr lang="en-US" sz="1120" dirty="0">
                <a:solidFill>
                  <a:srgbClr val="C3D2D7"/>
                </a:solidFill>
                <a:latin typeface="Inter" pitchFamily="34" charset="0"/>
                <a:ea typeface="Inter" pitchFamily="34" charset="-122"/>
                <a:cs typeface="Inter" pitchFamily="34" charset="-120"/>
              </a:rPr>
              <a:t>Sale discussions may affect family goals.</a:t>
            </a:r>
            <a:endParaRPr lang="en-US" sz="1120" dirty="0"/>
          </a:p>
        </p:txBody>
      </p:sp>
      <p:sp>
        <p:nvSpPr>
          <p:cNvPr id="42" name="Text 40"/>
          <p:cNvSpPr/>
          <p:nvPr/>
        </p:nvSpPr>
        <p:spPr>
          <a:xfrm>
            <a:off x="7662672" y="4379976"/>
            <a:ext cx="3657600" cy="118872"/>
          </a:xfrm>
          <a:prstGeom prst="rect">
            <a:avLst/>
          </a:prstGeom>
          <a:noFill/>
          <a:ln/>
        </p:spPr>
        <p:txBody>
          <a:bodyPr wrap="square" lIns="0" tIns="0" rIns="0" bIns="0" rtlCol="0" anchor="ctr"/>
          <a:lstStyle/>
          <a:p>
            <a:pPr algn="l" indent="0" marL="0">
              <a:buNone/>
            </a:pPr>
            <a:r>
              <a:rPr lang="en-US" sz="810" b="1" spc="90" kern="0" dirty="0">
                <a:solidFill>
                  <a:srgbClr val="D9BE97"/>
                </a:solidFill>
                <a:latin typeface="Inter" pitchFamily="34" charset="0"/>
                <a:ea typeface="Inter" pitchFamily="34" charset="-122"/>
                <a:cs typeface="Inter" pitchFamily="34" charset="-120"/>
              </a:rPr>
              <a:t>WHY NOW</a:t>
            </a:r>
            <a:endParaRPr lang="en-US" sz="810" dirty="0"/>
          </a:p>
        </p:txBody>
      </p:sp>
      <p:sp>
        <p:nvSpPr>
          <p:cNvPr id="43" name="Text 41"/>
          <p:cNvSpPr/>
          <p:nvPr/>
        </p:nvSpPr>
        <p:spPr>
          <a:xfrm>
            <a:off x="7662672" y="4567428"/>
            <a:ext cx="3694176" cy="201168"/>
          </a:xfrm>
          <a:prstGeom prst="rect">
            <a:avLst/>
          </a:prstGeom>
          <a:noFill/>
          <a:ln/>
        </p:spPr>
        <p:txBody>
          <a:bodyPr wrap="square" lIns="0" tIns="0" rIns="0" bIns="0" rtlCol="0" anchor="ctr"/>
          <a:lstStyle/>
          <a:p>
            <a:pPr algn="l" indent="0" marL="0">
              <a:buNone/>
            </a:pPr>
            <a:r>
              <a:rPr lang="en-US" sz="1120" dirty="0">
                <a:solidFill>
                  <a:srgbClr val="C3D2D7"/>
                </a:solidFill>
                <a:latin typeface="Inter" pitchFamily="34" charset="0"/>
                <a:ea typeface="Inter" pitchFamily="34" charset="-122"/>
                <a:cs typeface="Inter" pitchFamily="34" charset="-120"/>
              </a:rPr>
              <a:t>Confirm timing before advancing analysis.</a:t>
            </a:r>
            <a:endParaRPr lang="en-US" sz="1120" dirty="0"/>
          </a:p>
        </p:txBody>
      </p:sp>
      <p:sp>
        <p:nvSpPr>
          <p:cNvPr id="44" name="Text 42"/>
          <p:cNvSpPr/>
          <p:nvPr/>
        </p:nvSpPr>
        <p:spPr>
          <a:xfrm>
            <a:off x="7662672" y="4892040"/>
            <a:ext cx="3657600" cy="118872"/>
          </a:xfrm>
          <a:prstGeom prst="rect">
            <a:avLst/>
          </a:prstGeom>
          <a:noFill/>
          <a:ln/>
        </p:spPr>
        <p:txBody>
          <a:bodyPr wrap="square" lIns="0" tIns="0" rIns="0" bIns="0" rtlCol="0" anchor="ctr"/>
          <a:lstStyle/>
          <a:p>
            <a:pPr algn="l" indent="0" marL="0">
              <a:buNone/>
            </a:pPr>
            <a:r>
              <a:rPr lang="en-US" sz="810" b="1" spc="90" kern="0" dirty="0">
                <a:solidFill>
                  <a:srgbClr val="D9BE97"/>
                </a:solidFill>
                <a:latin typeface="Inter" pitchFamily="34" charset="0"/>
                <a:ea typeface="Inter" pitchFamily="34" charset="-122"/>
                <a:cs typeface="Inter" pitchFamily="34" charset="-120"/>
              </a:rPr>
              <a:t>WHAT IS READY</a:t>
            </a:r>
            <a:endParaRPr lang="en-US" sz="810" dirty="0"/>
          </a:p>
        </p:txBody>
      </p:sp>
      <p:sp>
        <p:nvSpPr>
          <p:cNvPr id="45" name="Text 43"/>
          <p:cNvSpPr/>
          <p:nvPr/>
        </p:nvSpPr>
        <p:spPr>
          <a:xfrm>
            <a:off x="7662672" y="5079492"/>
            <a:ext cx="3694176" cy="201168"/>
          </a:xfrm>
          <a:prstGeom prst="rect">
            <a:avLst/>
          </a:prstGeom>
          <a:noFill/>
          <a:ln/>
        </p:spPr>
        <p:txBody>
          <a:bodyPr wrap="square" lIns="0" tIns="0" rIns="0" bIns="0" rtlCol="0" anchor="ctr"/>
          <a:lstStyle/>
          <a:p>
            <a:pPr algn="l" indent="0" marL="0">
              <a:buNone/>
            </a:pPr>
            <a:r>
              <a:rPr lang="en-US" sz="1120" dirty="0">
                <a:solidFill>
                  <a:srgbClr val="C3D2D7"/>
                </a:solidFill>
                <a:latin typeface="Inter" pitchFamily="34" charset="0"/>
                <a:ea typeface="Inter" pitchFamily="34" charset="-122"/>
                <a:cs typeface="Inter" pitchFamily="34" charset="-120"/>
              </a:rPr>
              <a:t>Brief · Scenarios · Specialist handoff</a:t>
            </a:r>
            <a:endParaRPr lang="en-US" sz="1120" dirty="0"/>
          </a:p>
        </p:txBody>
      </p:sp>
      <p:sp>
        <p:nvSpPr>
          <p:cNvPr id="46" name="Shape 44"/>
          <p:cNvSpPr/>
          <p:nvPr/>
        </p:nvSpPr>
        <p:spPr>
          <a:xfrm>
            <a:off x="7653528" y="5513832"/>
            <a:ext cx="3721608" cy="320040"/>
          </a:xfrm>
          <a:prstGeom prst="roundRect">
            <a:avLst>
              <a:gd name="adj" fmla="val 20000"/>
            </a:avLst>
          </a:prstGeom>
          <a:solidFill>
            <a:srgbClr val="FFFFFF"/>
          </a:solidFill>
          <a:ln w="12700">
            <a:solidFill>
              <a:srgbClr val="FFFFFF">
                <a:alpha val="0"/>
              </a:srgbClr>
            </a:solidFill>
            <a:prstDash val="solid"/>
          </a:ln>
        </p:spPr>
      </p:sp>
      <p:sp>
        <p:nvSpPr>
          <p:cNvPr id="47" name="Text 45"/>
          <p:cNvSpPr/>
          <p:nvPr/>
        </p:nvSpPr>
        <p:spPr>
          <a:xfrm>
            <a:off x="7717536" y="5527548"/>
            <a:ext cx="3593592" cy="292608"/>
          </a:xfrm>
          <a:prstGeom prst="rect">
            <a:avLst/>
          </a:prstGeom>
          <a:noFill/>
          <a:ln/>
        </p:spPr>
        <p:txBody>
          <a:bodyPr wrap="square" lIns="0" tIns="0" rIns="0" bIns="0" rtlCol="0" anchor="ctr"/>
          <a:lstStyle/>
          <a:p>
            <a:pPr algn="ctr" indent="0" marL="0">
              <a:buNone/>
            </a:pPr>
            <a:r>
              <a:rPr lang="en-US" sz="1080" b="1" dirty="0">
                <a:solidFill>
                  <a:srgbClr val="122B3E"/>
                </a:solidFill>
                <a:latin typeface="Inter" pitchFamily="34" charset="0"/>
                <a:ea typeface="Inter" pitchFamily="34" charset="-122"/>
                <a:cs typeface="Inter" pitchFamily="34" charset="-120"/>
              </a:rPr>
              <a:t>Review with the relationship team</a:t>
            </a:r>
            <a:endParaRPr lang="en-US" sz="1080" dirty="0"/>
          </a:p>
        </p:txBody>
      </p:sp>
      <p:sp>
        <p:nvSpPr>
          <p:cNvPr id="48" name="Text 46"/>
          <p:cNvSpPr/>
          <p:nvPr/>
        </p:nvSpPr>
        <p:spPr>
          <a:xfrm>
            <a:off x="576072" y="6190488"/>
            <a:ext cx="10972800" cy="137160"/>
          </a:xfrm>
          <a:prstGeom prst="rect">
            <a:avLst/>
          </a:prstGeom>
          <a:noFill/>
          <a:ln/>
        </p:spPr>
        <p:txBody>
          <a:bodyPr wrap="square" lIns="0" tIns="0" rIns="0" bIns="0" rtlCol="0" anchor="ctr"/>
          <a:lstStyle/>
          <a:p>
            <a:pPr algn="ctr" indent="0" marL="0">
              <a:buNone/>
            </a:pPr>
            <a:r>
              <a:rPr lang="en-US" sz="1000" dirty="0">
                <a:solidFill>
                  <a:srgbClr val="60717A"/>
                </a:solidFill>
                <a:latin typeface="Inter" pitchFamily="34" charset="0"/>
                <a:ea typeface="Inter" pitchFamily="34" charset="-122"/>
                <a:cs typeface="Inter" pitchFamily="34" charset="-120"/>
              </a:rPr>
              <a:t>Human validation  →  Specialist review  →  Named owner and tracked follow-through</a:t>
            </a:r>
            <a:endParaRPr lang="en-US" sz="1000" dirty="0"/>
          </a:p>
        </p:txBody>
      </p:sp>
      <p:sp>
        <p:nvSpPr>
          <p:cNvPr id="49" name="Text 47"/>
          <p:cNvSpPr/>
          <p:nvPr/>
        </p:nvSpPr>
        <p:spPr>
          <a:xfrm>
            <a:off x="548640" y="6368796"/>
            <a:ext cx="11091672" cy="105156"/>
          </a:xfrm>
          <a:prstGeom prst="rect">
            <a:avLst/>
          </a:prstGeom>
          <a:noFill/>
          <a:ln/>
        </p:spPr>
        <p:txBody>
          <a:bodyPr wrap="square" lIns="0" tIns="0" rIns="0" bIns="0" rtlCol="0" anchor="ctr"/>
          <a:lstStyle/>
          <a:p>
            <a:pPr algn="l" indent="0" marL="0">
              <a:buNone/>
            </a:pPr>
            <a:r>
              <a:rPr lang="en-US" sz="740" dirty="0">
                <a:solidFill>
                  <a:srgbClr val="60717A"/>
                </a:solidFill>
                <a:latin typeface="Inter" pitchFamily="34" charset="0"/>
                <a:ea typeface="Inter" pitchFamily="34" charset="-122"/>
                <a:cs typeface="Inter" pitchFamily="34" charset="-120"/>
              </a:rPr>
              <a:t>Sources: </a:t>
            </a:r>
            <a:pPr algn="l" indent="0" marL="0">
              <a:buNone/>
            </a:pPr>
            <a:r>
              <a:rPr lang="en-US" sz="740" dirty="0">
                <a:solidFill>
                  <a:srgbClr val="60717A"/>
                </a:solidFill>
                <a:latin typeface="Inter" pitchFamily="34" charset="0"/>
                <a:ea typeface="Inter" pitchFamily="34" charset="-122"/>
                <a:cs typeface="Inter" pitchFamily="34" charset="-120"/>
              </a:rPr>
              <a:t>Internal vision (Aug 2026)</a:t>
            </a:r>
            <a:pPr algn="l" indent="0" marL="0">
              <a:buNone/>
            </a:pPr>
            <a:r>
              <a:rPr lang="en-US" sz="740" dirty="0">
                <a:solidFill>
                  <a:srgbClr val="60717A"/>
                </a:solidFill>
                <a:latin typeface="Inter" pitchFamily="34" charset="0"/>
                <a:ea typeface="Inter" pitchFamily="34" charset="-122"/>
                <a:cs typeface="Inter" pitchFamily="34" charset="-120"/>
              </a:rPr>
              <a:t>  ·  </a:t>
            </a:r>
            <a:pPr algn="l" indent="0" marL="0">
              <a:buNone/>
            </a:pPr>
            <a:r>
              <a:rPr lang="en-US" sz="740" dirty="0">
                <a:solidFill>
                  <a:srgbClr val="60717A"/>
                </a:solidFill>
                <a:latin typeface="Inter" pitchFamily="34" charset="0"/>
                <a:ea typeface="Inter" pitchFamily="34" charset="-122"/>
                <a:cs typeface="Inter" pitchFamily="34" charset="-120"/>
              </a:rPr>
              <a:t>Internal roadmap (Aug 2026)</a:t>
            </a:r>
            <a:endParaRPr lang="en-US" sz="740" dirty="0"/>
          </a:p>
        </p:txBody>
      </p:sp>
      <p:sp>
        <p:nvSpPr>
          <p:cNvPr id="50" name="Shape 48"/>
          <p:cNvSpPr/>
          <p:nvPr/>
        </p:nvSpPr>
        <p:spPr>
          <a:xfrm>
            <a:off x="548640" y="6510528"/>
            <a:ext cx="11091672" cy="0"/>
          </a:xfrm>
          <a:prstGeom prst="line">
            <a:avLst/>
          </a:prstGeom>
          <a:noFill/>
          <a:ln w="7620">
            <a:solidFill>
              <a:srgbClr val="D7DEDD"/>
            </a:solidFill>
            <a:prstDash val="solid"/>
          </a:ln>
        </p:spPr>
      </p:sp>
      <p:sp>
        <p:nvSpPr>
          <p:cNvPr id="51" name="Text 49"/>
          <p:cNvSpPr/>
          <p:nvPr/>
        </p:nvSpPr>
        <p:spPr>
          <a:xfrm>
            <a:off x="548640" y="6611112"/>
            <a:ext cx="3794760" cy="118872"/>
          </a:xfrm>
          <a:prstGeom prst="rect">
            <a:avLst/>
          </a:prstGeom>
          <a:noFill/>
          <a:ln/>
        </p:spPr>
        <p:txBody>
          <a:bodyPr wrap="square" lIns="0" tIns="0" rIns="0" bIns="0" rtlCol="0" anchor="ctr"/>
          <a:lstStyle/>
          <a:p>
            <a:pPr algn="l" indent="0" marL="0">
              <a:buNone/>
            </a:pPr>
            <a:r>
              <a:rPr lang="en-US" sz="780" b="1" spc="70" kern="0" dirty="0">
                <a:solidFill>
                  <a:srgbClr val="60717A"/>
                </a:solidFill>
                <a:latin typeface="Inter" pitchFamily="34" charset="0"/>
                <a:ea typeface="Inter" pitchFamily="34" charset="-122"/>
                <a:cs typeface="Inter" pitchFamily="34" charset="-120"/>
              </a:rPr>
              <a:t>J.P. MORGAN  |  PRIVATE BANK</a:t>
            </a:r>
            <a:endParaRPr lang="en-US" sz="780" dirty="0"/>
          </a:p>
        </p:txBody>
      </p:sp>
      <p:sp>
        <p:nvSpPr>
          <p:cNvPr id="52" name="Text 50"/>
          <p:cNvSpPr/>
          <p:nvPr/>
        </p:nvSpPr>
        <p:spPr>
          <a:xfrm>
            <a:off x="6492240" y="6611112"/>
            <a:ext cx="4663440" cy="118872"/>
          </a:xfrm>
          <a:prstGeom prst="rect">
            <a:avLst/>
          </a:prstGeom>
          <a:noFill/>
          <a:ln/>
        </p:spPr>
        <p:txBody>
          <a:bodyPr wrap="square" lIns="0" tIns="0" rIns="0" bIns="0" rtlCol="0" anchor="ctr"/>
          <a:lstStyle/>
          <a:p>
            <a:pPr algn="r" indent="0" marL="0">
              <a:buNone/>
            </a:pPr>
            <a:r>
              <a:rPr lang="en-US" sz="770" spc="55" kern="0" dirty="0">
                <a:solidFill>
                  <a:srgbClr val="60717A"/>
                </a:solidFill>
                <a:latin typeface="Inter" pitchFamily="34" charset="0"/>
                <a:ea typeface="Inter" pitchFamily="34" charset="-122"/>
                <a:cs typeface="Inter" pitchFamily="34" charset="-120"/>
              </a:rPr>
              <a:t>ILLUSTRATIVE CONCEPT  /  SEPTEMBER 2026</a:t>
            </a:r>
            <a:endParaRPr lang="en-US" sz="770" dirty="0"/>
          </a:p>
        </p:txBody>
      </p:sp>
      <p:sp>
        <p:nvSpPr>
          <p:cNvPr id="53" name="Text 51"/>
          <p:cNvSpPr/>
          <p:nvPr/>
        </p:nvSpPr>
        <p:spPr>
          <a:xfrm>
            <a:off x="11292840" y="6588252"/>
            <a:ext cx="347472" cy="173736"/>
          </a:xfrm>
          <a:prstGeom prst="rect">
            <a:avLst/>
          </a:prstGeom>
          <a:noFill/>
          <a:ln/>
        </p:spPr>
        <p:txBody>
          <a:bodyPr wrap="square" lIns="0" tIns="0" rIns="0" bIns="0" rtlCol="0" anchor="ctr"/>
          <a:lstStyle/>
          <a:p>
            <a:pPr algn="r" indent="0" marL="0">
              <a:buNone/>
            </a:pPr>
            <a:r>
              <a:rPr lang="en-US" sz="1000" b="1" dirty="0">
                <a:solidFill>
                  <a:srgbClr val="9E5F46"/>
                </a:solidFill>
                <a:latin typeface="Inter" pitchFamily="34" charset="0"/>
                <a:ea typeface="Inter" pitchFamily="34" charset="-122"/>
                <a:cs typeface="Inter"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1E30"/>
        </a:solidFill>
      </p:bgPr>
    </p:bg>
    <p:spTree>
      <p:nvGrpSpPr>
        <p:cNvPr id="1" name=""/>
        <p:cNvGrpSpPr/>
        <p:nvPr/>
      </p:nvGrpSpPr>
      <p:grpSpPr>
        <a:xfrm>
          <a:off x="0" y="0"/>
          <a:ext cx="0" cy="0"/>
          <a:chOff x="0" y="0"/>
          <a:chExt cx="0" cy="0"/>
        </a:xfrm>
      </p:grpSpPr>
      <p:sp>
        <p:nvSpPr>
          <p:cNvPr id="2" name="Text 0"/>
          <p:cNvSpPr/>
          <p:nvPr/>
        </p:nvSpPr>
        <p:spPr>
          <a:xfrm>
            <a:off x="548640" y="429768"/>
            <a:ext cx="11091672" cy="182880"/>
          </a:xfrm>
          <a:prstGeom prst="rect">
            <a:avLst/>
          </a:prstGeom>
          <a:noFill/>
          <a:ln/>
        </p:spPr>
        <p:txBody>
          <a:bodyPr wrap="square" lIns="0" tIns="0" rIns="0" bIns="0" rtlCol="0" anchor="ctr"/>
          <a:lstStyle/>
          <a:p>
            <a:pPr algn="l" indent="0" marL="0">
              <a:buNone/>
            </a:pPr>
            <a:r>
              <a:rPr lang="en-US" sz="960" b="1" spc="150" kern="0" dirty="0">
                <a:solidFill>
                  <a:srgbClr val="D9BE97"/>
                </a:solidFill>
                <a:latin typeface="Inter" pitchFamily="34" charset="0"/>
                <a:ea typeface="Inter" pitchFamily="34" charset="-122"/>
                <a:cs typeface="Inter" pitchFamily="34" charset="-120"/>
              </a:rPr>
              <a:t>THE ADVANTAGE  /  ONE PLATFORM, DIFFERENT WAYS TO WORK</a:t>
            </a:r>
            <a:endParaRPr lang="en-US" sz="960" dirty="0"/>
          </a:p>
        </p:txBody>
      </p:sp>
      <p:sp>
        <p:nvSpPr>
          <p:cNvPr id="3" name="Text 1"/>
          <p:cNvSpPr/>
          <p:nvPr/>
        </p:nvSpPr>
        <p:spPr>
          <a:xfrm>
            <a:off x="548640" y="813816"/>
            <a:ext cx="11091672" cy="1197864"/>
          </a:xfrm>
          <a:prstGeom prst="rect">
            <a:avLst/>
          </a:prstGeom>
          <a:noFill/>
          <a:ln/>
        </p:spPr>
        <p:txBody>
          <a:bodyPr wrap="square" lIns="0" tIns="0" rIns="0" bIns="0" rtlCol="0" anchor="ctr"/>
          <a:lstStyle/>
          <a:p>
            <a:pPr algn="l" indent="0" marL="0">
              <a:buNone/>
            </a:pPr>
            <a:r>
              <a:rPr lang="en-US" sz="4200" b="1" spc="-60" kern="0" dirty="0">
                <a:solidFill>
                  <a:srgbClr val="FFFFFF"/>
                </a:solidFill>
                <a:latin typeface="Inter Display" pitchFamily="34" charset="0"/>
                <a:ea typeface="Inter Display" pitchFamily="34" charset="-122"/>
                <a:cs typeface="Inter Display" pitchFamily="34" charset="-120"/>
              </a:rPr>
              <a:t>Raise the ceiling.</a:t>
            </a:r>
            <a:endParaRPr lang="en-US" sz="4200" dirty="0"/>
          </a:p>
          <a:p>
            <a:pPr algn="l" indent="0" marL="0">
              <a:buNone/>
            </a:pPr>
            <a:r>
              <a:rPr lang="en-US" sz="4200" b="1" spc="-60" kern="0" dirty="0">
                <a:solidFill>
                  <a:srgbClr val="FFFFFF"/>
                </a:solidFill>
                <a:latin typeface="Inter Display" pitchFamily="34" charset="0"/>
                <a:ea typeface="Inter Display" pitchFamily="34" charset="-122"/>
                <a:cs typeface="Inter Display" pitchFamily="34" charset="-120"/>
              </a:rPr>
              <a:t>Raise the standard.</a:t>
            </a:r>
            <a:endParaRPr lang="en-US" sz="4200" dirty="0"/>
          </a:p>
        </p:txBody>
      </p:sp>
      <p:sp>
        <p:nvSpPr>
          <p:cNvPr id="4" name="Shape 2"/>
          <p:cNvSpPr/>
          <p:nvPr/>
        </p:nvSpPr>
        <p:spPr>
          <a:xfrm>
            <a:off x="9884664" y="365760"/>
            <a:ext cx="1755648" cy="292608"/>
          </a:xfrm>
          <a:prstGeom prst="roundRect">
            <a:avLst>
              <a:gd name="adj" fmla="val 21875"/>
            </a:avLst>
          </a:prstGeom>
          <a:solidFill>
            <a:srgbClr val="102C40"/>
          </a:solidFill>
          <a:ln w="8890">
            <a:solidFill>
              <a:srgbClr val="355163"/>
            </a:solidFill>
            <a:prstDash val="solid"/>
          </a:ln>
        </p:spPr>
      </p:sp>
      <p:sp>
        <p:nvSpPr>
          <p:cNvPr id="5" name="Text 3"/>
          <p:cNvSpPr/>
          <p:nvPr/>
        </p:nvSpPr>
        <p:spPr>
          <a:xfrm>
            <a:off x="9948672" y="379476"/>
            <a:ext cx="1627632" cy="265176"/>
          </a:xfrm>
          <a:prstGeom prst="rect">
            <a:avLst/>
          </a:prstGeom>
          <a:noFill/>
          <a:ln/>
        </p:spPr>
        <p:txBody>
          <a:bodyPr wrap="square" lIns="0" tIns="0" rIns="0" bIns="0" rtlCol="0" anchor="ctr"/>
          <a:lstStyle/>
          <a:p>
            <a:pPr algn="ctr" indent="0" marL="0">
              <a:buNone/>
            </a:pPr>
            <a:r>
              <a:rPr lang="en-US" sz="860" b="1" dirty="0">
                <a:solidFill>
                  <a:srgbClr val="C3D2D7"/>
                </a:solidFill>
                <a:latin typeface="Inter" pitchFamily="34" charset="0"/>
                <a:ea typeface="Inter" pitchFamily="34" charset="-122"/>
                <a:cs typeface="Inter" pitchFamily="34" charset="-120"/>
              </a:rPr>
              <a:t>TARGET EXPERIENCE</a:t>
            </a:r>
            <a:endParaRPr lang="en-US" sz="860" dirty="0"/>
          </a:p>
        </p:txBody>
      </p:sp>
      <p:sp>
        <p:nvSpPr>
          <p:cNvPr id="6" name="Shape 4"/>
          <p:cNvSpPr/>
          <p:nvPr/>
        </p:nvSpPr>
        <p:spPr>
          <a:xfrm>
            <a:off x="548640" y="2350008"/>
            <a:ext cx="5394960" cy="2167128"/>
          </a:xfrm>
          <a:prstGeom prst="roundRect">
            <a:avLst>
              <a:gd name="adj" fmla="val 5063"/>
            </a:avLst>
          </a:prstGeom>
          <a:solidFill>
            <a:srgbClr val="102C40"/>
          </a:solidFill>
          <a:ln w="8890">
            <a:solidFill>
              <a:srgbClr val="355163"/>
            </a:solidFill>
            <a:prstDash val="solid"/>
          </a:ln>
        </p:spPr>
      </p:sp>
      <p:sp>
        <p:nvSpPr>
          <p:cNvPr id="7" name="Shape 5"/>
          <p:cNvSpPr/>
          <p:nvPr/>
        </p:nvSpPr>
        <p:spPr>
          <a:xfrm>
            <a:off x="6245352" y="2350008"/>
            <a:ext cx="5394960" cy="2167128"/>
          </a:xfrm>
          <a:prstGeom prst="roundRect">
            <a:avLst>
              <a:gd name="adj" fmla="val 5063"/>
            </a:avLst>
          </a:prstGeom>
          <a:solidFill>
            <a:srgbClr val="102C40"/>
          </a:solidFill>
          <a:ln w="8890">
            <a:solidFill>
              <a:srgbClr val="355163"/>
            </a:solidFill>
            <a:prstDash val="solid"/>
          </a:ln>
        </p:spPr>
      </p:sp>
      <p:sp>
        <p:nvSpPr>
          <p:cNvPr id="8" name="Text 6"/>
          <p:cNvSpPr/>
          <p:nvPr/>
        </p:nvSpPr>
        <p:spPr>
          <a:xfrm>
            <a:off x="804672" y="2578608"/>
            <a:ext cx="4864608" cy="146304"/>
          </a:xfrm>
          <a:prstGeom prst="rect">
            <a:avLst/>
          </a:prstGeom>
          <a:noFill/>
          <a:ln/>
        </p:spPr>
        <p:txBody>
          <a:bodyPr wrap="square" lIns="0" tIns="0" rIns="0" bIns="0" rtlCol="0" anchor="ctr"/>
          <a:lstStyle/>
          <a:p>
            <a:pPr algn="l" indent="0" marL="0">
              <a:buNone/>
            </a:pPr>
            <a:r>
              <a:rPr lang="en-US" sz="1020" b="1" spc="120" kern="0" dirty="0">
                <a:solidFill>
                  <a:srgbClr val="64C9BA"/>
                </a:solidFill>
                <a:latin typeface="Inter" pitchFamily="34" charset="0"/>
                <a:ea typeface="Inter" pitchFamily="34" charset="-122"/>
                <a:cs typeface="Inter" pitchFamily="34" charset="-120"/>
              </a:rPr>
              <a:t>COMMAND MODE</a:t>
            </a:r>
            <a:endParaRPr lang="en-US" sz="1020" dirty="0"/>
          </a:p>
        </p:txBody>
      </p:sp>
      <p:sp>
        <p:nvSpPr>
          <p:cNvPr id="9" name="Text 7"/>
          <p:cNvSpPr/>
          <p:nvPr/>
        </p:nvSpPr>
        <p:spPr>
          <a:xfrm>
            <a:off x="6501384" y="2578608"/>
            <a:ext cx="4864608" cy="146304"/>
          </a:xfrm>
          <a:prstGeom prst="rect">
            <a:avLst/>
          </a:prstGeom>
          <a:noFill/>
          <a:ln/>
        </p:spPr>
        <p:txBody>
          <a:bodyPr wrap="square" lIns="0" tIns="0" rIns="0" bIns="0" rtlCol="0" anchor="ctr"/>
          <a:lstStyle/>
          <a:p>
            <a:pPr algn="l" indent="0" marL="0">
              <a:buNone/>
            </a:pPr>
            <a:r>
              <a:rPr lang="en-US" sz="1020" b="1" spc="120" kern="0" dirty="0">
                <a:solidFill>
                  <a:srgbClr val="64C9BA"/>
                </a:solidFill>
                <a:latin typeface="Inter" pitchFamily="34" charset="0"/>
                <a:ea typeface="Inter" pitchFamily="34" charset="-122"/>
                <a:cs typeface="Inter" pitchFamily="34" charset="-120"/>
              </a:rPr>
              <a:t>GUIDED MODE</a:t>
            </a:r>
            <a:endParaRPr lang="en-US" sz="1020" dirty="0"/>
          </a:p>
        </p:txBody>
      </p:sp>
      <p:sp>
        <p:nvSpPr>
          <p:cNvPr id="10" name="Text 8"/>
          <p:cNvSpPr/>
          <p:nvPr/>
        </p:nvSpPr>
        <p:spPr>
          <a:xfrm>
            <a:off x="795528" y="2889504"/>
            <a:ext cx="4892040" cy="329184"/>
          </a:xfrm>
          <a:prstGeom prst="rect">
            <a:avLst/>
          </a:prstGeom>
          <a:noFill/>
          <a:ln/>
        </p:spPr>
        <p:txBody>
          <a:bodyPr wrap="square" lIns="0" tIns="0" rIns="0" bIns="0" rtlCol="0" anchor="ctr"/>
          <a:lstStyle/>
          <a:p>
            <a:pPr algn="l" indent="0" marL="0">
              <a:buNone/>
            </a:pPr>
            <a:r>
              <a:rPr lang="en-US" sz="2240" b="1" spc="-60" kern="0" dirty="0">
                <a:solidFill>
                  <a:srgbClr val="FFFFFF"/>
                </a:solidFill>
                <a:latin typeface="Inter Display" pitchFamily="34" charset="0"/>
                <a:ea typeface="Inter Display" pitchFamily="34" charset="-122"/>
                <a:cs typeface="Inter Display" pitchFamily="34" charset="-120"/>
              </a:rPr>
              <a:t>More leverage for experts.</a:t>
            </a:r>
            <a:endParaRPr lang="en-US" sz="2240" dirty="0"/>
          </a:p>
        </p:txBody>
      </p:sp>
      <p:sp>
        <p:nvSpPr>
          <p:cNvPr id="11" name="Text 9"/>
          <p:cNvSpPr/>
          <p:nvPr/>
        </p:nvSpPr>
        <p:spPr>
          <a:xfrm>
            <a:off x="6492240" y="2889504"/>
            <a:ext cx="4892040" cy="329184"/>
          </a:xfrm>
          <a:prstGeom prst="rect">
            <a:avLst/>
          </a:prstGeom>
          <a:noFill/>
          <a:ln/>
        </p:spPr>
        <p:txBody>
          <a:bodyPr wrap="square" lIns="0" tIns="0" rIns="0" bIns="0" rtlCol="0" anchor="ctr"/>
          <a:lstStyle/>
          <a:p>
            <a:pPr algn="l" indent="0" marL="0">
              <a:buNone/>
            </a:pPr>
            <a:r>
              <a:rPr lang="en-US" sz="2240" b="1" spc="-60" kern="0" dirty="0">
                <a:solidFill>
                  <a:srgbClr val="FFFFFF"/>
                </a:solidFill>
                <a:latin typeface="Inter Display" pitchFamily="34" charset="0"/>
                <a:ea typeface="Inter Display" pitchFamily="34" charset="-122"/>
                <a:cs typeface="Inter Display" pitchFamily="34" charset="-120"/>
              </a:rPr>
              <a:t>Better defaults for everyone.</a:t>
            </a:r>
            <a:endParaRPr lang="en-US" sz="2240" dirty="0"/>
          </a:p>
        </p:txBody>
      </p:sp>
      <p:sp>
        <p:nvSpPr>
          <p:cNvPr id="12" name="Text 10"/>
          <p:cNvSpPr/>
          <p:nvPr/>
        </p:nvSpPr>
        <p:spPr>
          <a:xfrm>
            <a:off x="813816" y="3429000"/>
            <a:ext cx="4837176" cy="603504"/>
          </a:xfrm>
          <a:prstGeom prst="rect">
            <a:avLst/>
          </a:prstGeom>
          <a:noFill/>
          <a:ln/>
        </p:spPr>
        <p:txBody>
          <a:bodyPr wrap="square" lIns="0" tIns="0" rIns="0" bIns="0" rtlCol="0" anchor="ctr"/>
          <a:lstStyle/>
          <a:p>
            <a:pPr algn="l" indent="0" marL="0">
              <a:buNone/>
            </a:pPr>
            <a:r>
              <a:rPr lang="en-US" sz="1800" dirty="0">
                <a:solidFill>
                  <a:srgbClr val="C3D2D7"/>
                </a:solidFill>
                <a:latin typeface="Inter" pitchFamily="34" charset="0"/>
                <a:ea typeface="Inter" pitchFamily="34" charset="-122"/>
                <a:cs typeface="Inter" pitchFamily="34" charset="-120"/>
              </a:rPr>
              <a:t>Compare the scenarios. Build the analysis.</a:t>
            </a:r>
            <a:endParaRPr lang="en-US" sz="1800" dirty="0"/>
          </a:p>
          <a:p>
            <a:pPr algn="l" indent="0" marL="0">
              <a:buNone/>
            </a:pPr>
            <a:r>
              <a:rPr lang="en-US" sz="1800" dirty="0">
                <a:solidFill>
                  <a:srgbClr val="C3D2D7"/>
                </a:solidFill>
                <a:latin typeface="Inter" pitchFamily="34" charset="0"/>
                <a:ea typeface="Inter" pitchFamily="34" charset="-122"/>
                <a:cs typeface="Inter" pitchFamily="34" charset="-120"/>
              </a:rPr>
              <a:t>Show me the assumptions.</a:t>
            </a:r>
            <a:endParaRPr lang="en-US" sz="1800" dirty="0"/>
          </a:p>
        </p:txBody>
      </p:sp>
      <p:sp>
        <p:nvSpPr>
          <p:cNvPr id="13" name="Text 11"/>
          <p:cNvSpPr/>
          <p:nvPr/>
        </p:nvSpPr>
        <p:spPr>
          <a:xfrm>
            <a:off x="6510528" y="3429000"/>
            <a:ext cx="4828032" cy="603504"/>
          </a:xfrm>
          <a:prstGeom prst="rect">
            <a:avLst/>
          </a:prstGeom>
          <a:noFill/>
          <a:ln/>
        </p:spPr>
        <p:txBody>
          <a:bodyPr wrap="square" lIns="0" tIns="0" rIns="0" bIns="0" rtlCol="0" anchor="ctr"/>
          <a:lstStyle/>
          <a:p>
            <a:pPr algn="l" indent="0" marL="0">
              <a:buNone/>
            </a:pPr>
            <a:r>
              <a:rPr lang="en-US" sz="1710" dirty="0">
                <a:solidFill>
                  <a:srgbClr val="C3D2D7"/>
                </a:solidFill>
                <a:latin typeface="Inter" pitchFamily="34" charset="0"/>
                <a:ea typeface="Inter" pitchFamily="34" charset="-122"/>
                <a:cs typeface="Inter" pitchFamily="34" charset="-120"/>
              </a:rPr>
              <a:t>These relationships need attention.</a:t>
            </a:r>
            <a:endParaRPr lang="en-US" sz="1710" dirty="0"/>
          </a:p>
          <a:p>
            <a:pPr algn="l" indent="0" marL="0">
              <a:buNone/>
            </a:pPr>
            <a:r>
              <a:rPr lang="en-US" sz="1710" dirty="0">
                <a:solidFill>
                  <a:srgbClr val="C3D2D7"/>
                </a:solidFill>
                <a:latin typeface="Inter" pitchFamily="34" charset="0"/>
                <a:ea typeface="Inter" pitchFamily="34" charset="-122"/>
                <a:cs typeface="Inter" pitchFamily="34" charset="-120"/>
              </a:rPr>
              <a:t>Here is why. Here is the work ready to review.</a:t>
            </a:r>
            <a:endParaRPr lang="en-US" sz="1710" dirty="0"/>
          </a:p>
        </p:txBody>
      </p:sp>
      <p:sp>
        <p:nvSpPr>
          <p:cNvPr id="14" name="Text 12"/>
          <p:cNvSpPr/>
          <p:nvPr/>
        </p:nvSpPr>
        <p:spPr>
          <a:xfrm>
            <a:off x="813816" y="4206240"/>
            <a:ext cx="4855464" cy="146304"/>
          </a:xfrm>
          <a:prstGeom prst="rect">
            <a:avLst/>
          </a:prstGeom>
          <a:noFill/>
          <a:ln/>
        </p:spPr>
        <p:txBody>
          <a:bodyPr wrap="square" lIns="0" tIns="0" rIns="0" bIns="0" rtlCol="0" anchor="ctr"/>
          <a:lstStyle/>
          <a:p>
            <a:pPr algn="l" indent="0" marL="0">
              <a:buNone/>
            </a:pPr>
            <a:r>
              <a:rPr lang="en-US" sz="1050" dirty="0">
                <a:solidFill>
                  <a:srgbClr val="8FA5AF"/>
                </a:solidFill>
                <a:latin typeface="Inter" pitchFamily="34" charset="0"/>
                <a:ea typeface="Inter" pitchFamily="34" charset="-122"/>
                <a:cs typeface="Inter" pitchFamily="34" charset="-120"/>
              </a:rPr>
              <a:t>Sophisticated analysis  /  Dynamic workspaces</a:t>
            </a:r>
            <a:endParaRPr lang="en-US" sz="1050" dirty="0"/>
          </a:p>
        </p:txBody>
      </p:sp>
      <p:sp>
        <p:nvSpPr>
          <p:cNvPr id="15" name="Text 13"/>
          <p:cNvSpPr/>
          <p:nvPr/>
        </p:nvSpPr>
        <p:spPr>
          <a:xfrm>
            <a:off x="6510528" y="4206240"/>
            <a:ext cx="4837176" cy="146304"/>
          </a:xfrm>
          <a:prstGeom prst="rect">
            <a:avLst/>
          </a:prstGeom>
          <a:noFill/>
          <a:ln/>
        </p:spPr>
        <p:txBody>
          <a:bodyPr wrap="square" lIns="0" tIns="0" rIns="0" bIns="0" rtlCol="0" anchor="ctr"/>
          <a:lstStyle/>
          <a:p>
            <a:pPr algn="l" indent="0" marL="0">
              <a:buNone/>
            </a:pPr>
            <a:r>
              <a:rPr lang="en-US" sz="1040" dirty="0">
                <a:solidFill>
                  <a:srgbClr val="8FA5AF"/>
                </a:solidFill>
                <a:latin typeface="Inter" pitchFamily="34" charset="0"/>
                <a:ea typeface="Inter" pitchFamily="34" charset="-122"/>
                <a:cs typeface="Inter" pitchFamily="34" charset="-120"/>
              </a:rPr>
              <a:t>Relevant insights  /  Prepared actions  /  Guidance</a:t>
            </a:r>
            <a:endParaRPr lang="en-US" sz="1040" dirty="0"/>
          </a:p>
        </p:txBody>
      </p:sp>
      <p:sp>
        <p:nvSpPr>
          <p:cNvPr id="16" name="Shape 14"/>
          <p:cNvSpPr/>
          <p:nvPr/>
        </p:nvSpPr>
        <p:spPr>
          <a:xfrm>
            <a:off x="585216" y="4818888"/>
            <a:ext cx="3520440" cy="0"/>
          </a:xfrm>
          <a:prstGeom prst="line">
            <a:avLst/>
          </a:prstGeom>
          <a:noFill/>
          <a:ln w="8890">
            <a:solidFill>
              <a:srgbClr val="355163"/>
            </a:solidFill>
            <a:prstDash val="solid"/>
          </a:ln>
        </p:spPr>
      </p:sp>
      <p:sp>
        <p:nvSpPr>
          <p:cNvPr id="17" name="Shape 15"/>
          <p:cNvSpPr/>
          <p:nvPr/>
        </p:nvSpPr>
        <p:spPr>
          <a:xfrm>
            <a:off x="8083296" y="4818888"/>
            <a:ext cx="3529584" cy="0"/>
          </a:xfrm>
          <a:prstGeom prst="line">
            <a:avLst/>
          </a:prstGeom>
          <a:noFill/>
          <a:ln w="8890">
            <a:solidFill>
              <a:srgbClr val="355163"/>
            </a:solidFill>
            <a:prstDash val="solid"/>
          </a:ln>
        </p:spPr>
      </p:sp>
      <p:sp>
        <p:nvSpPr>
          <p:cNvPr id="18" name="Text 16"/>
          <p:cNvSpPr/>
          <p:nvPr/>
        </p:nvSpPr>
        <p:spPr>
          <a:xfrm>
            <a:off x="4151376" y="4727448"/>
            <a:ext cx="3886200" cy="164592"/>
          </a:xfrm>
          <a:prstGeom prst="rect">
            <a:avLst/>
          </a:prstGeom>
          <a:noFill/>
          <a:ln/>
        </p:spPr>
        <p:txBody>
          <a:bodyPr wrap="square" lIns="0" tIns="0" rIns="0" bIns="0" rtlCol="0" anchor="ctr"/>
          <a:lstStyle/>
          <a:p>
            <a:pPr algn="ctr" indent="0" marL="0">
              <a:buNone/>
            </a:pPr>
            <a:r>
              <a:rPr lang="en-US" sz="940" b="1" spc="115" kern="0" dirty="0">
                <a:solidFill>
                  <a:srgbClr val="D9BE97"/>
                </a:solidFill>
                <a:latin typeface="Inter" pitchFamily="34" charset="0"/>
                <a:ea typeface="Inter" pitchFamily="34" charset="-122"/>
                <a:cs typeface="Inter" pitchFamily="34" charset="-120"/>
              </a:rPr>
              <a:t>ONE SHARED INTELLIGENCE LAYER</a:t>
            </a:r>
            <a:endParaRPr lang="en-US" sz="940" dirty="0"/>
          </a:p>
        </p:txBody>
      </p:sp>
      <p:sp>
        <p:nvSpPr>
          <p:cNvPr id="19" name="Text 17"/>
          <p:cNvSpPr/>
          <p:nvPr/>
        </p:nvSpPr>
        <p:spPr>
          <a:xfrm>
            <a:off x="868680" y="5157216"/>
            <a:ext cx="2148840" cy="420624"/>
          </a:xfrm>
          <a:prstGeom prst="rect">
            <a:avLst/>
          </a:prstGeom>
          <a:noFill/>
          <a:ln/>
        </p:spPr>
        <p:txBody>
          <a:bodyPr wrap="square" lIns="0" tIns="0" rIns="0" bIns="0" rtlCol="0" anchor="ctr"/>
          <a:lstStyle/>
          <a:p>
            <a:pPr algn="ctr" indent="0" marL="0">
              <a:buNone/>
            </a:pPr>
            <a:r>
              <a:rPr lang="en-US" sz="1350" b="1" dirty="0">
                <a:solidFill>
                  <a:srgbClr val="C3D2D7"/>
                </a:solidFill>
                <a:latin typeface="Inter" pitchFamily="34" charset="0"/>
                <a:ea typeface="Inter" pitchFamily="34" charset="-122"/>
                <a:cs typeface="Inter" pitchFamily="34" charset="-120"/>
              </a:rPr>
              <a:t>Permitted trends</a:t>
            </a:r>
            <a:endParaRPr lang="en-US" sz="1350" dirty="0"/>
          </a:p>
          <a:p>
            <a:pPr algn="ctr" indent="0" marL="0">
              <a:buNone/>
            </a:pPr>
            <a:r>
              <a:rPr lang="en-US" sz="1350" b="1" dirty="0">
                <a:solidFill>
                  <a:srgbClr val="C3D2D7"/>
                </a:solidFill>
                <a:latin typeface="Inter" pitchFamily="34" charset="0"/>
                <a:ea typeface="Inter" pitchFamily="34" charset="-122"/>
                <a:cs typeface="Inter" pitchFamily="34" charset="-120"/>
              </a:rPr>
              <a:t>+ client signals</a:t>
            </a:r>
            <a:endParaRPr lang="en-US" sz="1350" dirty="0"/>
          </a:p>
        </p:txBody>
      </p:sp>
      <p:sp>
        <p:nvSpPr>
          <p:cNvPr id="20" name="Shape 18"/>
          <p:cNvSpPr/>
          <p:nvPr/>
        </p:nvSpPr>
        <p:spPr>
          <a:xfrm>
            <a:off x="3090672" y="5376672"/>
            <a:ext cx="338328" cy="0"/>
          </a:xfrm>
          <a:prstGeom prst="line">
            <a:avLst/>
          </a:prstGeom>
          <a:noFill/>
          <a:ln w="13970">
            <a:solidFill>
              <a:srgbClr val="64C9BA"/>
            </a:solidFill>
            <a:prstDash val="solid"/>
            <a:tailEnd type="triangle"/>
          </a:ln>
        </p:spPr>
      </p:sp>
      <p:sp>
        <p:nvSpPr>
          <p:cNvPr id="21" name="Text 19"/>
          <p:cNvSpPr/>
          <p:nvPr/>
        </p:nvSpPr>
        <p:spPr>
          <a:xfrm>
            <a:off x="3584448" y="5157216"/>
            <a:ext cx="2148840" cy="420624"/>
          </a:xfrm>
          <a:prstGeom prst="rect">
            <a:avLst/>
          </a:prstGeom>
          <a:noFill/>
          <a:ln/>
        </p:spPr>
        <p:txBody>
          <a:bodyPr wrap="square" lIns="0" tIns="0" rIns="0" bIns="0" rtlCol="0" anchor="ctr"/>
          <a:lstStyle/>
          <a:p>
            <a:pPr algn="ctr" indent="0" marL="0">
              <a:buNone/>
            </a:pPr>
            <a:r>
              <a:rPr lang="en-US" sz="1350" b="1" dirty="0">
                <a:solidFill>
                  <a:srgbClr val="C3D2D7"/>
                </a:solidFill>
                <a:latin typeface="Inter" pitchFamily="34" charset="0"/>
                <a:ea typeface="Inter" pitchFamily="34" charset="-122"/>
                <a:cs typeface="Inter" pitchFamily="34" charset="-120"/>
              </a:rPr>
              <a:t>Firm expertise</a:t>
            </a:r>
            <a:endParaRPr lang="en-US" sz="1350" dirty="0"/>
          </a:p>
          <a:p>
            <a:pPr algn="ctr" indent="0" marL="0">
              <a:buNone/>
            </a:pPr>
            <a:r>
              <a:rPr lang="en-US" sz="1350" b="1" dirty="0">
                <a:solidFill>
                  <a:srgbClr val="C3D2D7"/>
                </a:solidFill>
                <a:latin typeface="Inter" pitchFamily="34" charset="0"/>
                <a:ea typeface="Inter" pitchFamily="34" charset="-122"/>
                <a:cs typeface="Inter" pitchFamily="34" charset="-120"/>
              </a:rPr>
              <a:t>+ best practices</a:t>
            </a:r>
            <a:endParaRPr lang="en-US" sz="1350" dirty="0"/>
          </a:p>
        </p:txBody>
      </p:sp>
      <p:sp>
        <p:nvSpPr>
          <p:cNvPr id="22" name="Shape 20"/>
          <p:cNvSpPr/>
          <p:nvPr/>
        </p:nvSpPr>
        <p:spPr>
          <a:xfrm>
            <a:off x="5806440" y="5376672"/>
            <a:ext cx="338328" cy="0"/>
          </a:xfrm>
          <a:prstGeom prst="line">
            <a:avLst/>
          </a:prstGeom>
          <a:noFill/>
          <a:ln w="13970">
            <a:solidFill>
              <a:srgbClr val="64C9BA"/>
            </a:solidFill>
            <a:prstDash val="solid"/>
            <a:tailEnd type="triangle"/>
          </a:ln>
        </p:spPr>
      </p:sp>
      <p:sp>
        <p:nvSpPr>
          <p:cNvPr id="23" name="Text 21"/>
          <p:cNvSpPr/>
          <p:nvPr/>
        </p:nvSpPr>
        <p:spPr>
          <a:xfrm>
            <a:off x="6300216" y="5157216"/>
            <a:ext cx="2148840" cy="420624"/>
          </a:xfrm>
          <a:prstGeom prst="rect">
            <a:avLst/>
          </a:prstGeom>
          <a:noFill/>
          <a:ln/>
        </p:spPr>
        <p:txBody>
          <a:bodyPr wrap="square" lIns="0" tIns="0" rIns="0" bIns="0" rtlCol="0" anchor="ctr"/>
          <a:lstStyle/>
          <a:p>
            <a:pPr algn="ctr" indent="0" marL="0">
              <a:buNone/>
            </a:pPr>
            <a:r>
              <a:rPr lang="en-US" sz="1350" b="1" dirty="0">
                <a:solidFill>
                  <a:srgbClr val="C3D2D7"/>
                </a:solidFill>
                <a:latin typeface="Inter" pitchFamily="34" charset="0"/>
                <a:ea typeface="Inter" pitchFamily="34" charset="-122"/>
                <a:cs typeface="Inter" pitchFamily="34" charset="-120"/>
              </a:rPr>
              <a:t>Better advisor</a:t>
            </a:r>
            <a:endParaRPr lang="en-US" sz="1350" dirty="0"/>
          </a:p>
          <a:p>
            <a:pPr algn="ctr" indent="0" marL="0">
              <a:buNone/>
            </a:pPr>
            <a:r>
              <a:rPr lang="en-US" sz="1350" b="1" dirty="0">
                <a:solidFill>
                  <a:srgbClr val="C3D2D7"/>
                </a:solidFill>
                <a:latin typeface="Inter" pitchFamily="34" charset="0"/>
                <a:ea typeface="Inter" pitchFamily="34" charset="-122"/>
                <a:cs typeface="Inter" pitchFamily="34" charset="-120"/>
              </a:rPr>
              <a:t>workflows</a:t>
            </a:r>
            <a:endParaRPr lang="en-US" sz="1350" dirty="0"/>
          </a:p>
        </p:txBody>
      </p:sp>
      <p:sp>
        <p:nvSpPr>
          <p:cNvPr id="24" name="Shape 22"/>
          <p:cNvSpPr/>
          <p:nvPr/>
        </p:nvSpPr>
        <p:spPr>
          <a:xfrm>
            <a:off x="8522208" y="5376672"/>
            <a:ext cx="338328" cy="0"/>
          </a:xfrm>
          <a:prstGeom prst="line">
            <a:avLst/>
          </a:prstGeom>
          <a:noFill/>
          <a:ln w="13970">
            <a:solidFill>
              <a:srgbClr val="64C9BA"/>
            </a:solidFill>
            <a:prstDash val="solid"/>
            <a:tailEnd type="triangle"/>
          </a:ln>
        </p:spPr>
      </p:sp>
      <p:sp>
        <p:nvSpPr>
          <p:cNvPr id="25" name="Text 23"/>
          <p:cNvSpPr/>
          <p:nvPr/>
        </p:nvSpPr>
        <p:spPr>
          <a:xfrm>
            <a:off x="9015984" y="5157216"/>
            <a:ext cx="2148840" cy="420624"/>
          </a:xfrm>
          <a:prstGeom prst="rect">
            <a:avLst/>
          </a:prstGeom>
          <a:noFill/>
          <a:ln/>
        </p:spPr>
        <p:txBody>
          <a:bodyPr wrap="square" lIns="0" tIns="0" rIns="0" bIns="0" rtlCol="0" anchor="ctr"/>
          <a:lstStyle/>
          <a:p>
            <a:pPr algn="ctr" indent="0" marL="0">
              <a:buNone/>
            </a:pPr>
            <a:r>
              <a:rPr lang="en-US" sz="1350" b="1" dirty="0">
                <a:solidFill>
                  <a:srgbClr val="C3D2D7"/>
                </a:solidFill>
                <a:latin typeface="Inter" pitchFamily="34" charset="0"/>
                <a:ea typeface="Inter" pitchFamily="34" charset="-122"/>
                <a:cs typeface="Inter" pitchFamily="34" charset="-120"/>
              </a:rPr>
              <a:t>Client outcomes</a:t>
            </a:r>
            <a:endParaRPr lang="en-US" sz="1350" dirty="0"/>
          </a:p>
          <a:p>
            <a:pPr algn="ctr" indent="0" marL="0">
              <a:buNone/>
            </a:pPr>
            <a:r>
              <a:rPr lang="en-US" sz="1350" b="1" dirty="0">
                <a:solidFill>
                  <a:srgbClr val="C3D2D7"/>
                </a:solidFill>
                <a:latin typeface="Inter" pitchFamily="34" charset="0"/>
                <a:ea typeface="Inter" pitchFamily="34" charset="-122"/>
                <a:cs typeface="Inter" pitchFamily="34" charset="-120"/>
              </a:rPr>
              <a:t>+ feedback</a:t>
            </a:r>
            <a:endParaRPr lang="en-US" sz="1350" dirty="0"/>
          </a:p>
        </p:txBody>
      </p:sp>
      <p:sp>
        <p:nvSpPr>
          <p:cNvPr id="26" name="Shape 24"/>
          <p:cNvSpPr/>
          <p:nvPr/>
        </p:nvSpPr>
        <p:spPr>
          <a:xfrm>
            <a:off x="10076688" y="5678424"/>
            <a:ext cx="0" cy="164592"/>
          </a:xfrm>
          <a:prstGeom prst="line">
            <a:avLst/>
          </a:prstGeom>
          <a:noFill/>
          <a:ln w="9525">
            <a:solidFill>
              <a:srgbClr val="355163"/>
            </a:solidFill>
            <a:prstDash val="solid"/>
          </a:ln>
        </p:spPr>
      </p:sp>
      <p:sp>
        <p:nvSpPr>
          <p:cNvPr id="27" name="Shape 25"/>
          <p:cNvSpPr/>
          <p:nvPr/>
        </p:nvSpPr>
        <p:spPr>
          <a:xfrm>
            <a:off x="10076688" y="5843016"/>
            <a:ext cx="-8138160" cy="0"/>
          </a:xfrm>
          <a:prstGeom prst="line">
            <a:avLst/>
          </a:prstGeom>
          <a:noFill/>
          <a:ln w="9525">
            <a:solidFill>
              <a:srgbClr val="355163"/>
            </a:solidFill>
            <a:prstDash val="solid"/>
            <a:tailEnd type="triangle"/>
          </a:ln>
        </p:spPr>
      </p:sp>
      <p:sp>
        <p:nvSpPr>
          <p:cNvPr id="28" name="Shape 26"/>
          <p:cNvSpPr/>
          <p:nvPr/>
        </p:nvSpPr>
        <p:spPr>
          <a:xfrm>
            <a:off x="1938528" y="5843016"/>
            <a:ext cx="0" cy="-164592"/>
          </a:xfrm>
          <a:prstGeom prst="line">
            <a:avLst/>
          </a:prstGeom>
          <a:noFill/>
          <a:ln w="9525">
            <a:solidFill>
              <a:srgbClr val="355163"/>
            </a:solidFill>
            <a:prstDash val="solid"/>
          </a:ln>
        </p:spPr>
      </p:sp>
      <p:sp>
        <p:nvSpPr>
          <p:cNvPr id="29" name="Text 27"/>
          <p:cNvSpPr/>
          <p:nvPr/>
        </p:nvSpPr>
        <p:spPr>
          <a:xfrm>
            <a:off x="566928" y="6053328"/>
            <a:ext cx="11055096" cy="292608"/>
          </a:xfrm>
          <a:prstGeom prst="rect">
            <a:avLst/>
          </a:prstGeom>
          <a:noFill/>
          <a:ln/>
        </p:spPr>
        <p:txBody>
          <a:bodyPr wrap="square" lIns="0" tIns="0" rIns="0" bIns="0" rtlCol="0" anchor="ctr"/>
          <a:lstStyle/>
          <a:p>
            <a:pPr algn="ctr" indent="0" marL="0">
              <a:buNone/>
            </a:pPr>
            <a:r>
              <a:rPr lang="en-US" sz="2040" b="1" dirty="0">
                <a:solidFill>
                  <a:srgbClr val="D9BE97"/>
                </a:solidFill>
                <a:latin typeface="Inter Display" pitchFamily="34" charset="0"/>
                <a:ea typeface="Inter Display" pitchFamily="34" charset="-122"/>
                <a:cs typeface="Inter Display" pitchFamily="34" charset="-120"/>
              </a:rPr>
              <a:t>Own the intelligence. Integrate the best tools.</a:t>
            </a:r>
            <a:endParaRPr lang="en-US" sz="2040" dirty="0"/>
          </a:p>
        </p:txBody>
      </p:sp>
      <p:sp>
        <p:nvSpPr>
          <p:cNvPr id="30" name="Text 28"/>
          <p:cNvSpPr/>
          <p:nvPr/>
        </p:nvSpPr>
        <p:spPr>
          <a:xfrm>
            <a:off x="548640" y="6387084"/>
            <a:ext cx="11091672" cy="105156"/>
          </a:xfrm>
          <a:prstGeom prst="rect">
            <a:avLst/>
          </a:prstGeom>
          <a:noFill/>
          <a:ln/>
        </p:spPr>
        <p:txBody>
          <a:bodyPr wrap="square" lIns="0" tIns="0" rIns="0" bIns="0" rtlCol="0" anchor="ctr"/>
          <a:lstStyle/>
          <a:p>
            <a:pPr algn="l" indent="0" marL="0">
              <a:buNone/>
            </a:pPr>
            <a:r>
              <a:rPr lang="en-US" sz="740" dirty="0">
                <a:solidFill>
                  <a:srgbClr val="8FA5AF"/>
                </a:solidFill>
                <a:latin typeface="Inter" pitchFamily="34" charset="0"/>
                <a:ea typeface="Inter" pitchFamily="34" charset="-122"/>
                <a:cs typeface="Inter" pitchFamily="34" charset="-120"/>
              </a:rPr>
              <a:t>Sources: </a:t>
            </a:r>
            <a:pPr algn="l" indent="0" marL="0">
              <a:buNone/>
            </a:pPr>
            <a:r>
              <a:rPr lang="en-US" sz="740" dirty="0">
                <a:solidFill>
                  <a:srgbClr val="8FA5AF"/>
                </a:solidFill>
                <a:latin typeface="Inter" pitchFamily="34" charset="0"/>
                <a:ea typeface="Inter" pitchFamily="34" charset="-122"/>
                <a:cs typeface="Inter" pitchFamily="34" charset="-120"/>
              </a:rPr>
              <a:t>Internal vision (Aug 2026)</a:t>
            </a:r>
            <a:pPr algn="l" indent="0" marL="0">
              <a:buNone/>
            </a:pPr>
            <a:r>
              <a:rPr lang="en-US" sz="740" dirty="0">
                <a:solidFill>
                  <a:srgbClr val="8FA5AF"/>
                </a:solidFill>
                <a:latin typeface="Inter" pitchFamily="34" charset="0"/>
                <a:ea typeface="Inter" pitchFamily="34" charset="-122"/>
                <a:cs typeface="Inter" pitchFamily="34" charset="-120"/>
              </a:rPr>
              <a:t>  ·  </a:t>
            </a:r>
            <a:pPr algn="l" indent="0" marL="0">
              <a:buNone/>
            </a:pPr>
            <a:r>
              <a:rPr lang="en-US" sz="740" dirty="0">
                <a:solidFill>
                  <a:srgbClr val="8FA5AF"/>
                </a:solidFill>
                <a:latin typeface="Inter" pitchFamily="34" charset="0"/>
                <a:ea typeface="Inter" pitchFamily="34" charset="-122"/>
                <a:cs typeface="Inter" pitchFamily="34" charset="-120"/>
              </a:rPr>
              <a:t>Internal roadmap (Aug 2026)</a:t>
            </a:r>
            <a:endParaRPr lang="en-US" sz="740" dirty="0"/>
          </a:p>
        </p:txBody>
      </p:sp>
      <p:sp>
        <p:nvSpPr>
          <p:cNvPr id="31" name="Shape 29"/>
          <p:cNvSpPr/>
          <p:nvPr/>
        </p:nvSpPr>
        <p:spPr>
          <a:xfrm>
            <a:off x="548640" y="6510528"/>
            <a:ext cx="11091672" cy="0"/>
          </a:xfrm>
          <a:prstGeom prst="line">
            <a:avLst/>
          </a:prstGeom>
          <a:noFill/>
          <a:ln w="7620">
            <a:solidFill>
              <a:srgbClr val="355163"/>
            </a:solidFill>
            <a:prstDash val="solid"/>
          </a:ln>
        </p:spPr>
      </p:sp>
      <p:sp>
        <p:nvSpPr>
          <p:cNvPr id="32" name="Text 30"/>
          <p:cNvSpPr/>
          <p:nvPr/>
        </p:nvSpPr>
        <p:spPr>
          <a:xfrm>
            <a:off x="548640" y="6611112"/>
            <a:ext cx="3794760" cy="118872"/>
          </a:xfrm>
          <a:prstGeom prst="rect">
            <a:avLst/>
          </a:prstGeom>
          <a:noFill/>
          <a:ln/>
        </p:spPr>
        <p:txBody>
          <a:bodyPr wrap="square" lIns="0" tIns="0" rIns="0" bIns="0" rtlCol="0" anchor="ctr"/>
          <a:lstStyle/>
          <a:p>
            <a:pPr algn="l" indent="0" marL="0">
              <a:buNone/>
            </a:pPr>
            <a:r>
              <a:rPr lang="en-US" sz="780" b="1" spc="70" kern="0" dirty="0">
                <a:solidFill>
                  <a:srgbClr val="8FA5AF"/>
                </a:solidFill>
                <a:latin typeface="Inter" pitchFamily="34" charset="0"/>
                <a:ea typeface="Inter" pitchFamily="34" charset="-122"/>
                <a:cs typeface="Inter" pitchFamily="34" charset="-120"/>
              </a:rPr>
              <a:t>J.P. MORGAN  |  PRIVATE BANK</a:t>
            </a:r>
            <a:endParaRPr lang="en-US" sz="780" dirty="0"/>
          </a:p>
        </p:txBody>
      </p:sp>
      <p:sp>
        <p:nvSpPr>
          <p:cNvPr id="33" name="Text 31"/>
          <p:cNvSpPr/>
          <p:nvPr/>
        </p:nvSpPr>
        <p:spPr>
          <a:xfrm>
            <a:off x="6492240" y="6611112"/>
            <a:ext cx="4663440" cy="118872"/>
          </a:xfrm>
          <a:prstGeom prst="rect">
            <a:avLst/>
          </a:prstGeom>
          <a:noFill/>
          <a:ln/>
        </p:spPr>
        <p:txBody>
          <a:bodyPr wrap="square" lIns="0" tIns="0" rIns="0" bIns="0" rtlCol="0" anchor="ctr"/>
          <a:lstStyle/>
          <a:p>
            <a:pPr algn="r" indent="0" marL="0">
              <a:buNone/>
            </a:pPr>
            <a:r>
              <a:rPr lang="en-US" sz="770" spc="55" kern="0" dirty="0">
                <a:solidFill>
                  <a:srgbClr val="8FA5AF"/>
                </a:solidFill>
                <a:latin typeface="Inter" pitchFamily="34" charset="0"/>
                <a:ea typeface="Inter" pitchFamily="34" charset="-122"/>
                <a:cs typeface="Inter" pitchFamily="34" charset="-120"/>
              </a:rPr>
              <a:t>INTERNAL DISCUSSION  /  SEPTEMBER 2026</a:t>
            </a:r>
            <a:endParaRPr lang="en-US" sz="770" dirty="0"/>
          </a:p>
        </p:txBody>
      </p:sp>
      <p:sp>
        <p:nvSpPr>
          <p:cNvPr id="34" name="Text 32"/>
          <p:cNvSpPr/>
          <p:nvPr/>
        </p:nvSpPr>
        <p:spPr>
          <a:xfrm>
            <a:off x="11292840" y="6588252"/>
            <a:ext cx="347472" cy="173736"/>
          </a:xfrm>
          <a:prstGeom prst="rect">
            <a:avLst/>
          </a:prstGeom>
          <a:noFill/>
          <a:ln/>
        </p:spPr>
        <p:txBody>
          <a:bodyPr wrap="square" lIns="0" tIns="0" rIns="0" bIns="0" rtlCol="0" anchor="ctr"/>
          <a:lstStyle/>
          <a:p>
            <a:pPr algn="r" indent="0" marL="0">
              <a:buNone/>
            </a:pPr>
            <a:r>
              <a:rPr lang="en-US" sz="1000" b="1" dirty="0">
                <a:solidFill>
                  <a:srgbClr val="D9BE97"/>
                </a:solidFill>
                <a:latin typeface="Inter" pitchFamily="34" charset="0"/>
                <a:ea typeface="Inter" pitchFamily="34" charset="-122"/>
                <a:cs typeface="Inter"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548640" y="429768"/>
            <a:ext cx="11091672" cy="182880"/>
          </a:xfrm>
          <a:prstGeom prst="rect">
            <a:avLst/>
          </a:prstGeom>
          <a:noFill/>
          <a:ln/>
        </p:spPr>
        <p:txBody>
          <a:bodyPr wrap="square" lIns="0" tIns="0" rIns="0" bIns="0" rtlCol="0" anchor="ctr"/>
          <a:lstStyle/>
          <a:p>
            <a:pPr algn="l" indent="0" marL="0">
              <a:buNone/>
            </a:pPr>
            <a:r>
              <a:rPr lang="en-US" sz="960" b="1" spc="150" kern="0" dirty="0">
                <a:solidFill>
                  <a:srgbClr val="9E5F46"/>
                </a:solidFill>
                <a:latin typeface="Inter" pitchFamily="34" charset="0"/>
                <a:ea typeface="Inter" pitchFamily="34" charset="-122"/>
                <a:cs typeface="Inter" pitchFamily="34" charset="-120"/>
              </a:rPr>
              <a:t>APPENDIX  /  FEATURE-TO-WORKFLOW MAP</a:t>
            </a:r>
            <a:endParaRPr lang="en-US" sz="960" dirty="0"/>
          </a:p>
        </p:txBody>
      </p:sp>
      <p:sp>
        <p:nvSpPr>
          <p:cNvPr id="3" name="Text 1"/>
          <p:cNvSpPr/>
          <p:nvPr/>
        </p:nvSpPr>
        <p:spPr>
          <a:xfrm>
            <a:off x="548640" y="795528"/>
            <a:ext cx="11091672" cy="950976"/>
          </a:xfrm>
          <a:prstGeom prst="rect">
            <a:avLst/>
          </a:prstGeom>
          <a:noFill/>
          <a:ln/>
        </p:spPr>
        <p:txBody>
          <a:bodyPr wrap="square" lIns="0" tIns="0" rIns="0" bIns="0" rtlCol="0" anchor="ctr"/>
          <a:lstStyle/>
          <a:p>
            <a:pPr algn="l" indent="0" marL="0">
              <a:buNone/>
            </a:pPr>
            <a:r>
              <a:rPr lang="en-US" sz="3400" b="1" spc="-60" kern="0" dirty="0">
                <a:solidFill>
                  <a:srgbClr val="122B3E"/>
                </a:solidFill>
                <a:latin typeface="Inter Display" pitchFamily="34" charset="0"/>
                <a:ea typeface="Inter Display" pitchFamily="34" charset="-122"/>
                <a:cs typeface="Inter Display" pitchFamily="34" charset="-120"/>
              </a:rPr>
              <a:t>Comparable workflows.</a:t>
            </a:r>
            <a:endParaRPr lang="en-US" sz="3400" dirty="0"/>
          </a:p>
          <a:p>
            <a:pPr algn="l" indent="0" marL="0">
              <a:buNone/>
            </a:pPr>
            <a:r>
              <a:rPr lang="en-US" sz="3400" b="1" spc="-60" kern="0" dirty="0">
                <a:solidFill>
                  <a:srgbClr val="122B3E"/>
                </a:solidFill>
                <a:latin typeface="Inter Display" pitchFamily="34" charset="0"/>
                <a:ea typeface="Inter Display" pitchFamily="34" charset="-122"/>
                <a:cs typeface="Inter Display" pitchFamily="34" charset="-120"/>
              </a:rPr>
              <a:t>A different integration ambition.</a:t>
            </a:r>
            <a:endParaRPr lang="en-US" sz="3400" dirty="0"/>
          </a:p>
        </p:txBody>
      </p:sp>
      <p:sp>
        <p:nvSpPr>
          <p:cNvPr id="4" name="Text 2"/>
          <p:cNvSpPr/>
          <p:nvPr/>
        </p:nvSpPr>
        <p:spPr>
          <a:xfrm>
            <a:off x="576072" y="1837944"/>
            <a:ext cx="10972800" cy="256032"/>
          </a:xfrm>
          <a:prstGeom prst="rect">
            <a:avLst/>
          </a:prstGeom>
          <a:noFill/>
          <a:ln/>
        </p:spPr>
        <p:txBody>
          <a:bodyPr wrap="square" lIns="0" tIns="0" rIns="0" bIns="0" rtlCol="0" anchor="ctr"/>
          <a:lstStyle/>
          <a:p>
            <a:pPr algn="l" indent="0" marL="0">
              <a:buNone/>
            </a:pPr>
            <a:r>
              <a:rPr lang="en-US" sz="1610" dirty="0">
                <a:solidFill>
                  <a:srgbClr val="60717A"/>
                </a:solidFill>
                <a:latin typeface="Inter" pitchFamily="34" charset="0"/>
                <a:ea typeface="Inter" pitchFamily="34" charset="-122"/>
                <a:cs typeface="Inter" pitchFamily="34" charset="-120"/>
              </a:rPr>
              <a:t>Compare delivery depth and integration, not the number of agents or plugins.</a:t>
            </a:r>
            <a:endParaRPr lang="en-US" sz="1610" dirty="0"/>
          </a:p>
        </p:txBody>
      </p:sp>
      <p:sp>
        <p:nvSpPr>
          <p:cNvPr id="5" name="Shape 3"/>
          <p:cNvSpPr/>
          <p:nvPr/>
        </p:nvSpPr>
        <p:spPr>
          <a:xfrm>
            <a:off x="548640" y="2340864"/>
            <a:ext cx="11091672" cy="374904"/>
          </a:xfrm>
          <a:prstGeom prst="rect">
            <a:avLst/>
          </a:prstGeom>
          <a:solidFill>
            <a:srgbClr val="081E30"/>
          </a:solidFill>
          <a:ln w="12700">
            <a:solidFill>
              <a:srgbClr val="081E30">
                <a:alpha val="0"/>
              </a:srgbClr>
            </a:solidFill>
            <a:prstDash val="solid"/>
          </a:ln>
        </p:spPr>
      </p:sp>
      <p:sp>
        <p:nvSpPr>
          <p:cNvPr id="6" name="Text 4"/>
          <p:cNvSpPr/>
          <p:nvPr/>
        </p:nvSpPr>
        <p:spPr>
          <a:xfrm>
            <a:off x="676656" y="2468880"/>
            <a:ext cx="1764792" cy="128016"/>
          </a:xfrm>
          <a:prstGeom prst="rect">
            <a:avLst/>
          </a:prstGeom>
          <a:noFill/>
          <a:ln/>
        </p:spPr>
        <p:txBody>
          <a:bodyPr wrap="square" lIns="0" tIns="0" rIns="0" bIns="0" rtlCol="0" anchor="ctr"/>
          <a:lstStyle/>
          <a:p>
            <a:pPr algn="l" indent="0" marL="0">
              <a:buNone/>
            </a:pPr>
            <a:r>
              <a:rPr lang="en-US" sz="850" b="1" spc="60" kern="0" dirty="0">
                <a:solidFill>
                  <a:srgbClr val="FFFFFF"/>
                </a:solidFill>
                <a:latin typeface="Inter" pitchFamily="34" charset="0"/>
                <a:ea typeface="Inter" pitchFamily="34" charset="-122"/>
                <a:cs typeface="Inter" pitchFamily="34" charset="-120"/>
              </a:rPr>
              <a:t>WORKFLOW</a:t>
            </a:r>
            <a:endParaRPr lang="en-US" sz="850" dirty="0"/>
          </a:p>
        </p:txBody>
      </p:sp>
      <p:sp>
        <p:nvSpPr>
          <p:cNvPr id="7" name="Text 5"/>
          <p:cNvSpPr/>
          <p:nvPr/>
        </p:nvSpPr>
        <p:spPr>
          <a:xfrm>
            <a:off x="2697480" y="2468880"/>
            <a:ext cx="3438144" cy="128016"/>
          </a:xfrm>
          <a:prstGeom prst="rect">
            <a:avLst/>
          </a:prstGeom>
          <a:noFill/>
          <a:ln/>
        </p:spPr>
        <p:txBody>
          <a:bodyPr wrap="square" lIns="0" tIns="0" rIns="0" bIns="0" rtlCol="0" anchor="ctr"/>
          <a:lstStyle/>
          <a:p>
            <a:pPr algn="l" indent="0" marL="0">
              <a:buNone/>
            </a:pPr>
            <a:r>
              <a:rPr lang="en-US" sz="850" b="1" spc="60" kern="0" dirty="0">
                <a:solidFill>
                  <a:srgbClr val="FFFFFF"/>
                </a:solidFill>
                <a:latin typeface="Inter" pitchFamily="34" charset="0"/>
                <a:ea typeface="Inter" pitchFamily="34" charset="-122"/>
                <a:cs typeface="Inter" pitchFamily="34" charset="-120"/>
              </a:rPr>
              <a:t>CLAUDE / DOCUMENTED</a:t>
            </a:r>
            <a:endParaRPr lang="en-US" sz="850" dirty="0"/>
          </a:p>
        </p:txBody>
      </p:sp>
      <p:sp>
        <p:nvSpPr>
          <p:cNvPr id="8" name="Text 6"/>
          <p:cNvSpPr/>
          <p:nvPr/>
        </p:nvSpPr>
        <p:spPr>
          <a:xfrm>
            <a:off x="6391656" y="2468880"/>
            <a:ext cx="3758184" cy="128016"/>
          </a:xfrm>
          <a:prstGeom prst="rect">
            <a:avLst/>
          </a:prstGeom>
          <a:noFill/>
          <a:ln/>
        </p:spPr>
        <p:txBody>
          <a:bodyPr wrap="square" lIns="0" tIns="0" rIns="0" bIns="0" rtlCol="0" anchor="ctr"/>
          <a:lstStyle/>
          <a:p>
            <a:pPr algn="l" indent="0" marL="0">
              <a:buNone/>
            </a:pPr>
            <a:r>
              <a:rPr lang="en-US" sz="850" b="1" spc="60" kern="0" dirty="0">
                <a:solidFill>
                  <a:srgbClr val="FFFFFF"/>
                </a:solidFill>
                <a:latin typeface="Inter" pitchFamily="34" charset="0"/>
                <a:ea typeface="Inter" pitchFamily="34" charset="-122"/>
                <a:cs typeface="Inter" pitchFamily="34" charset="-120"/>
              </a:rPr>
              <a:t>COACH / CLOSEST CAPABILITY</a:t>
            </a:r>
            <a:endParaRPr lang="en-US" sz="850" dirty="0"/>
          </a:p>
        </p:txBody>
      </p:sp>
      <p:sp>
        <p:nvSpPr>
          <p:cNvPr id="9" name="Text 7"/>
          <p:cNvSpPr/>
          <p:nvPr/>
        </p:nvSpPr>
        <p:spPr>
          <a:xfrm>
            <a:off x="10405872" y="2468880"/>
            <a:ext cx="1106424" cy="128016"/>
          </a:xfrm>
          <a:prstGeom prst="rect">
            <a:avLst/>
          </a:prstGeom>
          <a:noFill/>
          <a:ln/>
        </p:spPr>
        <p:txBody>
          <a:bodyPr wrap="square" lIns="0" tIns="0" rIns="0" bIns="0" rtlCol="0" anchor="ctr"/>
          <a:lstStyle/>
          <a:p>
            <a:pPr algn="l" indent="0" marL="0">
              <a:buNone/>
            </a:pPr>
            <a:r>
              <a:rPr lang="en-US" sz="850" b="1" spc="60" kern="0" dirty="0">
                <a:solidFill>
                  <a:srgbClr val="FFFFFF"/>
                </a:solidFill>
                <a:latin typeface="Inter" pitchFamily="34" charset="0"/>
                <a:ea typeface="Inter" pitchFamily="34" charset="-122"/>
                <a:cs typeface="Inter" pitchFamily="34" charset="-120"/>
              </a:rPr>
              <a:t>COACH STAGE</a:t>
            </a:r>
            <a:endParaRPr lang="en-US" sz="850" dirty="0"/>
          </a:p>
        </p:txBody>
      </p:sp>
      <p:sp>
        <p:nvSpPr>
          <p:cNvPr id="10" name="Shape 8"/>
          <p:cNvSpPr/>
          <p:nvPr/>
        </p:nvSpPr>
        <p:spPr>
          <a:xfrm>
            <a:off x="548640" y="2715768"/>
            <a:ext cx="11091672" cy="470916"/>
          </a:xfrm>
          <a:prstGeom prst="rect">
            <a:avLst/>
          </a:prstGeom>
          <a:solidFill>
            <a:srgbClr val="FFFFFF"/>
          </a:solidFill>
          <a:ln w="12700">
            <a:solidFill>
              <a:srgbClr val="FFFFFF">
                <a:alpha val="0"/>
              </a:srgbClr>
            </a:solidFill>
            <a:prstDash val="solid"/>
          </a:ln>
        </p:spPr>
      </p:sp>
      <p:sp>
        <p:nvSpPr>
          <p:cNvPr id="11" name="Shape 9"/>
          <p:cNvSpPr/>
          <p:nvPr/>
        </p:nvSpPr>
        <p:spPr>
          <a:xfrm>
            <a:off x="548640" y="3186684"/>
            <a:ext cx="11091672" cy="0"/>
          </a:xfrm>
          <a:prstGeom prst="line">
            <a:avLst/>
          </a:prstGeom>
          <a:noFill/>
          <a:ln w="5715">
            <a:solidFill>
              <a:srgbClr val="D7DEDD"/>
            </a:solidFill>
            <a:prstDash val="solid"/>
          </a:ln>
        </p:spPr>
      </p:sp>
      <p:sp>
        <p:nvSpPr>
          <p:cNvPr id="12" name="Text 10"/>
          <p:cNvSpPr/>
          <p:nvPr/>
        </p:nvSpPr>
        <p:spPr>
          <a:xfrm>
            <a:off x="676656" y="2807208"/>
            <a:ext cx="1783080" cy="292608"/>
          </a:xfrm>
          <a:prstGeom prst="rect">
            <a:avLst/>
          </a:prstGeom>
          <a:noFill/>
          <a:ln/>
        </p:spPr>
        <p:txBody>
          <a:bodyPr wrap="square" lIns="0" tIns="0" rIns="0" bIns="0" rtlCol="0" anchor="ctr"/>
          <a:lstStyle/>
          <a:p>
            <a:pPr algn="l" indent="0" marL="0">
              <a:buNone/>
            </a:pPr>
            <a:r>
              <a:rPr lang="en-US" sz="1200" b="1" dirty="0">
                <a:solidFill>
                  <a:srgbClr val="122B3E"/>
                </a:solidFill>
                <a:latin typeface="Inter" pitchFamily="34" charset="0"/>
                <a:ea typeface="Inter" pitchFamily="34" charset="-122"/>
                <a:cs typeface="Inter" pitchFamily="34" charset="-120"/>
              </a:rPr>
              <a:t>Meetings + follow-up</a:t>
            </a:r>
            <a:endParaRPr lang="en-US" sz="1200" dirty="0"/>
          </a:p>
        </p:txBody>
      </p:sp>
      <p:sp>
        <p:nvSpPr>
          <p:cNvPr id="13" name="Text 11"/>
          <p:cNvSpPr/>
          <p:nvPr/>
        </p:nvSpPr>
        <p:spPr>
          <a:xfrm>
            <a:off x="2697480" y="2787091"/>
            <a:ext cx="3447288" cy="347472"/>
          </a:xfrm>
          <a:prstGeom prst="rect">
            <a:avLst/>
          </a:prstGeom>
          <a:noFill/>
          <a:ln/>
        </p:spPr>
        <p:txBody>
          <a:bodyPr wrap="square" lIns="0" tIns="0" rIns="0" bIns="0" rtlCol="0" anchor="ctr"/>
          <a:lstStyle/>
          <a:p>
            <a:pPr algn="l" indent="0" marL="0">
              <a:buNone/>
            </a:pPr>
            <a:r>
              <a:rPr lang="en-US" sz="1120" dirty="0">
                <a:solidFill>
                  <a:srgbClr val="60717A"/>
                </a:solidFill>
                <a:latin typeface="Inter" pitchFamily="34" charset="0"/>
                <a:ea typeface="Inter" pitchFamily="34" charset="-122"/>
                <a:cs typeface="Inter" pitchFamily="34" charset="-120"/>
              </a:rPr>
              <a:t>Pre- / post-meeting skills; connected</a:t>
            </a:r>
            <a:endParaRPr lang="en-US" sz="1120" dirty="0"/>
          </a:p>
          <a:p>
            <a:pPr algn="l" indent="0" marL="0">
              <a:buNone/>
            </a:pPr>
            <a:r>
              <a:rPr lang="en-US" sz="1120" dirty="0">
                <a:solidFill>
                  <a:srgbClr val="60717A"/>
                </a:solidFill>
                <a:latin typeface="Inter" pitchFamily="34" charset="0"/>
                <a:ea typeface="Inter" pitchFamily="34" charset="-122"/>
                <a:cs typeface="Inter" pitchFamily="34" charset="-120"/>
              </a:rPr>
              <a:t>CRM and conversation data</a:t>
            </a:r>
            <a:endParaRPr lang="en-US" sz="1120" dirty="0"/>
          </a:p>
        </p:txBody>
      </p:sp>
      <p:sp>
        <p:nvSpPr>
          <p:cNvPr id="14" name="Text 12"/>
          <p:cNvSpPr/>
          <p:nvPr/>
        </p:nvSpPr>
        <p:spPr>
          <a:xfrm>
            <a:off x="6391656" y="2787091"/>
            <a:ext cx="3767328" cy="347472"/>
          </a:xfrm>
          <a:prstGeom prst="rect">
            <a:avLst/>
          </a:prstGeom>
          <a:noFill/>
          <a:ln/>
        </p:spPr>
        <p:txBody>
          <a:bodyPr wrap="square" lIns="0" tIns="0" rIns="0" bIns="0" rtlCol="0" anchor="ctr"/>
          <a:lstStyle/>
          <a:p>
            <a:pPr algn="l" indent="0" marL="0">
              <a:buNone/>
            </a:pPr>
            <a:r>
              <a:rPr lang="en-US" sz="1140" dirty="0">
                <a:solidFill>
                  <a:srgbClr val="122B3E"/>
                </a:solidFill>
                <a:latin typeface="Inter" pitchFamily="34" charset="0"/>
                <a:ea typeface="Inter" pitchFamily="34" charset="-122"/>
                <a:cs typeface="Inter" pitchFamily="34" charset="-120"/>
              </a:rPr>
              <a:t>Meeting Prep; Call Assist / Debrief</a:t>
            </a:r>
            <a:endParaRPr lang="en-US" sz="1140" dirty="0"/>
          </a:p>
        </p:txBody>
      </p:sp>
      <p:sp>
        <p:nvSpPr>
          <p:cNvPr id="15" name="Shape 13"/>
          <p:cNvSpPr/>
          <p:nvPr/>
        </p:nvSpPr>
        <p:spPr>
          <a:xfrm>
            <a:off x="10387584" y="2857500"/>
            <a:ext cx="1143000" cy="224028"/>
          </a:xfrm>
          <a:prstGeom prst="roundRect">
            <a:avLst>
              <a:gd name="adj" fmla="val 28571"/>
            </a:avLst>
          </a:prstGeom>
          <a:solidFill>
            <a:srgbClr val="E3F3EE"/>
          </a:solidFill>
          <a:ln w="12700">
            <a:solidFill>
              <a:srgbClr val="E3F3EE">
                <a:alpha val="0"/>
              </a:srgbClr>
            </a:solidFill>
            <a:prstDash val="solid"/>
          </a:ln>
        </p:spPr>
      </p:sp>
      <p:sp>
        <p:nvSpPr>
          <p:cNvPr id="16" name="Text 14"/>
          <p:cNvSpPr/>
          <p:nvPr/>
        </p:nvSpPr>
        <p:spPr>
          <a:xfrm>
            <a:off x="10451592" y="2871216"/>
            <a:ext cx="1014984" cy="196596"/>
          </a:xfrm>
          <a:prstGeom prst="rect">
            <a:avLst/>
          </a:prstGeom>
          <a:noFill/>
          <a:ln/>
        </p:spPr>
        <p:txBody>
          <a:bodyPr wrap="square" lIns="0" tIns="0" rIns="0" bIns="0" rtlCol="0" anchor="ctr"/>
          <a:lstStyle/>
          <a:p>
            <a:pPr algn="ctr" indent="0" marL="0">
              <a:buNone/>
            </a:pPr>
            <a:r>
              <a:rPr lang="en-US" sz="830" b="1" dirty="0">
                <a:solidFill>
                  <a:srgbClr val="2E6B62"/>
                </a:solidFill>
                <a:latin typeface="Inter" pitchFamily="34" charset="0"/>
                <a:ea typeface="Inter" pitchFamily="34" charset="-122"/>
                <a:cs typeface="Inter" pitchFamily="34" charset="-120"/>
              </a:rPr>
              <a:t>Foundation</a:t>
            </a:r>
            <a:endParaRPr lang="en-US" sz="830" dirty="0"/>
          </a:p>
        </p:txBody>
      </p:sp>
      <p:sp>
        <p:nvSpPr>
          <p:cNvPr id="17" name="Shape 15"/>
          <p:cNvSpPr/>
          <p:nvPr/>
        </p:nvSpPr>
        <p:spPr>
          <a:xfrm>
            <a:off x="548640" y="3186684"/>
            <a:ext cx="11091672" cy="470916"/>
          </a:xfrm>
          <a:prstGeom prst="rect">
            <a:avLst/>
          </a:prstGeom>
          <a:solidFill>
            <a:srgbClr val="EFEEE8"/>
          </a:solidFill>
          <a:ln w="12700">
            <a:solidFill>
              <a:srgbClr val="EFEEE8">
                <a:alpha val="0"/>
              </a:srgbClr>
            </a:solidFill>
            <a:prstDash val="solid"/>
          </a:ln>
        </p:spPr>
      </p:sp>
      <p:sp>
        <p:nvSpPr>
          <p:cNvPr id="18" name="Shape 16"/>
          <p:cNvSpPr/>
          <p:nvPr/>
        </p:nvSpPr>
        <p:spPr>
          <a:xfrm>
            <a:off x="548640" y="3657600"/>
            <a:ext cx="11091672" cy="0"/>
          </a:xfrm>
          <a:prstGeom prst="line">
            <a:avLst/>
          </a:prstGeom>
          <a:noFill/>
          <a:ln w="5715">
            <a:solidFill>
              <a:srgbClr val="D7DEDD"/>
            </a:solidFill>
            <a:prstDash val="solid"/>
          </a:ln>
        </p:spPr>
      </p:sp>
      <p:sp>
        <p:nvSpPr>
          <p:cNvPr id="19" name="Text 17"/>
          <p:cNvSpPr/>
          <p:nvPr/>
        </p:nvSpPr>
        <p:spPr>
          <a:xfrm>
            <a:off x="676656" y="3278124"/>
            <a:ext cx="1783080" cy="292608"/>
          </a:xfrm>
          <a:prstGeom prst="rect">
            <a:avLst/>
          </a:prstGeom>
          <a:noFill/>
          <a:ln/>
        </p:spPr>
        <p:txBody>
          <a:bodyPr wrap="square" lIns="0" tIns="0" rIns="0" bIns="0" rtlCol="0" anchor="ctr"/>
          <a:lstStyle/>
          <a:p>
            <a:pPr algn="l" indent="0" marL="0">
              <a:buNone/>
            </a:pPr>
            <a:r>
              <a:rPr lang="en-US" sz="1200" b="1" dirty="0">
                <a:solidFill>
                  <a:srgbClr val="122B3E"/>
                </a:solidFill>
                <a:latin typeface="Inter" pitchFamily="34" charset="0"/>
                <a:ea typeface="Inter" pitchFamily="34" charset="-122"/>
                <a:cs typeface="Inter" pitchFamily="34" charset="-120"/>
              </a:rPr>
              <a:t>Portfolio + planning</a:t>
            </a:r>
            <a:endParaRPr lang="en-US" sz="1200" dirty="0"/>
          </a:p>
        </p:txBody>
      </p:sp>
      <p:sp>
        <p:nvSpPr>
          <p:cNvPr id="20" name="Text 18"/>
          <p:cNvSpPr/>
          <p:nvPr/>
        </p:nvSpPr>
        <p:spPr>
          <a:xfrm>
            <a:off x="2697480" y="3258007"/>
            <a:ext cx="3447288" cy="347472"/>
          </a:xfrm>
          <a:prstGeom prst="rect">
            <a:avLst/>
          </a:prstGeom>
          <a:noFill/>
          <a:ln/>
        </p:spPr>
        <p:txBody>
          <a:bodyPr wrap="square" lIns="0" tIns="0" rIns="0" bIns="0" rtlCol="0" anchor="ctr"/>
          <a:lstStyle/>
          <a:p>
            <a:pPr algn="l" indent="0" marL="0">
              <a:buNone/>
            </a:pPr>
            <a:r>
              <a:rPr lang="en-US" sz="1120" dirty="0">
                <a:solidFill>
                  <a:srgbClr val="60717A"/>
                </a:solidFill>
                <a:latin typeface="Inter" pitchFamily="34" charset="0"/>
                <a:ea typeface="Inter" pitchFamily="34" charset="-122"/>
                <a:cs typeface="Inter" pitchFamily="34" charset="-120"/>
              </a:rPr>
              <a:t>BlackRock Advisor Center analytics;</a:t>
            </a:r>
            <a:endParaRPr lang="en-US" sz="1120" dirty="0"/>
          </a:p>
          <a:p>
            <a:pPr algn="l" indent="0" marL="0">
              <a:buNone/>
            </a:pPr>
            <a:r>
              <a:rPr lang="en-US" sz="1120" dirty="0">
                <a:solidFill>
                  <a:srgbClr val="60717A"/>
                </a:solidFill>
                <a:latin typeface="Inter" pitchFamily="34" charset="0"/>
                <a:ea typeface="Inter" pitchFamily="34" charset="-122"/>
                <a:cs typeface="Inter" pitchFamily="34" charset="-120"/>
              </a:rPr>
              <a:t>Wealth.com estate + tax scenarios</a:t>
            </a:r>
            <a:endParaRPr lang="en-US" sz="1120" dirty="0"/>
          </a:p>
        </p:txBody>
      </p:sp>
      <p:sp>
        <p:nvSpPr>
          <p:cNvPr id="21" name="Text 19"/>
          <p:cNvSpPr/>
          <p:nvPr/>
        </p:nvSpPr>
        <p:spPr>
          <a:xfrm>
            <a:off x="6391656" y="3258007"/>
            <a:ext cx="3767328" cy="347472"/>
          </a:xfrm>
          <a:prstGeom prst="rect">
            <a:avLst/>
          </a:prstGeom>
          <a:noFill/>
          <a:ln/>
        </p:spPr>
        <p:txBody>
          <a:bodyPr wrap="square" lIns="0" tIns="0" rIns="0" bIns="0" rtlCol="0" anchor="ctr"/>
          <a:lstStyle/>
          <a:p>
            <a:pPr algn="l" indent="0" marL="0">
              <a:buNone/>
            </a:pPr>
            <a:r>
              <a:rPr lang="en-US" sz="1140" dirty="0">
                <a:solidFill>
                  <a:srgbClr val="122B3E"/>
                </a:solidFill>
                <a:latin typeface="Inter" pitchFamily="34" charset="0"/>
                <a:ea typeface="Inter" pitchFamily="34" charset="-122"/>
                <a:cs typeface="Inter" pitchFamily="34" charset="-120"/>
              </a:rPr>
              <a:t>Investment + planning agents;</a:t>
            </a:r>
            <a:endParaRPr lang="en-US" sz="1140" dirty="0"/>
          </a:p>
          <a:p>
            <a:pPr algn="l" indent="0" marL="0">
              <a:buNone/>
            </a:pPr>
            <a:r>
              <a:rPr lang="en-US" sz="1140" dirty="0">
                <a:solidFill>
                  <a:srgbClr val="122B3E"/>
                </a:solidFill>
                <a:latin typeface="Inter" pitchFamily="34" charset="0"/>
                <a:ea typeface="Inter" pitchFamily="34" charset="-122"/>
                <a:cs typeface="Inter" pitchFamily="34" charset="-120"/>
              </a:rPr>
              <a:t>complex planning work in development</a:t>
            </a:r>
            <a:endParaRPr lang="en-US" sz="1140" dirty="0"/>
          </a:p>
        </p:txBody>
      </p:sp>
      <p:sp>
        <p:nvSpPr>
          <p:cNvPr id="22" name="Shape 20"/>
          <p:cNvSpPr/>
          <p:nvPr/>
        </p:nvSpPr>
        <p:spPr>
          <a:xfrm>
            <a:off x="10387584" y="3328416"/>
            <a:ext cx="1143000" cy="224028"/>
          </a:xfrm>
          <a:prstGeom prst="roundRect">
            <a:avLst>
              <a:gd name="adj" fmla="val 28571"/>
            </a:avLst>
          </a:prstGeom>
          <a:solidFill>
            <a:srgbClr val="F1DFD3"/>
          </a:solidFill>
          <a:ln w="12700">
            <a:solidFill>
              <a:srgbClr val="F1DFD3">
                <a:alpha val="0"/>
              </a:srgbClr>
            </a:solidFill>
            <a:prstDash val="solid"/>
          </a:ln>
        </p:spPr>
      </p:sp>
      <p:sp>
        <p:nvSpPr>
          <p:cNvPr id="23" name="Text 21"/>
          <p:cNvSpPr/>
          <p:nvPr/>
        </p:nvSpPr>
        <p:spPr>
          <a:xfrm>
            <a:off x="10451592" y="3342132"/>
            <a:ext cx="1014984" cy="196596"/>
          </a:xfrm>
          <a:prstGeom prst="rect">
            <a:avLst/>
          </a:prstGeom>
          <a:noFill/>
          <a:ln/>
        </p:spPr>
        <p:txBody>
          <a:bodyPr wrap="square" lIns="0" tIns="0" rIns="0" bIns="0" rtlCol="0" anchor="ctr"/>
          <a:lstStyle/>
          <a:p>
            <a:pPr algn="ctr" indent="0" marL="0">
              <a:buNone/>
            </a:pPr>
            <a:r>
              <a:rPr lang="en-US" sz="830" b="1" dirty="0">
                <a:solidFill>
                  <a:srgbClr val="9E5F46"/>
                </a:solidFill>
                <a:latin typeface="Inter" pitchFamily="34" charset="0"/>
                <a:ea typeface="Inter" pitchFamily="34" charset="-122"/>
                <a:cs typeface="Inter" pitchFamily="34" charset="-120"/>
              </a:rPr>
              <a:t>Evolving</a:t>
            </a:r>
            <a:endParaRPr lang="en-US" sz="830" dirty="0"/>
          </a:p>
        </p:txBody>
      </p:sp>
      <p:sp>
        <p:nvSpPr>
          <p:cNvPr id="24" name="Shape 22"/>
          <p:cNvSpPr/>
          <p:nvPr/>
        </p:nvSpPr>
        <p:spPr>
          <a:xfrm>
            <a:off x="548640" y="3657600"/>
            <a:ext cx="11091672" cy="470916"/>
          </a:xfrm>
          <a:prstGeom prst="rect">
            <a:avLst/>
          </a:prstGeom>
          <a:solidFill>
            <a:srgbClr val="FFFFFF"/>
          </a:solidFill>
          <a:ln w="12700">
            <a:solidFill>
              <a:srgbClr val="FFFFFF">
                <a:alpha val="0"/>
              </a:srgbClr>
            </a:solidFill>
            <a:prstDash val="solid"/>
          </a:ln>
        </p:spPr>
      </p:sp>
      <p:sp>
        <p:nvSpPr>
          <p:cNvPr id="25" name="Shape 23"/>
          <p:cNvSpPr/>
          <p:nvPr/>
        </p:nvSpPr>
        <p:spPr>
          <a:xfrm>
            <a:off x="548640" y="4128516"/>
            <a:ext cx="11091672" cy="0"/>
          </a:xfrm>
          <a:prstGeom prst="line">
            <a:avLst/>
          </a:prstGeom>
          <a:noFill/>
          <a:ln w="5715">
            <a:solidFill>
              <a:srgbClr val="D7DEDD"/>
            </a:solidFill>
            <a:prstDash val="solid"/>
          </a:ln>
        </p:spPr>
      </p:sp>
      <p:sp>
        <p:nvSpPr>
          <p:cNvPr id="26" name="Text 24"/>
          <p:cNvSpPr/>
          <p:nvPr/>
        </p:nvSpPr>
        <p:spPr>
          <a:xfrm>
            <a:off x="676656" y="3749040"/>
            <a:ext cx="1783080" cy="292608"/>
          </a:xfrm>
          <a:prstGeom prst="rect">
            <a:avLst/>
          </a:prstGeom>
          <a:noFill/>
          <a:ln/>
        </p:spPr>
        <p:txBody>
          <a:bodyPr wrap="square" lIns="0" tIns="0" rIns="0" bIns="0" rtlCol="0" anchor="ctr"/>
          <a:lstStyle/>
          <a:p>
            <a:pPr algn="l" indent="0" marL="0">
              <a:buNone/>
            </a:pPr>
            <a:r>
              <a:rPr lang="en-US" sz="1200" b="1" dirty="0">
                <a:solidFill>
                  <a:srgbClr val="122B3E"/>
                </a:solidFill>
                <a:latin typeface="Inter" pitchFamily="34" charset="0"/>
                <a:ea typeface="Inter" pitchFamily="34" charset="-122"/>
                <a:cs typeface="Inter" pitchFamily="34" charset="-120"/>
              </a:rPr>
              <a:t>Artifacts + workspaces</a:t>
            </a:r>
            <a:endParaRPr lang="en-US" sz="1200" dirty="0"/>
          </a:p>
        </p:txBody>
      </p:sp>
      <p:sp>
        <p:nvSpPr>
          <p:cNvPr id="27" name="Text 25"/>
          <p:cNvSpPr/>
          <p:nvPr/>
        </p:nvSpPr>
        <p:spPr>
          <a:xfrm>
            <a:off x="2697480" y="3728923"/>
            <a:ext cx="3447288" cy="347472"/>
          </a:xfrm>
          <a:prstGeom prst="rect">
            <a:avLst/>
          </a:prstGeom>
          <a:noFill/>
          <a:ln/>
        </p:spPr>
        <p:txBody>
          <a:bodyPr wrap="square" lIns="0" tIns="0" rIns="0" bIns="0" rtlCol="0" anchor="ctr"/>
          <a:lstStyle/>
          <a:p>
            <a:pPr algn="l" indent="0" marL="0">
              <a:buNone/>
            </a:pPr>
            <a:r>
              <a:rPr lang="en-US" sz="1120" dirty="0">
                <a:solidFill>
                  <a:srgbClr val="60717A"/>
                </a:solidFill>
                <a:latin typeface="Inter" pitchFamily="34" charset="0"/>
                <a:ea typeface="Inter" pitchFamily="34" charset="-122"/>
                <a:cs typeface="Inter" pitchFamily="34" charset="-120"/>
              </a:rPr>
              <a:t>Cowork work products;</a:t>
            </a:r>
            <a:endParaRPr lang="en-US" sz="1120" dirty="0"/>
          </a:p>
          <a:p>
            <a:pPr algn="l" indent="0" marL="0">
              <a:buNone/>
            </a:pPr>
            <a:r>
              <a:rPr lang="en-US" sz="1120" dirty="0">
                <a:solidFill>
                  <a:srgbClr val="60717A"/>
                </a:solidFill>
                <a:latin typeface="Inter" pitchFamily="34" charset="0"/>
                <a:ea typeface="Inter" pitchFamily="34" charset="-122"/>
                <a:cs typeface="Inter" pitchFamily="34" charset="-120"/>
              </a:rPr>
              <a:t>interactive analytical displays</a:t>
            </a:r>
            <a:endParaRPr lang="en-US" sz="1120" dirty="0"/>
          </a:p>
        </p:txBody>
      </p:sp>
      <p:sp>
        <p:nvSpPr>
          <p:cNvPr id="28" name="Text 26"/>
          <p:cNvSpPr/>
          <p:nvPr/>
        </p:nvSpPr>
        <p:spPr>
          <a:xfrm>
            <a:off x="6391656" y="3728923"/>
            <a:ext cx="3767328" cy="347472"/>
          </a:xfrm>
          <a:prstGeom prst="rect">
            <a:avLst/>
          </a:prstGeom>
          <a:noFill/>
          <a:ln/>
        </p:spPr>
        <p:txBody>
          <a:bodyPr wrap="square" lIns="0" tIns="0" rIns="0" bIns="0" rtlCol="0" anchor="ctr"/>
          <a:lstStyle/>
          <a:p>
            <a:pPr algn="l" indent="0" marL="0">
              <a:buNone/>
            </a:pPr>
            <a:r>
              <a:rPr lang="en-US" sz="1140" dirty="0">
                <a:solidFill>
                  <a:srgbClr val="122B3E"/>
                </a:solidFill>
                <a:latin typeface="Inter" pitchFamily="34" charset="0"/>
                <a:ea typeface="Inter" pitchFamily="34" charset="-122"/>
                <a:cs typeface="Inter" pitchFamily="34" charset="-120"/>
              </a:rPr>
              <a:t>Playbook AI</a:t>
            </a:r>
            <a:endParaRPr lang="en-US" sz="1140" dirty="0"/>
          </a:p>
        </p:txBody>
      </p:sp>
      <p:sp>
        <p:nvSpPr>
          <p:cNvPr id="29" name="Shape 27"/>
          <p:cNvSpPr/>
          <p:nvPr/>
        </p:nvSpPr>
        <p:spPr>
          <a:xfrm>
            <a:off x="10387584" y="3799332"/>
            <a:ext cx="1143000" cy="224028"/>
          </a:xfrm>
          <a:prstGeom prst="roundRect">
            <a:avLst>
              <a:gd name="adj" fmla="val 28571"/>
            </a:avLst>
          </a:prstGeom>
          <a:solidFill>
            <a:srgbClr val="F1DFD3"/>
          </a:solidFill>
          <a:ln w="12700">
            <a:solidFill>
              <a:srgbClr val="F1DFD3">
                <a:alpha val="0"/>
              </a:srgbClr>
            </a:solidFill>
            <a:prstDash val="solid"/>
          </a:ln>
        </p:spPr>
      </p:sp>
      <p:sp>
        <p:nvSpPr>
          <p:cNvPr id="30" name="Text 28"/>
          <p:cNvSpPr/>
          <p:nvPr/>
        </p:nvSpPr>
        <p:spPr>
          <a:xfrm>
            <a:off x="10451592" y="3813048"/>
            <a:ext cx="1014984" cy="196596"/>
          </a:xfrm>
          <a:prstGeom prst="rect">
            <a:avLst/>
          </a:prstGeom>
          <a:noFill/>
          <a:ln/>
        </p:spPr>
        <p:txBody>
          <a:bodyPr wrap="square" lIns="0" tIns="0" rIns="0" bIns="0" rtlCol="0" anchor="ctr"/>
          <a:lstStyle/>
          <a:p>
            <a:pPr algn="ctr" indent="0" marL="0">
              <a:buNone/>
            </a:pPr>
            <a:r>
              <a:rPr lang="en-US" sz="830" b="1" dirty="0">
                <a:solidFill>
                  <a:srgbClr val="9E5F46"/>
                </a:solidFill>
                <a:latin typeface="Inter" pitchFamily="34" charset="0"/>
                <a:ea typeface="Inter" pitchFamily="34" charset="-122"/>
                <a:cs typeface="Inter" pitchFamily="34" charset="-120"/>
              </a:rPr>
              <a:t>Evolving</a:t>
            </a:r>
            <a:endParaRPr lang="en-US" sz="830" dirty="0"/>
          </a:p>
        </p:txBody>
      </p:sp>
      <p:sp>
        <p:nvSpPr>
          <p:cNvPr id="31" name="Shape 29"/>
          <p:cNvSpPr/>
          <p:nvPr/>
        </p:nvSpPr>
        <p:spPr>
          <a:xfrm>
            <a:off x="548640" y="4128516"/>
            <a:ext cx="11091672" cy="470916"/>
          </a:xfrm>
          <a:prstGeom prst="rect">
            <a:avLst/>
          </a:prstGeom>
          <a:solidFill>
            <a:srgbClr val="EFEEE8"/>
          </a:solidFill>
          <a:ln w="12700">
            <a:solidFill>
              <a:srgbClr val="EFEEE8">
                <a:alpha val="0"/>
              </a:srgbClr>
            </a:solidFill>
            <a:prstDash val="solid"/>
          </a:ln>
        </p:spPr>
      </p:sp>
      <p:sp>
        <p:nvSpPr>
          <p:cNvPr id="32" name="Shape 30"/>
          <p:cNvSpPr/>
          <p:nvPr/>
        </p:nvSpPr>
        <p:spPr>
          <a:xfrm>
            <a:off x="548640" y="4599432"/>
            <a:ext cx="11091672" cy="0"/>
          </a:xfrm>
          <a:prstGeom prst="line">
            <a:avLst/>
          </a:prstGeom>
          <a:noFill/>
          <a:ln w="5715">
            <a:solidFill>
              <a:srgbClr val="D7DEDD"/>
            </a:solidFill>
            <a:prstDash val="solid"/>
          </a:ln>
        </p:spPr>
      </p:sp>
      <p:sp>
        <p:nvSpPr>
          <p:cNvPr id="33" name="Text 31"/>
          <p:cNvSpPr/>
          <p:nvPr/>
        </p:nvSpPr>
        <p:spPr>
          <a:xfrm>
            <a:off x="676656" y="4219956"/>
            <a:ext cx="1783080" cy="292608"/>
          </a:xfrm>
          <a:prstGeom prst="rect">
            <a:avLst/>
          </a:prstGeom>
          <a:noFill/>
          <a:ln/>
        </p:spPr>
        <p:txBody>
          <a:bodyPr wrap="square" lIns="0" tIns="0" rIns="0" bIns="0" rtlCol="0" anchor="ctr"/>
          <a:lstStyle/>
          <a:p>
            <a:pPr algn="l" indent="0" marL="0">
              <a:buNone/>
            </a:pPr>
            <a:r>
              <a:rPr lang="en-US" sz="1200" b="1" dirty="0">
                <a:solidFill>
                  <a:srgbClr val="122B3E"/>
                </a:solidFill>
                <a:latin typeface="Inter" pitchFamily="34" charset="0"/>
                <a:ea typeface="Inter" pitchFamily="34" charset="-122"/>
                <a:cs typeface="Inter" pitchFamily="34" charset="-120"/>
              </a:rPr>
              <a:t>Proactive guidance</a:t>
            </a:r>
            <a:endParaRPr lang="en-US" sz="1200" dirty="0"/>
          </a:p>
        </p:txBody>
      </p:sp>
      <p:sp>
        <p:nvSpPr>
          <p:cNvPr id="34" name="Text 32"/>
          <p:cNvSpPr/>
          <p:nvPr/>
        </p:nvSpPr>
        <p:spPr>
          <a:xfrm>
            <a:off x="2697480" y="4199839"/>
            <a:ext cx="3447288" cy="347472"/>
          </a:xfrm>
          <a:prstGeom prst="rect">
            <a:avLst/>
          </a:prstGeom>
          <a:noFill/>
          <a:ln/>
        </p:spPr>
        <p:txBody>
          <a:bodyPr wrap="square" lIns="0" tIns="0" rIns="0" bIns="0" rtlCol="0" anchor="ctr"/>
          <a:lstStyle/>
          <a:p>
            <a:pPr algn="l" indent="0" marL="0">
              <a:buNone/>
            </a:pPr>
            <a:r>
              <a:rPr lang="en-US" sz="1120" dirty="0">
                <a:solidFill>
                  <a:srgbClr val="60717A"/>
                </a:solidFill>
                <a:latin typeface="Inter" pitchFamily="34" charset="0"/>
                <a:ea typeface="Inter" pitchFamily="34" charset="-122"/>
                <a:cs typeface="Inter" pitchFamily="34" charset="-120"/>
              </a:rPr>
              <a:t>Scheduled tasks; partner-generated</a:t>
            </a:r>
            <a:endParaRPr lang="en-US" sz="1120" dirty="0"/>
          </a:p>
          <a:p>
            <a:pPr algn="l" indent="0" marL="0">
              <a:buNone/>
            </a:pPr>
            <a:r>
              <a:rPr lang="en-US" sz="1120" dirty="0">
                <a:solidFill>
                  <a:srgbClr val="60717A"/>
                </a:solidFill>
                <a:latin typeface="Inter" pitchFamily="34" charset="0"/>
                <a:ea typeface="Inter" pitchFamily="34" charset="-122"/>
                <a:cs typeface="Inter" pitchFamily="34" charset="-120"/>
              </a:rPr>
              <a:t>portfolio opportunities</a:t>
            </a:r>
            <a:endParaRPr lang="en-US" sz="1120" dirty="0"/>
          </a:p>
        </p:txBody>
      </p:sp>
      <p:sp>
        <p:nvSpPr>
          <p:cNvPr id="35" name="Text 33"/>
          <p:cNvSpPr/>
          <p:nvPr/>
        </p:nvSpPr>
        <p:spPr>
          <a:xfrm>
            <a:off x="6391656" y="4199839"/>
            <a:ext cx="3767328" cy="347472"/>
          </a:xfrm>
          <a:prstGeom prst="rect">
            <a:avLst/>
          </a:prstGeom>
          <a:noFill/>
          <a:ln/>
        </p:spPr>
        <p:txBody>
          <a:bodyPr wrap="square" lIns="0" tIns="0" rIns="0" bIns="0" rtlCol="0" anchor="ctr"/>
          <a:lstStyle/>
          <a:p>
            <a:pPr algn="l" indent="0" marL="0">
              <a:buNone/>
            </a:pPr>
            <a:r>
              <a:rPr lang="en-US" sz="1140" dirty="0">
                <a:solidFill>
                  <a:srgbClr val="122B3E"/>
                </a:solidFill>
                <a:latin typeface="Inter" pitchFamily="34" charset="0"/>
                <a:ea typeface="Inter" pitchFamily="34" charset="-122"/>
                <a:cs typeface="Inter" pitchFamily="34" charset="-120"/>
              </a:rPr>
              <a:t>Coach Insights / Ideas;</a:t>
            </a:r>
            <a:endParaRPr lang="en-US" sz="1140" dirty="0"/>
          </a:p>
          <a:p>
            <a:pPr algn="l" indent="0" marL="0">
              <a:buNone/>
            </a:pPr>
            <a:r>
              <a:rPr lang="en-US" sz="1140" dirty="0">
                <a:solidFill>
                  <a:srgbClr val="122B3E"/>
                </a:solidFill>
                <a:latin typeface="Inter" pitchFamily="34" charset="0"/>
                <a:ea typeface="Inter" pitchFamily="34" charset="-122"/>
                <a:cs typeface="Inter" pitchFamily="34" charset="-120"/>
              </a:rPr>
              <a:t>broader Autopilot on the roadmap</a:t>
            </a:r>
            <a:endParaRPr lang="en-US" sz="1140" dirty="0"/>
          </a:p>
        </p:txBody>
      </p:sp>
      <p:sp>
        <p:nvSpPr>
          <p:cNvPr id="36" name="Shape 34"/>
          <p:cNvSpPr/>
          <p:nvPr/>
        </p:nvSpPr>
        <p:spPr>
          <a:xfrm>
            <a:off x="10387584" y="4270248"/>
            <a:ext cx="1143000" cy="224028"/>
          </a:xfrm>
          <a:prstGeom prst="roundRect">
            <a:avLst>
              <a:gd name="adj" fmla="val 28571"/>
            </a:avLst>
          </a:prstGeom>
          <a:solidFill>
            <a:srgbClr val="EBE4D8"/>
          </a:solidFill>
          <a:ln w="12700">
            <a:solidFill>
              <a:srgbClr val="EBE4D8">
                <a:alpha val="0"/>
              </a:srgbClr>
            </a:solidFill>
            <a:prstDash val="solid"/>
          </a:ln>
        </p:spPr>
      </p:sp>
      <p:sp>
        <p:nvSpPr>
          <p:cNvPr id="37" name="Text 35"/>
          <p:cNvSpPr/>
          <p:nvPr/>
        </p:nvSpPr>
        <p:spPr>
          <a:xfrm>
            <a:off x="10451592" y="4283964"/>
            <a:ext cx="1014984" cy="196596"/>
          </a:xfrm>
          <a:prstGeom prst="rect">
            <a:avLst/>
          </a:prstGeom>
          <a:noFill/>
          <a:ln/>
        </p:spPr>
        <p:txBody>
          <a:bodyPr wrap="square" lIns="0" tIns="0" rIns="0" bIns="0" rtlCol="0" anchor="ctr"/>
          <a:lstStyle/>
          <a:p>
            <a:pPr algn="ctr" indent="0" marL="0">
              <a:buNone/>
            </a:pPr>
            <a:r>
              <a:rPr lang="en-US" sz="830" b="1" dirty="0">
                <a:solidFill>
                  <a:srgbClr val="796348"/>
                </a:solidFill>
                <a:latin typeface="Inter" pitchFamily="34" charset="0"/>
                <a:ea typeface="Inter" pitchFamily="34" charset="-122"/>
                <a:cs typeface="Inter" pitchFamily="34" charset="-120"/>
              </a:rPr>
              <a:t>Mixed</a:t>
            </a:r>
            <a:endParaRPr lang="en-US" sz="830" dirty="0"/>
          </a:p>
        </p:txBody>
      </p:sp>
      <p:sp>
        <p:nvSpPr>
          <p:cNvPr id="38" name="Shape 36"/>
          <p:cNvSpPr/>
          <p:nvPr/>
        </p:nvSpPr>
        <p:spPr>
          <a:xfrm>
            <a:off x="548640" y="4599432"/>
            <a:ext cx="11091672" cy="470916"/>
          </a:xfrm>
          <a:prstGeom prst="rect">
            <a:avLst/>
          </a:prstGeom>
          <a:solidFill>
            <a:srgbClr val="FFFFFF"/>
          </a:solidFill>
          <a:ln w="12700">
            <a:solidFill>
              <a:srgbClr val="FFFFFF">
                <a:alpha val="0"/>
              </a:srgbClr>
            </a:solidFill>
            <a:prstDash val="solid"/>
          </a:ln>
        </p:spPr>
      </p:sp>
      <p:sp>
        <p:nvSpPr>
          <p:cNvPr id="39" name="Shape 37"/>
          <p:cNvSpPr/>
          <p:nvPr/>
        </p:nvSpPr>
        <p:spPr>
          <a:xfrm>
            <a:off x="548640" y="5070348"/>
            <a:ext cx="11091672" cy="0"/>
          </a:xfrm>
          <a:prstGeom prst="line">
            <a:avLst/>
          </a:prstGeom>
          <a:noFill/>
          <a:ln w="5715">
            <a:solidFill>
              <a:srgbClr val="D7DEDD"/>
            </a:solidFill>
            <a:prstDash val="solid"/>
          </a:ln>
        </p:spPr>
      </p:sp>
      <p:sp>
        <p:nvSpPr>
          <p:cNvPr id="40" name="Text 38"/>
          <p:cNvSpPr/>
          <p:nvPr/>
        </p:nvSpPr>
        <p:spPr>
          <a:xfrm>
            <a:off x="676656" y="4690872"/>
            <a:ext cx="1783080" cy="292608"/>
          </a:xfrm>
          <a:prstGeom prst="rect">
            <a:avLst/>
          </a:prstGeom>
          <a:noFill/>
          <a:ln/>
        </p:spPr>
        <p:txBody>
          <a:bodyPr wrap="square" lIns="0" tIns="0" rIns="0" bIns="0" rtlCol="0" anchor="ctr"/>
          <a:lstStyle/>
          <a:p>
            <a:pPr algn="l" indent="0" marL="0">
              <a:buNone/>
            </a:pPr>
            <a:r>
              <a:rPr lang="en-US" sz="1200" b="1" dirty="0">
                <a:solidFill>
                  <a:srgbClr val="122B3E"/>
                </a:solidFill>
                <a:latin typeface="Inter" pitchFamily="34" charset="0"/>
                <a:ea typeface="Inter" pitchFamily="34" charset="-122"/>
                <a:cs typeface="Inter" pitchFamily="34" charset="-120"/>
              </a:rPr>
              <a:t>Client memory</a:t>
            </a:r>
            <a:endParaRPr lang="en-US" sz="1200" dirty="0"/>
          </a:p>
        </p:txBody>
      </p:sp>
      <p:sp>
        <p:nvSpPr>
          <p:cNvPr id="41" name="Text 39"/>
          <p:cNvSpPr/>
          <p:nvPr/>
        </p:nvSpPr>
        <p:spPr>
          <a:xfrm>
            <a:off x="2697480" y="4670755"/>
            <a:ext cx="3447288" cy="347472"/>
          </a:xfrm>
          <a:prstGeom prst="rect">
            <a:avLst/>
          </a:prstGeom>
          <a:noFill/>
          <a:ln/>
        </p:spPr>
        <p:txBody>
          <a:bodyPr wrap="square" lIns="0" tIns="0" rIns="0" bIns="0" rtlCol="0" anchor="ctr"/>
          <a:lstStyle/>
          <a:p>
            <a:pPr algn="l" indent="0" marL="0">
              <a:buNone/>
            </a:pPr>
            <a:r>
              <a:rPr lang="en-US" sz="1120" dirty="0">
                <a:solidFill>
                  <a:srgbClr val="60717A"/>
                </a:solidFill>
                <a:latin typeface="Inter" pitchFamily="34" charset="0"/>
                <a:ea typeface="Inter" pitchFamily="34" charset="-122"/>
                <a:cs typeface="Inter" pitchFamily="34" charset="-120"/>
              </a:rPr>
              <a:t>Client context from connected systems;</a:t>
            </a:r>
            <a:endParaRPr lang="en-US" sz="1120" dirty="0"/>
          </a:p>
          <a:p>
            <a:pPr algn="l" indent="0" marL="0">
              <a:buNone/>
            </a:pPr>
            <a:r>
              <a:rPr lang="en-US" sz="1120" dirty="0">
                <a:solidFill>
                  <a:srgbClr val="60717A"/>
                </a:solidFill>
                <a:latin typeface="Inter" pitchFamily="34" charset="0"/>
                <a:ea typeface="Inter" pitchFamily="34" charset="-122"/>
                <a:cs typeface="Inter" pitchFamily="34" charset="-120"/>
              </a:rPr>
              <a:t>firm-specific integration still matters</a:t>
            </a:r>
            <a:endParaRPr lang="en-US" sz="1120" dirty="0"/>
          </a:p>
        </p:txBody>
      </p:sp>
      <p:sp>
        <p:nvSpPr>
          <p:cNvPr id="42" name="Text 40"/>
          <p:cNvSpPr/>
          <p:nvPr/>
        </p:nvSpPr>
        <p:spPr>
          <a:xfrm>
            <a:off x="6391656" y="4670755"/>
            <a:ext cx="3767328" cy="347472"/>
          </a:xfrm>
          <a:prstGeom prst="rect">
            <a:avLst/>
          </a:prstGeom>
          <a:noFill/>
          <a:ln/>
        </p:spPr>
        <p:txBody>
          <a:bodyPr wrap="square" lIns="0" tIns="0" rIns="0" bIns="0" rtlCol="0" anchor="ctr"/>
          <a:lstStyle/>
          <a:p>
            <a:pPr algn="l" indent="0" marL="0">
              <a:buNone/>
            </a:pPr>
            <a:r>
              <a:rPr lang="en-US" sz="1140" dirty="0">
                <a:solidFill>
                  <a:srgbClr val="122B3E"/>
                </a:solidFill>
                <a:latin typeface="Inter" pitchFamily="34" charset="0"/>
                <a:ea typeface="Inter" pitchFamily="34" charset="-122"/>
                <a:cs typeface="Inter" pitchFamily="34" charset="-120"/>
              </a:rPr>
              <a:t>Persistent Client Agent;</a:t>
            </a:r>
            <a:endParaRPr lang="en-US" sz="1140" dirty="0"/>
          </a:p>
          <a:p>
            <a:pPr algn="l" indent="0" marL="0">
              <a:buNone/>
            </a:pPr>
            <a:r>
              <a:rPr lang="en-US" sz="1140" dirty="0">
                <a:solidFill>
                  <a:srgbClr val="122B3E"/>
                </a:solidFill>
                <a:latin typeface="Inter" pitchFamily="34" charset="0"/>
                <a:ea typeface="Inter" pitchFamily="34" charset="-122"/>
                <a:cs typeface="Inter" pitchFamily="34" charset="-120"/>
              </a:rPr>
              <a:t>living relationship memory</a:t>
            </a:r>
            <a:endParaRPr lang="en-US" sz="1140" dirty="0"/>
          </a:p>
        </p:txBody>
      </p:sp>
      <p:sp>
        <p:nvSpPr>
          <p:cNvPr id="43" name="Shape 41"/>
          <p:cNvSpPr/>
          <p:nvPr/>
        </p:nvSpPr>
        <p:spPr>
          <a:xfrm>
            <a:off x="10387584" y="4741164"/>
            <a:ext cx="1143000" cy="224028"/>
          </a:xfrm>
          <a:prstGeom prst="roundRect">
            <a:avLst>
              <a:gd name="adj" fmla="val 28571"/>
            </a:avLst>
          </a:prstGeom>
          <a:solidFill>
            <a:srgbClr val="E5EAEB"/>
          </a:solidFill>
          <a:ln w="12700">
            <a:solidFill>
              <a:srgbClr val="E5EAEB">
                <a:alpha val="0"/>
              </a:srgbClr>
            </a:solidFill>
            <a:prstDash val="solid"/>
          </a:ln>
        </p:spPr>
      </p:sp>
      <p:sp>
        <p:nvSpPr>
          <p:cNvPr id="44" name="Text 42"/>
          <p:cNvSpPr/>
          <p:nvPr/>
        </p:nvSpPr>
        <p:spPr>
          <a:xfrm>
            <a:off x="10451592" y="4754880"/>
            <a:ext cx="1014984" cy="196596"/>
          </a:xfrm>
          <a:prstGeom prst="rect">
            <a:avLst/>
          </a:prstGeom>
          <a:noFill/>
          <a:ln/>
        </p:spPr>
        <p:txBody>
          <a:bodyPr wrap="square" lIns="0" tIns="0" rIns="0" bIns="0" rtlCol="0" anchor="ctr"/>
          <a:lstStyle/>
          <a:p>
            <a:pPr algn="ctr" indent="0" marL="0">
              <a:buNone/>
            </a:pPr>
            <a:r>
              <a:rPr lang="en-US" sz="830" b="1" dirty="0">
                <a:solidFill>
                  <a:srgbClr val="60717A"/>
                </a:solidFill>
                <a:latin typeface="Inter" pitchFamily="34" charset="0"/>
                <a:ea typeface="Inter" pitchFamily="34" charset="-122"/>
                <a:cs typeface="Inter" pitchFamily="34" charset="-120"/>
              </a:rPr>
              <a:t>Roadmap</a:t>
            </a:r>
            <a:endParaRPr lang="en-US" sz="830" dirty="0"/>
          </a:p>
        </p:txBody>
      </p:sp>
      <p:sp>
        <p:nvSpPr>
          <p:cNvPr id="45" name="Shape 43"/>
          <p:cNvSpPr/>
          <p:nvPr/>
        </p:nvSpPr>
        <p:spPr>
          <a:xfrm>
            <a:off x="548640" y="5070348"/>
            <a:ext cx="11091672" cy="470916"/>
          </a:xfrm>
          <a:prstGeom prst="rect">
            <a:avLst/>
          </a:prstGeom>
          <a:solidFill>
            <a:srgbClr val="EFEEE8"/>
          </a:solidFill>
          <a:ln w="12700">
            <a:solidFill>
              <a:srgbClr val="EFEEE8">
                <a:alpha val="0"/>
              </a:srgbClr>
            </a:solidFill>
            <a:prstDash val="solid"/>
          </a:ln>
        </p:spPr>
      </p:sp>
      <p:sp>
        <p:nvSpPr>
          <p:cNvPr id="46" name="Shape 44"/>
          <p:cNvSpPr/>
          <p:nvPr/>
        </p:nvSpPr>
        <p:spPr>
          <a:xfrm>
            <a:off x="548640" y="5541264"/>
            <a:ext cx="11091672" cy="0"/>
          </a:xfrm>
          <a:prstGeom prst="line">
            <a:avLst/>
          </a:prstGeom>
          <a:noFill/>
          <a:ln w="5715">
            <a:solidFill>
              <a:srgbClr val="D7DEDD"/>
            </a:solidFill>
            <a:prstDash val="solid"/>
          </a:ln>
        </p:spPr>
      </p:sp>
      <p:sp>
        <p:nvSpPr>
          <p:cNvPr id="47" name="Text 45"/>
          <p:cNvSpPr/>
          <p:nvPr/>
        </p:nvSpPr>
        <p:spPr>
          <a:xfrm>
            <a:off x="676656" y="5161788"/>
            <a:ext cx="1783080" cy="292608"/>
          </a:xfrm>
          <a:prstGeom prst="rect">
            <a:avLst/>
          </a:prstGeom>
          <a:noFill/>
          <a:ln/>
        </p:spPr>
        <p:txBody>
          <a:bodyPr wrap="square" lIns="0" tIns="0" rIns="0" bIns="0" rtlCol="0" anchor="ctr"/>
          <a:lstStyle/>
          <a:p>
            <a:pPr algn="l" indent="0" marL="0">
              <a:buNone/>
            </a:pPr>
            <a:r>
              <a:rPr lang="en-US" sz="1200" b="1" dirty="0">
                <a:solidFill>
                  <a:srgbClr val="122B3E"/>
                </a:solidFill>
                <a:latin typeface="Inter" pitchFamily="34" charset="0"/>
                <a:ea typeface="Inter" pitchFamily="34" charset="-122"/>
                <a:cs typeface="Inter" pitchFamily="34" charset="-120"/>
              </a:rPr>
              <a:t>Governed action</a:t>
            </a:r>
            <a:endParaRPr lang="en-US" sz="1200" dirty="0"/>
          </a:p>
        </p:txBody>
      </p:sp>
      <p:sp>
        <p:nvSpPr>
          <p:cNvPr id="48" name="Text 46"/>
          <p:cNvSpPr/>
          <p:nvPr/>
        </p:nvSpPr>
        <p:spPr>
          <a:xfrm>
            <a:off x="2697480" y="5141671"/>
            <a:ext cx="3447288" cy="347472"/>
          </a:xfrm>
          <a:prstGeom prst="rect">
            <a:avLst/>
          </a:prstGeom>
          <a:noFill/>
          <a:ln/>
        </p:spPr>
        <p:txBody>
          <a:bodyPr wrap="square" lIns="0" tIns="0" rIns="0" bIns="0" rtlCol="0" anchor="ctr"/>
          <a:lstStyle/>
          <a:p>
            <a:pPr algn="l" indent="0" marL="0">
              <a:buNone/>
            </a:pPr>
            <a:r>
              <a:rPr lang="en-US" sz="1120" dirty="0">
                <a:solidFill>
                  <a:srgbClr val="60717A"/>
                </a:solidFill>
                <a:latin typeface="Inter" pitchFamily="34" charset="0"/>
                <a:ea typeface="Inter" pitchFamily="34" charset="-122"/>
                <a:cs typeface="Inter" pitchFamily="34" charset="-120"/>
              </a:rPr>
              <a:t>Reviewable drafts and staged</a:t>
            </a:r>
            <a:endParaRPr lang="en-US" sz="1120" dirty="0"/>
          </a:p>
          <a:p>
            <a:pPr algn="l" indent="0" marL="0">
              <a:buNone/>
            </a:pPr>
            <a:r>
              <a:rPr lang="en-US" sz="1120" dirty="0">
                <a:solidFill>
                  <a:srgbClr val="60717A"/>
                </a:solidFill>
                <a:latin typeface="Inter" pitchFamily="34" charset="0"/>
                <a:ea typeface="Inter" pitchFamily="34" charset="-122"/>
                <a:cs typeface="Inter" pitchFamily="34" charset="-120"/>
              </a:rPr>
              <a:t>administrative updates</a:t>
            </a:r>
            <a:endParaRPr lang="en-US" sz="1120" dirty="0"/>
          </a:p>
        </p:txBody>
      </p:sp>
      <p:sp>
        <p:nvSpPr>
          <p:cNvPr id="49" name="Text 47"/>
          <p:cNvSpPr/>
          <p:nvPr/>
        </p:nvSpPr>
        <p:spPr>
          <a:xfrm>
            <a:off x="6391656" y="5141671"/>
            <a:ext cx="3767328" cy="347472"/>
          </a:xfrm>
          <a:prstGeom prst="rect">
            <a:avLst/>
          </a:prstGeom>
          <a:noFill/>
          <a:ln/>
        </p:spPr>
        <p:txBody>
          <a:bodyPr wrap="square" lIns="0" tIns="0" rIns="0" bIns="0" rtlCol="0" anchor="ctr"/>
          <a:lstStyle/>
          <a:p>
            <a:pPr algn="l" indent="0" marL="0">
              <a:buNone/>
            </a:pPr>
            <a:r>
              <a:rPr lang="en-US" sz="1140" dirty="0">
                <a:solidFill>
                  <a:srgbClr val="122B3E"/>
                </a:solidFill>
                <a:latin typeface="Inter" pitchFamily="34" charset="0"/>
                <a:ea typeface="Inter" pitchFamily="34" charset="-122"/>
                <a:cs typeface="Inter" pitchFamily="34" charset="-120"/>
              </a:rPr>
              <a:t>Assists + Action Center</a:t>
            </a:r>
            <a:endParaRPr lang="en-US" sz="1140" dirty="0"/>
          </a:p>
        </p:txBody>
      </p:sp>
      <p:sp>
        <p:nvSpPr>
          <p:cNvPr id="50" name="Shape 48"/>
          <p:cNvSpPr/>
          <p:nvPr/>
        </p:nvSpPr>
        <p:spPr>
          <a:xfrm>
            <a:off x="10387584" y="5212080"/>
            <a:ext cx="1143000" cy="224028"/>
          </a:xfrm>
          <a:prstGeom prst="roundRect">
            <a:avLst>
              <a:gd name="adj" fmla="val 28571"/>
            </a:avLst>
          </a:prstGeom>
          <a:solidFill>
            <a:srgbClr val="E5EAEB"/>
          </a:solidFill>
          <a:ln w="12700">
            <a:solidFill>
              <a:srgbClr val="E5EAEB">
                <a:alpha val="0"/>
              </a:srgbClr>
            </a:solidFill>
            <a:prstDash val="solid"/>
          </a:ln>
        </p:spPr>
      </p:sp>
      <p:sp>
        <p:nvSpPr>
          <p:cNvPr id="51" name="Text 49"/>
          <p:cNvSpPr/>
          <p:nvPr/>
        </p:nvSpPr>
        <p:spPr>
          <a:xfrm>
            <a:off x="10451592" y="5225796"/>
            <a:ext cx="1014984" cy="196596"/>
          </a:xfrm>
          <a:prstGeom prst="rect">
            <a:avLst/>
          </a:prstGeom>
          <a:noFill/>
          <a:ln/>
        </p:spPr>
        <p:txBody>
          <a:bodyPr wrap="square" lIns="0" tIns="0" rIns="0" bIns="0" rtlCol="0" anchor="ctr"/>
          <a:lstStyle/>
          <a:p>
            <a:pPr algn="ctr" indent="0" marL="0">
              <a:buNone/>
            </a:pPr>
            <a:r>
              <a:rPr lang="en-US" sz="830" b="1" dirty="0">
                <a:solidFill>
                  <a:srgbClr val="60717A"/>
                </a:solidFill>
                <a:latin typeface="Inter" pitchFamily="34" charset="0"/>
                <a:ea typeface="Inter" pitchFamily="34" charset="-122"/>
                <a:cs typeface="Inter" pitchFamily="34" charset="-120"/>
              </a:rPr>
              <a:t>Roadmap</a:t>
            </a:r>
            <a:endParaRPr lang="en-US" sz="830" dirty="0"/>
          </a:p>
        </p:txBody>
      </p:sp>
      <p:sp>
        <p:nvSpPr>
          <p:cNvPr id="52" name="Shape 50"/>
          <p:cNvSpPr/>
          <p:nvPr/>
        </p:nvSpPr>
        <p:spPr>
          <a:xfrm>
            <a:off x="548640" y="5541264"/>
            <a:ext cx="11091672" cy="470916"/>
          </a:xfrm>
          <a:prstGeom prst="rect">
            <a:avLst/>
          </a:prstGeom>
          <a:solidFill>
            <a:srgbClr val="FFFFFF"/>
          </a:solidFill>
          <a:ln w="12700">
            <a:solidFill>
              <a:srgbClr val="FFFFFF">
                <a:alpha val="0"/>
              </a:srgbClr>
            </a:solidFill>
            <a:prstDash val="solid"/>
          </a:ln>
        </p:spPr>
      </p:sp>
      <p:sp>
        <p:nvSpPr>
          <p:cNvPr id="53" name="Shape 51"/>
          <p:cNvSpPr/>
          <p:nvPr/>
        </p:nvSpPr>
        <p:spPr>
          <a:xfrm>
            <a:off x="548640" y="6012180"/>
            <a:ext cx="11091672" cy="0"/>
          </a:xfrm>
          <a:prstGeom prst="line">
            <a:avLst/>
          </a:prstGeom>
          <a:noFill/>
          <a:ln w="5715">
            <a:solidFill>
              <a:srgbClr val="D7DEDD"/>
            </a:solidFill>
            <a:prstDash val="solid"/>
          </a:ln>
        </p:spPr>
      </p:sp>
      <p:sp>
        <p:nvSpPr>
          <p:cNvPr id="54" name="Text 52"/>
          <p:cNvSpPr/>
          <p:nvPr/>
        </p:nvSpPr>
        <p:spPr>
          <a:xfrm>
            <a:off x="676656" y="5632704"/>
            <a:ext cx="1783080" cy="292608"/>
          </a:xfrm>
          <a:prstGeom prst="rect">
            <a:avLst/>
          </a:prstGeom>
          <a:noFill/>
          <a:ln/>
        </p:spPr>
        <p:txBody>
          <a:bodyPr wrap="square" lIns="0" tIns="0" rIns="0" bIns="0" rtlCol="0" anchor="ctr"/>
          <a:lstStyle/>
          <a:p>
            <a:pPr algn="l" indent="0" marL="0">
              <a:buNone/>
            </a:pPr>
            <a:r>
              <a:rPr lang="en-US" sz="1200" b="1" dirty="0">
                <a:solidFill>
                  <a:srgbClr val="122B3E"/>
                </a:solidFill>
                <a:latin typeface="Inter" pitchFamily="34" charset="0"/>
                <a:ea typeface="Inter" pitchFamily="34" charset="-122"/>
                <a:cs typeface="Inter" pitchFamily="34" charset="-120"/>
              </a:rPr>
              <a:t>Firm-wide learning</a:t>
            </a:r>
            <a:endParaRPr lang="en-US" sz="1200" dirty="0"/>
          </a:p>
        </p:txBody>
      </p:sp>
      <p:sp>
        <p:nvSpPr>
          <p:cNvPr id="55" name="Text 53"/>
          <p:cNvSpPr/>
          <p:nvPr/>
        </p:nvSpPr>
        <p:spPr>
          <a:xfrm>
            <a:off x="2697480" y="5612587"/>
            <a:ext cx="3447288" cy="347472"/>
          </a:xfrm>
          <a:prstGeom prst="rect">
            <a:avLst/>
          </a:prstGeom>
          <a:noFill/>
          <a:ln/>
        </p:spPr>
        <p:txBody>
          <a:bodyPr wrap="square" lIns="0" tIns="0" rIns="0" bIns="0" rtlCol="0" anchor="ctr"/>
          <a:lstStyle/>
          <a:p>
            <a:pPr algn="l" indent="0" marL="0">
              <a:buNone/>
            </a:pPr>
            <a:r>
              <a:rPr lang="en-US" sz="1120" dirty="0">
                <a:solidFill>
                  <a:srgbClr val="60717A"/>
                </a:solidFill>
                <a:latin typeface="Inter" pitchFamily="34" charset="0"/>
                <a:ea typeface="Inter" pitchFamily="34" charset="-122"/>
                <a:cs typeface="Inter" pitchFamily="34" charset="-120"/>
              </a:rPr>
              <a:t>Firm-specific configuration; integrated</a:t>
            </a:r>
            <a:endParaRPr lang="en-US" sz="1120" dirty="0"/>
          </a:p>
          <a:p>
            <a:pPr algn="l" indent="0" marL="0">
              <a:buNone/>
            </a:pPr>
            <a:r>
              <a:rPr lang="en-US" sz="1120" dirty="0">
                <a:solidFill>
                  <a:srgbClr val="60717A"/>
                </a:solidFill>
                <a:latin typeface="Inter" pitchFamily="34" charset="0"/>
                <a:ea typeface="Inter" pitchFamily="34" charset="-122"/>
                <a:cs typeface="Inter" pitchFamily="34" charset="-120"/>
              </a:rPr>
              <a:t>learning loop not established at launch</a:t>
            </a:r>
            <a:endParaRPr lang="en-US" sz="1120" dirty="0"/>
          </a:p>
        </p:txBody>
      </p:sp>
      <p:sp>
        <p:nvSpPr>
          <p:cNvPr id="56" name="Text 54"/>
          <p:cNvSpPr/>
          <p:nvPr/>
        </p:nvSpPr>
        <p:spPr>
          <a:xfrm>
            <a:off x="6391656" y="5612587"/>
            <a:ext cx="3767328" cy="347472"/>
          </a:xfrm>
          <a:prstGeom prst="rect">
            <a:avLst/>
          </a:prstGeom>
          <a:noFill/>
          <a:ln/>
        </p:spPr>
        <p:txBody>
          <a:bodyPr wrap="square" lIns="0" tIns="0" rIns="0" bIns="0" rtlCol="0" anchor="ctr"/>
          <a:lstStyle/>
          <a:p>
            <a:pPr algn="l" indent="0" marL="0">
              <a:buNone/>
            </a:pPr>
            <a:r>
              <a:rPr lang="en-US" sz="1140" dirty="0">
                <a:solidFill>
                  <a:srgbClr val="122B3E"/>
                </a:solidFill>
                <a:latin typeface="Inter" pitchFamily="34" charset="0"/>
                <a:ea typeface="Inter" pitchFamily="34" charset="-122"/>
                <a:cs typeface="Inter" pitchFamily="34" charset="-120"/>
              </a:rPr>
              <a:t>Hive; reusable skills;</a:t>
            </a:r>
            <a:endParaRPr lang="en-US" sz="1140" dirty="0"/>
          </a:p>
          <a:p>
            <a:pPr algn="l" indent="0" marL="0">
              <a:buNone/>
            </a:pPr>
            <a:r>
              <a:rPr lang="en-US" sz="1140" dirty="0">
                <a:solidFill>
                  <a:srgbClr val="122B3E"/>
                </a:solidFill>
                <a:latin typeface="Inter" pitchFamily="34" charset="0"/>
                <a:ea typeface="Inter" pitchFamily="34" charset="-122"/>
                <a:cs typeface="Inter" pitchFamily="34" charset="-120"/>
              </a:rPr>
              <a:t>outcome and feedback loop</a:t>
            </a:r>
            <a:endParaRPr lang="en-US" sz="1140" dirty="0"/>
          </a:p>
        </p:txBody>
      </p:sp>
      <p:sp>
        <p:nvSpPr>
          <p:cNvPr id="57" name="Shape 55"/>
          <p:cNvSpPr/>
          <p:nvPr/>
        </p:nvSpPr>
        <p:spPr>
          <a:xfrm>
            <a:off x="10387584" y="5682996"/>
            <a:ext cx="1143000" cy="224028"/>
          </a:xfrm>
          <a:prstGeom prst="roundRect">
            <a:avLst>
              <a:gd name="adj" fmla="val 28571"/>
            </a:avLst>
          </a:prstGeom>
          <a:solidFill>
            <a:srgbClr val="E5EAEB"/>
          </a:solidFill>
          <a:ln w="12700">
            <a:solidFill>
              <a:srgbClr val="E5EAEB">
                <a:alpha val="0"/>
              </a:srgbClr>
            </a:solidFill>
            <a:prstDash val="solid"/>
          </a:ln>
        </p:spPr>
      </p:sp>
      <p:sp>
        <p:nvSpPr>
          <p:cNvPr id="58" name="Text 56"/>
          <p:cNvSpPr/>
          <p:nvPr/>
        </p:nvSpPr>
        <p:spPr>
          <a:xfrm>
            <a:off x="10451592" y="5696712"/>
            <a:ext cx="1014984" cy="196596"/>
          </a:xfrm>
          <a:prstGeom prst="rect">
            <a:avLst/>
          </a:prstGeom>
          <a:noFill/>
          <a:ln/>
        </p:spPr>
        <p:txBody>
          <a:bodyPr wrap="square" lIns="0" tIns="0" rIns="0" bIns="0" rtlCol="0" anchor="ctr"/>
          <a:lstStyle/>
          <a:p>
            <a:pPr algn="ctr" indent="0" marL="0">
              <a:buNone/>
            </a:pPr>
            <a:r>
              <a:rPr lang="en-US" sz="830" b="1" dirty="0">
                <a:solidFill>
                  <a:srgbClr val="60717A"/>
                </a:solidFill>
                <a:latin typeface="Inter" pitchFamily="34" charset="0"/>
                <a:ea typeface="Inter" pitchFamily="34" charset="-122"/>
                <a:cs typeface="Inter" pitchFamily="34" charset="-120"/>
              </a:rPr>
              <a:t>Roadmap</a:t>
            </a:r>
            <a:endParaRPr lang="en-US" sz="830" dirty="0"/>
          </a:p>
        </p:txBody>
      </p:sp>
      <p:sp>
        <p:nvSpPr>
          <p:cNvPr id="59" name="Text 57"/>
          <p:cNvSpPr/>
          <p:nvPr/>
        </p:nvSpPr>
        <p:spPr>
          <a:xfrm>
            <a:off x="576072" y="6117336"/>
            <a:ext cx="11000232" cy="128016"/>
          </a:xfrm>
          <a:prstGeom prst="rect">
            <a:avLst/>
          </a:prstGeom>
          <a:noFill/>
          <a:ln/>
        </p:spPr>
        <p:txBody>
          <a:bodyPr wrap="square" lIns="0" tIns="0" rIns="0" bIns="0" rtlCol="0" anchor="ctr"/>
          <a:lstStyle/>
          <a:p>
            <a:pPr algn="l" indent="0" marL="0">
              <a:buNone/>
            </a:pPr>
            <a:r>
              <a:rPr lang="en-US" sz="870" dirty="0">
                <a:solidFill>
                  <a:srgbClr val="60717A"/>
                </a:solidFill>
                <a:latin typeface="Inter" pitchFamily="34" charset="0"/>
                <a:ea typeface="Inter" pitchFamily="34" charset="-122"/>
                <a:cs typeface="Inter" pitchFamily="34" charset="-120"/>
              </a:rPr>
              <a:t>Foundation = established building blocks, not certified parity. Evolving = development / rollout. Mixed = foundation + roadmap.</a:t>
            </a:r>
            <a:endParaRPr lang="en-US" sz="870" dirty="0"/>
          </a:p>
        </p:txBody>
      </p:sp>
      <p:sp>
        <p:nvSpPr>
          <p:cNvPr id="60" name="Text 58"/>
          <p:cNvSpPr/>
          <p:nvPr/>
        </p:nvSpPr>
        <p:spPr>
          <a:xfrm>
            <a:off x="576072" y="6281928"/>
            <a:ext cx="11000232" cy="118872"/>
          </a:xfrm>
          <a:prstGeom prst="rect">
            <a:avLst/>
          </a:prstGeom>
          <a:noFill/>
          <a:ln/>
        </p:spPr>
        <p:txBody>
          <a:bodyPr wrap="square" lIns="0" tIns="0" rIns="0" bIns="0" rtlCol="0" anchor="ctr"/>
          <a:lstStyle/>
          <a:p>
            <a:pPr algn="l" indent="0" marL="0">
              <a:buNone/>
            </a:pPr>
            <a:r>
              <a:rPr lang="en-US" sz="870" dirty="0">
                <a:solidFill>
                  <a:srgbClr val="60717A"/>
                </a:solidFill>
                <a:latin typeface="Inter" pitchFamily="34" charset="0"/>
                <a:ea typeface="Inter" pitchFamily="34" charset="-122"/>
                <a:cs typeface="Inter" pitchFamily="34" charset="-120"/>
              </a:rPr>
              <a:t>Roadmap = target design. Coach stages use supplied internal materials and descriptions, not an independent release audit.</a:t>
            </a:r>
            <a:endParaRPr lang="en-US" sz="870" dirty="0"/>
          </a:p>
        </p:txBody>
      </p:sp>
      <p:sp>
        <p:nvSpPr>
          <p:cNvPr id="61" name="Text 59"/>
          <p:cNvSpPr/>
          <p:nvPr/>
        </p:nvSpPr>
        <p:spPr>
          <a:xfrm>
            <a:off x="548640" y="6419088"/>
            <a:ext cx="11091672" cy="105156"/>
          </a:xfrm>
          <a:prstGeom prst="rect">
            <a:avLst/>
          </a:prstGeom>
          <a:noFill/>
          <a:ln/>
        </p:spPr>
        <p:txBody>
          <a:bodyPr wrap="square" lIns="0" tIns="0" rIns="0" bIns="0" rtlCol="0" anchor="ctr"/>
          <a:lstStyle/>
          <a:p>
            <a:pPr algn="l" indent="0" marL="0">
              <a:buNone/>
            </a:pPr>
            <a:r>
              <a:rPr lang="en-US" sz="740" dirty="0">
                <a:solidFill>
                  <a:srgbClr val="60717A"/>
                </a:solidFill>
                <a:latin typeface="Inter" pitchFamily="34" charset="0"/>
                <a:ea typeface="Inter" pitchFamily="34" charset="-122"/>
                <a:cs typeface="Inter" pitchFamily="34" charset="-120"/>
              </a:rPr>
              <a:t>Sources: </a:t>
            </a:r>
            <a:pPr algn="l" indent="0" marL="0">
              <a:buNone/>
            </a:pPr>
            <a:r>
              <a:rPr lang="en-US" sz="740" u="sng" dirty="0">
                <a:solidFill>
                  <a:srgbClr val="60717A"/>
                </a:solidFill>
                <a:latin typeface="Inter" pitchFamily="34" charset="0"/>
                <a:ea typeface="Inter" pitchFamily="34" charset="-122"/>
                <a:cs typeface="Inter" pitchFamily="34" charset="-120"/>
                <a:hlinkClick r:id="rId1" invalidUrl="" action="" tgtFrame="" tooltip="" history="1" highlightClick="0" endSnd="0">
                  <a:extLst>
                    <a:ext uri="{A12FA001-AC4F-418D-AE19-62706E023703}">
                      <ahyp:hlinkClr xmlns:ahyp="http://schemas.microsoft.com/office/drawing/2018/hyperlinkcolor" val="tx"/>
                    </a:ext>
                  </a:extLst>
                </a:hlinkClick>
              </a:rPr>
              <a:t>Anthropic launch</a:t>
            </a:r>
            <a:pPr algn="l" indent="0" marL="0">
              <a:buNone/>
            </a:pPr>
            <a:r>
              <a:rPr lang="en-US" sz="740" dirty="0">
                <a:solidFill>
                  <a:srgbClr val="60717A"/>
                </a:solidFill>
                <a:latin typeface="Inter" pitchFamily="34" charset="0"/>
                <a:ea typeface="Inter" pitchFamily="34" charset="-122"/>
                <a:cs typeface="Inter" pitchFamily="34" charset="-120"/>
              </a:rPr>
              <a:t>  ·  </a:t>
            </a:r>
            <a:pPr algn="l" indent="0" marL="0">
              <a:buNone/>
            </a:pPr>
            <a:r>
              <a:rPr lang="en-US" sz="740" u="sng" dirty="0">
                <a:solidFill>
                  <a:srgbClr val="60717A"/>
                </a:solidFill>
                <a:latin typeface="Inter" pitchFamily="34" charset="0"/>
                <a:ea typeface="Inter" pitchFamily="34" charset="-122"/>
                <a:cs typeface="Inter" pitchFamily="34" charset="-120"/>
                <a:hlinkClick r:id="rId2" invalidUrl="" action="" tgtFrame="" tooltip="" history="1" highlightClick="0" endSnd="0">
                  <a:extLst>
                    <a:ext uri="{A12FA001-AC4F-418D-AE19-62706E023703}">
                      <ahyp:hlinkClr xmlns:ahyp="http://schemas.microsoft.com/office/drawing/2018/hyperlinkcolor" val="tx"/>
                    </a:ext>
                  </a:extLst>
                </a:hlinkClick>
              </a:rPr>
              <a:t>Advisor skills</a:t>
            </a:r>
            <a:pPr algn="l" indent="0" marL="0">
              <a:buNone/>
            </a:pPr>
            <a:r>
              <a:rPr lang="en-US" sz="740" dirty="0">
                <a:solidFill>
                  <a:srgbClr val="60717A"/>
                </a:solidFill>
                <a:latin typeface="Inter" pitchFamily="34" charset="0"/>
                <a:ea typeface="Inter" pitchFamily="34" charset="-122"/>
                <a:cs typeface="Inter" pitchFamily="34" charset="-120"/>
              </a:rPr>
              <a:t>  ·  </a:t>
            </a:r>
            <a:pPr algn="l" indent="0" marL="0">
              <a:buNone/>
            </a:pPr>
            <a:r>
              <a:rPr lang="en-US" sz="740" u="sng" dirty="0">
                <a:solidFill>
                  <a:srgbClr val="60717A"/>
                </a:solidFill>
                <a:latin typeface="Inter" pitchFamily="34" charset="0"/>
                <a:ea typeface="Inter" pitchFamily="34" charset="-122"/>
                <a:cs typeface="Inter" pitchFamily="34" charset="-120"/>
                <a:hlinkClick r:id="rId3" invalidUrl="" action="" tgtFrame="" tooltip="" history="1" highlightClick="0" endSnd="0">
                  <a:extLst>
                    <a:ext uri="{A12FA001-AC4F-418D-AE19-62706E023703}">
                      <ahyp:hlinkClr xmlns:ahyp="http://schemas.microsoft.com/office/drawing/2018/hyperlinkcolor" val="tx"/>
                    </a:ext>
                  </a:extLst>
                </a:hlinkClick>
              </a:rPr>
              <a:t>BlackRock skills</a:t>
            </a:r>
            <a:pPr algn="l" indent="0" marL="0">
              <a:buNone/>
            </a:pPr>
            <a:r>
              <a:rPr lang="en-US" sz="740" dirty="0">
                <a:solidFill>
                  <a:srgbClr val="60717A"/>
                </a:solidFill>
                <a:latin typeface="Inter" pitchFamily="34" charset="0"/>
                <a:ea typeface="Inter" pitchFamily="34" charset="-122"/>
                <a:cs typeface="Inter" pitchFamily="34" charset="-120"/>
              </a:rPr>
              <a:t>  ·  </a:t>
            </a:r>
            <a:pPr algn="l" indent="0" marL="0">
              <a:buNone/>
            </a:pPr>
            <a:r>
              <a:rPr lang="en-US" sz="740" u="sng" dirty="0">
                <a:solidFill>
                  <a:srgbClr val="60717A"/>
                </a:solidFill>
                <a:latin typeface="Inter" pitchFamily="34" charset="0"/>
                <a:ea typeface="Inter" pitchFamily="34" charset="-122"/>
                <a:cs typeface="Inter" pitchFamily="34" charset="-120"/>
                <a:hlinkClick r:id="rId4" invalidUrl="" action="" tgtFrame="" tooltip="" history="1" highlightClick="0" endSnd="0">
                  <a:extLst>
                    <a:ext uri="{A12FA001-AC4F-418D-AE19-62706E023703}">
                      <ahyp:hlinkClr xmlns:ahyp="http://schemas.microsoft.com/office/drawing/2018/hyperlinkcolor" val="tx"/>
                    </a:ext>
                  </a:extLst>
                </a:hlinkClick>
              </a:rPr>
              <a:t>Wealth.com planning</a:t>
            </a:r>
            <a:pPr algn="l" indent="0" marL="0">
              <a:buNone/>
            </a:pPr>
            <a:r>
              <a:rPr lang="en-US" sz="740" dirty="0">
                <a:solidFill>
                  <a:srgbClr val="60717A"/>
                </a:solidFill>
                <a:latin typeface="Inter" pitchFamily="34" charset="0"/>
                <a:ea typeface="Inter" pitchFamily="34" charset="-122"/>
                <a:cs typeface="Inter" pitchFamily="34" charset="-120"/>
              </a:rPr>
              <a:t>  ·  </a:t>
            </a:r>
            <a:pPr algn="l" indent="0" marL="0">
              <a:buNone/>
            </a:pPr>
            <a:r>
              <a:rPr lang="en-US" sz="740" u="sng" dirty="0">
                <a:solidFill>
                  <a:srgbClr val="60717A"/>
                </a:solidFill>
                <a:latin typeface="Inter" pitchFamily="34" charset="0"/>
                <a:ea typeface="Inter" pitchFamily="34" charset="-122"/>
                <a:cs typeface="Inter" pitchFamily="34" charset="-120"/>
                <a:hlinkClick r:id="rId5" invalidUrl="" action="" tgtFrame="" tooltip="" history="1" highlightClick="0" endSnd="0">
                  <a:extLst>
                    <a:ext uri="{A12FA001-AC4F-418D-AE19-62706E023703}">
                      <ahyp:hlinkClr xmlns:ahyp="http://schemas.microsoft.com/office/drawing/2018/hyperlinkcolor" val="tx"/>
                    </a:ext>
                  </a:extLst>
                </a:hlinkClick>
              </a:rPr>
              <a:t>Cowork</a:t>
            </a:r>
            <a:pPr algn="l" indent="0" marL="0">
              <a:buNone/>
            </a:pPr>
            <a:r>
              <a:rPr lang="en-US" sz="740" dirty="0">
                <a:solidFill>
                  <a:srgbClr val="60717A"/>
                </a:solidFill>
                <a:latin typeface="Inter" pitchFamily="34" charset="0"/>
                <a:ea typeface="Inter" pitchFamily="34" charset="-122"/>
                <a:cs typeface="Inter" pitchFamily="34" charset="-120"/>
              </a:rPr>
              <a:t>  ·  </a:t>
            </a:r>
            <a:pPr algn="l" indent="0" marL="0">
              <a:buNone/>
            </a:pPr>
            <a:r>
              <a:rPr lang="en-US" sz="740" u="sng" dirty="0">
                <a:solidFill>
                  <a:srgbClr val="60717A"/>
                </a:solidFill>
                <a:latin typeface="Inter" pitchFamily="34" charset="0"/>
                <a:ea typeface="Inter" pitchFamily="34" charset="-122"/>
                <a:cs typeface="Inter" pitchFamily="34" charset="-120"/>
                <a:hlinkClick r:id="rId6" invalidUrl="" action="" tgtFrame="" tooltip="" history="1" highlightClick="0" endSnd="0">
                  <a:extLst>
                    <a:ext uri="{A12FA001-AC4F-418D-AE19-62706E023703}">
                      <ahyp:hlinkClr xmlns:ahyp="http://schemas.microsoft.com/office/drawing/2018/hyperlinkcolor" val="tx"/>
                    </a:ext>
                  </a:extLst>
                </a:hlinkClick>
              </a:rPr>
              <a:t>Scheduled tasks</a:t>
            </a:r>
            <a:pPr algn="l" indent="0" marL="0">
              <a:buNone/>
            </a:pPr>
            <a:r>
              <a:rPr lang="en-US" sz="740" dirty="0">
                <a:solidFill>
                  <a:srgbClr val="60717A"/>
                </a:solidFill>
                <a:latin typeface="Inter" pitchFamily="34" charset="0"/>
                <a:ea typeface="Inter" pitchFamily="34" charset="-122"/>
                <a:cs typeface="Inter" pitchFamily="34" charset="-120"/>
              </a:rPr>
              <a:t>  ·  </a:t>
            </a:r>
            <a:pPr algn="l" indent="0" marL="0">
              <a:buNone/>
            </a:pPr>
            <a:r>
              <a:rPr lang="en-US" sz="740" dirty="0">
                <a:solidFill>
                  <a:srgbClr val="60717A"/>
                </a:solidFill>
                <a:latin typeface="Inter" pitchFamily="34" charset="0"/>
                <a:ea typeface="Inter" pitchFamily="34" charset="-122"/>
                <a:cs typeface="Inter" pitchFamily="34" charset="-120"/>
              </a:rPr>
              <a:t>Internal vision (Aug 2026)</a:t>
            </a:r>
            <a:pPr algn="l" indent="0" marL="0">
              <a:buNone/>
            </a:pPr>
            <a:r>
              <a:rPr lang="en-US" sz="740" dirty="0">
                <a:solidFill>
                  <a:srgbClr val="60717A"/>
                </a:solidFill>
                <a:latin typeface="Inter" pitchFamily="34" charset="0"/>
                <a:ea typeface="Inter" pitchFamily="34" charset="-122"/>
                <a:cs typeface="Inter" pitchFamily="34" charset="-120"/>
              </a:rPr>
              <a:t>  ·  </a:t>
            </a:r>
            <a:pPr algn="l" indent="0" marL="0">
              <a:buNone/>
            </a:pPr>
            <a:r>
              <a:rPr lang="en-US" sz="740" dirty="0">
                <a:solidFill>
                  <a:srgbClr val="60717A"/>
                </a:solidFill>
                <a:latin typeface="Inter" pitchFamily="34" charset="0"/>
                <a:ea typeface="Inter" pitchFamily="34" charset="-122"/>
                <a:cs typeface="Inter" pitchFamily="34" charset="-120"/>
              </a:rPr>
              <a:t>Internal roadmap (Aug 2026)</a:t>
            </a:r>
            <a:endParaRPr lang="en-US" sz="740" dirty="0"/>
          </a:p>
        </p:txBody>
      </p:sp>
      <p:sp>
        <p:nvSpPr>
          <p:cNvPr id="62" name="Shape 60"/>
          <p:cNvSpPr/>
          <p:nvPr/>
        </p:nvSpPr>
        <p:spPr>
          <a:xfrm>
            <a:off x="548640" y="6510528"/>
            <a:ext cx="11091672" cy="0"/>
          </a:xfrm>
          <a:prstGeom prst="line">
            <a:avLst/>
          </a:prstGeom>
          <a:noFill/>
          <a:ln w="7620">
            <a:solidFill>
              <a:srgbClr val="D7DEDD"/>
            </a:solidFill>
            <a:prstDash val="solid"/>
          </a:ln>
        </p:spPr>
      </p:sp>
      <p:sp>
        <p:nvSpPr>
          <p:cNvPr id="63" name="Text 61"/>
          <p:cNvSpPr/>
          <p:nvPr/>
        </p:nvSpPr>
        <p:spPr>
          <a:xfrm>
            <a:off x="548640" y="6611112"/>
            <a:ext cx="3794760" cy="118872"/>
          </a:xfrm>
          <a:prstGeom prst="rect">
            <a:avLst/>
          </a:prstGeom>
          <a:noFill/>
          <a:ln/>
        </p:spPr>
        <p:txBody>
          <a:bodyPr wrap="square" lIns="0" tIns="0" rIns="0" bIns="0" rtlCol="0" anchor="ctr"/>
          <a:lstStyle/>
          <a:p>
            <a:pPr algn="l" indent="0" marL="0">
              <a:buNone/>
            </a:pPr>
            <a:r>
              <a:rPr lang="en-US" sz="780" b="1" spc="70" kern="0" dirty="0">
                <a:solidFill>
                  <a:srgbClr val="60717A"/>
                </a:solidFill>
                <a:latin typeface="Inter" pitchFamily="34" charset="0"/>
                <a:ea typeface="Inter" pitchFamily="34" charset="-122"/>
                <a:cs typeface="Inter" pitchFamily="34" charset="-120"/>
              </a:rPr>
              <a:t>J.P. MORGAN  |  PRIVATE BANK</a:t>
            </a:r>
            <a:endParaRPr lang="en-US" sz="780" dirty="0"/>
          </a:p>
        </p:txBody>
      </p:sp>
      <p:sp>
        <p:nvSpPr>
          <p:cNvPr id="64" name="Text 62"/>
          <p:cNvSpPr/>
          <p:nvPr/>
        </p:nvSpPr>
        <p:spPr>
          <a:xfrm>
            <a:off x="6492240" y="6611112"/>
            <a:ext cx="4663440" cy="118872"/>
          </a:xfrm>
          <a:prstGeom prst="rect">
            <a:avLst/>
          </a:prstGeom>
          <a:noFill/>
          <a:ln/>
        </p:spPr>
        <p:txBody>
          <a:bodyPr wrap="square" lIns="0" tIns="0" rIns="0" bIns="0" rtlCol="0" anchor="ctr"/>
          <a:lstStyle/>
          <a:p>
            <a:pPr algn="r" indent="0" marL="0">
              <a:buNone/>
            </a:pPr>
            <a:r>
              <a:rPr lang="en-US" sz="770" spc="55" kern="0" dirty="0">
                <a:solidFill>
                  <a:srgbClr val="60717A"/>
                </a:solidFill>
                <a:latin typeface="Inter" pitchFamily="34" charset="0"/>
                <a:ea typeface="Inter" pitchFamily="34" charset="-122"/>
                <a:cs typeface="Inter" pitchFamily="34" charset="-120"/>
              </a:rPr>
              <a:t>COMPARISON APPENDIX  /  SEPTEMBER 2026</a:t>
            </a:r>
            <a:endParaRPr lang="en-US" sz="770" dirty="0"/>
          </a:p>
        </p:txBody>
      </p:sp>
      <p:sp>
        <p:nvSpPr>
          <p:cNvPr id="65" name="Text 63"/>
          <p:cNvSpPr/>
          <p:nvPr/>
        </p:nvSpPr>
        <p:spPr>
          <a:xfrm>
            <a:off x="11292840" y="6588252"/>
            <a:ext cx="347472" cy="173736"/>
          </a:xfrm>
          <a:prstGeom prst="rect">
            <a:avLst/>
          </a:prstGeom>
          <a:noFill/>
          <a:ln/>
        </p:spPr>
        <p:txBody>
          <a:bodyPr wrap="square" lIns="0" tIns="0" rIns="0" bIns="0" rtlCol="0" anchor="ctr"/>
          <a:lstStyle/>
          <a:p>
            <a:pPr algn="r" indent="0" marL="0">
              <a:buNone/>
            </a:pPr>
            <a:r>
              <a:rPr lang="en-US" sz="1000" b="1" dirty="0">
                <a:solidFill>
                  <a:srgbClr val="9E5F46"/>
                </a:solidFill>
                <a:latin typeface="Inter" pitchFamily="34" charset="0"/>
                <a:ea typeface="Inter" pitchFamily="34" charset="-122"/>
                <a:cs typeface="Inter" pitchFamily="34" charset="-120"/>
              </a:rPr>
              <a:t>06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J.P. Morgan Private Bank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Coach | The Unified Private Bank Intelligence Layer</dc:title>
  <dc:subject>Executive discussion: Claude for Financial Advisors and the Coach unified intelligence layer</dc:subject>
  <dc:creator>J.P. Morgan Private Bank | AI &amp; Innovation</dc:creator>
  <cp:lastModifiedBy>J.P. Morgan Private Bank | AI &amp; Innovation</cp:lastModifiedBy>
  <cp:revision>1</cp:revision>
  <dcterms:created xsi:type="dcterms:W3CDTF">2026-09-15T21:39:27Z</dcterms:created>
  <dcterms:modified xsi:type="dcterms:W3CDTF">2026-09-15T21:39:27Z</dcterms:modified>
</cp:coreProperties>
</file>