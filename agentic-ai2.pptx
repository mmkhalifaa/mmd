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Thinks, Plans, and Acts — With Humans in Control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82880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chatbots to proactive agents — and why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makes them better, not slower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Agentic AI?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that can independently pursue complex goals — planning its approach, using tools, making decisions, and adapting when things go wrong — without needing a human to guide every step.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37160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874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is a calculator.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press buttons, it responds.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2560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a skilled colleague.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a goal, they figure it out.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393192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93192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393192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Human-supervised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Evolution: From Chat to Agent Fleets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2044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WE ARE HERE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34340" y="1965960"/>
            <a:ext cx="1325880" cy="100584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4340" y="19659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Q&amp;A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summarization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05940" y="2468880"/>
            <a:ext cx="32004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71700" y="1965960"/>
            <a:ext cx="1325880" cy="100584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71700" y="19659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71700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3300" y="2468880"/>
            <a:ext cx="32004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09060" y="1965960"/>
            <a:ext cx="1325880" cy="1005840"/>
          </a:xfrm>
          <a:prstGeom prst="roundRect">
            <a:avLst>
              <a:gd name="adj" fmla="val 10909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09060" y="19659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09060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80660" y="2468880"/>
            <a:ext cx="32004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46420" y="1965960"/>
            <a:ext cx="1325880" cy="100584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46420" y="19659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46420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18020" y="2468880"/>
            <a:ext cx="32004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83780" y="1965960"/>
            <a:ext cx="1325880" cy="100584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83780" y="19659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83780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agents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AI vs. Agentic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asks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64792" y="2377440"/>
            <a:ext cx="15544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20240" y="2103120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62072" y="2377440"/>
            <a:ext cx="15544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17520" y="2103120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Repeat for every single step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Slow. Tedious. Bottlenecked by humans.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as Operator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103120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71032" y="2377440"/>
            <a:ext cx="15544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26480" y="2103120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68312" y="2377440"/>
            <a:ext cx="15544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23760" y="2103120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Agent loops: observe → reflect → adapt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Fast. Autonomous. Human stays in control.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as Supervisor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operate in a continuous cycle — not a one-shot response.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28016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07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48256" y="2308860"/>
            <a:ext cx="24688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31720" y="1920240"/>
            <a:ext cx="128016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2807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48456" y="2308860"/>
            <a:ext cx="24688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31920" y="1920240"/>
            <a:ext cx="128016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2807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48656" y="2308860"/>
            <a:ext cx="24688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32120" y="1920240"/>
            <a:ext cx="128016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807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8856" y="2308860"/>
            <a:ext cx="24688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32320" y="1920240"/>
            <a:ext cx="128016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0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2807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3383280"/>
            <a:ext cx="713232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005840" y="2697480"/>
            <a:ext cx="0" cy="685800"/>
          </a:xfrm>
          <a:prstGeom prst="line">
            <a:avLst/>
          </a:prstGeom>
          <a:noFill/>
          <a:ln w="19050">
            <a:solidFill>
              <a:srgbClr val="A0824E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8138160" y="2697480"/>
            <a:ext cx="0" cy="685800"/>
          </a:xfrm>
          <a:prstGeom prst="line">
            <a:avLst/>
          </a:prstGeom>
          <a:noFill/>
          <a:ln w="19050">
            <a:solidFill>
              <a:srgbClr val="A0824E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92608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Continuous loop until goal is met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79476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3794760"/>
            <a:ext cx="54864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chatbots that wait for each prompt, agents run this loop continuously — perceiving their environment, reasoning about next steps, taking action, observing results, and adapting their approach until the goal is met.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Capabilities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complex goals into subtasks. "Book a trip" becomes: find flights, compare hotels, check calendar, book, confirm.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828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APIs, runs code, searches the web, reads files — executes real actions, not just generates text.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06324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1729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5204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what it's tried, what worked, what failed. Builds context across dozens of steps.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6324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1729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5204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its own output. If something looks wrong, it re-examines and tries a different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Autonomy Spectrum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AI is equally autonomous — and that's by design.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7680960" cy="320040"/>
          </a:xfrm>
          <a:prstGeom prst="roundRect">
            <a:avLst>
              <a:gd name="adj" fmla="val 48571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Human Control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7320" y="2103120"/>
            <a:ext cx="0" cy="36576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1737360" cy="1508760"/>
          </a:xfrm>
          <a:prstGeom prst="roundRect">
            <a:avLst>
              <a:gd name="adj" fmla="val 6061"/>
            </a:avLst>
          </a:prstGeom>
          <a:solidFill>
            <a:srgbClr val="F9F5F0"/>
          </a:solidFill>
          <a:ln w="635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suggests,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decides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Autocomplete, chatbots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2103120"/>
            <a:ext cx="0" cy="36576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2468880"/>
            <a:ext cx="1737360" cy="1508760"/>
          </a:xfrm>
          <a:prstGeom prst="roundRect">
            <a:avLst>
              <a:gd name="adj" fmla="val 6061"/>
            </a:avLst>
          </a:prstGeom>
          <a:solidFill>
            <a:srgbClr val="F9F5F0"/>
          </a:solidFill>
          <a:ln w="635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0604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Semi-Autonomous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2880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acts, human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key steps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emails, code reviews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32120" y="2103120"/>
            <a:ext cx="0" cy="36576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468880"/>
            <a:ext cx="1737360" cy="1508760"/>
          </a:xfrm>
          <a:prstGeom prst="roundRect">
            <a:avLst>
              <a:gd name="adj" fmla="val 6061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+ HITL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880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end-to-end,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for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decisions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89520" y="2103120"/>
            <a:ext cx="0" cy="36576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2468880"/>
            <a:ext cx="1737360" cy="1508760"/>
          </a:xfrm>
          <a:prstGeom prst="roundRect">
            <a:avLst>
              <a:gd name="adj" fmla="val 6061"/>
            </a:avLst>
          </a:prstGeom>
          <a:solidFill>
            <a:srgbClr val="F9F5F0"/>
          </a:solidFill>
          <a:ln w="635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2084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Autonomous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2880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tasks only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shift from doing the work to supervising the work.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Human-in-the-Loop: Efficient, Not Slow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32588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1500" y="13258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1500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goal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741932" y="1645920"/>
            <a:ext cx="173736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43100" y="132588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43100" y="13258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43100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into subtasks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13532" y="1645920"/>
            <a:ext cx="173736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14700" y="132588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4700" y="13258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4700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draft, code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85132" y="1645920"/>
            <a:ext cx="173736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86300" y="132588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86300" y="13258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86300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for approval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56732" y="1645920"/>
            <a:ext cx="173736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57900" y="132588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57900" y="13258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57900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/ redirects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228332" y="1645920"/>
            <a:ext cx="173736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29500" y="132588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2E6B4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29500" y="13258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29500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result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AGENTIC AI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2670048"/>
            <a:ext cx="8229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2670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554480" y="2670048"/>
            <a:ext cx="365760" cy="3200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1" name="Shape 29"/>
          <p:cNvSpPr/>
          <p:nvPr/>
        </p:nvSpPr>
        <p:spPr>
          <a:xfrm>
            <a:off x="1920240" y="2670048"/>
            <a:ext cx="8229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1920240" y="2670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0" y="2670048"/>
            <a:ext cx="365760" cy="3200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4" name="Shape 32"/>
          <p:cNvSpPr/>
          <p:nvPr/>
        </p:nvSpPr>
        <p:spPr>
          <a:xfrm>
            <a:off x="3108960" y="2670048"/>
            <a:ext cx="8229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3108960" y="2670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931920" y="2670048"/>
            <a:ext cx="365760" cy="3200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7" name="Shape 35"/>
          <p:cNvSpPr/>
          <p:nvPr/>
        </p:nvSpPr>
        <p:spPr>
          <a:xfrm>
            <a:off x="4297680" y="2670048"/>
            <a:ext cx="8229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4297680" y="2670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20640" y="2670048"/>
            <a:ext cx="365760" cy="3200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0" y="2670048"/>
            <a:ext cx="8229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0" y="2670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309360" y="2670048"/>
            <a:ext cx="365760" cy="3200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3" name="Shape 41"/>
          <p:cNvSpPr/>
          <p:nvPr/>
        </p:nvSpPr>
        <p:spPr>
          <a:xfrm>
            <a:off x="6675120" y="2670048"/>
            <a:ext cx="8229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2670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89520" y="26700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hours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AGENTIC AI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" y="3401568"/>
            <a:ext cx="73152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34015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63040" y="3401568"/>
            <a:ext cx="3200400" cy="320040"/>
          </a:xfrm>
          <a:prstGeom prst="rect">
            <a:avLst/>
          </a:prstGeom>
          <a:solidFill>
            <a:srgbClr val="C4A96A"/>
          </a:solidFill>
          <a:ln/>
        </p:spPr>
      </p:sp>
      <p:sp>
        <p:nvSpPr>
          <p:cNvPr id="50" name="Text 48"/>
          <p:cNvSpPr/>
          <p:nvPr/>
        </p:nvSpPr>
        <p:spPr>
          <a:xfrm>
            <a:off x="1463040" y="3401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works autonomously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3401568"/>
            <a:ext cx="640080" cy="320040"/>
          </a:xfrm>
          <a:prstGeom prst="rect">
            <a:avLst/>
          </a:prstGeom>
          <a:solidFill>
            <a:srgbClr val="B8860B"/>
          </a:solidFill>
          <a:ln w="12700">
            <a:solidFill>
              <a:srgbClr val="A0824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34015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303520" y="3401568"/>
            <a:ext cx="2286000" cy="320040"/>
          </a:xfrm>
          <a:prstGeom prst="rect">
            <a:avLst/>
          </a:prstGeom>
          <a:solidFill>
            <a:srgbClr val="C4A96A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completes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589520" y="3401568"/>
            <a:ext cx="457200" cy="32004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56" name="Text 54"/>
          <p:cNvSpPr/>
          <p:nvPr/>
        </p:nvSpPr>
        <p:spPr>
          <a:xfrm>
            <a:off x="7589520" y="34015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138160" y="34015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31520" y="393192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31520" y="3931920"/>
            <a:ext cx="54864" cy="91440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60" name="Text 58"/>
          <p:cNvSpPr/>
          <p:nvPr/>
        </p:nvSpPr>
        <p:spPr>
          <a:xfrm>
            <a:off x="100584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insight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005840" y="42519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doesn't mean more work. It means different work — the high-judgment decisions that matter. Everything routine, the agent handles. Result: 8x efficiency, human stays in control.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Customer Onboarding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27048" y="1691640"/>
            <a:ext cx="14630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69164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9164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15768" y="1691640"/>
            <a:ext cx="14630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04488" y="1691640"/>
            <a:ext cx="14630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6908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908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Human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93208" y="1691640"/>
            <a:ext cx="14630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5780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5780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Human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81928" y="1691640"/>
            <a:ext cx="14630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70648" y="1691640"/>
            <a:ext cx="14630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3524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3524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251460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2514600"/>
            <a:ext cx="54864" cy="2194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agent does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29260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all application fields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credit reports from multiple bureaus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identity via document matching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preliminary risk scoring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personalized offer terms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51460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514600"/>
            <a:ext cx="54864" cy="219456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humans step 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2971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— review flagged applications exceeding risk thresholds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 — final sign-off on regulatory requirements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42062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E6B4F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process → 2 hours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Software Development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27048" y="1691640"/>
            <a:ext cx="14630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69164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9164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15768" y="1691640"/>
            <a:ext cx="14630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04488" y="1691640"/>
            <a:ext cx="14630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6908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93208" y="1691640"/>
            <a:ext cx="14630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5780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5780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Human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81928" y="1691640"/>
            <a:ext cx="14630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4652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70648" y="1691640"/>
            <a:ext cx="14630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35240" y="1371600"/>
            <a:ext cx="1005840" cy="640080"/>
          </a:xfrm>
          <a:prstGeom prst="roundRect">
            <a:avLst>
              <a:gd name="adj" fmla="val 17143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35240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3524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Human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520" y="251460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2514600"/>
            <a:ext cx="54864" cy="2194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agent does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29260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requirements and designs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complete implementation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runs test suites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failing tests, iterates until green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to staging for review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51460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514600"/>
            <a:ext cx="54864" cy="219456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humans step 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2971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— senior engineer reviews architecture decisions and quality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 — final approval before pushing to live users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42062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E6B4F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 → 2 days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Use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45720" cy="1508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99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Research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100+ sources, synthesizes findings, drafts report. Human reviews conclusions.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2E6B4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68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→ Hours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3258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25880"/>
            <a:ext cx="45720" cy="1508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399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Support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1691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tickets end-to-end: diagnose, troubleshoot, fix. Escalates edge cases.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2468880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2E6B4F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468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→ 3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45720" cy="1508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399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Review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1691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contracts, flags risks, suggests edits. Lawyer approves final redlines.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2468880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2E6B4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468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 → 45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0632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063240"/>
            <a:ext cx="45720" cy="1508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136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Analysis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3429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data, builds models, generates insights. Analyst validates assumptions.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4206240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2E6B4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206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→ 1 day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30632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3063240"/>
            <a:ext cx="45720" cy="1508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3136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Operations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66160" y="3429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systems, diagnoses issues, applies fixes. Human approves infra changes.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66160" y="4206240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2E6B4F"/>
          </a:solidFill>
          <a:ln/>
        </p:spPr>
      </p:sp>
      <p:sp>
        <p:nvSpPr>
          <p:cNvPr id="33" name="Text 31"/>
          <p:cNvSpPr/>
          <p:nvPr/>
        </p:nvSpPr>
        <p:spPr>
          <a:xfrm>
            <a:off x="3566160" y="4206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→ Minutes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30632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063240"/>
            <a:ext cx="45720" cy="1508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136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3429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copy, A/B tests, optimizes targeting. Human approves brand messaging.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4206240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2E6B4F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4206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→ 2 days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Human Oversight Makes Agents Better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25880"/>
            <a:ext cx="54864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Catches errors before they matter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30-second review prevents a 30-hour cleanup. Checkpoints catch drift before it gets expensive.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94560"/>
            <a:ext cx="54864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402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than fully manual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532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agents, humans do 100% of the work. With agents + oversight, humans do ~10% — just the high-judgment parts.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063240"/>
            <a:ext cx="54864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08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trust gradually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4015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more checkpoints, reduce as confidence grows. Teams adopt AI faster when they feel in control.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931920"/>
            <a:ext cx="54864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77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outcomes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2702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intuition + AI speed = results neither achieves alone. Humans catch nuance. Agents handle scale.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to Navigate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25880"/>
            <a:ext cx="54864" cy="5486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441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compounding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step early can cascade. Validation layers and checkpoints are essential.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039112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39112"/>
            <a:ext cx="54864" cy="5486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3134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an agent made a decision is critical for debugging and trust.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752344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52344"/>
            <a:ext cx="54864" cy="5486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770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boundaries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02666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tool access need carefully scoped permissions. Least privilege is non-negotiable.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465576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465576"/>
            <a:ext cx="54864" cy="5486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4838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management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73989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can iterate extensively. Without guardrails, compute costs spiral.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78808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178808"/>
            <a:ext cx="54864" cy="5486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1970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4531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agent performance is harder than single-response quality. New frameworks needed.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the shift from AI-as-tool to AI-as-collaborator.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makes agents more efficient — humans focus on judgment, not grunt work.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spot: agents handle routine execution, humans approve high-stakes decisions.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impact is already here: 8-10x efficiency gains across industries.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deployment means checkpoints, scoped permissions, and gradually earned trust.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is Agentic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657600" y="2377440"/>
            <a:ext cx="182880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evolving from tools we operate to agents that work alongside us.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don't do less — they do what matters most.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3566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isn't whether to adopt agentic AI.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how to build the right partnership between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 and AI capability.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</dc:title>
  <dc:subject>PptxGenJS Presentation</dc:subject>
  <dc:creator>Claude</dc:creator>
  <cp:lastModifiedBy>Claude</cp:lastModifiedBy>
  <cp:revision>1</cp:revision>
  <dcterms:created xsi:type="dcterms:W3CDTF">2026-04-10T03:13:02Z</dcterms:created>
  <dcterms:modified xsi:type="dcterms:W3CDTF">2026-04-10T03:13:02Z</dcterms:modified>
</cp:coreProperties>
</file>