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cd8434a5f5d4a82" /><Relationship Type="http://schemas.openxmlformats.org/officeDocument/2006/relationships/extended-properties" Target="/docProps/app.xml" Id="R93f31c41896f4f62" /><Relationship Type="http://schemas.openxmlformats.org/officeDocument/2006/relationships/officeDocument" Target="/ppt/presentation.xml" Id="Rfe981e3477b4469d" /></Relationships>
</file>

<file path=ppt/presentation.xml><?xml version="1.0" encoding="utf-8"?>
<p:presentation xmlns:p="http://schemas.openxmlformats.org/presentationml/2006/main">
  <p:sldMasterIdLst>
    <p:sldMasterId xmlns:r="http://schemas.openxmlformats.org/officeDocument/2006/relationships" id="2147483648" r:id="R3d587822d2a549bf"/>
  </p:sldMasterIdLst>
  <p:notesMasterIdLst>
    <p:notesMasterId xmlns:r="http://schemas.openxmlformats.org/officeDocument/2006/relationships" r:id="R6b7272d626f841d4"/>
  </p:notesMasterIdLst>
  <p:sldIdLst>
    <p:sldId xmlns:r="http://schemas.openxmlformats.org/officeDocument/2006/relationships" id="256" r:id="R0fca0158dbab4185"/>
    <p:sldId xmlns:r="http://schemas.openxmlformats.org/officeDocument/2006/relationships" id="257" r:id="R49e00bd6b0b0478e"/>
    <p:sldId xmlns:r="http://schemas.openxmlformats.org/officeDocument/2006/relationships" id="258" r:id="R2cbbd768658842f1"/>
    <p:sldId xmlns:r="http://schemas.openxmlformats.org/officeDocument/2006/relationships" id="259" r:id="R455d63f441304a19"/>
    <p:sldId xmlns:r="http://schemas.openxmlformats.org/officeDocument/2006/relationships" id="260" r:id="R25bde6be89e148e8"/>
    <p:sldId xmlns:r="http://schemas.openxmlformats.org/officeDocument/2006/relationships" id="261" r:id="Rcdffb6a7d19b403a"/>
    <p:sldId xmlns:r="http://schemas.openxmlformats.org/officeDocument/2006/relationships" id="262" r:id="R298e98328e9c43eb"/>
    <p:sldId xmlns:r="http://schemas.openxmlformats.org/officeDocument/2006/relationships" id="263" r:id="R802f53c0b61f48dc"/>
    <p:sldId xmlns:r="http://schemas.openxmlformats.org/officeDocument/2006/relationships" id="264" r:id="Rd4218bfe6e634584"/>
    <p:sldId xmlns:r="http://schemas.openxmlformats.org/officeDocument/2006/relationships" id="265" r:id="Rdb023e723c9e4df6"/>
    <p:sldId xmlns:r="http://schemas.openxmlformats.org/officeDocument/2006/relationships" id="266" r:id="Rd702e475c3f84f5e"/>
    <p:sldId xmlns:r="http://schemas.openxmlformats.org/officeDocument/2006/relationships" id="267" r:id="Rdcff7cb422bf40c0"/>
    <p:sldId xmlns:r="http://schemas.openxmlformats.org/officeDocument/2006/relationships" id="268" r:id="Rb914c9ab52094d7e"/>
    <p:sldId xmlns:r="http://schemas.openxmlformats.org/officeDocument/2006/relationships" id="269" r:id="R7140d21c2dd74da6"/>
    <p:sldId xmlns:r="http://schemas.openxmlformats.org/officeDocument/2006/relationships" id="270" r:id="Rb871915ec8284a2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a2eb1b683bb412e" /><Relationship Type="http://schemas.openxmlformats.org/officeDocument/2006/relationships/slideMaster" Target="/ppt/slideMasters/slideMaster1.xml" Id="R3d587822d2a549bf" /><Relationship Type="http://schemas.openxmlformats.org/officeDocument/2006/relationships/notesMaster" Target="/ppt/notesMasters/notesMaster1.xml" Id="R6b7272d626f841d4" /><Relationship Type="http://schemas.openxmlformats.org/officeDocument/2006/relationships/presProps" Target="/ppt/presProps.xml" Id="R23d46c649942475a" /><Relationship Type="http://schemas.openxmlformats.org/officeDocument/2006/relationships/tableStyles" Target="/ppt/tableStyles.xml" Id="R6ba73e7f3c4149e4" /><Relationship Type="http://schemas.openxmlformats.org/officeDocument/2006/relationships/slide" Target="/ppt/slides/slide1.xml" Id="R0fca0158dbab4185" /><Relationship Type="http://schemas.openxmlformats.org/officeDocument/2006/relationships/slide" Target="/ppt/slides/slide2.xml" Id="R49e00bd6b0b0478e" /><Relationship Type="http://schemas.openxmlformats.org/officeDocument/2006/relationships/slide" Target="/ppt/slides/slide3.xml" Id="R2cbbd768658842f1" /><Relationship Type="http://schemas.openxmlformats.org/officeDocument/2006/relationships/slide" Target="/ppt/slides/slide4.xml" Id="R455d63f441304a19" /><Relationship Type="http://schemas.openxmlformats.org/officeDocument/2006/relationships/slide" Target="/ppt/slides/slide5.xml" Id="R25bde6be89e148e8" /><Relationship Type="http://schemas.openxmlformats.org/officeDocument/2006/relationships/slide" Target="/ppt/slides/slide6.xml" Id="Rcdffb6a7d19b403a" /><Relationship Type="http://schemas.openxmlformats.org/officeDocument/2006/relationships/slide" Target="/ppt/slides/slide7.xml" Id="R298e98328e9c43eb" /><Relationship Type="http://schemas.openxmlformats.org/officeDocument/2006/relationships/slide" Target="/ppt/slides/slide8.xml" Id="R802f53c0b61f48dc" /><Relationship Type="http://schemas.openxmlformats.org/officeDocument/2006/relationships/slide" Target="/ppt/slides/slide9.xml" Id="Rd4218bfe6e634584" /><Relationship Type="http://schemas.openxmlformats.org/officeDocument/2006/relationships/slide" Target="/ppt/slides/slide10.xml" Id="Rdb023e723c9e4df6" /><Relationship Type="http://schemas.openxmlformats.org/officeDocument/2006/relationships/slide" Target="/ppt/slides/slide11.xml" Id="Rd702e475c3f84f5e" /><Relationship Type="http://schemas.openxmlformats.org/officeDocument/2006/relationships/slide" Target="/ppt/slides/slide12.xml" Id="Rdcff7cb422bf40c0" /><Relationship Type="http://schemas.openxmlformats.org/officeDocument/2006/relationships/slide" Target="/ppt/slides/slide13.xml" Id="Rb914c9ab52094d7e" /><Relationship Type="http://schemas.openxmlformats.org/officeDocument/2006/relationships/slide" Target="/ppt/slides/slide14.xml" Id="R7140d21c2dd74da6" /><Relationship Type="http://schemas.openxmlformats.org/officeDocument/2006/relationships/slide" Target="/ppt/slides/slide15.xml" Id="Rb871915ec8284a2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583198967df469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d878196ebb14a11" /><Relationship Type="http://schemas.openxmlformats.org/officeDocument/2006/relationships/notesMaster" Target="/ppt/notesMasters/notesMaster1.xml" Id="Rb4f779255edc4e96" /></Relationships>
</file>

<file path=ppt/notesSlides/_rels/notesSlide2.xml.rels>&#65279;<?xml version="1.0" encoding="utf-8"?><Relationships xmlns="http://schemas.openxmlformats.org/package/2006/relationships"><Relationship Type="http://schemas.openxmlformats.org/officeDocument/2006/relationships/slide" Target="/ppt/slides/slide2.xml" Id="R5c851d633bc14952" /><Relationship Type="http://schemas.openxmlformats.org/officeDocument/2006/relationships/notesMaster" Target="/ppt/notesMasters/notesMaster1.xml" Id="R1db54d0f9b274b2b" /></Relationships>
</file>

<file path=ppt/notesSlides/_rels/notesSlide3.xml.rels>&#65279;<?xml version="1.0" encoding="utf-8"?><Relationships xmlns="http://schemas.openxmlformats.org/package/2006/relationships"><Relationship Type="http://schemas.openxmlformats.org/officeDocument/2006/relationships/slide" Target="/ppt/slides/slide3.xml" Id="Rc7756e4f19e24961" /><Relationship Type="http://schemas.openxmlformats.org/officeDocument/2006/relationships/notesMaster" Target="/ppt/notesMasters/notesMaster1.xml" Id="Rd485c1f0854b4e7c" /></Relationships>
</file>

<file path=ppt/notesSlides/_rels/notesSlide4.xml.rels>&#65279;<?xml version="1.0" encoding="utf-8"?><Relationships xmlns="http://schemas.openxmlformats.org/package/2006/relationships"><Relationship Type="http://schemas.openxmlformats.org/officeDocument/2006/relationships/slide" Target="/ppt/slides/slide4.xml" Id="Rfa365e64e50042b3" /><Relationship Type="http://schemas.openxmlformats.org/officeDocument/2006/relationships/notesMaster" Target="/ppt/notesMasters/notesMaster1.xml" Id="R028b37a1f6ee47de" /></Relationships>
</file>

<file path=ppt/notesSlides/_rels/notesSlide5.xml.rels>&#65279;<?xml version="1.0" encoding="utf-8"?><Relationships xmlns="http://schemas.openxmlformats.org/package/2006/relationships"><Relationship Type="http://schemas.openxmlformats.org/officeDocument/2006/relationships/slide" Target="/ppt/slides/slide5.xml" Id="Rb8ecb29774d74d09" /><Relationship Type="http://schemas.openxmlformats.org/officeDocument/2006/relationships/notesMaster" Target="/ppt/notesMasters/notesMaster1.xml" Id="R3a76f4a89c7a4280" /></Relationships>
</file>

<file path=ppt/notesSlides/_rels/notesSlide6.xml.rels>&#65279;<?xml version="1.0" encoding="utf-8"?><Relationships xmlns="http://schemas.openxmlformats.org/package/2006/relationships"><Relationship Type="http://schemas.openxmlformats.org/officeDocument/2006/relationships/slide" Target="/ppt/slides/slide6.xml" Id="R3a1de04c4bcc47de" /><Relationship Type="http://schemas.openxmlformats.org/officeDocument/2006/relationships/notesMaster" Target="/ppt/notesMasters/notesMaster1.xml" Id="R8b44f498facc4d1f" /></Relationships>
</file>

<file path=ppt/notesSlides/_rels/notesSlide7.xml.rels>&#65279;<?xml version="1.0" encoding="utf-8"?><Relationships xmlns="http://schemas.openxmlformats.org/package/2006/relationships"><Relationship Type="http://schemas.openxmlformats.org/officeDocument/2006/relationships/slide" Target="/ppt/slides/slide7.xml" Id="R36c6a3c8ec894a14" /><Relationship Type="http://schemas.openxmlformats.org/officeDocument/2006/relationships/notesMaster" Target="/ppt/notesMasters/notesMaster1.xml" Id="R1c6a1b0f3c9b4c30" /></Relationships>
</file>

<file path=ppt/notesSlides/_rels/notesSlide8.xml.rels>&#65279;<?xml version="1.0" encoding="utf-8"?><Relationships xmlns="http://schemas.openxmlformats.org/package/2006/relationships"><Relationship Type="http://schemas.openxmlformats.org/officeDocument/2006/relationships/slide" Target="/ppt/slides/slide8.xml" Id="Rdad816ae215746e7" /><Relationship Type="http://schemas.openxmlformats.org/officeDocument/2006/relationships/notesMaster" Target="/ppt/notesMasters/notesMaster1.xml" Id="R1f98e76f59ac4997" /></Relationships>
</file>

<file path=ppt/notesSlides/_rels/notesSlide9.xml.rels>&#65279;<?xml version="1.0" encoding="utf-8"?><Relationships xmlns="http://schemas.openxmlformats.org/package/2006/relationships"><Relationship Type="http://schemas.openxmlformats.org/officeDocument/2006/relationships/slide" Target="/ppt/slides/slide9.xml" Id="R11272ca1af67413e" /><Relationship Type="http://schemas.openxmlformats.org/officeDocument/2006/relationships/notesMaster" Target="/ppt/notesMasters/notesMaster1.xml" Id="Rfb5469d25357492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56d381399e44bdb" /><Relationship Type="http://schemas.openxmlformats.org/officeDocument/2006/relationships/notesMaster" Target="/ppt/notesMasters/notesMaster1.xml" Id="R226142453c8b4e2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039bb7499e44b0a" /><Relationship Type="http://schemas.openxmlformats.org/officeDocument/2006/relationships/notesMaster" Target="/ppt/notesMasters/notesMaster1.xml" Id="R88a3d16e744349f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ff9aab4cac244cd" /><Relationship Type="http://schemas.openxmlformats.org/officeDocument/2006/relationships/notesMaster" Target="/ppt/notesMasters/notesMaster1.xml" Id="R97a0ba73a8a445f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eb11ba54f974152" /><Relationship Type="http://schemas.openxmlformats.org/officeDocument/2006/relationships/notesMaster" Target="/ppt/notesMasters/notesMaster1.xml" Id="Rf770957c220f4d5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7d8760694834a88" /><Relationship Type="http://schemas.openxmlformats.org/officeDocument/2006/relationships/notesMaster" Target="/ppt/notesMasters/notesMaster1.xml" Id="R1657b24ccbf14fe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6d95dcaef99481f" /><Relationship Type="http://schemas.openxmlformats.org/officeDocument/2006/relationships/notesMaster" Target="/ppt/notesMasters/notesMaster1.xml" Id="R79c27b0f4c094cc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me start with a simple premise. Private banking has never been short of intelligence, products or capital. The scarce resource has always been expert attention.</a:t>
            </a:r>
          </a:p>
          <a:p xmlns:a="http://schemas.openxmlformats.org/drawingml/2006/main">
            <a:r>
              <a:t/>
            </a:r>
          </a:p>
          <a:p xmlns:a="http://schemas.openxmlformats.org/drawingml/2006/main">
            <a:r>
              <a:t>The right answer for a client often already exists somewhere in J.P. Morgan. It may sit with the banker who knows the family, an investor with a differentiated view, a planner who has solved a similar problem, a lender who understands the right structure, or an operations professional who knows how to get something done. The challenge is getting that intelligence to the right relationship, at the right moment, already translated into action.</a:t>
            </a:r>
          </a:p>
          <a:p xmlns:a="http://schemas.openxmlformats.org/drawingml/2006/main">
            <a:r>
              <a:t/>
            </a:r>
          </a:p>
          <a:p xmlns:a="http://schemas.openxmlformats.org/drawingml/2006/main">
            <a:r>
              <a:t>Our ambition is simple. Every client should feel that the full intelligence of J.P. Morgan is continuously working for them. Every employee should feel that they have a trusted digital team helping them anticipate, prepare and act.</a:t>
            </a:r>
          </a:p>
          <a:p xmlns:a="http://schemas.openxmlformats.org/drawingml/2006/main">
            <a:r>
              <a:t/>
            </a:r>
          </a:p>
          <a:p xmlns:a="http://schemas.openxmlformats.org/drawingml/2006/main">
            <a:r>
              <a:t>This is not a plan for more chatbots. It is a plan for a Private Bank that remembers, anticipates, coordinates, acts and learns as one. People remain at the center of judgment, advice and trust.</a:t>
            </a:r>
          </a:p>
          <a:p xmlns:a="http://schemas.openxmlformats.org/drawingml/2006/main">
            <a:r>
              <a:t/>
            </a:r>
          </a:p>
          <a:p xmlns:a="http://schemas.openxmlformats.org/drawingml/2006/main">
            <a:r>
              <a:t>[Sources]</a:t>
            </a:r>
          </a:p>
          <a:p xmlns:a="http://schemas.openxmlformats.org/drawingml/2006/main">
            <a:r>
              <a:t>- Internal AI-native Private Bank vision materials developed with the user; no external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strategic opportunity is not the model itself. Models will improve and become broadly available. Our advantage is the institution we can place behind them.</a:t>
            </a:r>
          </a:p>
          <a:p xmlns:a="http://schemas.openxmlformats.org/drawingml/2006/main">
            <a:r>
              <a:t/>
            </a:r>
          </a:p>
          <a:p xmlns:a="http://schemas.openxmlformats.org/drawingml/2006/main">
            <a:r>
              <a:t>Today, the best answer often exists somewhere in the firm, but applications, handoffs and organizational boundaries slow it down. A client can experience pieces of J.P. Morgan rather than the whole institution.</a:t>
            </a:r>
          </a:p>
          <a:p xmlns:a="http://schemas.openxmlformats.org/drawingml/2006/main">
            <a:r>
              <a:t/>
            </a:r>
          </a:p>
          <a:p xmlns:a="http://schemas.openxmlformats.org/drawingml/2006/main">
            <a:r>
              <a:t>We have assets that a stand-alone model does not own: trusted relationships, permissioned client context, expert bankers and specialists, product breadth, controlled execution, a strong risk framework and a physical network where consequential decisions already happen.</a:t>
            </a:r>
          </a:p>
          <a:p xmlns:a="http://schemas.openxmlformats.org/drawingml/2006/main">
            <a:r>
              <a:t/>
            </a:r>
          </a:p>
          <a:p xmlns:a="http://schemas.openxmlformats.org/drawingml/2006/main">
            <a:r>
              <a:t>The opportunity is to connect those assets around each client. AI can remove the friction between insight and action, while our people remain accountable for the relationship. That is the reframe. We are not inserting AI into every workflow we already have. We are redesigning the relationship model around the client.</a:t>
            </a:r>
          </a:p>
          <a:p xmlns:a="http://schemas.openxmlformats.org/drawingml/2006/main">
            <a:r>
              <a:t/>
            </a:r>
          </a:p>
          <a:p xmlns:a="http://schemas.openxmlformats.org/drawingml/2006/main">
            <a:r>
              <a:t>[Sources]</a:t>
            </a:r>
          </a:p>
          <a:p xmlns:a="http://schemas.openxmlformats.org/drawingml/2006/main">
            <a:r>
              <a:t>- Internal AI-native Private Bank vision materials developed with the user; no external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relationship, not the individual request or application, becomes the organizing unit.</a:t>
            </a:r>
          </a:p>
          <a:p xmlns:a="http://schemas.openxmlformats.org/drawingml/2006/main">
            <a:r>
              <a:t/>
            </a:r>
          </a:p>
          <a:p xmlns:a="http://schemas.openxmlformats.org/drawingml/2006/main">
            <a:r>
              <a:t>Every permitted interaction strengthens one living understanding of the client. That memory gives the human and digital team a common starting point. The team shares one action state, so everyone can see what is being considered, what is being prepared, what requires a decision and what has been completed. Outcomes then improve the next interaction.</a:t>
            </a:r>
          </a:p>
          <a:p xmlns:a="http://schemas.openxmlformats.org/drawingml/2006/main">
            <a:r>
              <a:t/>
            </a:r>
          </a:p>
          <a:p xmlns:a="http://schemas.openxmlformats.org/drawingml/2006/main">
            <a:r>
              <a:t>Coach is the front door and orchestrator. The Client Agent is the permissioned relationship memory. Hive senses what clients and the field are experiencing. Approved skills and controlled systems turn intelligence into action.</a:t>
            </a:r>
          </a:p>
          <a:p xmlns:a="http://schemas.openxmlformats.org/drawingml/2006/main">
            <a:r>
              <a:t/>
            </a:r>
          </a:p>
          <a:p xmlns:a="http://schemas.openxmlformats.org/drawingml/2006/main">
            <a:r>
              <a:t>The rest of the deck makes this map tangible: the Smartest Room, Command and Guided modes, specialist intelligence, service automation, the client lifecycle, talent development, leadership tools, governance and the learning loop. These are not separate products. They are expressions of one relationship operating system.</a:t>
            </a:r>
          </a:p>
          <a:p xmlns:a="http://schemas.openxmlformats.org/drawingml/2006/main">
            <a:r>
              <a:t/>
            </a:r>
          </a:p>
          <a:p xmlns:a="http://schemas.openxmlformats.org/drawingml/2006/main">
            <a:r>
              <a:t>[Sources]</a:t>
            </a:r>
          </a:p>
          <a:p xmlns:a="http://schemas.openxmlformats.org/drawingml/2006/main">
            <a:r>
              <a:t>- Internal AI-native Private Bank vision materials developed with the user; no external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the center of each relationship is a persistent, permissioned Client Agent. It maintains the family, entities, goals, preferences, portfolios, plans, prior decisions, open questions and every commitment we have made.</a:t>
            </a:r>
          </a:p>
          <a:p xmlns:a="http://schemas.openxmlformats.org/drawingml/2006/main">
            <a:r>
              <a:t/>
            </a:r>
          </a:p>
          <a:p xmlns:a="http://schemas.openxmlformats.org/drawingml/2006/main">
            <a:r>
              <a:t>This is more than a better CRM record. It is living relationship memory, and it knows how it knows. Authoritative data, confirmed facts, advisor judgment, observed signals and AI hypotheses remain clearly distinguished. Each memory carries provenance, recency and permission.</a:t>
            </a:r>
          </a:p>
          <a:p xmlns:a="http://schemas.openxmlformats.org/drawingml/2006/main">
            <a:r>
              <a:t/>
            </a:r>
          </a:p>
          <a:p xmlns:a="http://schemas.openxmlformats.org/drawingml/2006/main">
            <a:r>
              <a:t>When uncertainty matters, the Client Agent can ask the advisor a focused question, such as whether a priority appears to be changing. The advisor can confirm, correct or add context.</a:t>
            </a:r>
          </a:p>
          <a:p xmlns:a="http://schemas.openxmlformats.org/drawingml/2006/main">
            <a:r>
              <a:t/>
            </a:r>
          </a:p>
          <a:p xmlns:a="http://schemas.openxmlformats.org/drawingml/2006/main">
            <a:r>
              <a:t>The Client Agent also acts as relationship chief of staff. It coordinates investment, lending, planning and service capabilities around one plan, prevents conflicting outreach and tracks every promise through completion. The principle is simple: one client, one living memory, one coordinated team and one action state.</a:t>
            </a:r>
          </a:p>
          <a:p xmlns:a="http://schemas.openxmlformats.org/drawingml/2006/main">
            <a:r>
              <a:t/>
            </a:r>
          </a:p>
          <a:p xmlns:a="http://schemas.openxmlformats.org/drawingml/2006/main">
            <a:r>
              <a:t>[Sources]</a:t>
            </a:r>
          </a:p>
          <a:p xmlns:a="http://schemas.openxmlformats.org/drawingml/2006/main">
            <a:r>
              <a:t>- Internal AI-native Private Bank vision materials developed with the user; no external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Smartest Room is the most visible expression of the vision because it makes the full institution present at a moment that matters to the client.</a:t>
            </a:r>
          </a:p>
          <a:p xmlns:a="http://schemas.openxmlformats.org/drawingml/2006/main">
            <a:r>
              <a:t/>
            </a:r>
          </a:p>
          <a:p xmlns:a="http://schemas.openxmlformats.org/drawingml/2006/main">
            <a:r>
              <a:t>Before the meeting, the Client Agent assembles the complete context, identifies what changed and asks the banker to validate any uncertain assumption. The client can help shape the agenda, and Coach can prepare the relevant scenarios and specialists.</a:t>
            </a:r>
          </a:p>
          <a:p xmlns:a="http://schemas.openxmlformats.org/drawingml/2006/main">
            <a:r>
              <a:t/>
            </a:r>
          </a:p>
          <a:p xmlns:a="http://schemas.openxmlformats.org/drawingml/2006/main">
            <a:r>
              <a:t>During the meeting, the banker remains the trusted lead. With permission, Coach can bring relevant data, approved analysis and firm expertise onto the screen. A client considering a business sale can explore the implications for liquidity, income, risk and the family plan, change assumptions and compare paths live. Sources, limitations and the status of each analysis remain visible.</a:t>
            </a:r>
          </a:p>
          <a:p xmlns:a="http://schemas.openxmlformats.org/drawingml/2006/main">
            <a:r>
              <a:t/>
            </a:r>
          </a:p>
          <a:p xmlns:a="http://schemas.openxmlformats.org/drawingml/2006/main">
            <a:r>
              <a:t>Before the client leaves, decisions remain distinct from ideas that were only explored. Commitments receive owners, approved work begins and the client can continue in a secure workspace. A visit to J.P. Morgan becomes a decision environment clients cannot reproduce alone.</a:t>
            </a:r>
          </a:p>
          <a:p xmlns:a="http://schemas.openxmlformats.org/drawingml/2006/main">
            <a:r>
              <a:t/>
            </a:r>
          </a:p>
          <a:p xmlns:a="http://schemas.openxmlformats.org/drawingml/2006/main">
            <a:r>
              <a:t>[Sources]</a:t>
            </a:r>
          </a:p>
          <a:p xmlns:a="http://schemas.openxmlformats.org/drawingml/2006/main">
            <a:r>
              <a:t>- Internal AI-native Private Bank vision materials developed with the user; no external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employee experience should adapt to the person and the task.</a:t>
            </a:r>
          </a:p>
          <a:p xmlns:a="http://schemas.openxmlformats.org/drawingml/2006/main">
            <a:r>
              <a:t/>
            </a:r>
          </a:p>
          <a:p xmlns:a="http://schemas.openxmlformats.org/drawingml/2006/main">
            <a:r>
              <a:t>Our most experienced bankers, advisors and investors do not need AI prescribing how to do their jobs. They need leverage. In Command Mode, they state the outcome rather than the application. Coach can assemble analysis, generate the required workspace, monitor a client condition or prepare work across an entire book. They begin to operate like leaders of an intelligent, always-on digital team.</a:t>
            </a:r>
          </a:p>
          <a:p xmlns:a="http://schemas.openxmlformats.org/drawingml/2006/main">
            <a:r>
              <a:t/>
            </a:r>
          </a:p>
          <a:p xmlns:a="http://schemas.openxmlformats.org/drawingml/2006/main">
            <a:r>
              <a:t>In Guided Mode, the same platform becomes an Autopilot for the day. It identifies the few relationships and commitments that matter now, explains what changed, brings in the relevant specialist view and prepares the next step. It can coach the next conversation and strengthen judgment over time.</a:t>
            </a:r>
          </a:p>
          <a:p xmlns:a="http://schemas.openxmlformats.org/drawingml/2006/main">
            <a:r>
              <a:t/>
            </a:r>
          </a:p>
          <a:p xmlns:a="http://schemas.openxmlformats.org/drawingml/2006/main">
            <a:r>
              <a:t>These are not separate products or permanent classifications. The same person may want complete command in one domain and more guidance in another. AI expands the ceiling for our best people while raising the standard for everyone.</a:t>
            </a:r>
          </a:p>
          <a:p xmlns:a="http://schemas.openxmlformats.org/drawingml/2006/main">
            <a:r>
              <a:t/>
            </a:r>
          </a:p>
          <a:p xmlns:a="http://schemas.openxmlformats.org/drawingml/2006/main">
            <a:r>
              <a:t>[Sources]</a:t>
            </a:r>
          </a:p>
          <a:p xmlns:a="http://schemas.openxmlformats.org/drawingml/2006/main">
            <a:r>
              <a:t>- Internal AI-native Private Bank vision materials developed with the user; no external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specialists generate differentiated ideas every day. The friction is capturing the thinking, making it usable and finding the relationships for which it matters.</a:t>
            </a:r>
          </a:p>
          <a:p xmlns:a="http://schemas.openxmlformats.org/drawingml/2006/main">
            <a:r>
              <a:t/>
            </a:r>
          </a:p>
          <a:p xmlns:a="http://schemas.openxmlformats.org/drawingml/2006/main">
            <a:r>
              <a:t>A portfolio manager, lender or wealth planner should be able to speak to Coach, leave a voice note, paste rough thoughts or upload research. Coach asks a few intelligent questions and structures the thesis, evidence, risks, counterarguments, relevant client conditions, suitability considerations and expiration. The specialist reviews and approves it once.</a:t>
            </a:r>
          </a:p>
          <a:p xmlns:a="http://schemas.openxmlformats.org/drawingml/2006/main">
            <a:r>
              <a:t/>
            </a:r>
          </a:p>
          <a:p xmlns:a="http://schemas.openxmlformats.org/drawingml/2006/main">
            <a:r>
              <a:t>Client Agents then evaluate whether it may be relevant to their relationships. The advisor receives the idea with a client-specific explanation and prepared analysis or outreach, while retaining suitability judgment. Broadcasting becomes effortless at creation and precise in distribution.</a:t>
            </a:r>
          </a:p>
          <a:p xmlns:a="http://schemas.openxmlformats.org/drawingml/2006/main">
            <a:r>
              <a:t/>
            </a:r>
          </a:p>
          <a:p xmlns:a="http://schemas.openxmlformats.org/drawingml/2006/main">
            <a:r>
              <a:t>Hive closes the loop. In appropriately aggregated form, it shows what clients are asking, what concerns are emerging and where unanswered needs exist. Specialists can respond, then see how ideas were used and what outcomes followed. Over time, their best thinking becomes reusable institutional capability.</a:t>
            </a:r>
          </a:p>
          <a:p xmlns:a="http://schemas.openxmlformats.org/drawingml/2006/main">
            <a:r>
              <a:t/>
            </a:r>
          </a:p>
          <a:p xmlns:a="http://schemas.openxmlformats.org/drawingml/2006/main">
            <a:r>
              <a:t>[Sources]</a:t>
            </a:r>
          </a:p>
          <a:p xmlns:a="http://schemas.openxmlformats.org/drawingml/2006/main">
            <a:r>
              <a:t>- Internal AI-native Private Bank vision materials developed with the user; no external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Intelligence only matters if it can move work to completion.</a:t>
            </a:r>
          </a:p>
          <a:p xmlns:a="http://schemas.openxmlformats.org/drawingml/2006/main">
            <a:r>
              <a:t/>
            </a:r>
          </a:p>
          <a:p xmlns:a="http://schemas.openxmlformats.org/drawingml/2006/main">
            <a:r>
              <a:t>When a client requests an address change, mortgage, line of credit or another service, the banker should not need to navigate several applications and coordinate multiple teams manually. Coach identifies the intent, relationship, authority and risk. Approved skills gather what is required and prepare the work. The Action Center applies the right human judgment and approval. Controlled systems execute the change or transaction.</a:t>
            </a:r>
          </a:p>
          <a:p xmlns:a="http://schemas.openxmlformats.org/drawingml/2006/main">
            <a:r>
              <a:t/>
            </a:r>
          </a:p>
          <a:p xmlns:a="http://schemas.openxmlformats.org/drawingml/2006/main">
            <a:r>
              <a:t>Autonomy grows deliberately. The system can first observe, then recommend, prepare, execute with approval and eventually complete narrow low-risk actions within policy. Some activities remain human-only.</a:t>
            </a:r>
          </a:p>
          <a:p xmlns:a="http://schemas.openxmlformats.org/drawingml/2006/main">
            <a:r>
              <a:t/>
            </a:r>
          </a:p>
          <a:p xmlns:a="http://schemas.openxmlformats.org/drawingml/2006/main">
            <a:r>
              <a:t>When something fails, operations receives the complete history, the reason for the failure and possible resolutions before an expert steps in. Operations professionals shift from moving information between systems to supervising intelligent execution, handling genuine exceptions and improving the workflows themselves. AI may reason, prepare and coordinate. Controlled systems commit.</a:t>
            </a:r>
          </a:p>
          <a:p xmlns:a="http://schemas.openxmlformats.org/drawingml/2006/main">
            <a:r>
              <a:t/>
            </a:r>
          </a:p>
          <a:p xmlns:a="http://schemas.openxmlformats.org/drawingml/2006/main">
            <a:r>
              <a:t>[Sources]</a:t>
            </a:r>
          </a:p>
          <a:p xmlns:a="http://schemas.openxmlformats.org/drawingml/2006/main">
            <a:r>
              <a:t>- Internal AI-native Private Bank vision materials developed with the user; no external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intelligence should follow the relationship from prospect to multigenerational family.</a:t>
            </a:r>
          </a:p>
          <a:p xmlns:a="http://schemas.openxmlformats.org/drawingml/2006/main">
            <a:r>
              <a:t/>
            </a:r>
          </a:p>
          <a:p xmlns:a="http://schemas.openxmlformats.org/drawingml/2006/main">
            <a:r>
              <a:t>A Prospect Agent can support research, map warm paths and prepare a differentiated first conversation. When the prospect chooses J.P. Morgan, the permissioned context moves into KYC, onboarding, funding and the first relationship plan. The memory does not reset.</a:t>
            </a:r>
          </a:p>
          <a:p xmlns:a="http://schemas.openxmlformats.org/drawingml/2006/main">
            <a:r>
              <a:t/>
            </a:r>
          </a:p>
          <a:p xmlns:a="http://schemas.openxmlformats.org/drawingml/2006/main">
            <a:r>
              <a:t>The Client Agent can maintain a carefully permissioned relationship graph across spouses, children, trustees, beneficiaries, family-office professionals and external advisors. Each person sees only what identity, consent and purpose allow.</a:t>
            </a:r>
          </a:p>
          <a:p xmlns:a="http://schemas.openxmlformats.org/drawingml/2006/main">
            <a:r>
              <a:t/>
            </a:r>
          </a:p>
          <a:p xmlns:a="http://schemas.openxmlformats.org/drawingml/2006/main">
            <a:r>
              <a:t>Clients also experience the platform through an intelligent companion. It can answer routine questions, explain developments in the client's context, explore scenarios, monitor progress and complete appropriate self-service actions. When human judgment is needed, the banker enters with the full context.</a:t>
            </a:r>
          </a:p>
          <a:p xmlns:a="http://schemas.openxmlformats.org/drawingml/2006/main">
            <a:r>
              <a:t/>
            </a:r>
          </a:p>
          <a:p xmlns:a="http://schemas.openxmlformats.org/drawingml/2006/main">
            <a:r>
              <a:t>The same platform can help protect clients against impersonation, deepfakes, social engineering and financial exploitation. J.P. Morgan should be both a powerful and a safe place to navigate an AI-driven world.</a:t>
            </a:r>
          </a:p>
          <a:p xmlns:a="http://schemas.openxmlformats.org/drawingml/2006/main">
            <a:r>
              <a:t/>
            </a:r>
          </a:p>
          <a:p xmlns:a="http://schemas.openxmlformats.org/drawingml/2006/main">
            <a:r>
              <a:t>[Sources]</a:t>
            </a:r>
          </a:p>
          <a:p xmlns:a="http://schemas.openxmlformats.org/drawingml/2006/main">
            <a:r>
              <a:t>- Internal AI-native Private Bank vision materials developed with the user; no external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 AI automates more of the traditional work performed by junior analysts, we need to redesign how judgment develops.</a:t>
            </a:r>
          </a:p>
          <a:p xmlns:a="http://schemas.openxmlformats.org/drawingml/2006/main">
            <a:r>
              <a:t/>
            </a:r>
          </a:p>
          <a:p xmlns:a="http://schemas.openxmlformats.org/drawingml/2006/main">
            <a:r>
              <a:t>Every new analyst can manage a parallel book of realistic simulated clients with families, businesses, portfolios, inboxes, voices, personalities and changing needs. They can practice investments, lending, wealth planning and client communication, including anxious clients, mistakes and decisions under pressure. At the same time, they continue supporting bankers serving real clients. That is where they learn trust, empathy, nuance and accountability. Simulation accelerates development, but it does not replace real relationships.</a:t>
            </a:r>
          </a:p>
          <a:p xmlns:a="http://schemas.openxmlformats.org/drawingml/2006/main">
            <a:r>
              <a:t/>
            </a:r>
          </a:p>
          <a:p xmlns:a="http://schemas.openxmlformats.org/drawingml/2006/main">
            <a:r>
              <a:t>Power Friday extends continuous development to everyone. Each week, Coach creates a private mirror from permitted signals, recognizes strengths and friction, and proposes one development focus. The employee validates the interpretation, practices through a simulation and applies the lesson to a real upcoming situation.</a:t>
            </a:r>
          </a:p>
          <a:p xmlns:a="http://schemas.openxmlformats.org/drawingml/2006/main">
            <a:r>
              <a:t/>
            </a:r>
          </a:p>
          <a:p xmlns:a="http://schemas.openxmlformats.org/drawingml/2006/main">
            <a:r>
              <a:t>The principle is: your week becomes your curriculum. Development remains transparent, employee-owned and private by default.</a:t>
            </a:r>
          </a:p>
          <a:p xmlns:a="http://schemas.openxmlformats.org/drawingml/2006/main">
            <a:r>
              <a:t/>
            </a:r>
          </a:p>
          <a:p xmlns:a="http://schemas.openxmlformats.org/drawingml/2006/main">
            <a:r>
              <a:t>[Sources]</a:t>
            </a:r>
          </a:p>
          <a:p xmlns:a="http://schemas.openxmlformats.org/drawingml/2006/main">
            <a:r>
              <a:t>- Internal AI-native Private Bank vision materials developed with the user; no external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Leaders should no longer rely primarily on backward-looking reports to understand the business.</a:t>
            </a:r>
          </a:p>
          <a:p xmlns:a="http://schemas.openxmlformats.org/drawingml/2006/main">
            <a:r>
              <a:t/>
            </a:r>
          </a:p>
          <a:p xmlns:a="http://schemas.openxmlformats.org/drawingml/2006/main">
            <a:r>
              <a:t>They need a living view of emerging client needs, outstanding commitments, stalled work, specialist demand, team capacity, capability gaps and meaningful risk. Leadership agents can help identify where an intervention could improve a client outcome, allocate specialists and operations capacity, and turn recurring demand into new skills or workflows.</a:t>
            </a:r>
          </a:p>
          <a:p xmlns:a="http://schemas.openxmlformats.org/drawingml/2006/main">
            <a:r>
              <a:t/>
            </a:r>
          </a:p>
          <a:p xmlns:a="http://schemas.openxmlformats.org/drawingml/2006/main">
            <a:r>
              <a:t>The scorecard should combine adoption with quality, economics and control performance. A feature being available is not the same as creating value.</a:t>
            </a:r>
          </a:p>
          <a:p xmlns:a="http://schemas.openxmlformats.org/drawingml/2006/main">
            <a:r>
              <a:t/>
            </a:r>
          </a:p>
          <a:p xmlns:a="http://schemas.openxmlformats.org/drawingml/2006/main">
            <a:r>
              <a:t>This is not an invitation to monitor every employee interaction. Appropriate aggregation, role-based access and clear boundaries matter. Private development remains private. The leadership objective is earlier support, stronger coaching and better management of the system around employees and clients. Leaders move from reviewing activity after the fact to steering client outcomes, capacity and risk in real time.</a:t>
            </a:r>
          </a:p>
          <a:p xmlns:a="http://schemas.openxmlformats.org/drawingml/2006/main">
            <a:r>
              <a:t/>
            </a:r>
          </a:p>
          <a:p xmlns:a="http://schemas.openxmlformats.org/drawingml/2006/main">
            <a:r>
              <a:t>[Sources]</a:t>
            </a:r>
          </a:p>
          <a:p xmlns:a="http://schemas.openxmlformats.org/drawingml/2006/main">
            <a:r>
              <a:t>- Internal AI-native Private Bank vision materials developed with the user; no external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of these experiences operate on one shared platform.</a:t>
            </a:r>
          </a:p>
          <a:p xmlns:a="http://schemas.openxmlformats.org/drawingml/2006/main">
            <a:r>
              <a:t/>
            </a:r>
          </a:p>
          <a:p xmlns:a="http://schemas.openxmlformats.org/drawingml/2006/main">
            <a:r>
              <a:t>Coach is the place where employees ask and direct. Playbook AI creates the analysis, interface or workspace required for the moment. AI Discover and Autopilot identify what matters before someone asks. Hive senses what is happening across the franchise. Client Agents maintain relationship memory. Certified skills and domain agents encode approved investment, lending, planning and service expertise. Assists and the Action Center move work toward controlled execution.</a:t>
            </a:r>
          </a:p>
          <a:p xmlns:a="http://schemas.openxmlformats.org/drawingml/2006/main">
            <a:r>
              <a:t/>
            </a:r>
          </a:p>
          <a:p xmlns:a="http://schemas.openxmlformats.org/drawingml/2006/main">
            <a:r>
              <a:t>An event layer allows the system to respond to meetings, calls, emails, transactions and markets. A commitment ledger remembers every promise. An attention engine decides what is important enough to surface. A whole-firm intelligence router locates the right expertise. An outcome engine connects recommendations and actions to what happened.</a:t>
            </a:r>
          </a:p>
          <a:p xmlns:a="http://schemas.openxmlformats.org/drawingml/2006/main">
            <a:r>
              <a:t/>
            </a:r>
          </a:p>
          <a:p xmlns:a="http://schemas.openxmlformats.org/drawingml/2006/main">
            <a:r>
              <a:t>The interface stays simple because the complexity sits underneath. Identity, permissions, evidence, suitability, approvals, monitoring and audit remain in the path of every material action.</a:t>
            </a:r>
          </a:p>
          <a:p xmlns:a="http://schemas.openxmlformats.org/drawingml/2006/main">
            <a:r>
              <a:t/>
            </a:r>
          </a:p>
          <a:p xmlns:a="http://schemas.openxmlformats.org/drawingml/2006/main">
            <a:r>
              <a:t>[Sources]</a:t>
            </a:r>
          </a:p>
          <a:p xmlns:a="http://schemas.openxmlformats.org/drawingml/2006/main">
            <a:r>
              <a:t>- Internal AI-native Private Bank vision materials developed with the user; no external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persistent digital workforce requires an operating model as serious as the experience itself.</a:t>
            </a:r>
          </a:p>
          <a:p xmlns:a="http://schemas.openxmlformats.org/drawingml/2006/main">
            <a:r>
              <a:t/>
            </a:r>
          </a:p>
          <a:p xmlns:a="http://schemas.openxmlformats.org/drawingml/2006/main">
            <a:r>
              <a:t>Every production agent and skill needs a named human owner, a clear purpose, approved data and tools, a version, evaluation standards and a review or expiration date. Employees should be able to see which agents are working, what they are monitoring, what they completed and what awaits approval.</a:t>
            </a:r>
          </a:p>
          <a:p xmlns:a="http://schemas.openxmlformats.org/drawingml/2006/main">
            <a:r>
              <a:t/>
            </a:r>
          </a:p>
          <a:p xmlns:a="http://schemas.openxmlformats.org/drawingml/2006/main">
            <a:r>
              <a:t>Autonomy belongs to the action, not the model or the employee. Each action has a ceiling, approval path, limits, reversibility standard and safe-stop behavior. Memory writes are also governed. A statement in a conversation or a model output does not silently become a durable fact.</a:t>
            </a:r>
          </a:p>
          <a:p xmlns:a="http://schemas.openxmlformats.org/drawingml/2006/main">
            <a:r>
              <a:t/>
            </a:r>
          </a:p>
          <a:p xmlns:a="http://schemas.openxmlformats.org/drawingml/2006/main">
            <a:r>
              <a:t>An Agent and Skill Foundry tests capabilities against synthetic cases, versions and publishes them, monitors them in production and eventually retires them. Risk, legal, compliance, supervision, cybersecurity and operations help build the trust layer from the beginning. The better we encode our controls, the more autonomy we can safely provide.</a:t>
            </a:r>
          </a:p>
          <a:p xmlns:a="http://schemas.openxmlformats.org/drawingml/2006/main">
            <a:r>
              <a:t/>
            </a:r>
          </a:p>
          <a:p xmlns:a="http://schemas.openxmlformats.org/drawingml/2006/main">
            <a:r>
              <a:t>[Sources]</a:t>
            </a:r>
          </a:p>
          <a:p xmlns:a="http://schemas.openxmlformats.org/drawingml/2006/main">
            <a:r>
              <a:t>- Internal AI-native Private Bank vision materials developed with the user; no external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strategic advantage comes from the learning loop, not a single feature.</a:t>
            </a:r>
          </a:p>
          <a:p xmlns:a="http://schemas.openxmlformats.org/drawingml/2006/main">
            <a:r>
              <a:t/>
            </a:r>
          </a:p>
          <a:p xmlns:a="http://schemas.openxmlformats.org/drawingml/2006/main">
            <a:r>
              <a:t>Permitted signals enter from client interactions, markets, portfolios, service and specialist activity. The Client Agent understands what changed relative to the relationship. Coach applies the right firm expertise and prepares governed action. The outcome then improves the next recommendation, specialist idea, advisor conversation, workflow and Power Friday experience.</a:t>
            </a:r>
          </a:p>
          <a:p xmlns:a="http://schemas.openxmlformats.org/drawingml/2006/main">
            <a:r>
              <a:t/>
            </a:r>
          </a:p>
          <a:p xmlns:a="http://schemas.openxmlformats.org/drawingml/2006/main">
            <a:r>
              <a:t>Success is measured in outcomes, not prompts or logins. Did the client receive a more relevant and responsive experience? Were commitments completed? Did employees gain useful capacity and better judgment? Did specialist ideas reach more appropriate relationships? Did work complete faster with less rework and fewer exceptions? Did the economics improve while provenance, reliability, reversibility and control performance remained strong?</a:t>
            </a:r>
          </a:p>
          <a:p xmlns:a="http://schemas.openxmlformats.org/drawingml/2006/main">
            <a:r>
              <a:t/>
            </a:r>
          </a:p>
          <a:p xmlns:a="http://schemas.openxmlformats.org/drawingml/2006/main">
            <a:r>
              <a:t>Each lighthouse journey should have a baseline and clear gates across client value, employee leverage, operating quality, economics and trust. Scale is earned when those dimensions improve together.</a:t>
            </a:r>
          </a:p>
          <a:p xmlns:a="http://schemas.openxmlformats.org/drawingml/2006/main">
            <a:r>
              <a:t/>
            </a:r>
          </a:p>
          <a:p xmlns:a="http://schemas.openxmlformats.org/drawingml/2006/main">
            <a:r>
              <a:t>[Sources]</a:t>
            </a:r>
          </a:p>
          <a:p xmlns:a="http://schemas.openxmlformats.org/drawingml/2006/main">
            <a:r>
              <a:t>- Internal AI-native Private Bank vision materials developed with the user; no external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leadership choice is whether we continue building a portfolio of AI tools or create the operating system for the Private Bank.</a:t>
            </a:r>
          </a:p>
          <a:p xmlns:a="http://schemas.openxmlformats.org/drawingml/2006/main">
            <a:r>
              <a:t/>
            </a:r>
          </a:p>
          <a:p xmlns:a="http://schemas.openxmlformats.org/drawingml/2006/main">
            <a:r>
              <a:t>I would begin with three end-to-end lighthouse journeys. Signal to advice proves the proactive advisor day and Client Agent anticipation. Conversation to action proves the Smartest Room. Request to resolution proves that low-risk service can move from intent to completion. These journeys force us to build reusable platform capabilities rather than disconnected features.</a:t>
            </a:r>
          </a:p>
          <a:p xmlns:a="http://schemas.openxmlformats.org/drawingml/2006/main">
            <a:r>
              <a:t/>
            </a:r>
          </a:p>
          <a:p xmlns:a="http://schemas.openxmlformats.org/drawingml/2006/main">
            <a:r>
              <a:t>The decision is to approve the AI-native Private Bank as one business transformation, with Coach as the front door and orchestrator, the Client Agent as shared relationship memory, and one accountable cross-functional team spanning business, data, technology, operations and controls. We scale only as trust, outcomes and economics earn it.</a:t>
            </a:r>
          </a:p>
          <a:p xmlns:a="http://schemas.openxmlformats.org/drawingml/2006/main">
            <a:r>
              <a:t/>
            </a:r>
          </a:p>
          <a:p xmlns:a="http://schemas.openxmlformats.org/drawingml/2006/main">
            <a:r>
              <a:t>The end state is not a Private Bank filled with chatbots. It is a Private Bank that remembers, anticipates, learns and acts as one. The winner will turn trust, context and expertise into the best decision at the moment that matters. That should be J.P. Morgan.</a:t>
            </a:r>
          </a:p>
          <a:p xmlns:a="http://schemas.openxmlformats.org/drawingml/2006/main">
            <a:r>
              <a:t/>
            </a:r>
          </a:p>
          <a:p xmlns:a="http://schemas.openxmlformats.org/drawingml/2006/main">
            <a:r>
              <a:t>[Sources]</a:t>
            </a:r>
          </a:p>
          <a:p xmlns:a="http://schemas.openxmlformats.org/drawingml/2006/main">
            <a:r>
              <a:t>- Internal AI-native Private Bank vision materials developed with the user; no external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ed9fa24802d478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530526c494d4133" /><Relationship Type="http://schemas.openxmlformats.org/officeDocument/2006/relationships/slideLayout" Target="/ppt/slideLayouts/slideLayout1.xml" Id="R17b40472ff144e7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7b40472ff144e7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d585aa4e3e24364" /><Relationship Type="http://schemas.openxmlformats.org/officeDocument/2006/relationships/notesSlide" Target="/ppt/notesSlides/notesSlide1.xml" Id="Rad2744e6112b437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e71151acc2946d9" /><Relationship Type="http://schemas.openxmlformats.org/officeDocument/2006/relationships/notesSlide" Target="/ppt/notesSlides/notesSlide2.xml" Id="Rcf50e393978943b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509601621024425" /><Relationship Type="http://schemas.openxmlformats.org/officeDocument/2006/relationships/notesSlide" Target="/ppt/notesSlides/notesSlide3.xml" Id="Rf673d8dcd66b4e0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4aee0bc82794dd8" /><Relationship Type="http://schemas.openxmlformats.org/officeDocument/2006/relationships/notesSlide" Target="/ppt/notesSlides/notesSlide4.xml" Id="R38191833e0b14ff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be301ea625e41f0" /><Relationship Type="http://schemas.openxmlformats.org/officeDocument/2006/relationships/notesSlide" Target="/ppt/notesSlides/notesSlide5.xml" Id="R83af6955308f48c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9a58507eec3410a" /><Relationship Type="http://schemas.openxmlformats.org/officeDocument/2006/relationships/notesSlide" Target="/ppt/notesSlides/notesSlide6.xml" Id="R758d221a88794a9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4b2479ef767431c" /><Relationship Type="http://schemas.openxmlformats.org/officeDocument/2006/relationships/notesSlide" Target="/ppt/notesSlides/notesSlide7.xml" Id="Rb92152e6c368408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ec05f06dc734056" /><Relationship Type="http://schemas.openxmlformats.org/officeDocument/2006/relationships/notesSlide" Target="/ppt/notesSlides/notesSlide8.xml" Id="Rb4925fd27c06491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39649b8ca3b40c5" /><Relationship Type="http://schemas.openxmlformats.org/officeDocument/2006/relationships/notesSlide" Target="/ppt/notesSlides/notesSlide9.xml" Id="R7854a8e990374df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7507d038d5c49cd" /><Relationship Type="http://schemas.openxmlformats.org/officeDocument/2006/relationships/notesSlide" Target="/ppt/notesSlides/notesSlide10.xml" Id="R023767e00193491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2d63db928ad4d8b" /><Relationship Type="http://schemas.openxmlformats.org/officeDocument/2006/relationships/notesSlide" Target="/ppt/notesSlides/notesSlide11.xml" Id="R6aca61c4805745c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58bdd033da6434c" /><Relationship Type="http://schemas.openxmlformats.org/officeDocument/2006/relationships/notesSlide" Target="/ppt/notesSlides/notesSlide12.xml" Id="R0197e3131aca45f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2400a3991664c68" /><Relationship Type="http://schemas.openxmlformats.org/officeDocument/2006/relationships/notesSlide" Target="/ppt/notesSlides/notesSlide13.xml" Id="Rbd814dcaa6c64a7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8309ba1ca4c4ebd" /><Relationship Type="http://schemas.openxmlformats.org/officeDocument/2006/relationships/notesSlide" Target="/ppt/notesSlides/notesSlide14.xml" Id="Rca9c461e2659494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8ee8cffbc1e43e0" /><Relationship Type="http://schemas.openxmlformats.org/officeDocument/2006/relationships/notesSlide" Target="/ppt/notesSlides/notesSlide15.xml" Id="R94195eabc8714a68" /></Relationships>
</file>

<file path=ppt/slides/slide1.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6058AE2-8167-471A-BAF1-8D872FC55384}"/>
              </a:ext>
            </a:extLst>
          </p:cNvPr>
          <p:cNvSpPr>
            <a:spLocks xmlns:a="http://schemas.openxmlformats.org/drawingml/2006/main" noGrp="1"/>
          </p:cNvSpPr>
          <p:nvPr/>
        </p:nvSpPr>
        <p:spPr>
          <a:xfrm xmlns:a="http://schemas.openxmlformats.org/drawingml/2006/main">
            <a:off x="685800" y="704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6CB4EE"/>
                </a:solidFill>
              </a:defRPr>
            </a:pPr>
            <a:r>
              <a:rPr sz="975" b="1">
                <a:solidFill>
                  <a:srgbClr val="6CB4EE"/>
                </a:solidFill>
              </a:rPr>
              <a:t>AI-NATIVE PRIVATE BANK</a:t>
            </a:r>
          </a:p>
        </p:txBody>
      </p:sp>
      <p:sp>
        <p:nvSpPr>
          <p:cNvPr id="2" name="deck-title">
            <a:extLst xmlns:a="http://schemas.openxmlformats.org/drawingml/2006/main">
              <a:ext uri="{FF2B5EF4-FFF2-40B4-BE49-F238E27FC236}">
                <a16:creationId xmlns:a16="http://schemas.microsoft.com/office/drawing/2014/main" id="{CF7578A2-A138-4023-B5C3-52C1B9A2CA59}"/>
              </a:ext>
            </a:extLst>
          </p:cNvPr>
          <p:cNvSpPr>
            <a:spLocks xmlns:a="http://schemas.openxmlformats.org/drawingml/2006/main" noGrp="1"/>
          </p:cNvSpPr>
          <p:nvPr/>
        </p:nvSpPr>
        <p:spPr>
          <a:xfrm xmlns:a="http://schemas.openxmlformats.org/drawingml/2006/main">
            <a:off x="685800" y="1857375"/>
            <a:ext cx="8667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4200" b="1">
                <a:solidFill>
                  <a:srgbClr val="FFFFFF"/>
                </a:solidFill>
              </a:defRPr>
            </a:pPr>
            <a:r>
              <a:rPr sz="4200" b="1">
                <a:solidFill>
                  <a:srgbClr val="FFFFFF"/>
                </a:solidFill>
              </a:rPr>
              <a:t>The AI-native Private Bank</a:t>
            </a:r>
          </a:p>
          <a:p xmlns:a="http://schemas.openxmlformats.org/drawingml/2006/main">
            <a:pPr algn="l">
              <a:buNone/>
              <a:defRPr sz="4200" b="1">
                <a:solidFill>
                  <a:srgbClr val="FFFFFF"/>
                </a:solidFill>
              </a:defRPr>
            </a:pPr>
            <a:r>
              <a:rPr sz="4200" b="1">
                <a:solidFill>
                  <a:srgbClr val="FFFFFF"/>
                </a:solidFill>
              </a:rPr>
              <a:t>for every client</a:t>
            </a:r>
          </a:p>
        </p:txBody>
      </p:sp>
      <p:sp>
        <p:nvSpPr>
          <p:cNvPr id="3" name="">
            <a:extLst xmlns:a="http://schemas.openxmlformats.org/drawingml/2006/main">
              <a:ext uri="{FF2B5EF4-FFF2-40B4-BE49-F238E27FC236}">
                <a16:creationId xmlns:a16="http://schemas.microsoft.com/office/drawing/2014/main" id="{8647DF38-D82D-49F5-8CF7-6E9DC1B8DCD9}"/>
              </a:ext>
            </a:extLst>
          </p:cNvPr>
          <p:cNvSpPr>
            <a:spLocks xmlns:a="http://schemas.openxmlformats.org/drawingml/2006/main" noGrp="1"/>
          </p:cNvSpPr>
          <p:nvPr/>
        </p:nvSpPr>
        <p:spPr>
          <a:xfrm xmlns:a="http://schemas.openxmlformats.org/drawingml/2006/main">
            <a:off x="685800" y="3571875"/>
            <a:ext cx="77628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D9E4EC"/>
                </a:solidFill>
              </a:defRPr>
            </a:pPr>
            <a:r>
              <a:rPr sz="1650" b="0">
                <a:solidFill>
                  <a:srgbClr val="D9E4EC"/>
                </a:solidFill>
              </a:rPr>
              <a:t>One client. The full firm. Always working.</a:t>
            </a:r>
          </a:p>
        </p:txBody>
      </p:sp>
      <p:sp>
        <p:nvSpPr>
          <p:cNvPr id="4" name="">
            <a:extLst xmlns:a="http://schemas.openxmlformats.org/drawingml/2006/main">
              <a:ext uri="{FF2B5EF4-FFF2-40B4-BE49-F238E27FC236}">
                <a16:creationId xmlns:a16="http://schemas.microsoft.com/office/drawing/2014/main" id="{45FE8739-DED0-40C9-B969-A8586A464496}"/>
              </a:ext>
            </a:extLst>
          </p:cNvPr>
          <p:cNvSpPr>
            <a:spLocks xmlns:a="http://schemas.openxmlformats.org/drawingml/2006/main" noGrp="1"/>
          </p:cNvSpPr>
          <p:nvPr/>
        </p:nvSpPr>
        <p:spPr>
          <a:xfrm xmlns:a="http://schemas.openxmlformats.org/drawingml/2006/main">
            <a:off x="685800" y="5076825"/>
            <a:ext cx="1238250" cy="47625"/>
          </a:xfrm>
          <a:prstGeom xmlns:a="http://schemas.openxmlformats.org/drawingml/2006/main" prst="rect">
            <a:avLst/>
          </a:prstGeom>
          <a:solidFill xmlns:a="http://schemas.openxmlformats.org/drawingml/2006/main">
            <a:srgbClr val="C45A2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36CDF36-C9F0-434A-A1B9-A4FC78B62C09}"/>
              </a:ext>
            </a:extLst>
          </p:cNvPr>
          <p:cNvSpPr>
            <a:spLocks xmlns:a="http://schemas.openxmlformats.org/drawingml/2006/main" noGrp="1"/>
          </p:cNvSpPr>
          <p:nvPr/>
        </p:nvSpPr>
        <p:spPr>
          <a:xfrm xmlns:a="http://schemas.openxmlformats.org/drawingml/2006/main">
            <a:off x="685800" y="541020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B8C8D6"/>
                </a:solidFill>
              </a:defRPr>
            </a:pPr>
            <a:r>
              <a:rPr sz="900" b="1">
                <a:solidFill>
                  <a:srgbClr val="B8C8D6"/>
                </a:solidFill>
              </a:rPr>
              <a:t>LEADERSHIP DISCUSSION  |  AUGUST 2026</a:t>
            </a:r>
          </a:p>
        </p:txBody>
      </p:sp>
    </p:spTree>
    <p:extLst>
      <p:ext uri="{BB962C8B-B14F-4D97-AF65-F5344CB8AC3E}">
        <p14:creationId xmlns:p14="http://schemas.microsoft.com/office/powerpoint/2010/main" val="22007587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lide-title">
            <a:extLst xmlns:a="http://schemas.openxmlformats.org/drawingml/2006/main">
              <a:ext uri="{FF2B5EF4-FFF2-40B4-BE49-F238E27FC236}">
                <a16:creationId xmlns:a16="http://schemas.microsoft.com/office/drawing/2014/main" id="{58200D34-D711-4BAF-8AE6-C3299B0B1F30}"/>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625" b="1">
                <a:solidFill>
                  <a:srgbClr val="0B1F33"/>
                </a:solidFill>
              </a:defRPr>
            </a:pPr>
            <a:r>
              <a:rPr sz="2625" b="1">
                <a:solidFill>
                  <a:srgbClr val="0B1F33"/>
                </a:solidFill>
              </a:rPr>
              <a:t>Our advantage is not the model. It is the institution behind it.</a:t>
            </a:r>
          </a:p>
        </p:txBody>
      </p:sp>
      <p:sp>
        <p:nvSpPr>
          <p:cNvPr id="2" name="">
            <a:extLst xmlns:a="http://schemas.openxmlformats.org/drawingml/2006/main">
              <a:ext uri="{FF2B5EF4-FFF2-40B4-BE49-F238E27FC236}">
                <a16:creationId xmlns:a16="http://schemas.microsoft.com/office/drawing/2014/main" id="{D76008B4-8E29-45AF-B779-AD81C66D9FF0}"/>
              </a:ext>
            </a:extLst>
          </p:cNvPr>
          <p:cNvSpPr>
            <a:spLocks xmlns:a="http://schemas.openxmlformats.org/drawingml/2006/main" noGrp="1"/>
          </p:cNvSpPr>
          <p:nvPr/>
        </p:nvSpPr>
        <p:spPr>
          <a:xfrm xmlns:a="http://schemas.openxmlformats.org/drawingml/2006/main">
            <a:off x="685800" y="1695450"/>
            <a:ext cx="10820400" cy="19050"/>
          </a:xfrm>
          <a:prstGeom xmlns:a="http://schemas.openxmlformats.org/drawingml/2006/main" prst="rect">
            <a:avLst/>
          </a:prstGeom>
          <a:solidFill xmlns:a="http://schemas.openxmlformats.org/drawingml/2006/main">
            <a:srgbClr val="D8E0E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8BD4151-636A-433C-9752-3FC616CB70DD}"/>
              </a:ext>
            </a:extLst>
          </p:cNvPr>
          <p:cNvSpPr>
            <a:spLocks xmlns:a="http://schemas.openxmlformats.org/drawingml/2006/main" noGrp="1"/>
          </p:cNvSpPr>
          <p:nvPr/>
        </p:nvSpPr>
        <p:spPr>
          <a:xfrm xmlns:a="http://schemas.openxmlformats.org/drawingml/2006/main">
            <a:off x="685800" y="6496050"/>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675" b="1">
                <a:solidFill>
                  <a:srgbClr val="5E6B78"/>
                </a:solidFill>
              </a:defRPr>
            </a:pPr>
            <a:r>
              <a:rPr sz="675" b="1">
                <a:solidFill>
                  <a:srgbClr val="5E6B78"/>
                </a:solidFill>
              </a:rPr>
              <a:t>DISCUSSION DRAFT  |  AUGUST 2026</a:t>
            </a:r>
          </a:p>
        </p:txBody>
      </p:sp>
      <p:sp>
        <p:nvSpPr>
          <p:cNvPr id="4" name="">
            <a:extLst xmlns:a="http://schemas.openxmlformats.org/drawingml/2006/main">
              <a:ext uri="{FF2B5EF4-FFF2-40B4-BE49-F238E27FC236}">
                <a16:creationId xmlns:a16="http://schemas.microsoft.com/office/drawing/2014/main" id="{0A2BD8AA-6CB5-4C22-85B8-A5E3574D8A5F}"/>
              </a:ext>
            </a:extLst>
          </p:cNvPr>
          <p:cNvSpPr>
            <a:spLocks xmlns:a="http://schemas.openxmlformats.org/drawingml/2006/main" noGrp="1"/>
          </p:cNvSpPr>
          <p:nvPr/>
        </p:nvSpPr>
        <p:spPr>
          <a:xfrm xmlns:a="http://schemas.openxmlformats.org/drawingml/2006/main">
            <a:off x="10839450" y="6496050"/>
            <a:ext cx="666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675" b="1">
                <a:solidFill>
                  <a:srgbClr val="5E6B78"/>
                </a:solidFill>
              </a:defRPr>
            </a:pPr>
            <a:r>
              <a:rPr sz="675" b="1">
                <a:solidFill>
                  <a:srgbClr val="5E6B78"/>
                </a:solidFill>
              </a:rPr>
              <a:t>02</a:t>
            </a:r>
          </a:p>
        </p:txBody>
      </p:sp>
      <p:sp>
        <p:nvSpPr>
          <p:cNvPr id="5" name="">
            <a:extLst xmlns:a="http://schemas.openxmlformats.org/drawingml/2006/main">
              <a:ext uri="{FF2B5EF4-FFF2-40B4-BE49-F238E27FC236}">
                <a16:creationId xmlns:a16="http://schemas.microsoft.com/office/drawing/2014/main" id="{B7D4D025-D33D-4A9F-AF23-4AD952CB4AA2}"/>
              </a:ext>
            </a:extLst>
          </p:cNvPr>
          <p:cNvSpPr>
            <a:spLocks xmlns:a="http://schemas.openxmlformats.org/drawingml/2006/main" noGrp="1"/>
          </p:cNvSpPr>
          <p:nvPr/>
        </p:nvSpPr>
        <p:spPr>
          <a:xfrm xmlns:a="http://schemas.openxmlformats.org/drawingml/2006/main">
            <a:off x="685800" y="2124075"/>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C45A2A"/>
                </a:solidFill>
              </a:defRPr>
            </a:pPr>
            <a:r>
              <a:rPr sz="1050" b="1">
                <a:solidFill>
                  <a:srgbClr val="C45A2A"/>
                </a:solidFill>
              </a:rPr>
              <a:t>THE CONSTRAINT</a:t>
            </a:r>
          </a:p>
        </p:txBody>
      </p:sp>
      <p:sp>
        <p:nvSpPr>
          <p:cNvPr id="6" name="">
            <a:extLst xmlns:a="http://schemas.openxmlformats.org/drawingml/2006/main">
              <a:ext uri="{FF2B5EF4-FFF2-40B4-BE49-F238E27FC236}">
                <a16:creationId xmlns:a16="http://schemas.microsoft.com/office/drawing/2014/main" id="{73A2D09B-91C2-4FAD-A1B2-6297E6E31E3E}"/>
              </a:ext>
            </a:extLst>
          </p:cNvPr>
          <p:cNvSpPr>
            <a:spLocks xmlns:a="http://schemas.openxmlformats.org/drawingml/2006/main" noGrp="1"/>
          </p:cNvSpPr>
          <p:nvPr/>
        </p:nvSpPr>
        <p:spPr>
          <a:xfrm xmlns:a="http://schemas.openxmlformats.org/drawingml/2006/main">
            <a:off x="685800" y="2524125"/>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25" b="1">
                <a:solidFill>
                  <a:srgbClr val="0B1F33"/>
                </a:solidFill>
              </a:defRPr>
            </a:pPr>
            <a:r>
              <a:rPr sz="2025" b="1">
                <a:solidFill>
                  <a:srgbClr val="0B1F33"/>
                </a:solidFill>
              </a:rPr>
              <a:t>Expert attention is the scarce resource</a:t>
            </a:r>
          </a:p>
        </p:txBody>
      </p:sp>
      <p:sp>
        <p:nvSpPr>
          <p:cNvPr id="7" name="">
            <a:extLst xmlns:a="http://schemas.openxmlformats.org/drawingml/2006/main">
              <a:ext uri="{FF2B5EF4-FFF2-40B4-BE49-F238E27FC236}">
                <a16:creationId xmlns:a16="http://schemas.microsoft.com/office/drawing/2014/main" id="{7959B646-D76B-416A-9A65-DA8D2C7C8F62}"/>
              </a:ext>
            </a:extLst>
          </p:cNvPr>
          <p:cNvSpPr>
            <a:spLocks xmlns:a="http://schemas.openxmlformats.org/drawingml/2006/main" noGrp="1"/>
          </p:cNvSpPr>
          <p:nvPr/>
        </p:nvSpPr>
        <p:spPr>
          <a:xfrm xmlns:a="http://schemas.openxmlformats.org/drawingml/2006/main">
            <a:off x="685800" y="3162300"/>
            <a:ext cx="17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C45A2A"/>
                </a:solidFill>
              </a:defRPr>
            </a:pPr>
            <a:r>
              <a:rPr sz="1350" b="1">
                <a:solidFill>
                  <a:srgbClr val="C45A2A"/>
                </a:solidFill>
              </a:rPr>
              <a:t>•</a:t>
            </a:r>
          </a:p>
        </p:txBody>
      </p:sp>
      <p:sp>
        <p:nvSpPr>
          <p:cNvPr id="8" name="">
            <a:extLst xmlns:a="http://schemas.openxmlformats.org/drawingml/2006/main">
              <a:ext uri="{FF2B5EF4-FFF2-40B4-BE49-F238E27FC236}">
                <a16:creationId xmlns:a16="http://schemas.microsoft.com/office/drawing/2014/main" id="{72F48B4D-484E-4327-943F-DBA83E1D34B8}"/>
              </a:ext>
            </a:extLst>
          </p:cNvPr>
          <p:cNvSpPr>
            <a:spLocks xmlns:a="http://schemas.openxmlformats.org/drawingml/2006/main" noGrp="1"/>
          </p:cNvSpPr>
          <p:nvPr/>
        </p:nvSpPr>
        <p:spPr>
          <a:xfrm xmlns:a="http://schemas.openxmlformats.org/drawingml/2006/main">
            <a:off x="914400" y="3162300"/>
            <a:ext cx="4248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7212B"/>
                </a:solidFill>
              </a:defRPr>
            </a:pPr>
            <a:r>
              <a:rPr sz="1350" b="0">
                <a:solidFill>
                  <a:srgbClr val="17212B"/>
                </a:solidFill>
              </a:rPr>
              <a:t>The right answer often exists somewhere in the firm</a:t>
            </a:r>
          </a:p>
        </p:txBody>
      </p:sp>
      <p:sp>
        <p:nvSpPr>
          <p:cNvPr id="9" name="">
            <a:extLst xmlns:a="http://schemas.openxmlformats.org/drawingml/2006/main">
              <a:ext uri="{FF2B5EF4-FFF2-40B4-BE49-F238E27FC236}">
                <a16:creationId xmlns:a16="http://schemas.microsoft.com/office/drawing/2014/main" id="{57EE91DE-1B45-40EB-841C-293E52FD5521}"/>
              </a:ext>
            </a:extLst>
          </p:cNvPr>
          <p:cNvSpPr>
            <a:spLocks xmlns:a="http://schemas.openxmlformats.org/drawingml/2006/main" noGrp="1"/>
          </p:cNvSpPr>
          <p:nvPr/>
        </p:nvSpPr>
        <p:spPr>
          <a:xfrm xmlns:a="http://schemas.openxmlformats.org/drawingml/2006/main">
            <a:off x="685800" y="3790950"/>
            <a:ext cx="17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C45A2A"/>
                </a:solidFill>
              </a:defRPr>
            </a:pPr>
            <a:r>
              <a:rPr sz="1350" b="1">
                <a:solidFill>
                  <a:srgbClr val="C45A2A"/>
                </a:solidFill>
              </a:rPr>
              <a:t>•</a:t>
            </a:r>
          </a:p>
        </p:txBody>
      </p:sp>
      <p:sp>
        <p:nvSpPr>
          <p:cNvPr id="10" name="">
            <a:extLst xmlns:a="http://schemas.openxmlformats.org/drawingml/2006/main">
              <a:ext uri="{FF2B5EF4-FFF2-40B4-BE49-F238E27FC236}">
                <a16:creationId xmlns:a16="http://schemas.microsoft.com/office/drawing/2014/main" id="{629521C7-9872-44F8-9D8A-B43D7D1D0BA8}"/>
              </a:ext>
            </a:extLst>
          </p:cNvPr>
          <p:cNvSpPr>
            <a:spLocks xmlns:a="http://schemas.openxmlformats.org/drawingml/2006/main" noGrp="1"/>
          </p:cNvSpPr>
          <p:nvPr/>
        </p:nvSpPr>
        <p:spPr>
          <a:xfrm xmlns:a="http://schemas.openxmlformats.org/drawingml/2006/main">
            <a:off x="914400" y="3790950"/>
            <a:ext cx="4248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7212B"/>
                </a:solidFill>
              </a:defRPr>
            </a:pPr>
            <a:r>
              <a:rPr sz="1350" b="0">
                <a:solidFill>
                  <a:srgbClr val="17212B"/>
                </a:solidFill>
              </a:rPr>
              <a:t>Applications, handoffs and organizational lines slow it down</a:t>
            </a:r>
          </a:p>
        </p:txBody>
      </p:sp>
      <p:sp>
        <p:nvSpPr>
          <p:cNvPr id="11" name="">
            <a:extLst xmlns:a="http://schemas.openxmlformats.org/drawingml/2006/main">
              <a:ext uri="{FF2B5EF4-FFF2-40B4-BE49-F238E27FC236}">
                <a16:creationId xmlns:a16="http://schemas.microsoft.com/office/drawing/2014/main" id="{1D3AF54B-A362-4066-B5D2-EF48B37B3E02}"/>
              </a:ext>
            </a:extLst>
          </p:cNvPr>
          <p:cNvSpPr>
            <a:spLocks xmlns:a="http://schemas.openxmlformats.org/drawingml/2006/main" noGrp="1"/>
          </p:cNvSpPr>
          <p:nvPr/>
        </p:nvSpPr>
        <p:spPr>
          <a:xfrm xmlns:a="http://schemas.openxmlformats.org/drawingml/2006/main">
            <a:off x="685800" y="4419600"/>
            <a:ext cx="17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C45A2A"/>
                </a:solidFill>
              </a:defRPr>
            </a:pPr>
            <a:r>
              <a:rPr sz="1350" b="1">
                <a:solidFill>
                  <a:srgbClr val="C45A2A"/>
                </a:solidFill>
              </a:rPr>
              <a:t>•</a:t>
            </a:r>
          </a:p>
        </p:txBody>
      </p:sp>
      <p:sp>
        <p:nvSpPr>
          <p:cNvPr id="12" name="">
            <a:extLst xmlns:a="http://schemas.openxmlformats.org/drawingml/2006/main">
              <a:ext uri="{FF2B5EF4-FFF2-40B4-BE49-F238E27FC236}">
                <a16:creationId xmlns:a16="http://schemas.microsoft.com/office/drawing/2014/main" id="{C65030FD-91A7-40E0-80CB-0BFFC9BCF058}"/>
              </a:ext>
            </a:extLst>
          </p:cNvPr>
          <p:cNvSpPr>
            <a:spLocks xmlns:a="http://schemas.openxmlformats.org/drawingml/2006/main" noGrp="1"/>
          </p:cNvSpPr>
          <p:nvPr/>
        </p:nvSpPr>
        <p:spPr>
          <a:xfrm xmlns:a="http://schemas.openxmlformats.org/drawingml/2006/main">
            <a:off x="914400" y="4419600"/>
            <a:ext cx="4248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7212B"/>
                </a:solidFill>
              </a:defRPr>
            </a:pPr>
            <a:r>
              <a:rPr sz="1350" b="0">
                <a:solidFill>
                  <a:srgbClr val="17212B"/>
                </a:solidFill>
              </a:rPr>
              <a:t>Clients experience fragments instead of the whole institution</a:t>
            </a:r>
          </a:p>
        </p:txBody>
      </p:sp>
      <p:sp>
        <p:nvSpPr>
          <p:cNvPr id="13" name="">
            <a:extLst xmlns:a="http://schemas.openxmlformats.org/drawingml/2006/main">
              <a:ext uri="{FF2B5EF4-FFF2-40B4-BE49-F238E27FC236}">
                <a16:creationId xmlns:a16="http://schemas.microsoft.com/office/drawing/2014/main" id="{7F9C081F-353F-4B20-A4BD-39BC324E28E2}"/>
              </a:ext>
            </a:extLst>
          </p:cNvPr>
          <p:cNvSpPr>
            <a:spLocks xmlns:a="http://schemas.openxmlformats.org/drawingml/2006/main" noGrp="1"/>
          </p:cNvSpPr>
          <p:nvPr/>
        </p:nvSpPr>
        <p:spPr>
          <a:xfrm xmlns:a="http://schemas.openxmlformats.org/drawingml/2006/main">
            <a:off x="5734050" y="2095500"/>
            <a:ext cx="19050" cy="3619500"/>
          </a:xfrm>
          <a:prstGeom xmlns:a="http://schemas.openxmlformats.org/drawingml/2006/main" prst="rect">
            <a:avLst/>
          </a:prstGeom>
          <a:solidFill xmlns:a="http://schemas.openxmlformats.org/drawingml/2006/main">
            <a:srgbClr val="D8E0E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50FAF03-1506-4E80-9935-C80459517628}"/>
              </a:ext>
            </a:extLst>
          </p:cNvPr>
          <p:cNvSpPr>
            <a:spLocks xmlns:a="http://schemas.openxmlformats.org/drawingml/2006/main" noGrp="1"/>
          </p:cNvSpPr>
          <p:nvPr/>
        </p:nvSpPr>
        <p:spPr>
          <a:xfrm xmlns:a="http://schemas.openxmlformats.org/drawingml/2006/main">
            <a:off x="6191250" y="2124075"/>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C45A2A"/>
                </a:solidFill>
              </a:defRPr>
            </a:pPr>
            <a:r>
              <a:rPr sz="1050" b="1">
                <a:solidFill>
                  <a:srgbClr val="C45A2A"/>
                </a:solidFill>
              </a:rPr>
              <a:t>OUR RIGHT TO WIN</a:t>
            </a:r>
          </a:p>
        </p:txBody>
      </p:sp>
      <p:sp>
        <p:nvSpPr>
          <p:cNvPr id="15" name="">
            <a:extLst xmlns:a="http://schemas.openxmlformats.org/drawingml/2006/main">
              <a:ext uri="{FF2B5EF4-FFF2-40B4-BE49-F238E27FC236}">
                <a16:creationId xmlns:a16="http://schemas.microsoft.com/office/drawing/2014/main" id="{60E89BAF-887C-441B-A532-928D42D5EBB8}"/>
              </a:ext>
            </a:extLst>
          </p:cNvPr>
          <p:cNvSpPr>
            <a:spLocks xmlns:a="http://schemas.openxmlformats.org/drawingml/2006/main" noGrp="1"/>
          </p:cNvSpPr>
          <p:nvPr/>
        </p:nvSpPr>
        <p:spPr>
          <a:xfrm xmlns:a="http://schemas.openxmlformats.org/drawingml/2006/main">
            <a:off x="6191250" y="2524125"/>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25" b="1">
                <a:solidFill>
                  <a:srgbClr val="0B1F33"/>
                </a:solidFill>
              </a:defRPr>
            </a:pPr>
            <a:r>
              <a:rPr sz="2025" b="1">
                <a:solidFill>
                  <a:srgbClr val="0B1F33"/>
                </a:solidFill>
              </a:rPr>
              <a:t>J.P. Morgan can connect assets no model owns</a:t>
            </a:r>
          </a:p>
        </p:txBody>
      </p:sp>
      <p:sp>
        <p:nvSpPr>
          <p:cNvPr id="16" name="">
            <a:extLst xmlns:a="http://schemas.openxmlformats.org/drawingml/2006/main">
              <a:ext uri="{FF2B5EF4-FFF2-40B4-BE49-F238E27FC236}">
                <a16:creationId xmlns:a16="http://schemas.microsoft.com/office/drawing/2014/main" id="{F1B0B082-7FA0-4153-A0CF-DCFE4DC368F4}"/>
              </a:ext>
            </a:extLst>
          </p:cNvPr>
          <p:cNvSpPr>
            <a:spLocks xmlns:a="http://schemas.openxmlformats.org/drawingml/2006/main" noGrp="1"/>
          </p:cNvSpPr>
          <p:nvPr/>
        </p:nvSpPr>
        <p:spPr>
          <a:xfrm xmlns:a="http://schemas.openxmlformats.org/drawingml/2006/main">
            <a:off x="6191250" y="3162300"/>
            <a:ext cx="17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C45A2A"/>
                </a:solidFill>
              </a:defRPr>
            </a:pPr>
            <a:r>
              <a:rPr sz="1350" b="1">
                <a:solidFill>
                  <a:srgbClr val="C45A2A"/>
                </a:solidFill>
              </a:rPr>
              <a:t>•</a:t>
            </a:r>
          </a:p>
        </p:txBody>
      </p:sp>
      <p:sp>
        <p:nvSpPr>
          <p:cNvPr id="17" name="">
            <a:extLst xmlns:a="http://schemas.openxmlformats.org/drawingml/2006/main">
              <a:ext uri="{FF2B5EF4-FFF2-40B4-BE49-F238E27FC236}">
                <a16:creationId xmlns:a16="http://schemas.microsoft.com/office/drawing/2014/main" id="{553DE6F9-E947-49D5-87B9-D3AAB5A3031B}"/>
              </a:ext>
            </a:extLst>
          </p:cNvPr>
          <p:cNvSpPr>
            <a:spLocks xmlns:a="http://schemas.openxmlformats.org/drawingml/2006/main" noGrp="1"/>
          </p:cNvSpPr>
          <p:nvPr/>
        </p:nvSpPr>
        <p:spPr>
          <a:xfrm xmlns:a="http://schemas.openxmlformats.org/drawingml/2006/main">
            <a:off x="6419850" y="3162300"/>
            <a:ext cx="4533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7212B"/>
                </a:solidFill>
              </a:defRPr>
            </a:pPr>
            <a:r>
              <a:rPr sz="1350" b="0">
                <a:solidFill>
                  <a:srgbClr val="17212B"/>
                </a:solidFill>
              </a:rPr>
              <a:t>Trusted relationships and permissioned client context</a:t>
            </a:r>
          </a:p>
        </p:txBody>
      </p:sp>
      <p:sp>
        <p:nvSpPr>
          <p:cNvPr id="18" name="">
            <a:extLst xmlns:a="http://schemas.openxmlformats.org/drawingml/2006/main">
              <a:ext uri="{FF2B5EF4-FFF2-40B4-BE49-F238E27FC236}">
                <a16:creationId xmlns:a16="http://schemas.microsoft.com/office/drawing/2014/main" id="{4260FDBC-201B-451F-9F97-44B71ACE8D2A}"/>
              </a:ext>
            </a:extLst>
          </p:cNvPr>
          <p:cNvSpPr>
            <a:spLocks xmlns:a="http://schemas.openxmlformats.org/drawingml/2006/main" noGrp="1"/>
          </p:cNvSpPr>
          <p:nvPr/>
        </p:nvSpPr>
        <p:spPr>
          <a:xfrm xmlns:a="http://schemas.openxmlformats.org/drawingml/2006/main">
            <a:off x="6191250" y="3790950"/>
            <a:ext cx="17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C45A2A"/>
                </a:solidFill>
              </a:defRPr>
            </a:pPr>
            <a:r>
              <a:rPr sz="1350" b="1">
                <a:solidFill>
                  <a:srgbClr val="C45A2A"/>
                </a:solidFill>
              </a:rPr>
              <a:t>•</a:t>
            </a:r>
          </a:p>
        </p:txBody>
      </p:sp>
      <p:sp>
        <p:nvSpPr>
          <p:cNvPr id="19" name="">
            <a:extLst xmlns:a="http://schemas.openxmlformats.org/drawingml/2006/main">
              <a:ext uri="{FF2B5EF4-FFF2-40B4-BE49-F238E27FC236}">
                <a16:creationId xmlns:a16="http://schemas.microsoft.com/office/drawing/2014/main" id="{97BEA83A-67A6-415C-96A0-43EF75F09C30}"/>
              </a:ext>
            </a:extLst>
          </p:cNvPr>
          <p:cNvSpPr>
            <a:spLocks xmlns:a="http://schemas.openxmlformats.org/drawingml/2006/main" noGrp="1"/>
          </p:cNvSpPr>
          <p:nvPr/>
        </p:nvSpPr>
        <p:spPr>
          <a:xfrm xmlns:a="http://schemas.openxmlformats.org/drawingml/2006/main">
            <a:off x="6419850" y="3790950"/>
            <a:ext cx="4533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7212B"/>
                </a:solidFill>
              </a:defRPr>
            </a:pPr>
            <a:r>
              <a:rPr sz="1350" b="0">
                <a:solidFill>
                  <a:srgbClr val="17212B"/>
                </a:solidFill>
              </a:rPr>
              <a:t>Expert talent, product breadth and controlled execution</a:t>
            </a:r>
          </a:p>
        </p:txBody>
      </p:sp>
      <p:sp>
        <p:nvSpPr>
          <p:cNvPr id="20" name="">
            <a:extLst xmlns:a="http://schemas.openxmlformats.org/drawingml/2006/main">
              <a:ext uri="{FF2B5EF4-FFF2-40B4-BE49-F238E27FC236}">
                <a16:creationId xmlns:a16="http://schemas.microsoft.com/office/drawing/2014/main" id="{4907680C-DB64-4427-92BF-8BA38AFFBDAF}"/>
              </a:ext>
            </a:extLst>
          </p:cNvPr>
          <p:cNvSpPr>
            <a:spLocks xmlns:a="http://schemas.openxmlformats.org/drawingml/2006/main" noGrp="1"/>
          </p:cNvSpPr>
          <p:nvPr/>
        </p:nvSpPr>
        <p:spPr>
          <a:xfrm xmlns:a="http://schemas.openxmlformats.org/drawingml/2006/main">
            <a:off x="6191250" y="4419600"/>
            <a:ext cx="17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C45A2A"/>
                </a:solidFill>
              </a:defRPr>
            </a:pPr>
            <a:r>
              <a:rPr sz="1350" b="1">
                <a:solidFill>
                  <a:srgbClr val="C45A2A"/>
                </a:solidFill>
              </a:rPr>
              <a:t>•</a:t>
            </a:r>
          </a:p>
        </p:txBody>
      </p:sp>
      <p:sp>
        <p:nvSpPr>
          <p:cNvPr id="21" name="">
            <a:extLst xmlns:a="http://schemas.openxmlformats.org/drawingml/2006/main">
              <a:ext uri="{FF2B5EF4-FFF2-40B4-BE49-F238E27FC236}">
                <a16:creationId xmlns:a16="http://schemas.microsoft.com/office/drawing/2014/main" id="{1B23103C-BE0E-4016-B2A1-44EAA5EA90DC}"/>
              </a:ext>
            </a:extLst>
          </p:cNvPr>
          <p:cNvSpPr>
            <a:spLocks xmlns:a="http://schemas.openxmlformats.org/drawingml/2006/main" noGrp="1"/>
          </p:cNvSpPr>
          <p:nvPr/>
        </p:nvSpPr>
        <p:spPr>
          <a:xfrm xmlns:a="http://schemas.openxmlformats.org/drawingml/2006/main">
            <a:off x="6419850" y="4419600"/>
            <a:ext cx="4533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7212B"/>
                </a:solidFill>
              </a:defRPr>
            </a:pPr>
            <a:r>
              <a:rPr sz="1350" b="0">
                <a:solidFill>
                  <a:srgbClr val="17212B"/>
                </a:solidFill>
              </a:rPr>
              <a:t>Physical offices that can become decision environments</a:t>
            </a:r>
          </a:p>
        </p:txBody>
      </p:sp>
      <p:sp>
        <p:nvSpPr>
          <p:cNvPr id="22" name="">
            <a:extLst xmlns:a="http://schemas.openxmlformats.org/drawingml/2006/main">
              <a:ext uri="{FF2B5EF4-FFF2-40B4-BE49-F238E27FC236}">
                <a16:creationId xmlns:a16="http://schemas.microsoft.com/office/drawing/2014/main" id="{C0E987C5-8A4F-4ECF-908B-91269EE2F4DE}"/>
              </a:ext>
            </a:extLst>
          </p:cNvPr>
          <p:cNvSpPr>
            <a:spLocks xmlns:a="http://schemas.openxmlformats.org/drawingml/2006/main" noGrp="1"/>
          </p:cNvSpPr>
          <p:nvPr/>
        </p:nvSpPr>
        <p:spPr>
          <a:xfrm xmlns:a="http://schemas.openxmlformats.org/drawingml/2006/main">
            <a:off x="3429000" y="5905500"/>
            <a:ext cx="533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B6CB0"/>
                </a:solidFill>
              </a:defRPr>
            </a:pPr>
            <a:r>
              <a:rPr sz="1350" b="1">
                <a:solidFill>
                  <a:srgbClr val="2B6CB0"/>
                </a:solidFill>
              </a:rPr>
              <a:t>Redesign the relationship model, not today's workflows.</a:t>
            </a:r>
          </a:p>
        </p:txBody>
      </p:sp>
    </p:spTree>
    <p:extLst>
      <p:ext uri="{BB962C8B-B14F-4D97-AF65-F5344CB8AC3E}">
        <p14:creationId xmlns:p14="http://schemas.microsoft.com/office/powerpoint/2010/main" val="176462197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1A24FC9E-8458-4624-BDB8-B957106E6BE3}"/>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625" b="1">
                <a:solidFill>
                  <a:srgbClr val="0B1F33"/>
                </a:solidFill>
              </a:defRPr>
            </a:pPr>
            <a:r>
              <a:rPr sz="2625" b="1">
                <a:solidFill>
                  <a:srgbClr val="0B1F33"/>
                </a:solidFill>
              </a:rPr>
              <a:t>One relationship. One memory. One coordinated bank.</a:t>
            </a:r>
          </a:p>
        </p:txBody>
      </p:sp>
      <p:sp>
        <p:nvSpPr>
          <p:cNvPr id="2" name="">
            <a:extLst xmlns:a="http://schemas.openxmlformats.org/drawingml/2006/main">
              <a:ext uri="{FF2B5EF4-FFF2-40B4-BE49-F238E27FC236}">
                <a16:creationId xmlns:a16="http://schemas.microsoft.com/office/drawing/2014/main" id="{8A35EC2B-5BF7-4009-8492-7083B3C341A2}"/>
              </a:ext>
            </a:extLst>
          </p:cNvPr>
          <p:cNvSpPr>
            <a:spLocks xmlns:a="http://schemas.openxmlformats.org/drawingml/2006/main" noGrp="1"/>
          </p:cNvSpPr>
          <p:nvPr/>
        </p:nvSpPr>
        <p:spPr>
          <a:xfrm xmlns:a="http://schemas.openxmlformats.org/drawingml/2006/main">
            <a:off x="685800" y="1695450"/>
            <a:ext cx="10820400" cy="19050"/>
          </a:xfrm>
          <a:prstGeom xmlns:a="http://schemas.openxmlformats.org/drawingml/2006/main" prst="rect">
            <a:avLst/>
          </a:prstGeom>
          <a:solidFill xmlns:a="http://schemas.openxmlformats.org/drawingml/2006/main">
            <a:srgbClr val="D8E0E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59046F8-D42E-42A4-8C56-B15F4A985358}"/>
              </a:ext>
            </a:extLst>
          </p:cNvPr>
          <p:cNvSpPr>
            <a:spLocks xmlns:a="http://schemas.openxmlformats.org/drawingml/2006/main" noGrp="1"/>
          </p:cNvSpPr>
          <p:nvPr/>
        </p:nvSpPr>
        <p:spPr>
          <a:xfrm xmlns:a="http://schemas.openxmlformats.org/drawingml/2006/main">
            <a:off x="685800" y="6496050"/>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675" b="1">
                <a:solidFill>
                  <a:srgbClr val="5E6B78"/>
                </a:solidFill>
              </a:defRPr>
            </a:pPr>
            <a:r>
              <a:rPr sz="675" b="1">
                <a:solidFill>
                  <a:srgbClr val="5E6B78"/>
                </a:solidFill>
              </a:rPr>
              <a:t>DISCUSSION DRAFT  |  AUGUST 2026</a:t>
            </a:r>
          </a:p>
        </p:txBody>
      </p:sp>
      <p:sp>
        <p:nvSpPr>
          <p:cNvPr id="4" name="">
            <a:extLst xmlns:a="http://schemas.openxmlformats.org/drawingml/2006/main">
              <a:ext uri="{FF2B5EF4-FFF2-40B4-BE49-F238E27FC236}">
                <a16:creationId xmlns:a16="http://schemas.microsoft.com/office/drawing/2014/main" id="{53A2626F-ED3D-428D-8C77-33E00C10C07F}"/>
              </a:ext>
            </a:extLst>
          </p:cNvPr>
          <p:cNvSpPr>
            <a:spLocks xmlns:a="http://schemas.openxmlformats.org/drawingml/2006/main" noGrp="1"/>
          </p:cNvSpPr>
          <p:nvPr/>
        </p:nvSpPr>
        <p:spPr>
          <a:xfrm xmlns:a="http://schemas.openxmlformats.org/drawingml/2006/main">
            <a:off x="10839450" y="6496050"/>
            <a:ext cx="666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675" b="1">
                <a:solidFill>
                  <a:srgbClr val="5E6B78"/>
                </a:solidFill>
              </a:defRPr>
            </a:pPr>
            <a:r>
              <a:rPr sz="675" b="1">
                <a:solidFill>
                  <a:srgbClr val="5E6B78"/>
                </a:solidFill>
              </a:rPr>
              <a:t>03</a:t>
            </a:r>
          </a:p>
        </p:txBody>
      </p:sp>
      <p:sp>
        <p:nvSpPr>
          <p:cNvPr id="5" name="">
            <a:extLst xmlns:a="http://schemas.openxmlformats.org/drawingml/2006/main">
              <a:ext uri="{FF2B5EF4-FFF2-40B4-BE49-F238E27FC236}">
                <a16:creationId xmlns:a16="http://schemas.microsoft.com/office/drawing/2014/main" id="{B6DE531D-44FE-4588-A2DC-2648BEBB2C46}"/>
              </a:ext>
            </a:extLst>
          </p:cNvPr>
          <p:cNvSpPr>
            <a:spLocks xmlns:a="http://schemas.openxmlformats.org/drawingml/2006/main" noGrp="1"/>
          </p:cNvSpPr>
          <p:nvPr/>
        </p:nvSpPr>
        <p:spPr>
          <a:xfrm xmlns:a="http://schemas.openxmlformats.org/drawingml/2006/main">
            <a:off x="685800" y="2238375"/>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a:solidFill>
                  <a:srgbClr val="C45A2A"/>
                </a:solidFill>
              </a:defRPr>
            </a:pPr>
            <a:r>
              <a:rPr sz="1050" b="1">
                <a:solidFill>
                  <a:srgbClr val="C45A2A"/>
                </a:solidFill>
              </a:rPr>
              <a:t>ONE CLIENT</a:t>
            </a:r>
          </a:p>
        </p:txBody>
      </p:sp>
      <p:sp>
        <p:nvSpPr>
          <p:cNvPr id="6" name="">
            <a:extLst xmlns:a="http://schemas.openxmlformats.org/drawingml/2006/main">
              <a:ext uri="{FF2B5EF4-FFF2-40B4-BE49-F238E27FC236}">
                <a16:creationId xmlns:a16="http://schemas.microsoft.com/office/drawing/2014/main" id="{1DC77EF8-146F-4BE4-8232-788F1EB028FA}"/>
              </a:ext>
            </a:extLst>
          </p:cNvPr>
          <p:cNvSpPr>
            <a:spLocks xmlns:a="http://schemas.openxmlformats.org/drawingml/2006/main" noGrp="1"/>
          </p:cNvSpPr>
          <p:nvPr/>
        </p:nvSpPr>
        <p:spPr>
          <a:xfrm xmlns:a="http://schemas.openxmlformats.org/drawingml/2006/main">
            <a:off x="685800" y="2695575"/>
            <a:ext cx="2095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25" b="1">
                <a:solidFill>
                  <a:srgbClr val="0B1F33"/>
                </a:solidFill>
              </a:defRPr>
            </a:pPr>
            <a:r>
              <a:rPr sz="2025" b="1">
                <a:solidFill>
                  <a:srgbClr val="0B1F33"/>
                </a:solidFill>
              </a:rPr>
              <a:t>ONE LIVING</a:t>
            </a:r>
          </a:p>
          <a:p xmlns:a="http://schemas.openxmlformats.org/drawingml/2006/main">
            <a:pPr algn="ctr">
              <a:buNone/>
              <a:defRPr sz="2025" b="1">
                <a:solidFill>
                  <a:srgbClr val="0B1F33"/>
                </a:solidFill>
              </a:defRPr>
            </a:pPr>
            <a:r>
              <a:rPr sz="2025" b="1">
                <a:solidFill>
                  <a:srgbClr val="0B1F33"/>
                </a:solidFill>
              </a:rPr>
              <a:t>MEMORY</a:t>
            </a:r>
          </a:p>
        </p:txBody>
      </p:sp>
      <p:sp>
        <p:nvSpPr>
          <p:cNvPr id="7" name="">
            <a:extLst xmlns:a="http://schemas.openxmlformats.org/drawingml/2006/main">
              <a:ext uri="{FF2B5EF4-FFF2-40B4-BE49-F238E27FC236}">
                <a16:creationId xmlns:a16="http://schemas.microsoft.com/office/drawing/2014/main" id="{CF17E5ED-9EE0-4272-9287-91F1FA75F0AF}"/>
              </a:ext>
            </a:extLst>
          </p:cNvPr>
          <p:cNvSpPr>
            <a:spLocks xmlns:a="http://schemas.openxmlformats.org/drawingml/2006/main" noGrp="1"/>
          </p:cNvSpPr>
          <p:nvPr/>
        </p:nvSpPr>
        <p:spPr>
          <a:xfrm xmlns:a="http://schemas.openxmlformats.org/drawingml/2006/main">
            <a:off x="2867025" y="2838450"/>
            <a:ext cx="342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6CB4EE"/>
                </a:solidFill>
              </a:defRPr>
            </a:pPr>
            <a:r>
              <a:rPr sz="2100" b="1">
                <a:solidFill>
                  <a:srgbClr val="6CB4EE"/>
                </a:solidFill>
              </a:rPr>
              <a:t>→</a:t>
            </a:r>
          </a:p>
        </p:txBody>
      </p:sp>
      <p:sp>
        <p:nvSpPr>
          <p:cNvPr id="8" name="">
            <a:extLst xmlns:a="http://schemas.openxmlformats.org/drawingml/2006/main">
              <a:ext uri="{FF2B5EF4-FFF2-40B4-BE49-F238E27FC236}">
                <a16:creationId xmlns:a16="http://schemas.microsoft.com/office/drawing/2014/main" id="{4E897F03-C046-4ED6-ACF7-06CF2ED233D2}"/>
              </a:ext>
            </a:extLst>
          </p:cNvPr>
          <p:cNvSpPr>
            <a:spLocks xmlns:a="http://schemas.openxmlformats.org/drawingml/2006/main" noGrp="1"/>
          </p:cNvSpPr>
          <p:nvPr/>
        </p:nvSpPr>
        <p:spPr>
          <a:xfrm xmlns:a="http://schemas.openxmlformats.org/drawingml/2006/main">
            <a:off x="3286125" y="2695575"/>
            <a:ext cx="2095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0B1F33"/>
                </a:solidFill>
              </a:defRPr>
            </a:pPr>
            <a:r>
              <a:rPr sz="1725" b="1">
                <a:solidFill>
                  <a:srgbClr val="0B1F33"/>
                </a:solidFill>
              </a:rPr>
              <a:t>ONE COORDINATED</a:t>
            </a:r>
          </a:p>
          <a:p xmlns:a="http://schemas.openxmlformats.org/drawingml/2006/main">
            <a:pPr algn="ctr">
              <a:buNone/>
              <a:defRPr sz="1725" b="1">
                <a:solidFill>
                  <a:srgbClr val="0B1F33"/>
                </a:solidFill>
              </a:defRPr>
            </a:pPr>
            <a:r>
              <a:rPr sz="1725" b="1">
                <a:solidFill>
                  <a:srgbClr val="0B1F33"/>
                </a:solidFill>
              </a:rPr>
              <a:t>TEAM</a:t>
            </a:r>
          </a:p>
        </p:txBody>
      </p:sp>
      <p:sp>
        <p:nvSpPr>
          <p:cNvPr id="9" name="">
            <a:extLst xmlns:a="http://schemas.openxmlformats.org/drawingml/2006/main">
              <a:ext uri="{FF2B5EF4-FFF2-40B4-BE49-F238E27FC236}">
                <a16:creationId xmlns:a16="http://schemas.microsoft.com/office/drawing/2014/main" id="{A0AF73B7-E9EF-40B8-94B7-40BEE600FFE0}"/>
              </a:ext>
            </a:extLst>
          </p:cNvPr>
          <p:cNvSpPr>
            <a:spLocks xmlns:a="http://schemas.openxmlformats.org/drawingml/2006/main" noGrp="1"/>
          </p:cNvSpPr>
          <p:nvPr/>
        </p:nvSpPr>
        <p:spPr>
          <a:xfrm xmlns:a="http://schemas.openxmlformats.org/drawingml/2006/main">
            <a:off x="5467350" y="2838450"/>
            <a:ext cx="342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6CB4EE"/>
                </a:solidFill>
              </a:defRPr>
            </a:pPr>
            <a:r>
              <a:rPr sz="2100" b="1">
                <a:solidFill>
                  <a:srgbClr val="6CB4EE"/>
                </a:solidFill>
              </a:rPr>
              <a:t>→</a:t>
            </a:r>
          </a:p>
        </p:txBody>
      </p:sp>
      <p:sp>
        <p:nvSpPr>
          <p:cNvPr id="10" name="">
            <a:extLst xmlns:a="http://schemas.openxmlformats.org/drawingml/2006/main">
              <a:ext uri="{FF2B5EF4-FFF2-40B4-BE49-F238E27FC236}">
                <a16:creationId xmlns:a16="http://schemas.microsoft.com/office/drawing/2014/main" id="{61964519-8E32-4063-9D22-EE090FC606B1}"/>
              </a:ext>
            </a:extLst>
          </p:cNvPr>
          <p:cNvSpPr>
            <a:spLocks xmlns:a="http://schemas.openxmlformats.org/drawingml/2006/main" noGrp="1"/>
          </p:cNvSpPr>
          <p:nvPr/>
        </p:nvSpPr>
        <p:spPr>
          <a:xfrm xmlns:a="http://schemas.openxmlformats.org/drawingml/2006/main">
            <a:off x="5886450" y="2695575"/>
            <a:ext cx="2095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25" b="1">
                <a:solidFill>
                  <a:srgbClr val="0B1F33"/>
                </a:solidFill>
              </a:defRPr>
            </a:pPr>
            <a:r>
              <a:rPr sz="2025" b="1">
                <a:solidFill>
                  <a:srgbClr val="0B1F33"/>
                </a:solidFill>
              </a:rPr>
              <a:t>ONE SHARED</a:t>
            </a:r>
          </a:p>
          <a:p xmlns:a="http://schemas.openxmlformats.org/drawingml/2006/main">
            <a:pPr algn="ctr">
              <a:buNone/>
              <a:defRPr sz="2025" b="1">
                <a:solidFill>
                  <a:srgbClr val="0B1F33"/>
                </a:solidFill>
              </a:defRPr>
            </a:pPr>
            <a:r>
              <a:rPr sz="2025" b="1">
                <a:solidFill>
                  <a:srgbClr val="0B1F33"/>
                </a:solidFill>
              </a:rPr>
              <a:t>ACTION STATE</a:t>
            </a:r>
          </a:p>
        </p:txBody>
      </p:sp>
      <p:sp>
        <p:nvSpPr>
          <p:cNvPr id="11" name="">
            <a:extLst xmlns:a="http://schemas.openxmlformats.org/drawingml/2006/main">
              <a:ext uri="{FF2B5EF4-FFF2-40B4-BE49-F238E27FC236}">
                <a16:creationId xmlns:a16="http://schemas.microsoft.com/office/drawing/2014/main" id="{89C2C854-CE2F-46C0-97BB-9B34DDAFA5C9}"/>
              </a:ext>
            </a:extLst>
          </p:cNvPr>
          <p:cNvSpPr>
            <a:spLocks xmlns:a="http://schemas.openxmlformats.org/drawingml/2006/main" noGrp="1"/>
          </p:cNvSpPr>
          <p:nvPr/>
        </p:nvSpPr>
        <p:spPr>
          <a:xfrm xmlns:a="http://schemas.openxmlformats.org/drawingml/2006/main">
            <a:off x="8067675" y="2838450"/>
            <a:ext cx="342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6CB4EE"/>
                </a:solidFill>
              </a:defRPr>
            </a:pPr>
            <a:r>
              <a:rPr sz="2100" b="1">
                <a:solidFill>
                  <a:srgbClr val="6CB4EE"/>
                </a:solidFill>
              </a:rPr>
              <a:t>→</a:t>
            </a:r>
          </a:p>
        </p:txBody>
      </p:sp>
      <p:sp>
        <p:nvSpPr>
          <p:cNvPr id="12" name="">
            <a:extLst xmlns:a="http://schemas.openxmlformats.org/drawingml/2006/main">
              <a:ext uri="{FF2B5EF4-FFF2-40B4-BE49-F238E27FC236}">
                <a16:creationId xmlns:a16="http://schemas.microsoft.com/office/drawing/2014/main" id="{D96FE3D4-7C61-4629-A99A-398F4090D44D}"/>
              </a:ext>
            </a:extLst>
          </p:cNvPr>
          <p:cNvSpPr>
            <a:spLocks xmlns:a="http://schemas.openxmlformats.org/drawingml/2006/main" noGrp="1"/>
          </p:cNvSpPr>
          <p:nvPr/>
        </p:nvSpPr>
        <p:spPr>
          <a:xfrm xmlns:a="http://schemas.openxmlformats.org/drawingml/2006/main">
            <a:off x="8486775" y="2695575"/>
            <a:ext cx="2333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0B1F33"/>
                </a:solidFill>
              </a:defRPr>
            </a:pPr>
            <a:r>
              <a:rPr sz="1875" b="1">
                <a:solidFill>
                  <a:srgbClr val="0B1F33"/>
                </a:solidFill>
              </a:rPr>
              <a:t>ONE</a:t>
            </a:r>
          </a:p>
          <a:p xmlns:a="http://schemas.openxmlformats.org/drawingml/2006/main">
            <a:pPr algn="ctr">
              <a:buNone/>
              <a:defRPr sz="1875" b="1">
                <a:solidFill>
                  <a:srgbClr val="0B1F33"/>
                </a:solidFill>
              </a:defRPr>
            </a:pPr>
            <a:r>
              <a:rPr sz="1875" b="1">
                <a:solidFill>
                  <a:srgbClr val="0B1F33"/>
                </a:solidFill>
              </a:rPr>
              <a:t>LEARNING LOOP</a:t>
            </a:r>
          </a:p>
        </p:txBody>
      </p:sp>
      <p:sp>
        <p:nvSpPr>
          <p:cNvPr id="13" name="">
            <a:extLst xmlns:a="http://schemas.openxmlformats.org/drawingml/2006/main">
              <a:ext uri="{FF2B5EF4-FFF2-40B4-BE49-F238E27FC236}">
                <a16:creationId xmlns:a16="http://schemas.microsoft.com/office/drawing/2014/main" id="{B03FB93F-BBA5-4A6B-839E-B0B2CF335A82}"/>
              </a:ext>
            </a:extLst>
          </p:cNvPr>
          <p:cNvSpPr>
            <a:spLocks xmlns:a="http://schemas.openxmlformats.org/drawingml/2006/main" noGrp="1"/>
          </p:cNvSpPr>
          <p:nvPr/>
        </p:nvSpPr>
        <p:spPr>
          <a:xfrm xmlns:a="http://schemas.openxmlformats.org/drawingml/2006/main">
            <a:off x="838200" y="3905250"/>
            <a:ext cx="10668000" cy="19050"/>
          </a:xfrm>
          <a:prstGeom xmlns:a="http://schemas.openxmlformats.org/drawingml/2006/main" prst="rect">
            <a:avLst/>
          </a:prstGeom>
          <a:solidFill xmlns:a="http://schemas.openxmlformats.org/drawingml/2006/main">
            <a:srgbClr val="D8E0E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8A70DCB-9014-44BC-B6B8-F61843126E83}"/>
              </a:ext>
            </a:extLst>
          </p:cNvPr>
          <p:cNvSpPr>
            <a:spLocks xmlns:a="http://schemas.openxmlformats.org/drawingml/2006/main" noGrp="1"/>
          </p:cNvSpPr>
          <p:nvPr/>
        </p:nvSpPr>
        <p:spPr>
          <a:xfrm xmlns:a="http://schemas.openxmlformats.org/drawingml/2006/main">
            <a:off x="1428750" y="4343400"/>
            <a:ext cx="9334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7212B"/>
                </a:solidFill>
              </a:defRPr>
            </a:pPr>
            <a:r>
              <a:rPr sz="1800" b="1">
                <a:solidFill>
                  <a:srgbClr val="17212B"/>
                </a:solidFill>
              </a:rPr>
              <a:t>Coach orchestrates. The Client Agent remembers. Approved capabilities do the work. People own the relationship. Every interaction strengthens the next.</a:t>
            </a:r>
          </a:p>
        </p:txBody>
      </p:sp>
    </p:spTree>
    <p:extLst>
      <p:ext uri="{BB962C8B-B14F-4D97-AF65-F5344CB8AC3E}">
        <p14:creationId xmlns:p14="http://schemas.microsoft.com/office/powerpoint/2010/main" val="165284064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slide-title">
            <a:extLst xmlns:a="http://schemas.openxmlformats.org/drawingml/2006/main">
              <a:ext uri="{FF2B5EF4-FFF2-40B4-BE49-F238E27FC236}">
                <a16:creationId xmlns:a16="http://schemas.microsoft.com/office/drawing/2014/main" id="{3B76F061-E21A-4E28-AEE8-3F6EDFD3BDB9}"/>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625" b="1">
                <a:solidFill>
                  <a:srgbClr val="0B1F33"/>
                </a:solidFill>
              </a:defRPr>
            </a:pPr>
            <a:r>
              <a:rPr sz="2625" b="1">
                <a:solidFill>
                  <a:srgbClr val="0B1F33"/>
                </a:solidFill>
              </a:rPr>
              <a:t>The Client Agent makes every relationship smarter over time.</a:t>
            </a:r>
          </a:p>
        </p:txBody>
      </p:sp>
      <p:sp>
        <p:nvSpPr>
          <p:cNvPr id="2" name="">
            <a:extLst xmlns:a="http://schemas.openxmlformats.org/drawingml/2006/main">
              <a:ext uri="{FF2B5EF4-FFF2-40B4-BE49-F238E27FC236}">
                <a16:creationId xmlns:a16="http://schemas.microsoft.com/office/drawing/2014/main" id="{4A9CA87F-8216-4123-9EE1-67524165E21B}"/>
              </a:ext>
            </a:extLst>
          </p:cNvPr>
          <p:cNvSpPr>
            <a:spLocks xmlns:a="http://schemas.openxmlformats.org/drawingml/2006/main" noGrp="1"/>
          </p:cNvSpPr>
          <p:nvPr/>
        </p:nvSpPr>
        <p:spPr>
          <a:xfrm xmlns:a="http://schemas.openxmlformats.org/drawingml/2006/main">
            <a:off x="685800" y="1695450"/>
            <a:ext cx="10820400" cy="19050"/>
          </a:xfrm>
          <a:prstGeom xmlns:a="http://schemas.openxmlformats.org/drawingml/2006/main" prst="rect">
            <a:avLst/>
          </a:prstGeom>
          <a:solidFill xmlns:a="http://schemas.openxmlformats.org/drawingml/2006/main">
            <a:srgbClr val="D8E0E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B15196A-C52C-4245-9671-B503A01DC034}"/>
              </a:ext>
            </a:extLst>
          </p:cNvPr>
          <p:cNvSpPr>
            <a:spLocks xmlns:a="http://schemas.openxmlformats.org/drawingml/2006/main" noGrp="1"/>
          </p:cNvSpPr>
          <p:nvPr/>
        </p:nvSpPr>
        <p:spPr>
          <a:xfrm xmlns:a="http://schemas.openxmlformats.org/drawingml/2006/main">
            <a:off x="685800" y="6496050"/>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675" b="1">
                <a:solidFill>
                  <a:srgbClr val="5E6B78"/>
                </a:solidFill>
              </a:defRPr>
            </a:pPr>
            <a:r>
              <a:rPr sz="675" b="1">
                <a:solidFill>
                  <a:srgbClr val="5E6B78"/>
                </a:solidFill>
              </a:rPr>
              <a:t>DISCUSSION DRAFT  |  AUGUST 2026</a:t>
            </a:r>
          </a:p>
        </p:txBody>
      </p:sp>
      <p:sp>
        <p:nvSpPr>
          <p:cNvPr id="4" name="">
            <a:extLst xmlns:a="http://schemas.openxmlformats.org/drawingml/2006/main">
              <a:ext uri="{FF2B5EF4-FFF2-40B4-BE49-F238E27FC236}">
                <a16:creationId xmlns:a16="http://schemas.microsoft.com/office/drawing/2014/main" id="{CD0365AF-25D3-4917-BC87-2618DCC82AB5}"/>
              </a:ext>
            </a:extLst>
          </p:cNvPr>
          <p:cNvSpPr>
            <a:spLocks xmlns:a="http://schemas.openxmlformats.org/drawingml/2006/main" noGrp="1"/>
          </p:cNvSpPr>
          <p:nvPr/>
        </p:nvSpPr>
        <p:spPr>
          <a:xfrm xmlns:a="http://schemas.openxmlformats.org/drawingml/2006/main">
            <a:off x="10839450" y="6496050"/>
            <a:ext cx="666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675" b="1">
                <a:solidFill>
                  <a:srgbClr val="5E6B78"/>
                </a:solidFill>
              </a:defRPr>
            </a:pPr>
            <a:r>
              <a:rPr sz="675" b="1">
                <a:solidFill>
                  <a:srgbClr val="5E6B78"/>
                </a:solidFill>
              </a:rPr>
              <a:t>04</a:t>
            </a:r>
          </a:p>
        </p:txBody>
      </p:sp>
      <p:sp>
        <p:nvSpPr>
          <p:cNvPr id="5" name="">
            <a:extLst xmlns:a="http://schemas.openxmlformats.org/drawingml/2006/main">
              <a:ext uri="{FF2B5EF4-FFF2-40B4-BE49-F238E27FC236}">
                <a16:creationId xmlns:a16="http://schemas.microsoft.com/office/drawing/2014/main" id="{AA7BB70E-6E45-4C86-8C17-2B23D1AFAFD4}"/>
              </a:ext>
            </a:extLst>
          </p:cNvPr>
          <p:cNvSpPr>
            <a:spLocks xmlns:a="http://schemas.openxmlformats.org/drawingml/2006/main" noGrp="1"/>
          </p:cNvSpPr>
          <p:nvPr/>
        </p:nvSpPr>
        <p:spPr>
          <a:xfrm xmlns:a="http://schemas.openxmlformats.org/drawingml/2006/main">
            <a:off x="685800" y="21431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C45A2A"/>
                </a:solidFill>
              </a:defRPr>
            </a:pPr>
            <a:r>
              <a:rPr sz="975" b="1">
                <a:solidFill>
                  <a:srgbClr val="C45A2A"/>
                </a:solidFill>
              </a:rPr>
              <a:t>AUTHORIZED SIGNALS</a:t>
            </a:r>
          </a:p>
        </p:txBody>
      </p:sp>
      <p:sp>
        <p:nvSpPr>
          <p:cNvPr id="6" name="">
            <a:extLst xmlns:a="http://schemas.openxmlformats.org/drawingml/2006/main">
              <a:ext uri="{FF2B5EF4-FFF2-40B4-BE49-F238E27FC236}">
                <a16:creationId xmlns:a16="http://schemas.microsoft.com/office/drawing/2014/main" id="{BB39EBB8-9068-4E8A-BCB7-13324F4CB1D8}"/>
              </a:ext>
            </a:extLst>
          </p:cNvPr>
          <p:cNvSpPr>
            <a:spLocks xmlns:a="http://schemas.openxmlformats.org/drawingml/2006/main" noGrp="1"/>
          </p:cNvSpPr>
          <p:nvPr/>
        </p:nvSpPr>
        <p:spPr>
          <a:xfrm xmlns:a="http://schemas.openxmlformats.org/drawingml/2006/main">
            <a:off x="685800" y="2552700"/>
            <a:ext cx="1952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17212B"/>
                </a:solidFill>
              </a:defRPr>
            </a:pPr>
            <a:r>
              <a:rPr sz="1275" b="1">
                <a:solidFill>
                  <a:srgbClr val="17212B"/>
                </a:solidFill>
              </a:rPr>
              <a:t>Meetings and calls</a:t>
            </a:r>
          </a:p>
        </p:txBody>
      </p:sp>
      <p:sp>
        <p:nvSpPr>
          <p:cNvPr id="7" name="">
            <a:extLst xmlns:a="http://schemas.openxmlformats.org/drawingml/2006/main">
              <a:ext uri="{FF2B5EF4-FFF2-40B4-BE49-F238E27FC236}">
                <a16:creationId xmlns:a16="http://schemas.microsoft.com/office/drawing/2014/main" id="{41F20ABE-B093-4672-9CAC-E408AC5999B1}"/>
              </a:ext>
            </a:extLst>
          </p:cNvPr>
          <p:cNvSpPr>
            <a:spLocks xmlns:a="http://schemas.openxmlformats.org/drawingml/2006/main" noGrp="1"/>
          </p:cNvSpPr>
          <p:nvPr/>
        </p:nvSpPr>
        <p:spPr>
          <a:xfrm xmlns:a="http://schemas.openxmlformats.org/drawingml/2006/main">
            <a:off x="685800" y="3019425"/>
            <a:ext cx="1952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17212B"/>
                </a:solidFill>
              </a:defRPr>
            </a:pPr>
            <a:r>
              <a:rPr sz="1275" b="0">
                <a:solidFill>
                  <a:srgbClr val="17212B"/>
                </a:solidFill>
              </a:rPr>
              <a:t>Email and service</a:t>
            </a:r>
          </a:p>
        </p:txBody>
      </p:sp>
      <p:sp>
        <p:nvSpPr>
          <p:cNvPr id="8" name="">
            <a:extLst xmlns:a="http://schemas.openxmlformats.org/drawingml/2006/main">
              <a:ext uri="{FF2B5EF4-FFF2-40B4-BE49-F238E27FC236}">
                <a16:creationId xmlns:a16="http://schemas.microsoft.com/office/drawing/2014/main" id="{B6B30107-8ECD-45AC-853C-F22A2B98B82C}"/>
              </a:ext>
            </a:extLst>
          </p:cNvPr>
          <p:cNvSpPr>
            <a:spLocks xmlns:a="http://schemas.openxmlformats.org/drawingml/2006/main" noGrp="1"/>
          </p:cNvSpPr>
          <p:nvPr/>
        </p:nvSpPr>
        <p:spPr>
          <a:xfrm xmlns:a="http://schemas.openxmlformats.org/drawingml/2006/main">
            <a:off x="685800" y="3486150"/>
            <a:ext cx="1952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17212B"/>
                </a:solidFill>
              </a:defRPr>
            </a:pPr>
            <a:r>
              <a:rPr sz="1275" b="0">
                <a:solidFill>
                  <a:srgbClr val="17212B"/>
                </a:solidFill>
              </a:rPr>
              <a:t>Portfolios and plans</a:t>
            </a:r>
          </a:p>
        </p:txBody>
      </p:sp>
      <p:sp>
        <p:nvSpPr>
          <p:cNvPr id="9" name="">
            <a:extLst xmlns:a="http://schemas.openxmlformats.org/drawingml/2006/main">
              <a:ext uri="{FF2B5EF4-FFF2-40B4-BE49-F238E27FC236}">
                <a16:creationId xmlns:a16="http://schemas.microsoft.com/office/drawing/2014/main" id="{40682BB1-5D8F-4A61-BD3B-70710C7DEA0D}"/>
              </a:ext>
            </a:extLst>
          </p:cNvPr>
          <p:cNvSpPr>
            <a:spLocks xmlns:a="http://schemas.openxmlformats.org/drawingml/2006/main" noGrp="1"/>
          </p:cNvSpPr>
          <p:nvPr/>
        </p:nvSpPr>
        <p:spPr>
          <a:xfrm xmlns:a="http://schemas.openxmlformats.org/drawingml/2006/main">
            <a:off x="685800" y="3952875"/>
            <a:ext cx="1952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17212B"/>
                </a:solidFill>
              </a:defRPr>
            </a:pPr>
            <a:r>
              <a:rPr sz="1275" b="0">
                <a:solidFill>
                  <a:srgbClr val="17212B"/>
                </a:solidFill>
              </a:rPr>
              <a:t>Transactions and markets</a:t>
            </a:r>
          </a:p>
        </p:txBody>
      </p:sp>
      <p:sp>
        <p:nvSpPr>
          <p:cNvPr id="10" name="">
            <a:extLst xmlns:a="http://schemas.openxmlformats.org/drawingml/2006/main">
              <a:ext uri="{FF2B5EF4-FFF2-40B4-BE49-F238E27FC236}">
                <a16:creationId xmlns:a16="http://schemas.microsoft.com/office/drawing/2014/main" id="{A66F97BC-5B95-4EF5-91DC-B15BA91E318F}"/>
              </a:ext>
            </a:extLst>
          </p:cNvPr>
          <p:cNvSpPr>
            <a:spLocks xmlns:a="http://schemas.openxmlformats.org/drawingml/2006/main" noGrp="1"/>
          </p:cNvSpPr>
          <p:nvPr/>
        </p:nvSpPr>
        <p:spPr>
          <a:xfrm xmlns:a="http://schemas.openxmlformats.org/drawingml/2006/main">
            <a:off x="2743200" y="3086100"/>
            <a:ext cx="523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6CB4EE"/>
                </a:solidFill>
              </a:defRPr>
            </a:pPr>
            <a:r>
              <a:rPr sz="2550" b="1">
                <a:solidFill>
                  <a:srgbClr val="6CB4EE"/>
                </a:solidFill>
              </a:rPr>
              <a:t>→</a:t>
            </a:r>
          </a:p>
        </p:txBody>
      </p:sp>
      <p:sp>
        <p:nvSpPr>
          <p:cNvPr id="11" name="">
            <a:extLst xmlns:a="http://schemas.openxmlformats.org/drawingml/2006/main">
              <a:ext uri="{FF2B5EF4-FFF2-40B4-BE49-F238E27FC236}">
                <a16:creationId xmlns:a16="http://schemas.microsoft.com/office/drawing/2014/main" id="{514ACE29-0273-4340-97B8-48528AEB914C}"/>
              </a:ext>
            </a:extLst>
          </p:cNvPr>
          <p:cNvSpPr>
            <a:spLocks xmlns:a="http://schemas.openxmlformats.org/drawingml/2006/main" noGrp="1"/>
          </p:cNvSpPr>
          <p:nvPr/>
        </p:nvSpPr>
        <p:spPr>
          <a:xfrm xmlns:a="http://schemas.openxmlformats.org/drawingml/2006/main">
            <a:off x="3333750" y="2190750"/>
            <a:ext cx="3143250" cy="2381250"/>
          </a:xfrm>
          <a:prstGeom xmlns:a="http://schemas.openxmlformats.org/drawingml/2006/main" prst="roundRect">
            <a:avLst>
              <a:gd name="adj" fmla="val 4800"/>
            </a:avLst>
          </a:prstGeom>
          <a:solidFill xmlns:a="http://schemas.openxmlformats.org/drawingml/2006/main">
            <a:srgbClr val="EAF2F8"/>
          </a:solidFill>
          <a:ln xmlns:a="http://schemas.openxmlformats.org/drawingml/2006/main" w="9525">
            <a:solidFill>
              <a:srgbClr val="D8E0E7"/>
            </a:solidFill>
            <a:prstDash val="solid"/>
          </a:ln>
        </p:spPr>
      </p:sp>
      <p:sp>
        <p:nvSpPr>
          <p:cNvPr id="12" name="">
            <a:extLst xmlns:a="http://schemas.openxmlformats.org/drawingml/2006/main">
              <a:ext uri="{FF2B5EF4-FFF2-40B4-BE49-F238E27FC236}">
                <a16:creationId xmlns:a16="http://schemas.microsoft.com/office/drawing/2014/main" id="{57141932-B7AA-4328-99FA-09653E0A49D8}"/>
              </a:ext>
            </a:extLst>
          </p:cNvPr>
          <p:cNvSpPr>
            <a:spLocks xmlns:a="http://schemas.openxmlformats.org/drawingml/2006/main" noGrp="1"/>
          </p:cNvSpPr>
          <p:nvPr/>
        </p:nvSpPr>
        <p:spPr>
          <a:xfrm xmlns:a="http://schemas.openxmlformats.org/drawingml/2006/main">
            <a:off x="3667125" y="2476500"/>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2B6CB0"/>
                </a:solidFill>
              </a:defRPr>
            </a:pPr>
            <a:r>
              <a:rPr sz="975" b="1">
                <a:solidFill>
                  <a:srgbClr val="2B6CB0"/>
                </a:solidFill>
              </a:rPr>
              <a:t>LIVING MEMORY</a:t>
            </a:r>
          </a:p>
        </p:txBody>
      </p:sp>
      <p:sp>
        <p:nvSpPr>
          <p:cNvPr id="13" name="">
            <a:extLst xmlns:a="http://schemas.openxmlformats.org/drawingml/2006/main">
              <a:ext uri="{FF2B5EF4-FFF2-40B4-BE49-F238E27FC236}">
                <a16:creationId xmlns:a16="http://schemas.microsoft.com/office/drawing/2014/main" id="{48C2A44A-9335-4F56-9CBB-B70F4F715029}"/>
              </a:ext>
            </a:extLst>
          </p:cNvPr>
          <p:cNvSpPr>
            <a:spLocks xmlns:a="http://schemas.openxmlformats.org/drawingml/2006/main" noGrp="1"/>
          </p:cNvSpPr>
          <p:nvPr/>
        </p:nvSpPr>
        <p:spPr>
          <a:xfrm xmlns:a="http://schemas.openxmlformats.org/drawingml/2006/main">
            <a:off x="3667125" y="2914650"/>
            <a:ext cx="24765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a:solidFill>
                  <a:srgbClr val="0B1F33"/>
                </a:solidFill>
              </a:defRPr>
            </a:pPr>
            <a:r>
              <a:rPr sz="1425" b="1">
                <a:solidFill>
                  <a:srgbClr val="0B1F33"/>
                </a:solidFill>
              </a:rPr>
              <a:t>Facts and goals</a:t>
            </a:r>
          </a:p>
          <a:p xmlns:a="http://schemas.openxmlformats.org/drawingml/2006/main">
            <a:pPr algn="ctr">
              <a:buNone/>
              <a:defRPr sz="1425" b="1">
                <a:solidFill>
                  <a:srgbClr val="0B1F33"/>
                </a:solidFill>
              </a:defRPr>
            </a:pPr>
            <a:r>
              <a:rPr sz="1425" b="1">
                <a:solidFill>
                  <a:srgbClr val="0B1F33"/>
                </a:solidFill>
              </a:rPr>
              <a:t>Preferences and decisions</a:t>
            </a:r>
          </a:p>
          <a:p xmlns:a="http://schemas.openxmlformats.org/drawingml/2006/main">
            <a:pPr algn="ctr">
              <a:buNone/>
              <a:defRPr sz="1425" b="1">
                <a:solidFill>
                  <a:srgbClr val="0B1F33"/>
                </a:solidFill>
              </a:defRPr>
            </a:pPr>
            <a:r>
              <a:rPr sz="1425" b="1">
                <a:solidFill>
                  <a:srgbClr val="0B1F33"/>
                </a:solidFill>
              </a:rPr>
              <a:t>Open questions</a:t>
            </a:r>
          </a:p>
          <a:p xmlns:a="http://schemas.openxmlformats.org/drawingml/2006/main">
            <a:pPr algn="ctr">
              <a:buNone/>
              <a:defRPr sz="1425" b="1">
                <a:solidFill>
                  <a:srgbClr val="0B1F33"/>
                </a:solidFill>
              </a:defRPr>
            </a:pPr>
            <a:r>
              <a:rPr sz="1425" b="1">
                <a:solidFill>
                  <a:srgbClr val="0B1F33"/>
                </a:solidFill>
              </a:rPr>
              <a:t>Signals and hypotheses</a:t>
            </a:r>
          </a:p>
          <a:p xmlns:a="http://schemas.openxmlformats.org/drawingml/2006/main">
            <a:pPr algn="ctr">
              <a:buNone/>
              <a:defRPr sz="1425" b="1">
                <a:solidFill>
                  <a:srgbClr val="0B1F33"/>
                </a:solidFill>
              </a:defRPr>
            </a:pPr>
            <a:r>
              <a:rPr sz="1425" b="1">
                <a:solidFill>
                  <a:srgbClr val="0B1F33"/>
                </a:solidFill>
              </a:rPr>
              <a:t>Every commitment</a:t>
            </a:r>
          </a:p>
        </p:txBody>
      </p:sp>
      <p:sp>
        <p:nvSpPr>
          <p:cNvPr id="14" name="">
            <a:extLst xmlns:a="http://schemas.openxmlformats.org/drawingml/2006/main">
              <a:ext uri="{FF2B5EF4-FFF2-40B4-BE49-F238E27FC236}">
                <a16:creationId xmlns:a16="http://schemas.microsoft.com/office/drawing/2014/main" id="{FD2DE369-2D45-4D16-8B31-2A6EE75712E4}"/>
              </a:ext>
            </a:extLst>
          </p:cNvPr>
          <p:cNvSpPr>
            <a:spLocks xmlns:a="http://schemas.openxmlformats.org/drawingml/2006/main" noGrp="1"/>
          </p:cNvSpPr>
          <p:nvPr/>
        </p:nvSpPr>
        <p:spPr>
          <a:xfrm xmlns:a="http://schemas.openxmlformats.org/drawingml/2006/main">
            <a:off x="6610350" y="3086100"/>
            <a:ext cx="523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6CB4EE"/>
                </a:solidFill>
              </a:defRPr>
            </a:pPr>
            <a:r>
              <a:rPr sz="2550" b="1">
                <a:solidFill>
                  <a:srgbClr val="6CB4EE"/>
                </a:solidFill>
              </a:rPr>
              <a:t>→</a:t>
            </a:r>
          </a:p>
        </p:txBody>
      </p:sp>
      <p:sp>
        <p:nvSpPr>
          <p:cNvPr id="15" name="">
            <a:extLst xmlns:a="http://schemas.openxmlformats.org/drawingml/2006/main">
              <a:ext uri="{FF2B5EF4-FFF2-40B4-BE49-F238E27FC236}">
                <a16:creationId xmlns:a16="http://schemas.microsoft.com/office/drawing/2014/main" id="{D823A6B0-E57E-406C-8513-5622454D3708}"/>
              </a:ext>
            </a:extLst>
          </p:cNvPr>
          <p:cNvSpPr>
            <a:spLocks xmlns:a="http://schemas.openxmlformats.org/drawingml/2006/main" noGrp="1"/>
          </p:cNvSpPr>
          <p:nvPr/>
        </p:nvSpPr>
        <p:spPr>
          <a:xfrm xmlns:a="http://schemas.openxmlformats.org/drawingml/2006/main">
            <a:off x="7239000" y="2190750"/>
            <a:ext cx="4000500" cy="2381250"/>
          </a:xfrm>
          <a:prstGeom xmlns:a="http://schemas.openxmlformats.org/drawingml/2006/main" prst="roundRect">
            <a:avLst>
              <a:gd name="adj" fmla="val 4800"/>
            </a:avLst>
          </a:prstGeom>
          <a:solidFill xmlns:a="http://schemas.openxmlformats.org/drawingml/2006/main">
            <a:srgbClr val="0B1F33"/>
          </a:solidFill>
          <a:ln xmlns:a="http://schemas.openxmlformats.org/drawingml/2006/main" w="9525">
            <a:solidFill>
              <a:srgbClr val="0B1F33"/>
            </a:solidFill>
            <a:prstDash val="solid"/>
          </a:ln>
        </p:spPr>
      </p:sp>
      <p:sp>
        <p:nvSpPr>
          <p:cNvPr id="16" name="">
            <a:extLst xmlns:a="http://schemas.openxmlformats.org/drawingml/2006/main">
              <a:ext uri="{FF2B5EF4-FFF2-40B4-BE49-F238E27FC236}">
                <a16:creationId xmlns:a16="http://schemas.microsoft.com/office/drawing/2014/main" id="{D72E5ED7-7AEE-4FDC-8FC3-08C711CEFEFF}"/>
              </a:ext>
            </a:extLst>
          </p:cNvPr>
          <p:cNvSpPr>
            <a:spLocks xmlns:a="http://schemas.openxmlformats.org/drawingml/2006/main" noGrp="1"/>
          </p:cNvSpPr>
          <p:nvPr/>
        </p:nvSpPr>
        <p:spPr>
          <a:xfrm xmlns:a="http://schemas.openxmlformats.org/drawingml/2006/main">
            <a:off x="7620000" y="2476500"/>
            <a:ext cx="3238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6CB4EE"/>
                </a:solidFill>
              </a:defRPr>
            </a:pPr>
            <a:r>
              <a:rPr sz="975" b="1">
                <a:solidFill>
                  <a:srgbClr val="6CB4EE"/>
                </a:solidFill>
              </a:rPr>
              <a:t>RELATIONSHIP CHIEF OF STAFF</a:t>
            </a:r>
          </a:p>
        </p:txBody>
      </p:sp>
      <p:sp>
        <p:nvSpPr>
          <p:cNvPr id="17" name="">
            <a:extLst xmlns:a="http://schemas.openxmlformats.org/drawingml/2006/main">
              <a:ext uri="{FF2B5EF4-FFF2-40B4-BE49-F238E27FC236}">
                <a16:creationId xmlns:a16="http://schemas.microsoft.com/office/drawing/2014/main" id="{B2CDA711-5A76-4F1E-A471-22B8DE778AEF}"/>
              </a:ext>
            </a:extLst>
          </p:cNvPr>
          <p:cNvSpPr>
            <a:spLocks xmlns:a="http://schemas.openxmlformats.org/drawingml/2006/main" noGrp="1"/>
          </p:cNvSpPr>
          <p:nvPr/>
        </p:nvSpPr>
        <p:spPr>
          <a:xfrm xmlns:a="http://schemas.openxmlformats.org/drawingml/2006/main">
            <a:off x="7620000" y="29527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FFFFFF"/>
                </a:solidFill>
              </a:defRPr>
            </a:pPr>
            <a:r>
              <a:rPr sz="1575" b="1">
                <a:solidFill>
                  <a:srgbClr val="FFFFFF"/>
                </a:solidFill>
              </a:rPr>
              <a:t>Separates facts and hypotheses</a:t>
            </a:r>
          </a:p>
          <a:p xmlns:a="http://schemas.openxmlformats.org/drawingml/2006/main">
            <a:pPr algn="ctr">
              <a:buNone/>
              <a:defRPr sz="1575" b="1">
                <a:solidFill>
                  <a:srgbClr val="FFFFFF"/>
                </a:solidFill>
              </a:defRPr>
            </a:pPr>
            <a:r>
              <a:rPr sz="1575" b="1">
                <a:solidFill>
                  <a:srgbClr val="FFFFFF"/>
                </a:solidFill>
              </a:rPr>
              <a:t>Advisor validates uncertainty</a:t>
            </a:r>
          </a:p>
          <a:p xmlns:a="http://schemas.openxmlformats.org/drawingml/2006/main">
            <a:pPr algn="ctr">
              <a:buNone/>
              <a:defRPr sz="1575" b="1">
                <a:solidFill>
                  <a:srgbClr val="FFFFFF"/>
                </a:solidFill>
              </a:defRPr>
            </a:pPr>
            <a:r>
              <a:rPr sz="1575" b="1">
                <a:solidFill>
                  <a:srgbClr val="FFFFFF"/>
                </a:solidFill>
              </a:rPr>
              <a:t>Coordinates every capability</a:t>
            </a:r>
          </a:p>
          <a:p xmlns:a="http://schemas.openxmlformats.org/drawingml/2006/main">
            <a:pPr algn="ctr">
              <a:buNone/>
              <a:defRPr sz="1575" b="1">
                <a:solidFill>
                  <a:srgbClr val="FFFFFF"/>
                </a:solidFill>
              </a:defRPr>
            </a:pPr>
            <a:r>
              <a:rPr sz="1575" b="1">
                <a:solidFill>
                  <a:srgbClr val="FFFFFF"/>
                </a:solidFill>
              </a:rPr>
              <a:t>Tracks every commitment</a:t>
            </a:r>
          </a:p>
        </p:txBody>
      </p:sp>
      <p:sp>
        <p:nvSpPr>
          <p:cNvPr id="18" name="">
            <a:extLst xmlns:a="http://schemas.openxmlformats.org/drawingml/2006/main">
              <a:ext uri="{FF2B5EF4-FFF2-40B4-BE49-F238E27FC236}">
                <a16:creationId xmlns:a16="http://schemas.microsoft.com/office/drawing/2014/main" id="{A585EB82-7E03-432E-85F6-3856B1409211}"/>
              </a:ext>
            </a:extLst>
          </p:cNvPr>
          <p:cNvSpPr>
            <a:spLocks xmlns:a="http://schemas.openxmlformats.org/drawingml/2006/main" noGrp="1"/>
          </p:cNvSpPr>
          <p:nvPr/>
        </p:nvSpPr>
        <p:spPr>
          <a:xfrm xmlns:a="http://schemas.openxmlformats.org/drawingml/2006/main">
            <a:off x="685800" y="5038725"/>
            <a:ext cx="10553700" cy="9525"/>
          </a:xfrm>
          <a:prstGeom xmlns:a="http://schemas.openxmlformats.org/drawingml/2006/main" prst="rect">
            <a:avLst/>
          </a:prstGeom>
          <a:solidFill xmlns:a="http://schemas.openxmlformats.org/drawingml/2006/main">
            <a:srgbClr val="D8E0E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C0ABC66-14AC-449F-941F-9C119A95E657}"/>
              </a:ext>
            </a:extLst>
          </p:cNvPr>
          <p:cNvSpPr>
            <a:spLocks xmlns:a="http://schemas.openxmlformats.org/drawingml/2006/main" noGrp="1"/>
          </p:cNvSpPr>
          <p:nvPr/>
        </p:nvSpPr>
        <p:spPr>
          <a:xfrm xmlns:a="http://schemas.openxmlformats.org/drawingml/2006/main">
            <a:off x="952500" y="5353050"/>
            <a:ext cx="100203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17212B"/>
                </a:solidFill>
              </a:defRPr>
            </a:pPr>
            <a:r>
              <a:rPr sz="1500" b="1">
                <a:solidFill>
                  <a:srgbClr val="17212B"/>
                </a:solidFill>
              </a:rPr>
              <a:t>One client. One living memory. One coordinated team. One action state.</a:t>
            </a:r>
          </a:p>
        </p:txBody>
      </p:sp>
    </p:spTree>
    <p:extLst>
      <p:ext uri="{BB962C8B-B14F-4D97-AF65-F5344CB8AC3E}">
        <p14:creationId xmlns:p14="http://schemas.microsoft.com/office/powerpoint/2010/main" val="188279161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
            <a:extLst xmlns:a="http://schemas.openxmlformats.org/drawingml/2006/main">
              <a:ext uri="{FF2B5EF4-FFF2-40B4-BE49-F238E27FC236}">
                <a16:creationId xmlns:a16="http://schemas.microsoft.com/office/drawing/2014/main" id="{540DCA37-D87C-41A2-86EB-9589913A0C98}"/>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625" b="1">
                <a:solidFill>
                  <a:srgbClr val="0B1F33"/>
                </a:solidFill>
              </a:defRPr>
            </a:pPr>
            <a:r>
              <a:rPr sz="2625" b="1">
                <a:solidFill>
                  <a:srgbClr val="0B1F33"/>
                </a:solidFill>
              </a:rPr>
              <a:t>The Smartest Room turns our physical network into an AI advantage.</a:t>
            </a:r>
          </a:p>
        </p:txBody>
      </p:sp>
      <p:sp>
        <p:nvSpPr>
          <p:cNvPr id="2" name="">
            <a:extLst xmlns:a="http://schemas.openxmlformats.org/drawingml/2006/main">
              <a:ext uri="{FF2B5EF4-FFF2-40B4-BE49-F238E27FC236}">
                <a16:creationId xmlns:a16="http://schemas.microsoft.com/office/drawing/2014/main" id="{0D5A548A-4A4D-4D13-9F26-81045D73541A}"/>
              </a:ext>
            </a:extLst>
          </p:cNvPr>
          <p:cNvSpPr>
            <a:spLocks xmlns:a="http://schemas.openxmlformats.org/drawingml/2006/main" noGrp="1"/>
          </p:cNvSpPr>
          <p:nvPr/>
        </p:nvSpPr>
        <p:spPr>
          <a:xfrm xmlns:a="http://schemas.openxmlformats.org/drawingml/2006/main">
            <a:off x="685800" y="12954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5E6B78"/>
                </a:solidFill>
              </a:defRPr>
            </a:pPr>
            <a:r>
              <a:rPr sz="1275" b="0">
                <a:solidFill>
                  <a:srgbClr val="5E6B78"/>
                </a:solidFill>
              </a:rPr>
              <a:t>Before, during and after, the banker remains the trusted lead.</a:t>
            </a:r>
          </a:p>
        </p:txBody>
      </p:sp>
      <p:sp>
        <p:nvSpPr>
          <p:cNvPr id="3" name="">
            <a:extLst xmlns:a="http://schemas.openxmlformats.org/drawingml/2006/main">
              <a:ext uri="{FF2B5EF4-FFF2-40B4-BE49-F238E27FC236}">
                <a16:creationId xmlns:a16="http://schemas.microsoft.com/office/drawing/2014/main" id="{BB0FFE4F-AC92-4431-92CE-73C5E3AC6A2D}"/>
              </a:ext>
            </a:extLst>
          </p:cNvPr>
          <p:cNvSpPr>
            <a:spLocks xmlns:a="http://schemas.openxmlformats.org/drawingml/2006/main" noGrp="1"/>
          </p:cNvSpPr>
          <p:nvPr/>
        </p:nvSpPr>
        <p:spPr>
          <a:xfrm xmlns:a="http://schemas.openxmlformats.org/drawingml/2006/main">
            <a:off x="685800" y="1695450"/>
            <a:ext cx="10820400" cy="19050"/>
          </a:xfrm>
          <a:prstGeom xmlns:a="http://schemas.openxmlformats.org/drawingml/2006/main" prst="rect">
            <a:avLst/>
          </a:prstGeom>
          <a:solidFill xmlns:a="http://schemas.openxmlformats.org/drawingml/2006/main">
            <a:srgbClr val="D8E0E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1D72C35-E0B6-4409-B702-0E87CE6C779B}"/>
              </a:ext>
            </a:extLst>
          </p:cNvPr>
          <p:cNvSpPr>
            <a:spLocks xmlns:a="http://schemas.openxmlformats.org/drawingml/2006/main" noGrp="1"/>
          </p:cNvSpPr>
          <p:nvPr/>
        </p:nvSpPr>
        <p:spPr>
          <a:xfrm xmlns:a="http://schemas.openxmlformats.org/drawingml/2006/main">
            <a:off x="685800" y="6496050"/>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675" b="1">
                <a:solidFill>
                  <a:srgbClr val="5E6B78"/>
                </a:solidFill>
              </a:defRPr>
            </a:pPr>
            <a:r>
              <a:rPr sz="675" b="1">
                <a:solidFill>
                  <a:srgbClr val="5E6B78"/>
                </a:solidFill>
              </a:rPr>
              <a:t>DISCUSSION DRAFT  |  AUGUST 2026</a:t>
            </a:r>
          </a:p>
        </p:txBody>
      </p:sp>
      <p:sp>
        <p:nvSpPr>
          <p:cNvPr id="5" name="">
            <a:extLst xmlns:a="http://schemas.openxmlformats.org/drawingml/2006/main">
              <a:ext uri="{FF2B5EF4-FFF2-40B4-BE49-F238E27FC236}">
                <a16:creationId xmlns:a16="http://schemas.microsoft.com/office/drawing/2014/main" id="{412169EF-E32C-440B-BA77-97AEE29C430D}"/>
              </a:ext>
            </a:extLst>
          </p:cNvPr>
          <p:cNvSpPr>
            <a:spLocks xmlns:a="http://schemas.openxmlformats.org/drawingml/2006/main" noGrp="1"/>
          </p:cNvSpPr>
          <p:nvPr/>
        </p:nvSpPr>
        <p:spPr>
          <a:xfrm xmlns:a="http://schemas.openxmlformats.org/drawingml/2006/main">
            <a:off x="10839450" y="6496050"/>
            <a:ext cx="666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675" b="1">
                <a:solidFill>
                  <a:srgbClr val="5E6B78"/>
                </a:solidFill>
              </a:defRPr>
            </a:pPr>
            <a:r>
              <a:rPr sz="675" b="1">
                <a:solidFill>
                  <a:srgbClr val="5E6B78"/>
                </a:solidFill>
              </a:rPr>
              <a:t>05</a:t>
            </a:r>
          </a:p>
        </p:txBody>
      </p:sp>
      <p:sp>
        <p:nvSpPr>
          <p:cNvPr id="6" name="">
            <a:extLst xmlns:a="http://schemas.openxmlformats.org/drawingml/2006/main">
              <a:ext uri="{FF2B5EF4-FFF2-40B4-BE49-F238E27FC236}">
                <a16:creationId xmlns:a16="http://schemas.microsoft.com/office/drawing/2014/main" id="{9639E1DF-16FE-4579-B377-4AEBB548819F}"/>
              </a:ext>
            </a:extLst>
          </p:cNvPr>
          <p:cNvSpPr>
            <a:spLocks xmlns:a="http://schemas.openxmlformats.org/drawingml/2006/main" noGrp="1"/>
          </p:cNvSpPr>
          <p:nvPr/>
        </p:nvSpPr>
        <p:spPr>
          <a:xfrm xmlns:a="http://schemas.openxmlformats.org/drawingml/2006/main">
            <a:off x="685800" y="22098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C45A2A"/>
                </a:solidFill>
              </a:defRPr>
            </a:pPr>
            <a:r>
              <a:rPr sz="1050" b="1">
                <a:solidFill>
                  <a:srgbClr val="C45A2A"/>
                </a:solidFill>
              </a:rPr>
              <a:t>01  BEFORE</a:t>
            </a:r>
          </a:p>
        </p:txBody>
      </p:sp>
      <p:sp>
        <p:nvSpPr>
          <p:cNvPr id="7" name="">
            <a:extLst xmlns:a="http://schemas.openxmlformats.org/drawingml/2006/main">
              <a:ext uri="{FF2B5EF4-FFF2-40B4-BE49-F238E27FC236}">
                <a16:creationId xmlns:a16="http://schemas.microsoft.com/office/drawing/2014/main" id="{D85FEEE6-F5FC-437F-9C63-89ABFC5B5000}"/>
              </a:ext>
            </a:extLst>
          </p:cNvPr>
          <p:cNvSpPr>
            <a:spLocks xmlns:a="http://schemas.openxmlformats.org/drawingml/2006/main" noGrp="1"/>
          </p:cNvSpPr>
          <p:nvPr/>
        </p:nvSpPr>
        <p:spPr>
          <a:xfrm xmlns:a="http://schemas.openxmlformats.org/drawingml/2006/main">
            <a:off x="685800" y="2657475"/>
            <a:ext cx="3143250" cy="2476500"/>
          </a:xfrm>
          <a:prstGeom xmlns:a="http://schemas.openxmlformats.org/drawingml/2006/main" prst="roundRect">
            <a:avLst>
              <a:gd name="adj" fmla="val 4615"/>
            </a:avLst>
          </a:prstGeom>
          <a:solidFill xmlns:a="http://schemas.openxmlformats.org/drawingml/2006/main">
            <a:srgbClr val="F3F6F8"/>
          </a:solidFill>
          <a:ln xmlns:a="http://schemas.openxmlformats.org/drawingml/2006/main" w="9525">
            <a:solidFill>
              <a:srgbClr val="D8E0E7"/>
            </a:solidFill>
            <a:prstDash val="solid"/>
          </a:ln>
        </p:spPr>
      </p:sp>
      <p:sp>
        <p:nvSpPr>
          <p:cNvPr id="8" name="">
            <a:extLst xmlns:a="http://schemas.openxmlformats.org/drawingml/2006/main">
              <a:ext uri="{FF2B5EF4-FFF2-40B4-BE49-F238E27FC236}">
                <a16:creationId xmlns:a16="http://schemas.microsoft.com/office/drawing/2014/main" id="{5FEE0525-8BCE-4A7B-8219-5507EBA8EBC1}"/>
              </a:ext>
            </a:extLst>
          </p:cNvPr>
          <p:cNvSpPr>
            <a:spLocks xmlns:a="http://schemas.openxmlformats.org/drawingml/2006/main" noGrp="1"/>
          </p:cNvSpPr>
          <p:nvPr/>
        </p:nvSpPr>
        <p:spPr>
          <a:xfrm xmlns:a="http://schemas.openxmlformats.org/drawingml/2006/main">
            <a:off x="952500" y="3076575"/>
            <a:ext cx="26098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17212B"/>
                </a:solidFill>
              </a:defRPr>
            </a:pPr>
            <a:r>
              <a:rPr sz="1425" b="0">
                <a:solidFill>
                  <a:srgbClr val="17212B"/>
                </a:solidFill>
              </a:rPr>
              <a:t>The client shapes the agenda</a:t>
            </a:r>
          </a:p>
          <a:p xmlns:a="http://schemas.openxmlformats.org/drawingml/2006/main">
            <a:pPr algn="l">
              <a:buNone/>
              <a:defRPr sz="1425" b="0">
                <a:solidFill>
                  <a:srgbClr val="17212B"/>
                </a:solidFill>
              </a:defRPr>
            </a:pPr>
            <a:r>
              <a:rPr sz="1425" b="0">
                <a:solidFill>
                  <a:srgbClr val="17212B"/>
                </a:solidFill>
              </a:rPr>
              <a:t>Coach assembles complete context</a:t>
            </a:r>
          </a:p>
          <a:p xmlns:a="http://schemas.openxmlformats.org/drawingml/2006/main">
            <a:pPr algn="l">
              <a:buNone/>
              <a:defRPr sz="1425" b="0">
                <a:solidFill>
                  <a:srgbClr val="17212B"/>
                </a:solidFill>
              </a:defRPr>
            </a:pPr>
            <a:r>
              <a:rPr sz="1425" b="0">
                <a:solidFill>
                  <a:srgbClr val="17212B"/>
                </a:solidFill>
              </a:rPr>
              <a:t>Scenarios and specialists are ready</a:t>
            </a:r>
          </a:p>
        </p:txBody>
      </p:sp>
      <p:sp>
        <p:nvSpPr>
          <p:cNvPr id="9" name="">
            <a:extLst xmlns:a="http://schemas.openxmlformats.org/drawingml/2006/main">
              <a:ext uri="{FF2B5EF4-FFF2-40B4-BE49-F238E27FC236}">
                <a16:creationId xmlns:a16="http://schemas.microsoft.com/office/drawing/2014/main" id="{151B88C3-4798-4E1F-94C8-EBEC1F3CEF94}"/>
              </a:ext>
            </a:extLst>
          </p:cNvPr>
          <p:cNvSpPr>
            <a:spLocks xmlns:a="http://schemas.openxmlformats.org/drawingml/2006/main" noGrp="1"/>
          </p:cNvSpPr>
          <p:nvPr/>
        </p:nvSpPr>
        <p:spPr>
          <a:xfrm xmlns:a="http://schemas.openxmlformats.org/drawingml/2006/main">
            <a:off x="4324350" y="22098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C45A2A"/>
                </a:solidFill>
              </a:defRPr>
            </a:pPr>
            <a:r>
              <a:rPr sz="1050" b="1">
                <a:solidFill>
                  <a:srgbClr val="C45A2A"/>
                </a:solidFill>
              </a:rPr>
              <a:t>02  DURING</a:t>
            </a:r>
          </a:p>
        </p:txBody>
      </p:sp>
      <p:sp>
        <p:nvSpPr>
          <p:cNvPr id="10" name="">
            <a:extLst xmlns:a="http://schemas.openxmlformats.org/drawingml/2006/main">
              <a:ext uri="{FF2B5EF4-FFF2-40B4-BE49-F238E27FC236}">
                <a16:creationId xmlns:a16="http://schemas.microsoft.com/office/drawing/2014/main" id="{1AB1B060-5C5B-4A5C-946A-CEE7BFC29AE8}"/>
              </a:ext>
            </a:extLst>
          </p:cNvPr>
          <p:cNvSpPr>
            <a:spLocks xmlns:a="http://schemas.openxmlformats.org/drawingml/2006/main" noGrp="1"/>
          </p:cNvSpPr>
          <p:nvPr/>
        </p:nvSpPr>
        <p:spPr>
          <a:xfrm xmlns:a="http://schemas.openxmlformats.org/drawingml/2006/main">
            <a:off x="4324350" y="2657475"/>
            <a:ext cx="3143250" cy="2476500"/>
          </a:xfrm>
          <a:prstGeom xmlns:a="http://schemas.openxmlformats.org/drawingml/2006/main" prst="roundRect">
            <a:avLst>
              <a:gd name="adj" fmla="val 4615"/>
            </a:avLst>
          </a:prstGeom>
          <a:solidFill xmlns:a="http://schemas.openxmlformats.org/drawingml/2006/main">
            <a:srgbClr val="0B1F33"/>
          </a:solidFill>
          <a:ln xmlns:a="http://schemas.openxmlformats.org/drawingml/2006/main" w="9525">
            <a:solidFill>
              <a:srgbClr val="0B1F33"/>
            </a:solidFill>
            <a:prstDash val="solid"/>
          </a:ln>
        </p:spPr>
      </p:sp>
      <p:sp>
        <p:nvSpPr>
          <p:cNvPr id="11" name="">
            <a:extLst xmlns:a="http://schemas.openxmlformats.org/drawingml/2006/main">
              <a:ext uri="{FF2B5EF4-FFF2-40B4-BE49-F238E27FC236}">
                <a16:creationId xmlns:a16="http://schemas.microsoft.com/office/drawing/2014/main" id="{AD1897AE-8FC8-4703-A91A-B93D47DD9659}"/>
              </a:ext>
            </a:extLst>
          </p:cNvPr>
          <p:cNvSpPr>
            <a:spLocks xmlns:a="http://schemas.openxmlformats.org/drawingml/2006/main" noGrp="1"/>
          </p:cNvSpPr>
          <p:nvPr/>
        </p:nvSpPr>
        <p:spPr>
          <a:xfrm xmlns:a="http://schemas.openxmlformats.org/drawingml/2006/main">
            <a:off x="4591050" y="3076575"/>
            <a:ext cx="26098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a:solidFill>
                  <a:srgbClr val="FFFFFF"/>
                </a:solidFill>
              </a:defRPr>
            </a:pPr>
            <a:r>
              <a:rPr sz="1425" b="1">
                <a:solidFill>
                  <a:srgbClr val="FFFFFF"/>
                </a:solidFill>
              </a:rPr>
              <a:t>The banker leads the conversation</a:t>
            </a:r>
          </a:p>
          <a:p xmlns:a="http://schemas.openxmlformats.org/drawingml/2006/main">
            <a:pPr algn="l">
              <a:buNone/>
              <a:defRPr sz="1425" b="1">
                <a:solidFill>
                  <a:srgbClr val="FFFFFF"/>
                </a:solidFill>
              </a:defRPr>
            </a:pPr>
            <a:r>
              <a:rPr sz="1425" b="1">
                <a:solidFill>
                  <a:srgbClr val="FFFFFF"/>
                </a:solidFill>
              </a:rPr>
              <a:t>Approved analysis evolves live</a:t>
            </a:r>
          </a:p>
          <a:p xmlns:a="http://schemas.openxmlformats.org/drawingml/2006/main">
            <a:pPr algn="l">
              <a:buNone/>
              <a:defRPr sz="1425" b="1">
                <a:solidFill>
                  <a:srgbClr val="FFFFFF"/>
                </a:solidFill>
              </a:defRPr>
            </a:pPr>
            <a:r>
              <a:rPr sz="1425" b="1">
                <a:solidFill>
                  <a:srgbClr val="FFFFFF"/>
                </a:solidFill>
              </a:rPr>
              <a:t>Sources, assumptions and limits stay visible</a:t>
            </a:r>
          </a:p>
        </p:txBody>
      </p:sp>
      <p:sp>
        <p:nvSpPr>
          <p:cNvPr id="12" name="">
            <a:extLst xmlns:a="http://schemas.openxmlformats.org/drawingml/2006/main">
              <a:ext uri="{FF2B5EF4-FFF2-40B4-BE49-F238E27FC236}">
                <a16:creationId xmlns:a16="http://schemas.microsoft.com/office/drawing/2014/main" id="{4A24C60D-A804-4208-81BC-90749075D845}"/>
              </a:ext>
            </a:extLst>
          </p:cNvPr>
          <p:cNvSpPr>
            <a:spLocks xmlns:a="http://schemas.openxmlformats.org/drawingml/2006/main" noGrp="1"/>
          </p:cNvSpPr>
          <p:nvPr/>
        </p:nvSpPr>
        <p:spPr>
          <a:xfrm xmlns:a="http://schemas.openxmlformats.org/drawingml/2006/main">
            <a:off x="7962900" y="22098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C45A2A"/>
                </a:solidFill>
              </a:defRPr>
            </a:pPr>
            <a:r>
              <a:rPr sz="1050" b="1">
                <a:solidFill>
                  <a:srgbClr val="C45A2A"/>
                </a:solidFill>
              </a:rPr>
              <a:t>03  AFTER</a:t>
            </a:r>
          </a:p>
        </p:txBody>
      </p:sp>
      <p:sp>
        <p:nvSpPr>
          <p:cNvPr id="13" name="">
            <a:extLst xmlns:a="http://schemas.openxmlformats.org/drawingml/2006/main">
              <a:ext uri="{FF2B5EF4-FFF2-40B4-BE49-F238E27FC236}">
                <a16:creationId xmlns:a16="http://schemas.microsoft.com/office/drawing/2014/main" id="{C49B46F1-19AF-4D9C-A8BA-FB8CED1E1F9F}"/>
              </a:ext>
            </a:extLst>
          </p:cNvPr>
          <p:cNvSpPr>
            <a:spLocks xmlns:a="http://schemas.openxmlformats.org/drawingml/2006/main" noGrp="1"/>
          </p:cNvSpPr>
          <p:nvPr/>
        </p:nvSpPr>
        <p:spPr>
          <a:xfrm xmlns:a="http://schemas.openxmlformats.org/drawingml/2006/main">
            <a:off x="7962900" y="2657475"/>
            <a:ext cx="3143250" cy="2476500"/>
          </a:xfrm>
          <a:prstGeom xmlns:a="http://schemas.openxmlformats.org/drawingml/2006/main" prst="roundRect">
            <a:avLst>
              <a:gd name="adj" fmla="val 4615"/>
            </a:avLst>
          </a:prstGeom>
          <a:solidFill xmlns:a="http://schemas.openxmlformats.org/drawingml/2006/main">
            <a:srgbClr val="F3F6F8"/>
          </a:solidFill>
          <a:ln xmlns:a="http://schemas.openxmlformats.org/drawingml/2006/main" w="9525">
            <a:solidFill>
              <a:srgbClr val="D8E0E7"/>
            </a:solidFill>
            <a:prstDash val="solid"/>
          </a:ln>
        </p:spPr>
      </p:sp>
      <p:sp>
        <p:nvSpPr>
          <p:cNvPr id="14" name="">
            <a:extLst xmlns:a="http://schemas.openxmlformats.org/drawingml/2006/main">
              <a:ext uri="{FF2B5EF4-FFF2-40B4-BE49-F238E27FC236}">
                <a16:creationId xmlns:a16="http://schemas.microsoft.com/office/drawing/2014/main" id="{2C17FB67-DD4A-4DF6-93E0-0BAE2B3FCA3A}"/>
              </a:ext>
            </a:extLst>
          </p:cNvPr>
          <p:cNvSpPr>
            <a:spLocks xmlns:a="http://schemas.openxmlformats.org/drawingml/2006/main" noGrp="1"/>
          </p:cNvSpPr>
          <p:nvPr/>
        </p:nvSpPr>
        <p:spPr>
          <a:xfrm xmlns:a="http://schemas.openxmlformats.org/drawingml/2006/main">
            <a:off x="8229600" y="3076575"/>
            <a:ext cx="26098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17212B"/>
                </a:solidFill>
              </a:defRPr>
            </a:pPr>
            <a:r>
              <a:rPr sz="1425" b="0">
                <a:solidFill>
                  <a:srgbClr val="17212B"/>
                </a:solidFill>
              </a:rPr>
              <a:t>Decisions and ideas remain distinct</a:t>
            </a:r>
          </a:p>
          <a:p xmlns:a="http://schemas.openxmlformats.org/drawingml/2006/main">
            <a:pPr algn="l">
              <a:buNone/>
              <a:defRPr sz="1425" b="0">
                <a:solidFill>
                  <a:srgbClr val="17212B"/>
                </a:solidFill>
              </a:defRPr>
            </a:pPr>
            <a:r>
              <a:rPr sz="1425" b="0">
                <a:solidFill>
                  <a:srgbClr val="17212B"/>
                </a:solidFill>
              </a:rPr>
              <a:t>Commitments receive owners</a:t>
            </a:r>
          </a:p>
          <a:p xmlns:a="http://schemas.openxmlformats.org/drawingml/2006/main">
            <a:pPr algn="l">
              <a:buNone/>
              <a:defRPr sz="1425" b="0">
                <a:solidFill>
                  <a:srgbClr val="17212B"/>
                </a:solidFill>
              </a:defRPr>
            </a:pPr>
            <a:r>
              <a:rPr sz="1425" b="0">
                <a:solidFill>
                  <a:srgbClr val="17212B"/>
                </a:solidFill>
              </a:rPr>
              <a:t>Approved work begins immediately</a:t>
            </a:r>
          </a:p>
        </p:txBody>
      </p:sp>
      <p:sp>
        <p:nvSpPr>
          <p:cNvPr id="15" name="">
            <a:extLst xmlns:a="http://schemas.openxmlformats.org/drawingml/2006/main">
              <a:ext uri="{FF2B5EF4-FFF2-40B4-BE49-F238E27FC236}">
                <a16:creationId xmlns:a16="http://schemas.microsoft.com/office/drawing/2014/main" id="{C2E5A288-4F84-4E5F-88AE-5C7C0990BC3D}"/>
              </a:ext>
            </a:extLst>
          </p:cNvPr>
          <p:cNvSpPr>
            <a:spLocks xmlns:a="http://schemas.openxmlformats.org/drawingml/2006/main" noGrp="1"/>
          </p:cNvSpPr>
          <p:nvPr/>
        </p:nvSpPr>
        <p:spPr>
          <a:xfrm xmlns:a="http://schemas.openxmlformats.org/drawingml/2006/main">
            <a:off x="2190750" y="5514975"/>
            <a:ext cx="781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2B6CB0"/>
                </a:solidFill>
              </a:defRPr>
            </a:pPr>
            <a:r>
              <a:rPr sz="1875" b="1">
                <a:solidFill>
                  <a:srgbClr val="2B6CB0"/>
                </a:solidFill>
              </a:rPr>
              <a:t>A J.P. Morgan visit becomes a decision environment clients cannot reproduce alone.</a:t>
            </a:r>
          </a:p>
        </p:txBody>
      </p:sp>
    </p:spTree>
    <p:extLst>
      <p:ext uri="{BB962C8B-B14F-4D97-AF65-F5344CB8AC3E}">
        <p14:creationId xmlns:p14="http://schemas.microsoft.com/office/powerpoint/2010/main" val="92070340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lide-title">
            <a:extLst xmlns:a="http://schemas.openxmlformats.org/drawingml/2006/main">
              <a:ext uri="{FF2B5EF4-FFF2-40B4-BE49-F238E27FC236}">
                <a16:creationId xmlns:a16="http://schemas.microsoft.com/office/drawing/2014/main" id="{58200D34-D711-4BAF-8AE6-C3299B0B1F30}"/>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625" b="1">
                <a:solidFill>
                  <a:srgbClr val="0B1F33"/>
                </a:solidFill>
              </a:defRPr>
            </a:pPr>
            <a:r>
              <a:rPr sz="2625" b="1">
                <a:solidFill>
                  <a:srgbClr val="0B1F33"/>
                </a:solidFill>
              </a:rPr>
              <a:t>One platform meets every advisor where they are.</a:t>
            </a:r>
          </a:p>
        </p:txBody>
      </p:sp>
      <p:sp>
        <p:nvSpPr>
          <p:cNvPr id="2" name="">
            <a:extLst xmlns:a="http://schemas.openxmlformats.org/drawingml/2006/main">
              <a:ext uri="{FF2B5EF4-FFF2-40B4-BE49-F238E27FC236}">
                <a16:creationId xmlns:a16="http://schemas.microsoft.com/office/drawing/2014/main" id="{D76008B4-8E29-45AF-B779-AD81C66D9FF0}"/>
              </a:ext>
            </a:extLst>
          </p:cNvPr>
          <p:cNvSpPr>
            <a:spLocks xmlns:a="http://schemas.openxmlformats.org/drawingml/2006/main" noGrp="1"/>
          </p:cNvSpPr>
          <p:nvPr/>
        </p:nvSpPr>
        <p:spPr>
          <a:xfrm xmlns:a="http://schemas.openxmlformats.org/drawingml/2006/main">
            <a:off x="685800" y="1695450"/>
            <a:ext cx="10820400" cy="19050"/>
          </a:xfrm>
          <a:prstGeom xmlns:a="http://schemas.openxmlformats.org/drawingml/2006/main" prst="rect">
            <a:avLst/>
          </a:prstGeom>
          <a:solidFill xmlns:a="http://schemas.openxmlformats.org/drawingml/2006/main">
            <a:srgbClr val="D8E0E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8BD4151-636A-433C-9752-3FC616CB70DD}"/>
              </a:ext>
            </a:extLst>
          </p:cNvPr>
          <p:cNvSpPr>
            <a:spLocks xmlns:a="http://schemas.openxmlformats.org/drawingml/2006/main" noGrp="1"/>
          </p:cNvSpPr>
          <p:nvPr/>
        </p:nvSpPr>
        <p:spPr>
          <a:xfrm xmlns:a="http://schemas.openxmlformats.org/drawingml/2006/main">
            <a:off x="685800" y="6496050"/>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675" b="1">
                <a:solidFill>
                  <a:srgbClr val="5E6B78"/>
                </a:solidFill>
              </a:defRPr>
            </a:pPr>
            <a:r>
              <a:rPr sz="675" b="1">
                <a:solidFill>
                  <a:srgbClr val="5E6B78"/>
                </a:solidFill>
              </a:rPr>
              <a:t>DISCUSSION DRAFT  |  AUGUST 2026</a:t>
            </a:r>
          </a:p>
        </p:txBody>
      </p:sp>
      <p:sp>
        <p:nvSpPr>
          <p:cNvPr id="4" name="">
            <a:extLst xmlns:a="http://schemas.openxmlformats.org/drawingml/2006/main">
              <a:ext uri="{FF2B5EF4-FFF2-40B4-BE49-F238E27FC236}">
                <a16:creationId xmlns:a16="http://schemas.microsoft.com/office/drawing/2014/main" id="{0A2BD8AA-6CB5-4C22-85B8-A5E3574D8A5F}"/>
              </a:ext>
            </a:extLst>
          </p:cNvPr>
          <p:cNvSpPr>
            <a:spLocks xmlns:a="http://schemas.openxmlformats.org/drawingml/2006/main" noGrp="1"/>
          </p:cNvSpPr>
          <p:nvPr/>
        </p:nvSpPr>
        <p:spPr>
          <a:xfrm xmlns:a="http://schemas.openxmlformats.org/drawingml/2006/main">
            <a:off x="10839450" y="6496050"/>
            <a:ext cx="666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675" b="1">
                <a:solidFill>
                  <a:srgbClr val="5E6B78"/>
                </a:solidFill>
              </a:defRPr>
            </a:pPr>
            <a:r>
              <a:rPr sz="675" b="1">
                <a:solidFill>
                  <a:srgbClr val="5E6B78"/>
                </a:solidFill>
              </a:rPr>
              <a:t>06</a:t>
            </a:r>
          </a:p>
        </p:txBody>
      </p:sp>
      <p:sp>
        <p:nvSpPr>
          <p:cNvPr id="5" name="">
            <a:extLst xmlns:a="http://schemas.openxmlformats.org/drawingml/2006/main">
              <a:ext uri="{FF2B5EF4-FFF2-40B4-BE49-F238E27FC236}">
                <a16:creationId xmlns:a16="http://schemas.microsoft.com/office/drawing/2014/main" id="{B7D4D025-D33D-4A9F-AF23-4AD952CB4AA2}"/>
              </a:ext>
            </a:extLst>
          </p:cNvPr>
          <p:cNvSpPr>
            <a:spLocks xmlns:a="http://schemas.openxmlformats.org/drawingml/2006/main" noGrp="1"/>
          </p:cNvSpPr>
          <p:nvPr/>
        </p:nvSpPr>
        <p:spPr>
          <a:xfrm xmlns:a="http://schemas.openxmlformats.org/drawingml/2006/main">
            <a:off x="685800" y="2124075"/>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C45A2A"/>
                </a:solidFill>
              </a:defRPr>
            </a:pPr>
            <a:r>
              <a:rPr sz="1050" b="1">
                <a:solidFill>
                  <a:srgbClr val="C45A2A"/>
                </a:solidFill>
              </a:rPr>
              <a:t>COMMAND MODE</a:t>
            </a:r>
          </a:p>
        </p:txBody>
      </p:sp>
      <p:sp>
        <p:nvSpPr>
          <p:cNvPr id="6" name="">
            <a:extLst xmlns:a="http://schemas.openxmlformats.org/drawingml/2006/main">
              <a:ext uri="{FF2B5EF4-FFF2-40B4-BE49-F238E27FC236}">
                <a16:creationId xmlns:a16="http://schemas.microsoft.com/office/drawing/2014/main" id="{73A2D09B-91C2-4FAD-A1B2-6297E6E31E3E}"/>
              </a:ext>
            </a:extLst>
          </p:cNvPr>
          <p:cNvSpPr>
            <a:spLocks xmlns:a="http://schemas.openxmlformats.org/drawingml/2006/main" noGrp="1"/>
          </p:cNvSpPr>
          <p:nvPr/>
        </p:nvSpPr>
        <p:spPr>
          <a:xfrm xmlns:a="http://schemas.openxmlformats.org/drawingml/2006/main">
            <a:off x="685800" y="2524125"/>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25" b="1">
                <a:solidFill>
                  <a:srgbClr val="0B1F33"/>
                </a:solidFill>
              </a:defRPr>
            </a:pPr>
            <a:r>
              <a:rPr sz="2025" b="1">
                <a:solidFill>
                  <a:srgbClr val="0B1F33"/>
                </a:solidFill>
              </a:rPr>
              <a:t>Give experts unlimited leverage</a:t>
            </a:r>
          </a:p>
        </p:txBody>
      </p:sp>
      <p:sp>
        <p:nvSpPr>
          <p:cNvPr id="7" name="">
            <a:extLst xmlns:a="http://schemas.openxmlformats.org/drawingml/2006/main">
              <a:ext uri="{FF2B5EF4-FFF2-40B4-BE49-F238E27FC236}">
                <a16:creationId xmlns:a16="http://schemas.microsoft.com/office/drawing/2014/main" id="{7959B646-D76B-416A-9A65-DA8D2C7C8F62}"/>
              </a:ext>
            </a:extLst>
          </p:cNvPr>
          <p:cNvSpPr>
            <a:spLocks xmlns:a="http://schemas.openxmlformats.org/drawingml/2006/main" noGrp="1"/>
          </p:cNvSpPr>
          <p:nvPr/>
        </p:nvSpPr>
        <p:spPr>
          <a:xfrm xmlns:a="http://schemas.openxmlformats.org/drawingml/2006/main">
            <a:off x="685800" y="3162300"/>
            <a:ext cx="17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C45A2A"/>
                </a:solidFill>
              </a:defRPr>
            </a:pPr>
            <a:r>
              <a:rPr sz="1350" b="1">
                <a:solidFill>
                  <a:srgbClr val="C45A2A"/>
                </a:solidFill>
              </a:rPr>
              <a:t>•</a:t>
            </a:r>
          </a:p>
        </p:txBody>
      </p:sp>
      <p:sp>
        <p:nvSpPr>
          <p:cNvPr id="8" name="">
            <a:extLst xmlns:a="http://schemas.openxmlformats.org/drawingml/2006/main">
              <a:ext uri="{FF2B5EF4-FFF2-40B4-BE49-F238E27FC236}">
                <a16:creationId xmlns:a16="http://schemas.microsoft.com/office/drawing/2014/main" id="{72F48B4D-484E-4327-943F-DBA83E1D34B8}"/>
              </a:ext>
            </a:extLst>
          </p:cNvPr>
          <p:cNvSpPr>
            <a:spLocks xmlns:a="http://schemas.openxmlformats.org/drawingml/2006/main" noGrp="1"/>
          </p:cNvSpPr>
          <p:nvPr/>
        </p:nvSpPr>
        <p:spPr>
          <a:xfrm xmlns:a="http://schemas.openxmlformats.org/drawingml/2006/main">
            <a:off x="914400" y="3162300"/>
            <a:ext cx="4248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7212B"/>
                </a:solidFill>
              </a:defRPr>
            </a:pPr>
            <a:r>
              <a:rPr sz="1350" b="0">
                <a:solidFill>
                  <a:srgbClr val="17212B"/>
                </a:solidFill>
              </a:rPr>
              <a:t>State the outcome, not the application</a:t>
            </a:r>
          </a:p>
        </p:txBody>
      </p:sp>
      <p:sp>
        <p:nvSpPr>
          <p:cNvPr id="9" name="">
            <a:extLst xmlns:a="http://schemas.openxmlformats.org/drawingml/2006/main">
              <a:ext uri="{FF2B5EF4-FFF2-40B4-BE49-F238E27FC236}">
                <a16:creationId xmlns:a16="http://schemas.microsoft.com/office/drawing/2014/main" id="{57EE91DE-1B45-40EB-841C-293E52FD5521}"/>
              </a:ext>
            </a:extLst>
          </p:cNvPr>
          <p:cNvSpPr>
            <a:spLocks xmlns:a="http://schemas.openxmlformats.org/drawingml/2006/main" noGrp="1"/>
          </p:cNvSpPr>
          <p:nvPr/>
        </p:nvSpPr>
        <p:spPr>
          <a:xfrm xmlns:a="http://schemas.openxmlformats.org/drawingml/2006/main">
            <a:off x="685800" y="3790950"/>
            <a:ext cx="17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C45A2A"/>
                </a:solidFill>
              </a:defRPr>
            </a:pPr>
            <a:r>
              <a:rPr sz="1350" b="1">
                <a:solidFill>
                  <a:srgbClr val="C45A2A"/>
                </a:solidFill>
              </a:rPr>
              <a:t>•</a:t>
            </a:r>
          </a:p>
        </p:txBody>
      </p:sp>
      <p:sp>
        <p:nvSpPr>
          <p:cNvPr id="10" name="">
            <a:extLst xmlns:a="http://schemas.openxmlformats.org/drawingml/2006/main">
              <a:ext uri="{FF2B5EF4-FFF2-40B4-BE49-F238E27FC236}">
                <a16:creationId xmlns:a16="http://schemas.microsoft.com/office/drawing/2014/main" id="{629521C7-9872-44F8-9D8A-B43D7D1D0BA8}"/>
              </a:ext>
            </a:extLst>
          </p:cNvPr>
          <p:cNvSpPr>
            <a:spLocks xmlns:a="http://schemas.openxmlformats.org/drawingml/2006/main" noGrp="1"/>
          </p:cNvSpPr>
          <p:nvPr/>
        </p:nvSpPr>
        <p:spPr>
          <a:xfrm xmlns:a="http://schemas.openxmlformats.org/drawingml/2006/main">
            <a:off x="914400" y="3790950"/>
            <a:ext cx="4248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7212B"/>
                </a:solidFill>
              </a:defRPr>
            </a:pPr>
            <a:r>
              <a:rPr sz="1350" b="0">
                <a:solidFill>
                  <a:srgbClr val="17212B"/>
                </a:solidFill>
              </a:rPr>
              <a:t>Deploy on-demand research, monitoring and analytical agents</a:t>
            </a:r>
          </a:p>
        </p:txBody>
      </p:sp>
      <p:sp>
        <p:nvSpPr>
          <p:cNvPr id="11" name="">
            <a:extLst xmlns:a="http://schemas.openxmlformats.org/drawingml/2006/main">
              <a:ext uri="{FF2B5EF4-FFF2-40B4-BE49-F238E27FC236}">
                <a16:creationId xmlns:a16="http://schemas.microsoft.com/office/drawing/2014/main" id="{1D3AF54B-A362-4066-B5D2-EF48B37B3E02}"/>
              </a:ext>
            </a:extLst>
          </p:cNvPr>
          <p:cNvSpPr>
            <a:spLocks xmlns:a="http://schemas.openxmlformats.org/drawingml/2006/main" noGrp="1"/>
          </p:cNvSpPr>
          <p:nvPr/>
        </p:nvSpPr>
        <p:spPr>
          <a:xfrm xmlns:a="http://schemas.openxmlformats.org/drawingml/2006/main">
            <a:off x="685800" y="4419600"/>
            <a:ext cx="17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C45A2A"/>
                </a:solidFill>
              </a:defRPr>
            </a:pPr>
            <a:r>
              <a:rPr sz="1350" b="1">
                <a:solidFill>
                  <a:srgbClr val="C45A2A"/>
                </a:solidFill>
              </a:rPr>
              <a:t>•</a:t>
            </a:r>
          </a:p>
        </p:txBody>
      </p:sp>
      <p:sp>
        <p:nvSpPr>
          <p:cNvPr id="12" name="">
            <a:extLst xmlns:a="http://schemas.openxmlformats.org/drawingml/2006/main">
              <a:ext uri="{FF2B5EF4-FFF2-40B4-BE49-F238E27FC236}">
                <a16:creationId xmlns:a16="http://schemas.microsoft.com/office/drawing/2014/main" id="{C65030FD-91A7-40E0-80CB-0BFFC9BCF058}"/>
              </a:ext>
            </a:extLst>
          </p:cNvPr>
          <p:cNvSpPr>
            <a:spLocks xmlns:a="http://schemas.openxmlformats.org/drawingml/2006/main" noGrp="1"/>
          </p:cNvSpPr>
          <p:nvPr/>
        </p:nvSpPr>
        <p:spPr>
          <a:xfrm xmlns:a="http://schemas.openxmlformats.org/drawingml/2006/main">
            <a:off x="914400" y="4419600"/>
            <a:ext cx="4248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7212B"/>
                </a:solidFill>
              </a:defRPr>
            </a:pPr>
            <a:r>
              <a:rPr sz="1350" b="0">
                <a:solidFill>
                  <a:srgbClr val="17212B"/>
                </a:solidFill>
              </a:rPr>
              <a:t>Move from one client question to book-wide analysis</a:t>
            </a:r>
          </a:p>
        </p:txBody>
      </p:sp>
      <p:sp>
        <p:nvSpPr>
          <p:cNvPr id="13" name="">
            <a:extLst xmlns:a="http://schemas.openxmlformats.org/drawingml/2006/main">
              <a:ext uri="{FF2B5EF4-FFF2-40B4-BE49-F238E27FC236}">
                <a16:creationId xmlns:a16="http://schemas.microsoft.com/office/drawing/2014/main" id="{7F9C081F-353F-4B20-A4BD-39BC324E28E2}"/>
              </a:ext>
            </a:extLst>
          </p:cNvPr>
          <p:cNvSpPr>
            <a:spLocks xmlns:a="http://schemas.openxmlformats.org/drawingml/2006/main" noGrp="1"/>
          </p:cNvSpPr>
          <p:nvPr/>
        </p:nvSpPr>
        <p:spPr>
          <a:xfrm xmlns:a="http://schemas.openxmlformats.org/drawingml/2006/main">
            <a:off x="5734050" y="2095500"/>
            <a:ext cx="19050" cy="3619500"/>
          </a:xfrm>
          <a:prstGeom xmlns:a="http://schemas.openxmlformats.org/drawingml/2006/main" prst="rect">
            <a:avLst/>
          </a:prstGeom>
          <a:solidFill xmlns:a="http://schemas.openxmlformats.org/drawingml/2006/main">
            <a:srgbClr val="D8E0E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50FAF03-1506-4E80-9935-C80459517628}"/>
              </a:ext>
            </a:extLst>
          </p:cNvPr>
          <p:cNvSpPr>
            <a:spLocks xmlns:a="http://schemas.openxmlformats.org/drawingml/2006/main" noGrp="1"/>
          </p:cNvSpPr>
          <p:nvPr/>
        </p:nvSpPr>
        <p:spPr>
          <a:xfrm xmlns:a="http://schemas.openxmlformats.org/drawingml/2006/main">
            <a:off x="6191250" y="2124075"/>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C45A2A"/>
                </a:solidFill>
              </a:defRPr>
            </a:pPr>
            <a:r>
              <a:rPr sz="1050" b="1">
                <a:solidFill>
                  <a:srgbClr val="C45A2A"/>
                </a:solidFill>
              </a:rPr>
              <a:t>GUIDED MODE</a:t>
            </a:r>
          </a:p>
        </p:txBody>
      </p:sp>
      <p:sp>
        <p:nvSpPr>
          <p:cNvPr id="15" name="">
            <a:extLst xmlns:a="http://schemas.openxmlformats.org/drawingml/2006/main">
              <a:ext uri="{FF2B5EF4-FFF2-40B4-BE49-F238E27FC236}">
                <a16:creationId xmlns:a16="http://schemas.microsoft.com/office/drawing/2014/main" id="{60E89BAF-887C-441B-A532-928D42D5EBB8}"/>
              </a:ext>
            </a:extLst>
          </p:cNvPr>
          <p:cNvSpPr>
            <a:spLocks xmlns:a="http://schemas.openxmlformats.org/drawingml/2006/main" noGrp="1"/>
          </p:cNvSpPr>
          <p:nvPr/>
        </p:nvSpPr>
        <p:spPr>
          <a:xfrm xmlns:a="http://schemas.openxmlformats.org/drawingml/2006/main">
            <a:off x="6191250" y="2524125"/>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25" b="1">
                <a:solidFill>
                  <a:srgbClr val="0B1F33"/>
                </a:solidFill>
              </a:defRPr>
            </a:pPr>
            <a:r>
              <a:rPr sz="2025" b="1">
                <a:solidFill>
                  <a:srgbClr val="0B1F33"/>
                </a:solidFill>
              </a:rPr>
              <a:t>Help every advisor perform closer to the best</a:t>
            </a:r>
          </a:p>
        </p:txBody>
      </p:sp>
      <p:sp>
        <p:nvSpPr>
          <p:cNvPr id="16" name="">
            <a:extLst xmlns:a="http://schemas.openxmlformats.org/drawingml/2006/main">
              <a:ext uri="{FF2B5EF4-FFF2-40B4-BE49-F238E27FC236}">
                <a16:creationId xmlns:a16="http://schemas.microsoft.com/office/drawing/2014/main" id="{F1B0B082-7FA0-4153-A0CF-DCFE4DC368F4}"/>
              </a:ext>
            </a:extLst>
          </p:cNvPr>
          <p:cNvSpPr>
            <a:spLocks xmlns:a="http://schemas.openxmlformats.org/drawingml/2006/main" noGrp="1"/>
          </p:cNvSpPr>
          <p:nvPr/>
        </p:nvSpPr>
        <p:spPr>
          <a:xfrm xmlns:a="http://schemas.openxmlformats.org/drawingml/2006/main">
            <a:off x="6191250" y="3162300"/>
            <a:ext cx="17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C45A2A"/>
                </a:solidFill>
              </a:defRPr>
            </a:pPr>
            <a:r>
              <a:rPr sz="1350" b="1">
                <a:solidFill>
                  <a:srgbClr val="C45A2A"/>
                </a:solidFill>
              </a:rPr>
              <a:t>•</a:t>
            </a:r>
          </a:p>
        </p:txBody>
      </p:sp>
      <p:sp>
        <p:nvSpPr>
          <p:cNvPr id="17" name="">
            <a:extLst xmlns:a="http://schemas.openxmlformats.org/drawingml/2006/main">
              <a:ext uri="{FF2B5EF4-FFF2-40B4-BE49-F238E27FC236}">
                <a16:creationId xmlns:a16="http://schemas.microsoft.com/office/drawing/2014/main" id="{553DE6F9-E947-49D5-87B9-D3AAB5A3031B}"/>
              </a:ext>
            </a:extLst>
          </p:cNvPr>
          <p:cNvSpPr>
            <a:spLocks xmlns:a="http://schemas.openxmlformats.org/drawingml/2006/main" noGrp="1"/>
          </p:cNvSpPr>
          <p:nvPr/>
        </p:nvSpPr>
        <p:spPr>
          <a:xfrm xmlns:a="http://schemas.openxmlformats.org/drawingml/2006/main">
            <a:off x="6419850" y="3162300"/>
            <a:ext cx="4533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7212B"/>
                </a:solidFill>
              </a:defRPr>
            </a:pPr>
            <a:r>
              <a:rPr sz="1350" b="0">
                <a:solidFill>
                  <a:srgbClr val="17212B"/>
                </a:solidFill>
              </a:rPr>
              <a:t>Prioritize the relationships and commitments that matter now</a:t>
            </a:r>
          </a:p>
        </p:txBody>
      </p:sp>
      <p:sp>
        <p:nvSpPr>
          <p:cNvPr id="18" name="">
            <a:extLst xmlns:a="http://schemas.openxmlformats.org/drawingml/2006/main">
              <a:ext uri="{FF2B5EF4-FFF2-40B4-BE49-F238E27FC236}">
                <a16:creationId xmlns:a16="http://schemas.microsoft.com/office/drawing/2014/main" id="{4260FDBC-201B-451F-9F97-44B71ACE8D2A}"/>
              </a:ext>
            </a:extLst>
          </p:cNvPr>
          <p:cNvSpPr>
            <a:spLocks xmlns:a="http://schemas.openxmlformats.org/drawingml/2006/main" noGrp="1"/>
          </p:cNvSpPr>
          <p:nvPr/>
        </p:nvSpPr>
        <p:spPr>
          <a:xfrm xmlns:a="http://schemas.openxmlformats.org/drawingml/2006/main">
            <a:off x="6191250" y="3790950"/>
            <a:ext cx="17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C45A2A"/>
                </a:solidFill>
              </a:defRPr>
            </a:pPr>
            <a:r>
              <a:rPr sz="1350" b="1">
                <a:solidFill>
                  <a:srgbClr val="C45A2A"/>
                </a:solidFill>
              </a:rPr>
              <a:t>•</a:t>
            </a:r>
          </a:p>
        </p:txBody>
      </p:sp>
      <p:sp>
        <p:nvSpPr>
          <p:cNvPr id="19" name="">
            <a:extLst xmlns:a="http://schemas.openxmlformats.org/drawingml/2006/main">
              <a:ext uri="{FF2B5EF4-FFF2-40B4-BE49-F238E27FC236}">
                <a16:creationId xmlns:a16="http://schemas.microsoft.com/office/drawing/2014/main" id="{97BEA83A-67A6-415C-96A0-43EF75F09C30}"/>
              </a:ext>
            </a:extLst>
          </p:cNvPr>
          <p:cNvSpPr>
            <a:spLocks xmlns:a="http://schemas.openxmlformats.org/drawingml/2006/main" noGrp="1"/>
          </p:cNvSpPr>
          <p:nvPr/>
        </p:nvSpPr>
        <p:spPr>
          <a:xfrm xmlns:a="http://schemas.openxmlformats.org/drawingml/2006/main">
            <a:off x="6419850" y="3790950"/>
            <a:ext cx="4533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7212B"/>
                </a:solidFill>
              </a:defRPr>
            </a:pPr>
            <a:r>
              <a:rPr sz="1350" b="0">
                <a:solidFill>
                  <a:srgbClr val="17212B"/>
                </a:solidFill>
              </a:rPr>
              <a:t>Explain what changed, why it matters and what is prepared</a:t>
            </a:r>
          </a:p>
        </p:txBody>
      </p:sp>
      <p:sp>
        <p:nvSpPr>
          <p:cNvPr id="20" name="">
            <a:extLst xmlns:a="http://schemas.openxmlformats.org/drawingml/2006/main">
              <a:ext uri="{FF2B5EF4-FFF2-40B4-BE49-F238E27FC236}">
                <a16:creationId xmlns:a16="http://schemas.microsoft.com/office/drawing/2014/main" id="{4907680C-DB64-4427-92BF-8BA38AFFBDAF}"/>
              </a:ext>
            </a:extLst>
          </p:cNvPr>
          <p:cNvSpPr>
            <a:spLocks xmlns:a="http://schemas.openxmlformats.org/drawingml/2006/main" noGrp="1"/>
          </p:cNvSpPr>
          <p:nvPr/>
        </p:nvSpPr>
        <p:spPr>
          <a:xfrm xmlns:a="http://schemas.openxmlformats.org/drawingml/2006/main">
            <a:off x="6191250" y="4419600"/>
            <a:ext cx="17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C45A2A"/>
                </a:solidFill>
              </a:defRPr>
            </a:pPr>
            <a:r>
              <a:rPr sz="1350" b="1">
                <a:solidFill>
                  <a:srgbClr val="C45A2A"/>
                </a:solidFill>
              </a:rPr>
              <a:t>•</a:t>
            </a:r>
          </a:p>
        </p:txBody>
      </p:sp>
      <p:sp>
        <p:nvSpPr>
          <p:cNvPr id="21" name="">
            <a:extLst xmlns:a="http://schemas.openxmlformats.org/drawingml/2006/main">
              <a:ext uri="{FF2B5EF4-FFF2-40B4-BE49-F238E27FC236}">
                <a16:creationId xmlns:a16="http://schemas.microsoft.com/office/drawing/2014/main" id="{1B23103C-BE0E-4016-B2A1-44EAA5EA90DC}"/>
              </a:ext>
            </a:extLst>
          </p:cNvPr>
          <p:cNvSpPr>
            <a:spLocks xmlns:a="http://schemas.openxmlformats.org/drawingml/2006/main" noGrp="1"/>
          </p:cNvSpPr>
          <p:nvPr/>
        </p:nvSpPr>
        <p:spPr>
          <a:xfrm xmlns:a="http://schemas.openxmlformats.org/drawingml/2006/main">
            <a:off x="6419850" y="4419600"/>
            <a:ext cx="4533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7212B"/>
                </a:solidFill>
              </a:defRPr>
            </a:pPr>
            <a:r>
              <a:rPr sz="1350" b="0">
                <a:solidFill>
                  <a:srgbClr val="17212B"/>
                </a:solidFill>
              </a:rPr>
              <a:t>Coach the next conversation and strengthen judgment over time</a:t>
            </a:r>
          </a:p>
        </p:txBody>
      </p:sp>
      <p:sp>
        <p:nvSpPr>
          <p:cNvPr id="22" name="">
            <a:extLst xmlns:a="http://schemas.openxmlformats.org/drawingml/2006/main">
              <a:ext uri="{FF2B5EF4-FFF2-40B4-BE49-F238E27FC236}">
                <a16:creationId xmlns:a16="http://schemas.microsoft.com/office/drawing/2014/main" id="{C0E987C5-8A4F-4ECF-908B-91269EE2F4DE}"/>
              </a:ext>
            </a:extLst>
          </p:cNvPr>
          <p:cNvSpPr>
            <a:spLocks xmlns:a="http://schemas.openxmlformats.org/drawingml/2006/main" noGrp="1"/>
          </p:cNvSpPr>
          <p:nvPr/>
        </p:nvSpPr>
        <p:spPr>
          <a:xfrm xmlns:a="http://schemas.openxmlformats.org/drawingml/2006/main">
            <a:off x="3429000" y="5905500"/>
            <a:ext cx="533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B6CB0"/>
                </a:solidFill>
              </a:defRPr>
            </a:pPr>
            <a:r>
              <a:rPr sz="1350" b="1">
                <a:solidFill>
                  <a:srgbClr val="2B6CB0"/>
                </a:solidFill>
              </a:rPr>
              <a:t>The mode changes with the task. It does not define the employee.</a:t>
            </a:r>
          </a:p>
        </p:txBody>
      </p:sp>
    </p:spTree>
    <p:extLst>
      <p:ext uri="{BB962C8B-B14F-4D97-AF65-F5344CB8AC3E}">
        <p14:creationId xmlns:p14="http://schemas.microsoft.com/office/powerpoint/2010/main" val="176462197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1A24FC9E-8458-4624-BDB8-B957106E6BE3}"/>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625" b="1">
                <a:solidFill>
                  <a:srgbClr val="0B1F33"/>
                </a:solidFill>
              </a:defRPr>
            </a:pPr>
            <a:r>
              <a:rPr sz="2625" b="1">
                <a:solidFill>
                  <a:srgbClr val="0B1F33"/>
                </a:solidFill>
              </a:rPr>
              <a:t>Hive finds the signal. Specialists turn it into action.</a:t>
            </a:r>
          </a:p>
        </p:txBody>
      </p:sp>
      <p:sp>
        <p:nvSpPr>
          <p:cNvPr id="2" name="">
            <a:extLst xmlns:a="http://schemas.openxmlformats.org/drawingml/2006/main">
              <a:ext uri="{FF2B5EF4-FFF2-40B4-BE49-F238E27FC236}">
                <a16:creationId xmlns:a16="http://schemas.microsoft.com/office/drawing/2014/main" id="{8A35EC2B-5BF7-4009-8492-7083B3C341A2}"/>
              </a:ext>
            </a:extLst>
          </p:cNvPr>
          <p:cNvSpPr>
            <a:spLocks xmlns:a="http://schemas.openxmlformats.org/drawingml/2006/main" noGrp="1"/>
          </p:cNvSpPr>
          <p:nvPr/>
        </p:nvSpPr>
        <p:spPr>
          <a:xfrm xmlns:a="http://schemas.openxmlformats.org/drawingml/2006/main">
            <a:off x="685800" y="1695450"/>
            <a:ext cx="10820400" cy="19050"/>
          </a:xfrm>
          <a:prstGeom xmlns:a="http://schemas.openxmlformats.org/drawingml/2006/main" prst="rect">
            <a:avLst/>
          </a:prstGeom>
          <a:solidFill xmlns:a="http://schemas.openxmlformats.org/drawingml/2006/main">
            <a:srgbClr val="D8E0E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59046F8-D42E-42A4-8C56-B15F4A985358}"/>
              </a:ext>
            </a:extLst>
          </p:cNvPr>
          <p:cNvSpPr>
            <a:spLocks xmlns:a="http://schemas.openxmlformats.org/drawingml/2006/main" noGrp="1"/>
          </p:cNvSpPr>
          <p:nvPr/>
        </p:nvSpPr>
        <p:spPr>
          <a:xfrm xmlns:a="http://schemas.openxmlformats.org/drawingml/2006/main">
            <a:off x="685800" y="6496050"/>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675" b="1">
                <a:solidFill>
                  <a:srgbClr val="5E6B78"/>
                </a:solidFill>
              </a:defRPr>
            </a:pPr>
            <a:r>
              <a:rPr sz="675" b="1">
                <a:solidFill>
                  <a:srgbClr val="5E6B78"/>
                </a:solidFill>
              </a:rPr>
              <a:t>DISCUSSION DRAFT  |  AUGUST 2026</a:t>
            </a:r>
          </a:p>
        </p:txBody>
      </p:sp>
      <p:sp>
        <p:nvSpPr>
          <p:cNvPr id="4" name="">
            <a:extLst xmlns:a="http://schemas.openxmlformats.org/drawingml/2006/main">
              <a:ext uri="{FF2B5EF4-FFF2-40B4-BE49-F238E27FC236}">
                <a16:creationId xmlns:a16="http://schemas.microsoft.com/office/drawing/2014/main" id="{53A2626F-ED3D-428D-8C77-33E00C10C07F}"/>
              </a:ext>
            </a:extLst>
          </p:cNvPr>
          <p:cNvSpPr>
            <a:spLocks xmlns:a="http://schemas.openxmlformats.org/drawingml/2006/main" noGrp="1"/>
          </p:cNvSpPr>
          <p:nvPr/>
        </p:nvSpPr>
        <p:spPr>
          <a:xfrm xmlns:a="http://schemas.openxmlformats.org/drawingml/2006/main">
            <a:off x="10839450" y="6496050"/>
            <a:ext cx="666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675" b="1">
                <a:solidFill>
                  <a:srgbClr val="5E6B78"/>
                </a:solidFill>
              </a:defRPr>
            </a:pPr>
            <a:r>
              <a:rPr sz="675" b="1">
                <a:solidFill>
                  <a:srgbClr val="5E6B78"/>
                </a:solidFill>
              </a:rPr>
              <a:t>07</a:t>
            </a:r>
          </a:p>
        </p:txBody>
      </p:sp>
      <p:sp>
        <p:nvSpPr>
          <p:cNvPr id="5" name="">
            <a:extLst xmlns:a="http://schemas.openxmlformats.org/drawingml/2006/main">
              <a:ext uri="{FF2B5EF4-FFF2-40B4-BE49-F238E27FC236}">
                <a16:creationId xmlns:a16="http://schemas.microsoft.com/office/drawing/2014/main" id="{B6DE531D-44FE-4588-A2DC-2648BEBB2C46}"/>
              </a:ext>
            </a:extLst>
          </p:cNvPr>
          <p:cNvSpPr>
            <a:spLocks xmlns:a="http://schemas.openxmlformats.org/drawingml/2006/main" noGrp="1"/>
          </p:cNvSpPr>
          <p:nvPr/>
        </p:nvSpPr>
        <p:spPr>
          <a:xfrm xmlns:a="http://schemas.openxmlformats.org/drawingml/2006/main">
            <a:off x="685800" y="2238375"/>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a:solidFill>
                  <a:srgbClr val="C45A2A"/>
                </a:solidFill>
              </a:defRPr>
            </a:pPr>
            <a:r>
              <a:rPr sz="1050" b="1">
                <a:solidFill>
                  <a:srgbClr val="C45A2A"/>
                </a:solidFill>
              </a:rPr>
              <a:t>FROM IDEA TO CLIENT</a:t>
            </a:r>
          </a:p>
        </p:txBody>
      </p:sp>
      <p:sp>
        <p:nvSpPr>
          <p:cNvPr id="6" name="">
            <a:extLst xmlns:a="http://schemas.openxmlformats.org/drawingml/2006/main">
              <a:ext uri="{FF2B5EF4-FFF2-40B4-BE49-F238E27FC236}">
                <a16:creationId xmlns:a16="http://schemas.microsoft.com/office/drawing/2014/main" id="{1DC77EF8-146F-4BE4-8232-788F1EB028FA}"/>
              </a:ext>
            </a:extLst>
          </p:cNvPr>
          <p:cNvSpPr>
            <a:spLocks xmlns:a="http://schemas.openxmlformats.org/drawingml/2006/main" noGrp="1"/>
          </p:cNvSpPr>
          <p:nvPr/>
        </p:nvSpPr>
        <p:spPr>
          <a:xfrm xmlns:a="http://schemas.openxmlformats.org/drawingml/2006/main">
            <a:off x="685800" y="2695575"/>
            <a:ext cx="2095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25" b="1">
                <a:solidFill>
                  <a:srgbClr val="0B1F33"/>
                </a:solidFill>
              </a:defRPr>
            </a:pPr>
            <a:r>
              <a:rPr sz="2025" b="1">
                <a:solidFill>
                  <a:srgbClr val="0B1F33"/>
                </a:solidFill>
              </a:rPr>
              <a:t>CAPTURE</a:t>
            </a:r>
          </a:p>
          <a:p xmlns:a="http://schemas.openxmlformats.org/drawingml/2006/main">
            <a:pPr algn="ctr">
              <a:buNone/>
              <a:defRPr sz="2025" b="1">
                <a:solidFill>
                  <a:srgbClr val="0B1F33"/>
                </a:solidFill>
              </a:defRPr>
            </a:pPr>
            <a:r>
              <a:rPr sz="2025" b="1">
                <a:solidFill>
                  <a:srgbClr val="0B1F33"/>
                </a:solidFill>
              </a:rPr>
              <a:t>THE IDEA</a:t>
            </a:r>
          </a:p>
        </p:txBody>
      </p:sp>
      <p:sp>
        <p:nvSpPr>
          <p:cNvPr id="7" name="">
            <a:extLst xmlns:a="http://schemas.openxmlformats.org/drawingml/2006/main">
              <a:ext uri="{FF2B5EF4-FFF2-40B4-BE49-F238E27FC236}">
                <a16:creationId xmlns:a16="http://schemas.microsoft.com/office/drawing/2014/main" id="{CF17E5ED-9EE0-4272-9287-91F1FA75F0AF}"/>
              </a:ext>
            </a:extLst>
          </p:cNvPr>
          <p:cNvSpPr>
            <a:spLocks xmlns:a="http://schemas.openxmlformats.org/drawingml/2006/main" noGrp="1"/>
          </p:cNvSpPr>
          <p:nvPr/>
        </p:nvSpPr>
        <p:spPr>
          <a:xfrm xmlns:a="http://schemas.openxmlformats.org/drawingml/2006/main">
            <a:off x="2867025" y="2838450"/>
            <a:ext cx="342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6CB4EE"/>
                </a:solidFill>
              </a:defRPr>
            </a:pPr>
            <a:r>
              <a:rPr sz="2100" b="1">
                <a:solidFill>
                  <a:srgbClr val="6CB4EE"/>
                </a:solidFill>
              </a:rPr>
              <a:t>→</a:t>
            </a:r>
          </a:p>
        </p:txBody>
      </p:sp>
      <p:sp>
        <p:nvSpPr>
          <p:cNvPr id="8" name="">
            <a:extLst xmlns:a="http://schemas.openxmlformats.org/drawingml/2006/main">
              <a:ext uri="{FF2B5EF4-FFF2-40B4-BE49-F238E27FC236}">
                <a16:creationId xmlns:a16="http://schemas.microsoft.com/office/drawing/2014/main" id="{4E897F03-C046-4ED6-ACF7-06CF2ED233D2}"/>
              </a:ext>
            </a:extLst>
          </p:cNvPr>
          <p:cNvSpPr>
            <a:spLocks xmlns:a="http://schemas.openxmlformats.org/drawingml/2006/main" noGrp="1"/>
          </p:cNvSpPr>
          <p:nvPr/>
        </p:nvSpPr>
        <p:spPr>
          <a:xfrm xmlns:a="http://schemas.openxmlformats.org/drawingml/2006/main">
            <a:off x="3286125" y="2695575"/>
            <a:ext cx="2095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0B1F33"/>
                </a:solidFill>
              </a:defRPr>
            </a:pPr>
            <a:r>
              <a:rPr sz="1725" b="1">
                <a:solidFill>
                  <a:srgbClr val="0B1F33"/>
                </a:solidFill>
              </a:rPr>
              <a:t>STRUCTURE</a:t>
            </a:r>
          </a:p>
          <a:p xmlns:a="http://schemas.openxmlformats.org/drawingml/2006/main">
            <a:pPr algn="ctr">
              <a:buNone/>
              <a:defRPr sz="1725" b="1">
                <a:solidFill>
                  <a:srgbClr val="0B1F33"/>
                </a:solidFill>
              </a:defRPr>
            </a:pPr>
            <a:r>
              <a:rPr sz="1725" b="1">
                <a:solidFill>
                  <a:srgbClr val="0B1F33"/>
                </a:solidFill>
              </a:rPr>
              <a:t>AND CHALLENGE</a:t>
            </a:r>
          </a:p>
        </p:txBody>
      </p:sp>
      <p:sp>
        <p:nvSpPr>
          <p:cNvPr id="9" name="">
            <a:extLst xmlns:a="http://schemas.openxmlformats.org/drawingml/2006/main">
              <a:ext uri="{FF2B5EF4-FFF2-40B4-BE49-F238E27FC236}">
                <a16:creationId xmlns:a16="http://schemas.microsoft.com/office/drawing/2014/main" id="{A0AF73B7-E9EF-40B8-94B7-40BEE600FFE0}"/>
              </a:ext>
            </a:extLst>
          </p:cNvPr>
          <p:cNvSpPr>
            <a:spLocks xmlns:a="http://schemas.openxmlformats.org/drawingml/2006/main" noGrp="1"/>
          </p:cNvSpPr>
          <p:nvPr/>
        </p:nvSpPr>
        <p:spPr>
          <a:xfrm xmlns:a="http://schemas.openxmlformats.org/drawingml/2006/main">
            <a:off x="5467350" y="2838450"/>
            <a:ext cx="342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6CB4EE"/>
                </a:solidFill>
              </a:defRPr>
            </a:pPr>
            <a:r>
              <a:rPr sz="2100" b="1">
                <a:solidFill>
                  <a:srgbClr val="6CB4EE"/>
                </a:solidFill>
              </a:rPr>
              <a:t>→</a:t>
            </a:r>
          </a:p>
        </p:txBody>
      </p:sp>
      <p:sp>
        <p:nvSpPr>
          <p:cNvPr id="10" name="">
            <a:extLst xmlns:a="http://schemas.openxmlformats.org/drawingml/2006/main">
              <a:ext uri="{FF2B5EF4-FFF2-40B4-BE49-F238E27FC236}">
                <a16:creationId xmlns:a16="http://schemas.microsoft.com/office/drawing/2014/main" id="{61964519-8E32-4063-9D22-EE090FC606B1}"/>
              </a:ext>
            </a:extLst>
          </p:cNvPr>
          <p:cNvSpPr>
            <a:spLocks xmlns:a="http://schemas.openxmlformats.org/drawingml/2006/main" noGrp="1"/>
          </p:cNvSpPr>
          <p:nvPr/>
        </p:nvSpPr>
        <p:spPr>
          <a:xfrm xmlns:a="http://schemas.openxmlformats.org/drawingml/2006/main">
            <a:off x="5886450" y="2695575"/>
            <a:ext cx="2095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25" b="1">
                <a:solidFill>
                  <a:srgbClr val="0B1F33"/>
                </a:solidFill>
              </a:defRPr>
            </a:pPr>
            <a:r>
              <a:rPr sz="2025" b="1">
                <a:solidFill>
                  <a:srgbClr val="0B1F33"/>
                </a:solidFill>
              </a:rPr>
              <a:t>MATCH TO</a:t>
            </a:r>
          </a:p>
          <a:p xmlns:a="http://schemas.openxmlformats.org/drawingml/2006/main">
            <a:pPr algn="ctr">
              <a:buNone/>
              <a:defRPr sz="2025" b="1">
                <a:solidFill>
                  <a:srgbClr val="0B1F33"/>
                </a:solidFill>
              </a:defRPr>
            </a:pPr>
            <a:r>
              <a:rPr sz="2025" b="1">
                <a:solidFill>
                  <a:srgbClr val="0B1F33"/>
                </a:solidFill>
              </a:rPr>
              <a:t>RELEVANT CLIENTS</a:t>
            </a:r>
          </a:p>
        </p:txBody>
      </p:sp>
      <p:sp>
        <p:nvSpPr>
          <p:cNvPr id="11" name="">
            <a:extLst xmlns:a="http://schemas.openxmlformats.org/drawingml/2006/main">
              <a:ext uri="{FF2B5EF4-FFF2-40B4-BE49-F238E27FC236}">
                <a16:creationId xmlns:a16="http://schemas.microsoft.com/office/drawing/2014/main" id="{89C2C854-CE2F-46C0-97BB-9B34DDAFA5C9}"/>
              </a:ext>
            </a:extLst>
          </p:cNvPr>
          <p:cNvSpPr>
            <a:spLocks xmlns:a="http://schemas.openxmlformats.org/drawingml/2006/main" noGrp="1"/>
          </p:cNvSpPr>
          <p:nvPr/>
        </p:nvSpPr>
        <p:spPr>
          <a:xfrm xmlns:a="http://schemas.openxmlformats.org/drawingml/2006/main">
            <a:off x="8067675" y="2838450"/>
            <a:ext cx="342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6CB4EE"/>
                </a:solidFill>
              </a:defRPr>
            </a:pPr>
            <a:r>
              <a:rPr sz="2100" b="1">
                <a:solidFill>
                  <a:srgbClr val="6CB4EE"/>
                </a:solidFill>
              </a:rPr>
              <a:t>→</a:t>
            </a:r>
          </a:p>
        </p:txBody>
      </p:sp>
      <p:sp>
        <p:nvSpPr>
          <p:cNvPr id="12" name="">
            <a:extLst xmlns:a="http://schemas.openxmlformats.org/drawingml/2006/main">
              <a:ext uri="{FF2B5EF4-FFF2-40B4-BE49-F238E27FC236}">
                <a16:creationId xmlns:a16="http://schemas.microsoft.com/office/drawing/2014/main" id="{D96FE3D4-7C61-4629-A99A-398F4090D44D}"/>
              </a:ext>
            </a:extLst>
          </p:cNvPr>
          <p:cNvSpPr>
            <a:spLocks xmlns:a="http://schemas.openxmlformats.org/drawingml/2006/main" noGrp="1"/>
          </p:cNvSpPr>
          <p:nvPr/>
        </p:nvSpPr>
        <p:spPr>
          <a:xfrm xmlns:a="http://schemas.openxmlformats.org/drawingml/2006/main">
            <a:off x="8486775" y="2695575"/>
            <a:ext cx="2333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0B1F33"/>
                </a:solidFill>
              </a:defRPr>
            </a:pPr>
            <a:r>
              <a:rPr sz="1875" b="1">
                <a:solidFill>
                  <a:srgbClr val="0B1F33"/>
                </a:solidFill>
              </a:rPr>
              <a:t>LEARN FROM</a:t>
            </a:r>
          </a:p>
          <a:p xmlns:a="http://schemas.openxmlformats.org/drawingml/2006/main">
            <a:pPr algn="ctr">
              <a:buNone/>
              <a:defRPr sz="1875" b="1">
                <a:solidFill>
                  <a:srgbClr val="0B1F33"/>
                </a:solidFill>
              </a:defRPr>
            </a:pPr>
            <a:r>
              <a:rPr sz="1875" b="1">
                <a:solidFill>
                  <a:srgbClr val="0B1F33"/>
                </a:solidFill>
              </a:rPr>
              <a:t>OUTCOMES</a:t>
            </a:r>
          </a:p>
        </p:txBody>
      </p:sp>
      <p:sp>
        <p:nvSpPr>
          <p:cNvPr id="13" name="">
            <a:extLst xmlns:a="http://schemas.openxmlformats.org/drawingml/2006/main">
              <a:ext uri="{FF2B5EF4-FFF2-40B4-BE49-F238E27FC236}">
                <a16:creationId xmlns:a16="http://schemas.microsoft.com/office/drawing/2014/main" id="{B03FB93F-BBA5-4A6B-839E-B0B2CF335A82}"/>
              </a:ext>
            </a:extLst>
          </p:cNvPr>
          <p:cNvSpPr>
            <a:spLocks xmlns:a="http://schemas.openxmlformats.org/drawingml/2006/main" noGrp="1"/>
          </p:cNvSpPr>
          <p:nvPr/>
        </p:nvSpPr>
        <p:spPr>
          <a:xfrm xmlns:a="http://schemas.openxmlformats.org/drawingml/2006/main">
            <a:off x="838200" y="3905250"/>
            <a:ext cx="10668000" cy="19050"/>
          </a:xfrm>
          <a:prstGeom xmlns:a="http://schemas.openxmlformats.org/drawingml/2006/main" prst="rect">
            <a:avLst/>
          </a:prstGeom>
          <a:solidFill xmlns:a="http://schemas.openxmlformats.org/drawingml/2006/main">
            <a:srgbClr val="D8E0E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8A70DCB-9014-44BC-B6B8-F61843126E83}"/>
              </a:ext>
            </a:extLst>
          </p:cNvPr>
          <p:cNvSpPr>
            <a:spLocks xmlns:a="http://schemas.openxmlformats.org/drawingml/2006/main" noGrp="1"/>
          </p:cNvSpPr>
          <p:nvPr/>
        </p:nvSpPr>
        <p:spPr>
          <a:xfrm xmlns:a="http://schemas.openxmlformats.org/drawingml/2006/main">
            <a:off x="1428750" y="4343400"/>
            <a:ext cx="9334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7212B"/>
                </a:solidFill>
              </a:defRPr>
            </a:pPr>
            <a:r>
              <a:rPr sz="1800" b="1">
                <a:solidFill>
                  <a:srgbClr val="17212B"/>
                </a:solidFill>
              </a:rPr>
              <a:t>Specialists speak once. Coach turns rough thinking into approved, attributable expertise. Client Agents distribute it precisely. Hive closes the loop.</a:t>
            </a:r>
          </a:p>
        </p:txBody>
      </p:sp>
    </p:spTree>
    <p:extLst>
      <p:ext uri="{BB962C8B-B14F-4D97-AF65-F5344CB8AC3E}">
        <p14:creationId xmlns:p14="http://schemas.microsoft.com/office/powerpoint/2010/main" val="165284064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
            <a:extLst xmlns:a="http://schemas.openxmlformats.org/drawingml/2006/main">
              <a:ext uri="{FF2B5EF4-FFF2-40B4-BE49-F238E27FC236}">
                <a16:creationId xmlns:a16="http://schemas.microsoft.com/office/drawing/2014/main" id="{540DCA37-D87C-41A2-86EB-9589913A0C98}"/>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625" b="1">
                <a:solidFill>
                  <a:srgbClr val="0B1F33"/>
                </a:solidFill>
              </a:defRPr>
            </a:pPr>
            <a:r>
              <a:rPr sz="2625" b="1">
                <a:solidFill>
                  <a:srgbClr val="0B1F33"/>
                </a:solidFill>
              </a:rPr>
              <a:t>Client requests move from handoff to governed resolution.</a:t>
            </a:r>
          </a:p>
        </p:txBody>
      </p:sp>
      <p:sp>
        <p:nvSpPr>
          <p:cNvPr id="2" name="">
            <a:extLst xmlns:a="http://schemas.openxmlformats.org/drawingml/2006/main">
              <a:ext uri="{FF2B5EF4-FFF2-40B4-BE49-F238E27FC236}">
                <a16:creationId xmlns:a16="http://schemas.microsoft.com/office/drawing/2014/main" id="{0D5A548A-4A4D-4D13-9F26-81045D73541A}"/>
              </a:ext>
            </a:extLst>
          </p:cNvPr>
          <p:cNvSpPr>
            <a:spLocks xmlns:a="http://schemas.openxmlformats.org/drawingml/2006/main" noGrp="1"/>
          </p:cNvSpPr>
          <p:nvPr/>
        </p:nvSpPr>
        <p:spPr>
          <a:xfrm xmlns:a="http://schemas.openxmlformats.org/drawingml/2006/main">
            <a:off x="685800" y="12954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5E6B78"/>
                </a:solidFill>
              </a:defRPr>
            </a:pPr>
            <a:r>
              <a:rPr sz="1275" b="0">
                <a:solidFill>
                  <a:srgbClr val="5E6B78"/>
                </a:solidFill>
              </a:rPr>
              <a:t>Intelligence creates value only when it can move work to completion.</a:t>
            </a:r>
          </a:p>
        </p:txBody>
      </p:sp>
      <p:sp>
        <p:nvSpPr>
          <p:cNvPr id="3" name="">
            <a:extLst xmlns:a="http://schemas.openxmlformats.org/drawingml/2006/main">
              <a:ext uri="{FF2B5EF4-FFF2-40B4-BE49-F238E27FC236}">
                <a16:creationId xmlns:a16="http://schemas.microsoft.com/office/drawing/2014/main" id="{BB0FFE4F-AC92-4431-92CE-73C5E3AC6A2D}"/>
              </a:ext>
            </a:extLst>
          </p:cNvPr>
          <p:cNvSpPr>
            <a:spLocks xmlns:a="http://schemas.openxmlformats.org/drawingml/2006/main" noGrp="1"/>
          </p:cNvSpPr>
          <p:nvPr/>
        </p:nvSpPr>
        <p:spPr>
          <a:xfrm xmlns:a="http://schemas.openxmlformats.org/drawingml/2006/main">
            <a:off x="685800" y="1695450"/>
            <a:ext cx="10820400" cy="19050"/>
          </a:xfrm>
          <a:prstGeom xmlns:a="http://schemas.openxmlformats.org/drawingml/2006/main" prst="rect">
            <a:avLst/>
          </a:prstGeom>
          <a:solidFill xmlns:a="http://schemas.openxmlformats.org/drawingml/2006/main">
            <a:srgbClr val="D8E0E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1D72C35-E0B6-4409-B702-0E87CE6C779B}"/>
              </a:ext>
            </a:extLst>
          </p:cNvPr>
          <p:cNvSpPr>
            <a:spLocks xmlns:a="http://schemas.openxmlformats.org/drawingml/2006/main" noGrp="1"/>
          </p:cNvSpPr>
          <p:nvPr/>
        </p:nvSpPr>
        <p:spPr>
          <a:xfrm xmlns:a="http://schemas.openxmlformats.org/drawingml/2006/main">
            <a:off x="685800" y="6496050"/>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675" b="1">
                <a:solidFill>
                  <a:srgbClr val="5E6B78"/>
                </a:solidFill>
              </a:defRPr>
            </a:pPr>
            <a:r>
              <a:rPr sz="675" b="1">
                <a:solidFill>
                  <a:srgbClr val="5E6B78"/>
                </a:solidFill>
              </a:rPr>
              <a:t>DISCUSSION DRAFT  |  AUGUST 2026</a:t>
            </a:r>
          </a:p>
        </p:txBody>
      </p:sp>
      <p:sp>
        <p:nvSpPr>
          <p:cNvPr id="5" name="">
            <a:extLst xmlns:a="http://schemas.openxmlformats.org/drawingml/2006/main">
              <a:ext uri="{FF2B5EF4-FFF2-40B4-BE49-F238E27FC236}">
                <a16:creationId xmlns:a16="http://schemas.microsoft.com/office/drawing/2014/main" id="{412169EF-E32C-440B-BA77-97AEE29C430D}"/>
              </a:ext>
            </a:extLst>
          </p:cNvPr>
          <p:cNvSpPr>
            <a:spLocks xmlns:a="http://schemas.openxmlformats.org/drawingml/2006/main" noGrp="1"/>
          </p:cNvSpPr>
          <p:nvPr/>
        </p:nvSpPr>
        <p:spPr>
          <a:xfrm xmlns:a="http://schemas.openxmlformats.org/drawingml/2006/main">
            <a:off x="10839450" y="6496050"/>
            <a:ext cx="666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675" b="1">
                <a:solidFill>
                  <a:srgbClr val="5E6B78"/>
                </a:solidFill>
              </a:defRPr>
            </a:pPr>
            <a:r>
              <a:rPr sz="675" b="1">
                <a:solidFill>
                  <a:srgbClr val="5E6B78"/>
                </a:solidFill>
              </a:rPr>
              <a:t>08</a:t>
            </a:r>
          </a:p>
        </p:txBody>
      </p:sp>
      <p:sp>
        <p:nvSpPr>
          <p:cNvPr id="6" name="">
            <a:extLst xmlns:a="http://schemas.openxmlformats.org/drawingml/2006/main">
              <a:ext uri="{FF2B5EF4-FFF2-40B4-BE49-F238E27FC236}">
                <a16:creationId xmlns:a16="http://schemas.microsoft.com/office/drawing/2014/main" id="{9639E1DF-16FE-4579-B377-4AEBB548819F}"/>
              </a:ext>
            </a:extLst>
          </p:cNvPr>
          <p:cNvSpPr>
            <a:spLocks xmlns:a="http://schemas.openxmlformats.org/drawingml/2006/main" noGrp="1"/>
          </p:cNvSpPr>
          <p:nvPr/>
        </p:nvSpPr>
        <p:spPr>
          <a:xfrm xmlns:a="http://schemas.openxmlformats.org/drawingml/2006/main">
            <a:off x="685800" y="22098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C45A2A"/>
                </a:solidFill>
              </a:defRPr>
            </a:pPr>
            <a:r>
              <a:rPr sz="1050" b="1">
                <a:solidFill>
                  <a:srgbClr val="C45A2A"/>
                </a:solidFill>
              </a:rPr>
              <a:t>01  UNDERSTAND</a:t>
            </a:r>
          </a:p>
        </p:txBody>
      </p:sp>
      <p:sp>
        <p:nvSpPr>
          <p:cNvPr id="7" name="">
            <a:extLst xmlns:a="http://schemas.openxmlformats.org/drawingml/2006/main">
              <a:ext uri="{FF2B5EF4-FFF2-40B4-BE49-F238E27FC236}">
                <a16:creationId xmlns:a16="http://schemas.microsoft.com/office/drawing/2014/main" id="{D85FEEE6-F5FC-437F-9C63-89ABFC5B5000}"/>
              </a:ext>
            </a:extLst>
          </p:cNvPr>
          <p:cNvSpPr>
            <a:spLocks xmlns:a="http://schemas.openxmlformats.org/drawingml/2006/main" noGrp="1"/>
          </p:cNvSpPr>
          <p:nvPr/>
        </p:nvSpPr>
        <p:spPr>
          <a:xfrm xmlns:a="http://schemas.openxmlformats.org/drawingml/2006/main">
            <a:off x="685800" y="2657475"/>
            <a:ext cx="3143250" cy="2476500"/>
          </a:xfrm>
          <a:prstGeom xmlns:a="http://schemas.openxmlformats.org/drawingml/2006/main" prst="roundRect">
            <a:avLst>
              <a:gd name="adj" fmla="val 4615"/>
            </a:avLst>
          </a:prstGeom>
          <a:solidFill xmlns:a="http://schemas.openxmlformats.org/drawingml/2006/main">
            <a:srgbClr val="F3F6F8"/>
          </a:solidFill>
          <a:ln xmlns:a="http://schemas.openxmlformats.org/drawingml/2006/main" w="9525">
            <a:solidFill>
              <a:srgbClr val="D8E0E7"/>
            </a:solidFill>
            <a:prstDash val="solid"/>
          </a:ln>
        </p:spPr>
      </p:sp>
      <p:sp>
        <p:nvSpPr>
          <p:cNvPr id="8" name="">
            <a:extLst xmlns:a="http://schemas.openxmlformats.org/drawingml/2006/main">
              <a:ext uri="{FF2B5EF4-FFF2-40B4-BE49-F238E27FC236}">
                <a16:creationId xmlns:a16="http://schemas.microsoft.com/office/drawing/2014/main" id="{5FEE0525-8BCE-4A7B-8219-5507EBA8EBC1}"/>
              </a:ext>
            </a:extLst>
          </p:cNvPr>
          <p:cNvSpPr>
            <a:spLocks xmlns:a="http://schemas.openxmlformats.org/drawingml/2006/main" noGrp="1"/>
          </p:cNvSpPr>
          <p:nvPr/>
        </p:nvSpPr>
        <p:spPr>
          <a:xfrm xmlns:a="http://schemas.openxmlformats.org/drawingml/2006/main">
            <a:off x="952500" y="3076575"/>
            <a:ext cx="26098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17212B"/>
                </a:solidFill>
              </a:defRPr>
            </a:pPr>
            <a:r>
              <a:rPr sz="1425" b="0">
                <a:solidFill>
                  <a:srgbClr val="17212B"/>
                </a:solidFill>
              </a:rPr>
              <a:t>Coach identifies the request</a:t>
            </a:r>
          </a:p>
          <a:p xmlns:a="http://schemas.openxmlformats.org/drawingml/2006/main">
            <a:pPr algn="l">
              <a:buNone/>
              <a:defRPr sz="1425" b="0">
                <a:solidFill>
                  <a:srgbClr val="17212B"/>
                </a:solidFill>
              </a:defRPr>
            </a:pPr>
            <a:r>
              <a:rPr sz="1425" b="0">
                <a:solidFill>
                  <a:srgbClr val="17212B"/>
                </a:solidFill>
              </a:rPr>
              <a:t>Checks identity, authority and risk</a:t>
            </a:r>
          </a:p>
          <a:p xmlns:a="http://schemas.openxmlformats.org/drawingml/2006/main">
            <a:pPr algn="l">
              <a:buNone/>
              <a:defRPr sz="1425" b="0">
                <a:solidFill>
                  <a:srgbClr val="17212B"/>
                </a:solidFill>
              </a:defRPr>
            </a:pPr>
            <a:r>
              <a:rPr sz="1425" b="0">
                <a:solidFill>
                  <a:srgbClr val="17212B"/>
                </a:solidFill>
              </a:rPr>
              <a:t>Knows what information is missing</a:t>
            </a:r>
          </a:p>
        </p:txBody>
      </p:sp>
      <p:sp>
        <p:nvSpPr>
          <p:cNvPr id="9" name="">
            <a:extLst xmlns:a="http://schemas.openxmlformats.org/drawingml/2006/main">
              <a:ext uri="{FF2B5EF4-FFF2-40B4-BE49-F238E27FC236}">
                <a16:creationId xmlns:a16="http://schemas.microsoft.com/office/drawing/2014/main" id="{151B88C3-4798-4E1F-94C8-EBEC1F3CEF94}"/>
              </a:ext>
            </a:extLst>
          </p:cNvPr>
          <p:cNvSpPr>
            <a:spLocks xmlns:a="http://schemas.openxmlformats.org/drawingml/2006/main" noGrp="1"/>
          </p:cNvSpPr>
          <p:nvPr/>
        </p:nvSpPr>
        <p:spPr>
          <a:xfrm xmlns:a="http://schemas.openxmlformats.org/drawingml/2006/main">
            <a:off x="4324350" y="22098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C45A2A"/>
                </a:solidFill>
              </a:defRPr>
            </a:pPr>
            <a:r>
              <a:rPr sz="1050" b="1">
                <a:solidFill>
                  <a:srgbClr val="C45A2A"/>
                </a:solidFill>
              </a:rPr>
              <a:t>02  PREPARE + APPROVE</a:t>
            </a:r>
          </a:p>
        </p:txBody>
      </p:sp>
      <p:sp>
        <p:nvSpPr>
          <p:cNvPr id="10" name="">
            <a:extLst xmlns:a="http://schemas.openxmlformats.org/drawingml/2006/main">
              <a:ext uri="{FF2B5EF4-FFF2-40B4-BE49-F238E27FC236}">
                <a16:creationId xmlns:a16="http://schemas.microsoft.com/office/drawing/2014/main" id="{1AB1B060-5C5B-4A5C-946A-CEE7BFC29AE8}"/>
              </a:ext>
            </a:extLst>
          </p:cNvPr>
          <p:cNvSpPr>
            <a:spLocks xmlns:a="http://schemas.openxmlformats.org/drawingml/2006/main" noGrp="1"/>
          </p:cNvSpPr>
          <p:nvPr/>
        </p:nvSpPr>
        <p:spPr>
          <a:xfrm xmlns:a="http://schemas.openxmlformats.org/drawingml/2006/main">
            <a:off x="4324350" y="2657475"/>
            <a:ext cx="3143250" cy="2476500"/>
          </a:xfrm>
          <a:prstGeom xmlns:a="http://schemas.openxmlformats.org/drawingml/2006/main" prst="roundRect">
            <a:avLst>
              <a:gd name="adj" fmla="val 4615"/>
            </a:avLst>
          </a:prstGeom>
          <a:solidFill xmlns:a="http://schemas.openxmlformats.org/drawingml/2006/main">
            <a:srgbClr val="0B1F33"/>
          </a:solidFill>
          <a:ln xmlns:a="http://schemas.openxmlformats.org/drawingml/2006/main" w="9525">
            <a:solidFill>
              <a:srgbClr val="0B1F33"/>
            </a:solidFill>
            <a:prstDash val="solid"/>
          </a:ln>
        </p:spPr>
      </p:sp>
      <p:sp>
        <p:nvSpPr>
          <p:cNvPr id="11" name="">
            <a:extLst xmlns:a="http://schemas.openxmlformats.org/drawingml/2006/main">
              <a:ext uri="{FF2B5EF4-FFF2-40B4-BE49-F238E27FC236}">
                <a16:creationId xmlns:a16="http://schemas.microsoft.com/office/drawing/2014/main" id="{AD1897AE-8FC8-4703-A91A-B93D47DD9659}"/>
              </a:ext>
            </a:extLst>
          </p:cNvPr>
          <p:cNvSpPr>
            <a:spLocks xmlns:a="http://schemas.openxmlformats.org/drawingml/2006/main" noGrp="1"/>
          </p:cNvSpPr>
          <p:nvPr/>
        </p:nvSpPr>
        <p:spPr>
          <a:xfrm xmlns:a="http://schemas.openxmlformats.org/drawingml/2006/main">
            <a:off x="4591050" y="3076575"/>
            <a:ext cx="26098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a:solidFill>
                  <a:srgbClr val="FFFFFF"/>
                </a:solidFill>
              </a:defRPr>
            </a:pPr>
            <a:r>
              <a:rPr sz="1425" b="1">
                <a:solidFill>
                  <a:srgbClr val="FFFFFF"/>
                </a:solidFill>
              </a:rPr>
              <a:t>Approved skills assemble the work</a:t>
            </a:r>
          </a:p>
          <a:p xmlns:a="http://schemas.openxmlformats.org/drawingml/2006/main">
            <a:pPr algn="l">
              <a:buNone/>
              <a:defRPr sz="1425" b="1">
                <a:solidFill>
                  <a:srgbClr val="FFFFFF"/>
                </a:solidFill>
              </a:defRPr>
            </a:pPr>
            <a:r>
              <a:rPr sz="1425" b="1">
                <a:solidFill>
                  <a:srgbClr val="FFFFFF"/>
                </a:solidFill>
              </a:rPr>
              <a:t>Action Center applies human judgment</a:t>
            </a:r>
          </a:p>
          <a:p xmlns:a="http://schemas.openxmlformats.org/drawingml/2006/main">
            <a:pPr algn="l">
              <a:buNone/>
              <a:defRPr sz="1425" b="1">
                <a:solidFill>
                  <a:srgbClr val="FFFFFF"/>
                </a:solidFill>
              </a:defRPr>
            </a:pPr>
            <a:r>
              <a:rPr sz="1425" b="1">
                <a:solidFill>
                  <a:srgbClr val="FFFFFF"/>
                </a:solidFill>
              </a:rPr>
              <a:t>Low-risk steps move straight through</a:t>
            </a:r>
          </a:p>
        </p:txBody>
      </p:sp>
      <p:sp>
        <p:nvSpPr>
          <p:cNvPr id="12" name="">
            <a:extLst xmlns:a="http://schemas.openxmlformats.org/drawingml/2006/main">
              <a:ext uri="{FF2B5EF4-FFF2-40B4-BE49-F238E27FC236}">
                <a16:creationId xmlns:a16="http://schemas.microsoft.com/office/drawing/2014/main" id="{4A24C60D-A804-4208-81BC-90749075D845}"/>
              </a:ext>
            </a:extLst>
          </p:cNvPr>
          <p:cNvSpPr>
            <a:spLocks xmlns:a="http://schemas.openxmlformats.org/drawingml/2006/main" noGrp="1"/>
          </p:cNvSpPr>
          <p:nvPr/>
        </p:nvSpPr>
        <p:spPr>
          <a:xfrm xmlns:a="http://schemas.openxmlformats.org/drawingml/2006/main">
            <a:off x="7962900" y="22098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C45A2A"/>
                </a:solidFill>
              </a:defRPr>
            </a:pPr>
            <a:r>
              <a:rPr sz="1050" b="1">
                <a:solidFill>
                  <a:srgbClr val="C45A2A"/>
                </a:solidFill>
              </a:rPr>
              <a:t>03  COMPLETE + LEARN</a:t>
            </a:r>
          </a:p>
        </p:txBody>
      </p:sp>
      <p:sp>
        <p:nvSpPr>
          <p:cNvPr id="13" name="">
            <a:extLst xmlns:a="http://schemas.openxmlformats.org/drawingml/2006/main">
              <a:ext uri="{FF2B5EF4-FFF2-40B4-BE49-F238E27FC236}">
                <a16:creationId xmlns:a16="http://schemas.microsoft.com/office/drawing/2014/main" id="{C49B46F1-19AF-4D9C-A8BA-FB8CED1E1F9F}"/>
              </a:ext>
            </a:extLst>
          </p:cNvPr>
          <p:cNvSpPr>
            <a:spLocks xmlns:a="http://schemas.openxmlformats.org/drawingml/2006/main" noGrp="1"/>
          </p:cNvSpPr>
          <p:nvPr/>
        </p:nvSpPr>
        <p:spPr>
          <a:xfrm xmlns:a="http://schemas.openxmlformats.org/drawingml/2006/main">
            <a:off x="7962900" y="2657475"/>
            <a:ext cx="3143250" cy="2476500"/>
          </a:xfrm>
          <a:prstGeom xmlns:a="http://schemas.openxmlformats.org/drawingml/2006/main" prst="roundRect">
            <a:avLst>
              <a:gd name="adj" fmla="val 4615"/>
            </a:avLst>
          </a:prstGeom>
          <a:solidFill xmlns:a="http://schemas.openxmlformats.org/drawingml/2006/main">
            <a:srgbClr val="F3F6F8"/>
          </a:solidFill>
          <a:ln xmlns:a="http://schemas.openxmlformats.org/drawingml/2006/main" w="9525">
            <a:solidFill>
              <a:srgbClr val="D8E0E7"/>
            </a:solidFill>
            <a:prstDash val="solid"/>
          </a:ln>
        </p:spPr>
      </p:sp>
      <p:sp>
        <p:nvSpPr>
          <p:cNvPr id="14" name="">
            <a:extLst xmlns:a="http://schemas.openxmlformats.org/drawingml/2006/main">
              <a:ext uri="{FF2B5EF4-FFF2-40B4-BE49-F238E27FC236}">
                <a16:creationId xmlns:a16="http://schemas.microsoft.com/office/drawing/2014/main" id="{2C17FB67-DD4A-4DF6-93E0-0BAE2B3FCA3A}"/>
              </a:ext>
            </a:extLst>
          </p:cNvPr>
          <p:cNvSpPr>
            <a:spLocks xmlns:a="http://schemas.openxmlformats.org/drawingml/2006/main" noGrp="1"/>
          </p:cNvSpPr>
          <p:nvPr/>
        </p:nvSpPr>
        <p:spPr>
          <a:xfrm xmlns:a="http://schemas.openxmlformats.org/drawingml/2006/main">
            <a:off x="8229600" y="3076575"/>
            <a:ext cx="26098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17212B"/>
                </a:solidFill>
              </a:defRPr>
            </a:pPr>
            <a:r>
              <a:rPr sz="1425" b="0">
                <a:solidFill>
                  <a:srgbClr val="17212B"/>
                </a:solidFill>
              </a:rPr>
              <a:t>Controlled systems execute</a:t>
            </a:r>
          </a:p>
          <a:p xmlns:a="http://schemas.openxmlformats.org/drawingml/2006/main">
            <a:pPr algn="l">
              <a:buNone/>
              <a:defRPr sz="1425" b="0">
                <a:solidFill>
                  <a:srgbClr val="17212B"/>
                </a:solidFill>
              </a:defRPr>
            </a:pPr>
            <a:r>
              <a:rPr sz="1425" b="0">
                <a:solidFill>
                  <a:srgbClr val="17212B"/>
                </a:solidFill>
              </a:rPr>
              <a:t>Exceptions arrive with full context</a:t>
            </a:r>
          </a:p>
          <a:p xmlns:a="http://schemas.openxmlformats.org/drawingml/2006/main">
            <a:pPr algn="l">
              <a:buNone/>
              <a:defRPr sz="1425" b="0">
                <a:solidFill>
                  <a:srgbClr val="17212B"/>
                </a:solidFill>
              </a:defRPr>
            </a:pPr>
            <a:r>
              <a:rPr sz="1425" b="0">
                <a:solidFill>
                  <a:srgbClr val="17212B"/>
                </a:solidFill>
              </a:rPr>
              <a:t>Outcomes improve the workflow</a:t>
            </a:r>
          </a:p>
        </p:txBody>
      </p:sp>
      <p:sp>
        <p:nvSpPr>
          <p:cNvPr id="15" name="">
            <a:extLst xmlns:a="http://schemas.openxmlformats.org/drawingml/2006/main">
              <a:ext uri="{FF2B5EF4-FFF2-40B4-BE49-F238E27FC236}">
                <a16:creationId xmlns:a16="http://schemas.microsoft.com/office/drawing/2014/main" id="{C2E5A288-4F84-4E5F-88AE-5C7C0990BC3D}"/>
              </a:ext>
            </a:extLst>
          </p:cNvPr>
          <p:cNvSpPr>
            <a:spLocks xmlns:a="http://schemas.openxmlformats.org/drawingml/2006/main" noGrp="1"/>
          </p:cNvSpPr>
          <p:nvPr/>
        </p:nvSpPr>
        <p:spPr>
          <a:xfrm xmlns:a="http://schemas.openxmlformats.org/drawingml/2006/main">
            <a:off x="2190750" y="5514975"/>
            <a:ext cx="781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2B6CB0"/>
                </a:solidFill>
              </a:defRPr>
            </a:pPr>
            <a:r>
              <a:rPr sz="1875" b="1">
                <a:solidFill>
                  <a:srgbClr val="2B6CB0"/>
                </a:solidFill>
              </a:rPr>
              <a:t>AI may reason, prepare and coordinate. Controlled systems commit.</a:t>
            </a:r>
          </a:p>
        </p:txBody>
      </p:sp>
    </p:spTree>
    <p:extLst>
      <p:ext uri="{BB962C8B-B14F-4D97-AF65-F5344CB8AC3E}">
        <p14:creationId xmlns:p14="http://schemas.microsoft.com/office/powerpoint/2010/main" val="92070340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1A24FC9E-8458-4624-BDB8-B957106E6BE3}"/>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625" b="1">
                <a:solidFill>
                  <a:srgbClr val="0B1F33"/>
                </a:solidFill>
              </a:defRPr>
            </a:pPr>
            <a:r>
              <a:rPr sz="2625" b="1">
                <a:solidFill>
                  <a:srgbClr val="0B1F33"/>
                </a:solidFill>
              </a:rPr>
              <a:t>One intelligent experience follows the client across the lifecycle.</a:t>
            </a:r>
          </a:p>
        </p:txBody>
      </p:sp>
      <p:sp>
        <p:nvSpPr>
          <p:cNvPr id="2" name="">
            <a:extLst xmlns:a="http://schemas.openxmlformats.org/drawingml/2006/main">
              <a:ext uri="{FF2B5EF4-FFF2-40B4-BE49-F238E27FC236}">
                <a16:creationId xmlns:a16="http://schemas.microsoft.com/office/drawing/2014/main" id="{8A35EC2B-5BF7-4009-8492-7083B3C341A2}"/>
              </a:ext>
            </a:extLst>
          </p:cNvPr>
          <p:cNvSpPr>
            <a:spLocks xmlns:a="http://schemas.openxmlformats.org/drawingml/2006/main" noGrp="1"/>
          </p:cNvSpPr>
          <p:nvPr/>
        </p:nvSpPr>
        <p:spPr>
          <a:xfrm xmlns:a="http://schemas.openxmlformats.org/drawingml/2006/main">
            <a:off x="685800" y="1695450"/>
            <a:ext cx="10820400" cy="19050"/>
          </a:xfrm>
          <a:prstGeom xmlns:a="http://schemas.openxmlformats.org/drawingml/2006/main" prst="rect">
            <a:avLst/>
          </a:prstGeom>
          <a:solidFill xmlns:a="http://schemas.openxmlformats.org/drawingml/2006/main">
            <a:srgbClr val="D8E0E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59046F8-D42E-42A4-8C56-B15F4A985358}"/>
              </a:ext>
            </a:extLst>
          </p:cNvPr>
          <p:cNvSpPr>
            <a:spLocks xmlns:a="http://schemas.openxmlformats.org/drawingml/2006/main" noGrp="1"/>
          </p:cNvSpPr>
          <p:nvPr/>
        </p:nvSpPr>
        <p:spPr>
          <a:xfrm xmlns:a="http://schemas.openxmlformats.org/drawingml/2006/main">
            <a:off x="685800" y="6496050"/>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675" b="1">
                <a:solidFill>
                  <a:srgbClr val="5E6B78"/>
                </a:solidFill>
              </a:defRPr>
            </a:pPr>
            <a:r>
              <a:rPr sz="675" b="1">
                <a:solidFill>
                  <a:srgbClr val="5E6B78"/>
                </a:solidFill>
              </a:rPr>
              <a:t>DISCUSSION DRAFT  |  AUGUST 2026</a:t>
            </a:r>
          </a:p>
        </p:txBody>
      </p:sp>
      <p:sp>
        <p:nvSpPr>
          <p:cNvPr id="4" name="">
            <a:extLst xmlns:a="http://schemas.openxmlformats.org/drawingml/2006/main">
              <a:ext uri="{FF2B5EF4-FFF2-40B4-BE49-F238E27FC236}">
                <a16:creationId xmlns:a16="http://schemas.microsoft.com/office/drawing/2014/main" id="{53A2626F-ED3D-428D-8C77-33E00C10C07F}"/>
              </a:ext>
            </a:extLst>
          </p:cNvPr>
          <p:cNvSpPr>
            <a:spLocks xmlns:a="http://schemas.openxmlformats.org/drawingml/2006/main" noGrp="1"/>
          </p:cNvSpPr>
          <p:nvPr/>
        </p:nvSpPr>
        <p:spPr>
          <a:xfrm xmlns:a="http://schemas.openxmlformats.org/drawingml/2006/main">
            <a:off x="10839450" y="6496050"/>
            <a:ext cx="666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675" b="1">
                <a:solidFill>
                  <a:srgbClr val="5E6B78"/>
                </a:solidFill>
              </a:defRPr>
            </a:pPr>
            <a:r>
              <a:rPr sz="675" b="1">
                <a:solidFill>
                  <a:srgbClr val="5E6B78"/>
                </a:solidFill>
              </a:rPr>
              <a:t>09</a:t>
            </a:r>
          </a:p>
        </p:txBody>
      </p:sp>
      <p:sp>
        <p:nvSpPr>
          <p:cNvPr id="5" name="">
            <a:extLst xmlns:a="http://schemas.openxmlformats.org/drawingml/2006/main">
              <a:ext uri="{FF2B5EF4-FFF2-40B4-BE49-F238E27FC236}">
                <a16:creationId xmlns:a16="http://schemas.microsoft.com/office/drawing/2014/main" id="{B6DE531D-44FE-4588-A2DC-2648BEBB2C46}"/>
              </a:ext>
            </a:extLst>
          </p:cNvPr>
          <p:cNvSpPr>
            <a:spLocks xmlns:a="http://schemas.openxmlformats.org/drawingml/2006/main" noGrp="1"/>
          </p:cNvSpPr>
          <p:nvPr/>
        </p:nvSpPr>
        <p:spPr>
          <a:xfrm xmlns:a="http://schemas.openxmlformats.org/drawingml/2006/main">
            <a:off x="685800" y="2238375"/>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a:solidFill>
                  <a:srgbClr val="C45A2A"/>
                </a:solidFill>
              </a:defRPr>
            </a:pPr>
            <a:r>
              <a:rPr sz="1050" b="1">
                <a:solidFill>
                  <a:srgbClr val="C45A2A"/>
                </a:solidFill>
              </a:rPr>
              <a:t>THE RELATIONSHIP NEVER RESETS</a:t>
            </a:r>
          </a:p>
        </p:txBody>
      </p:sp>
      <p:sp>
        <p:nvSpPr>
          <p:cNvPr id="6" name="">
            <a:extLst xmlns:a="http://schemas.openxmlformats.org/drawingml/2006/main">
              <a:ext uri="{FF2B5EF4-FFF2-40B4-BE49-F238E27FC236}">
                <a16:creationId xmlns:a16="http://schemas.microsoft.com/office/drawing/2014/main" id="{1DC77EF8-146F-4BE4-8232-788F1EB028FA}"/>
              </a:ext>
            </a:extLst>
          </p:cNvPr>
          <p:cNvSpPr>
            <a:spLocks xmlns:a="http://schemas.openxmlformats.org/drawingml/2006/main" noGrp="1"/>
          </p:cNvSpPr>
          <p:nvPr/>
        </p:nvSpPr>
        <p:spPr>
          <a:xfrm xmlns:a="http://schemas.openxmlformats.org/drawingml/2006/main">
            <a:off x="685800" y="2695575"/>
            <a:ext cx="2095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25" b="1">
                <a:solidFill>
                  <a:srgbClr val="0B1F33"/>
                </a:solidFill>
              </a:defRPr>
            </a:pPr>
            <a:r>
              <a:rPr sz="2025" b="1">
                <a:solidFill>
                  <a:srgbClr val="0B1F33"/>
                </a:solidFill>
              </a:rPr>
              <a:t>PROSPECT TO</a:t>
            </a:r>
          </a:p>
          <a:p xmlns:a="http://schemas.openxmlformats.org/drawingml/2006/main">
            <a:pPr algn="ctr">
              <a:buNone/>
              <a:defRPr sz="2025" b="1">
                <a:solidFill>
                  <a:srgbClr val="0B1F33"/>
                </a:solidFill>
              </a:defRPr>
            </a:pPr>
            <a:r>
              <a:rPr sz="2025" b="1">
                <a:solidFill>
                  <a:srgbClr val="0B1F33"/>
                </a:solidFill>
              </a:rPr>
              <a:t>ONBOARDING</a:t>
            </a:r>
          </a:p>
        </p:txBody>
      </p:sp>
      <p:sp>
        <p:nvSpPr>
          <p:cNvPr id="7" name="">
            <a:extLst xmlns:a="http://schemas.openxmlformats.org/drawingml/2006/main">
              <a:ext uri="{FF2B5EF4-FFF2-40B4-BE49-F238E27FC236}">
                <a16:creationId xmlns:a16="http://schemas.microsoft.com/office/drawing/2014/main" id="{CF17E5ED-9EE0-4272-9287-91F1FA75F0AF}"/>
              </a:ext>
            </a:extLst>
          </p:cNvPr>
          <p:cNvSpPr>
            <a:spLocks xmlns:a="http://schemas.openxmlformats.org/drawingml/2006/main" noGrp="1"/>
          </p:cNvSpPr>
          <p:nvPr/>
        </p:nvSpPr>
        <p:spPr>
          <a:xfrm xmlns:a="http://schemas.openxmlformats.org/drawingml/2006/main">
            <a:off x="2867025" y="2838450"/>
            <a:ext cx="342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6CB4EE"/>
                </a:solidFill>
              </a:defRPr>
            </a:pPr>
            <a:r>
              <a:rPr sz="2100" b="1">
                <a:solidFill>
                  <a:srgbClr val="6CB4EE"/>
                </a:solidFill>
              </a:rPr>
              <a:t>→</a:t>
            </a:r>
          </a:p>
        </p:txBody>
      </p:sp>
      <p:sp>
        <p:nvSpPr>
          <p:cNvPr id="8" name="">
            <a:extLst xmlns:a="http://schemas.openxmlformats.org/drawingml/2006/main">
              <a:ext uri="{FF2B5EF4-FFF2-40B4-BE49-F238E27FC236}">
                <a16:creationId xmlns:a16="http://schemas.microsoft.com/office/drawing/2014/main" id="{4E897F03-C046-4ED6-ACF7-06CF2ED233D2}"/>
              </a:ext>
            </a:extLst>
          </p:cNvPr>
          <p:cNvSpPr>
            <a:spLocks xmlns:a="http://schemas.openxmlformats.org/drawingml/2006/main" noGrp="1"/>
          </p:cNvSpPr>
          <p:nvPr/>
        </p:nvSpPr>
        <p:spPr>
          <a:xfrm xmlns:a="http://schemas.openxmlformats.org/drawingml/2006/main">
            <a:off x="3286125" y="2695575"/>
            <a:ext cx="2095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0B1F33"/>
                </a:solidFill>
              </a:defRPr>
            </a:pPr>
            <a:r>
              <a:rPr sz="1725" b="1">
                <a:solidFill>
                  <a:srgbClr val="0B1F33"/>
                </a:solidFill>
              </a:rPr>
              <a:t>ADVICE +</a:t>
            </a:r>
          </a:p>
          <a:p xmlns:a="http://schemas.openxmlformats.org/drawingml/2006/main">
            <a:pPr algn="ctr">
              <a:buNone/>
              <a:defRPr sz="1725" b="1">
                <a:solidFill>
                  <a:srgbClr val="0B1F33"/>
                </a:solidFill>
              </a:defRPr>
            </a:pPr>
            <a:r>
              <a:rPr sz="1725" b="1">
                <a:solidFill>
                  <a:srgbClr val="0B1F33"/>
                </a:solidFill>
              </a:rPr>
              <a:t>SERVICE</a:t>
            </a:r>
          </a:p>
        </p:txBody>
      </p:sp>
      <p:sp>
        <p:nvSpPr>
          <p:cNvPr id="9" name="">
            <a:extLst xmlns:a="http://schemas.openxmlformats.org/drawingml/2006/main">
              <a:ext uri="{FF2B5EF4-FFF2-40B4-BE49-F238E27FC236}">
                <a16:creationId xmlns:a16="http://schemas.microsoft.com/office/drawing/2014/main" id="{A0AF73B7-E9EF-40B8-94B7-40BEE600FFE0}"/>
              </a:ext>
            </a:extLst>
          </p:cNvPr>
          <p:cNvSpPr>
            <a:spLocks xmlns:a="http://schemas.openxmlformats.org/drawingml/2006/main" noGrp="1"/>
          </p:cNvSpPr>
          <p:nvPr/>
        </p:nvSpPr>
        <p:spPr>
          <a:xfrm xmlns:a="http://schemas.openxmlformats.org/drawingml/2006/main">
            <a:off x="5467350" y="2838450"/>
            <a:ext cx="342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6CB4EE"/>
                </a:solidFill>
              </a:defRPr>
            </a:pPr>
            <a:r>
              <a:rPr sz="2100" b="1">
                <a:solidFill>
                  <a:srgbClr val="6CB4EE"/>
                </a:solidFill>
              </a:rPr>
              <a:t>→</a:t>
            </a:r>
          </a:p>
        </p:txBody>
      </p:sp>
      <p:sp>
        <p:nvSpPr>
          <p:cNvPr id="10" name="">
            <a:extLst xmlns:a="http://schemas.openxmlformats.org/drawingml/2006/main">
              <a:ext uri="{FF2B5EF4-FFF2-40B4-BE49-F238E27FC236}">
                <a16:creationId xmlns:a16="http://schemas.microsoft.com/office/drawing/2014/main" id="{61964519-8E32-4063-9D22-EE090FC606B1}"/>
              </a:ext>
            </a:extLst>
          </p:cNvPr>
          <p:cNvSpPr>
            <a:spLocks xmlns:a="http://schemas.openxmlformats.org/drawingml/2006/main" noGrp="1"/>
          </p:cNvSpPr>
          <p:nvPr/>
        </p:nvSpPr>
        <p:spPr>
          <a:xfrm xmlns:a="http://schemas.openxmlformats.org/drawingml/2006/main">
            <a:off x="5886450" y="2695575"/>
            <a:ext cx="2095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25" b="1">
                <a:solidFill>
                  <a:srgbClr val="0B1F33"/>
                </a:solidFill>
              </a:defRPr>
            </a:pPr>
            <a:r>
              <a:rPr sz="2025" b="1">
                <a:solidFill>
                  <a:srgbClr val="0B1F33"/>
                </a:solidFill>
              </a:rPr>
              <a:t>FAMILY +</a:t>
            </a:r>
          </a:p>
          <a:p xmlns:a="http://schemas.openxmlformats.org/drawingml/2006/main">
            <a:pPr algn="ctr">
              <a:buNone/>
              <a:defRPr sz="2025" b="1">
                <a:solidFill>
                  <a:srgbClr val="0B1F33"/>
                </a:solidFill>
              </a:defRPr>
            </a:pPr>
            <a:r>
              <a:rPr sz="2025" b="1">
                <a:solidFill>
                  <a:srgbClr val="0B1F33"/>
                </a:solidFill>
              </a:rPr>
              <a:t>GENERATIONS</a:t>
            </a:r>
          </a:p>
        </p:txBody>
      </p:sp>
      <p:sp>
        <p:nvSpPr>
          <p:cNvPr id="11" name="">
            <a:extLst xmlns:a="http://schemas.openxmlformats.org/drawingml/2006/main">
              <a:ext uri="{FF2B5EF4-FFF2-40B4-BE49-F238E27FC236}">
                <a16:creationId xmlns:a16="http://schemas.microsoft.com/office/drawing/2014/main" id="{89C2C854-CE2F-46C0-97BB-9B34DDAFA5C9}"/>
              </a:ext>
            </a:extLst>
          </p:cNvPr>
          <p:cNvSpPr>
            <a:spLocks xmlns:a="http://schemas.openxmlformats.org/drawingml/2006/main" noGrp="1"/>
          </p:cNvSpPr>
          <p:nvPr/>
        </p:nvSpPr>
        <p:spPr>
          <a:xfrm xmlns:a="http://schemas.openxmlformats.org/drawingml/2006/main">
            <a:off x="8067675" y="2838450"/>
            <a:ext cx="342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6CB4EE"/>
                </a:solidFill>
              </a:defRPr>
            </a:pPr>
            <a:r>
              <a:rPr sz="2100" b="1">
                <a:solidFill>
                  <a:srgbClr val="6CB4EE"/>
                </a:solidFill>
              </a:rPr>
              <a:t>→</a:t>
            </a:r>
          </a:p>
        </p:txBody>
      </p:sp>
      <p:sp>
        <p:nvSpPr>
          <p:cNvPr id="12" name="">
            <a:extLst xmlns:a="http://schemas.openxmlformats.org/drawingml/2006/main">
              <a:ext uri="{FF2B5EF4-FFF2-40B4-BE49-F238E27FC236}">
                <a16:creationId xmlns:a16="http://schemas.microsoft.com/office/drawing/2014/main" id="{D96FE3D4-7C61-4629-A99A-398F4090D44D}"/>
              </a:ext>
            </a:extLst>
          </p:cNvPr>
          <p:cNvSpPr>
            <a:spLocks xmlns:a="http://schemas.openxmlformats.org/drawingml/2006/main" noGrp="1"/>
          </p:cNvSpPr>
          <p:nvPr/>
        </p:nvSpPr>
        <p:spPr>
          <a:xfrm xmlns:a="http://schemas.openxmlformats.org/drawingml/2006/main">
            <a:off x="8486775" y="2695575"/>
            <a:ext cx="2333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0B1F33"/>
                </a:solidFill>
              </a:defRPr>
            </a:pPr>
            <a:r>
              <a:rPr sz="1875" b="1">
                <a:solidFill>
                  <a:srgbClr val="0B1F33"/>
                </a:solidFill>
              </a:rPr>
              <a:t>CLIENT</a:t>
            </a:r>
          </a:p>
          <a:p xmlns:a="http://schemas.openxmlformats.org/drawingml/2006/main">
            <a:pPr algn="ctr">
              <a:buNone/>
              <a:defRPr sz="1875" b="1">
                <a:solidFill>
                  <a:srgbClr val="0B1F33"/>
                </a:solidFill>
              </a:defRPr>
            </a:pPr>
            <a:r>
              <a:rPr sz="1875" b="1">
                <a:solidFill>
                  <a:srgbClr val="0B1F33"/>
                </a:solidFill>
              </a:rPr>
              <a:t>COMPANION</a:t>
            </a:r>
          </a:p>
        </p:txBody>
      </p:sp>
      <p:sp>
        <p:nvSpPr>
          <p:cNvPr id="13" name="">
            <a:extLst xmlns:a="http://schemas.openxmlformats.org/drawingml/2006/main">
              <a:ext uri="{FF2B5EF4-FFF2-40B4-BE49-F238E27FC236}">
                <a16:creationId xmlns:a16="http://schemas.microsoft.com/office/drawing/2014/main" id="{B03FB93F-BBA5-4A6B-839E-B0B2CF335A82}"/>
              </a:ext>
            </a:extLst>
          </p:cNvPr>
          <p:cNvSpPr>
            <a:spLocks xmlns:a="http://schemas.openxmlformats.org/drawingml/2006/main" noGrp="1"/>
          </p:cNvSpPr>
          <p:nvPr/>
        </p:nvSpPr>
        <p:spPr>
          <a:xfrm xmlns:a="http://schemas.openxmlformats.org/drawingml/2006/main">
            <a:off x="838200" y="3905250"/>
            <a:ext cx="10668000" cy="19050"/>
          </a:xfrm>
          <a:prstGeom xmlns:a="http://schemas.openxmlformats.org/drawingml/2006/main" prst="rect">
            <a:avLst/>
          </a:prstGeom>
          <a:solidFill xmlns:a="http://schemas.openxmlformats.org/drawingml/2006/main">
            <a:srgbClr val="D8E0E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8A70DCB-9014-44BC-B6B8-F61843126E83}"/>
              </a:ext>
            </a:extLst>
          </p:cNvPr>
          <p:cNvSpPr>
            <a:spLocks xmlns:a="http://schemas.openxmlformats.org/drawingml/2006/main" noGrp="1"/>
          </p:cNvSpPr>
          <p:nvPr/>
        </p:nvSpPr>
        <p:spPr>
          <a:xfrm xmlns:a="http://schemas.openxmlformats.org/drawingml/2006/main">
            <a:off x="1428750" y="4343400"/>
            <a:ext cx="9334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7212B"/>
                </a:solidFill>
              </a:defRPr>
            </a:pPr>
            <a:r>
              <a:rPr sz="1800" b="1">
                <a:solidFill>
                  <a:srgbClr val="17212B"/>
                </a:solidFill>
              </a:rPr>
              <a:t>Identity, consent, purpose and entitlements travel with every memory and action. J.P. Morgan also helps protect clients in an AI-driven world.</a:t>
            </a:r>
          </a:p>
        </p:txBody>
      </p:sp>
    </p:spTree>
    <p:extLst>
      <p:ext uri="{BB962C8B-B14F-4D97-AF65-F5344CB8AC3E}">
        <p14:creationId xmlns:p14="http://schemas.microsoft.com/office/powerpoint/2010/main" val="165284064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lide-title">
            <a:extLst xmlns:a="http://schemas.openxmlformats.org/drawingml/2006/main">
              <a:ext uri="{FF2B5EF4-FFF2-40B4-BE49-F238E27FC236}">
                <a16:creationId xmlns:a16="http://schemas.microsoft.com/office/drawing/2014/main" id="{58200D34-D711-4BAF-8AE6-C3299B0B1F30}"/>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625" b="1">
                <a:solidFill>
                  <a:srgbClr val="0B1F33"/>
                </a:solidFill>
              </a:defRPr>
            </a:pPr>
            <a:r>
              <a:rPr sz="2625" b="1">
                <a:solidFill>
                  <a:srgbClr val="0B1F33"/>
                </a:solidFill>
              </a:rPr>
              <a:t>Every week should make every employee better.</a:t>
            </a:r>
          </a:p>
        </p:txBody>
      </p:sp>
      <p:sp>
        <p:nvSpPr>
          <p:cNvPr id="2" name="">
            <a:extLst xmlns:a="http://schemas.openxmlformats.org/drawingml/2006/main">
              <a:ext uri="{FF2B5EF4-FFF2-40B4-BE49-F238E27FC236}">
                <a16:creationId xmlns:a16="http://schemas.microsoft.com/office/drawing/2014/main" id="{D76008B4-8E29-45AF-B779-AD81C66D9FF0}"/>
              </a:ext>
            </a:extLst>
          </p:cNvPr>
          <p:cNvSpPr>
            <a:spLocks xmlns:a="http://schemas.openxmlformats.org/drawingml/2006/main" noGrp="1"/>
          </p:cNvSpPr>
          <p:nvPr/>
        </p:nvSpPr>
        <p:spPr>
          <a:xfrm xmlns:a="http://schemas.openxmlformats.org/drawingml/2006/main">
            <a:off x="685800" y="1695450"/>
            <a:ext cx="10820400" cy="19050"/>
          </a:xfrm>
          <a:prstGeom xmlns:a="http://schemas.openxmlformats.org/drawingml/2006/main" prst="rect">
            <a:avLst/>
          </a:prstGeom>
          <a:solidFill xmlns:a="http://schemas.openxmlformats.org/drawingml/2006/main">
            <a:srgbClr val="D8E0E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8BD4151-636A-433C-9752-3FC616CB70DD}"/>
              </a:ext>
            </a:extLst>
          </p:cNvPr>
          <p:cNvSpPr>
            <a:spLocks xmlns:a="http://schemas.openxmlformats.org/drawingml/2006/main" noGrp="1"/>
          </p:cNvSpPr>
          <p:nvPr/>
        </p:nvSpPr>
        <p:spPr>
          <a:xfrm xmlns:a="http://schemas.openxmlformats.org/drawingml/2006/main">
            <a:off x="685800" y="6496050"/>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675" b="1">
                <a:solidFill>
                  <a:srgbClr val="5E6B78"/>
                </a:solidFill>
              </a:defRPr>
            </a:pPr>
            <a:r>
              <a:rPr sz="675" b="1">
                <a:solidFill>
                  <a:srgbClr val="5E6B78"/>
                </a:solidFill>
              </a:rPr>
              <a:t>DISCUSSION DRAFT  |  AUGUST 2026</a:t>
            </a:r>
          </a:p>
        </p:txBody>
      </p:sp>
      <p:sp>
        <p:nvSpPr>
          <p:cNvPr id="4" name="">
            <a:extLst xmlns:a="http://schemas.openxmlformats.org/drawingml/2006/main">
              <a:ext uri="{FF2B5EF4-FFF2-40B4-BE49-F238E27FC236}">
                <a16:creationId xmlns:a16="http://schemas.microsoft.com/office/drawing/2014/main" id="{0A2BD8AA-6CB5-4C22-85B8-A5E3574D8A5F}"/>
              </a:ext>
            </a:extLst>
          </p:cNvPr>
          <p:cNvSpPr>
            <a:spLocks xmlns:a="http://schemas.openxmlformats.org/drawingml/2006/main" noGrp="1"/>
          </p:cNvSpPr>
          <p:nvPr/>
        </p:nvSpPr>
        <p:spPr>
          <a:xfrm xmlns:a="http://schemas.openxmlformats.org/drawingml/2006/main">
            <a:off x="10839450" y="6496050"/>
            <a:ext cx="666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675" b="1">
                <a:solidFill>
                  <a:srgbClr val="5E6B78"/>
                </a:solidFill>
              </a:defRPr>
            </a:pPr>
            <a:r>
              <a:rPr sz="675" b="1">
                <a:solidFill>
                  <a:srgbClr val="5E6B78"/>
                </a:solidFill>
              </a:rPr>
              <a:t>10</a:t>
            </a:r>
          </a:p>
        </p:txBody>
      </p:sp>
      <p:sp>
        <p:nvSpPr>
          <p:cNvPr id="5" name="">
            <a:extLst xmlns:a="http://schemas.openxmlformats.org/drawingml/2006/main">
              <a:ext uri="{FF2B5EF4-FFF2-40B4-BE49-F238E27FC236}">
                <a16:creationId xmlns:a16="http://schemas.microsoft.com/office/drawing/2014/main" id="{B7D4D025-D33D-4A9F-AF23-4AD952CB4AA2}"/>
              </a:ext>
            </a:extLst>
          </p:cNvPr>
          <p:cNvSpPr>
            <a:spLocks xmlns:a="http://schemas.openxmlformats.org/drawingml/2006/main" noGrp="1"/>
          </p:cNvSpPr>
          <p:nvPr/>
        </p:nvSpPr>
        <p:spPr>
          <a:xfrm xmlns:a="http://schemas.openxmlformats.org/drawingml/2006/main">
            <a:off x="685800" y="2124075"/>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C45A2A"/>
                </a:solidFill>
              </a:defRPr>
            </a:pPr>
            <a:r>
              <a:rPr sz="1050" b="1">
                <a:solidFill>
                  <a:srgbClr val="C45A2A"/>
                </a:solidFill>
              </a:rPr>
              <a:t>SIMULATION + APPRENTICESHIP</a:t>
            </a:r>
          </a:p>
        </p:txBody>
      </p:sp>
      <p:sp>
        <p:nvSpPr>
          <p:cNvPr id="6" name="">
            <a:extLst xmlns:a="http://schemas.openxmlformats.org/drawingml/2006/main">
              <a:ext uri="{FF2B5EF4-FFF2-40B4-BE49-F238E27FC236}">
                <a16:creationId xmlns:a16="http://schemas.microsoft.com/office/drawing/2014/main" id="{73A2D09B-91C2-4FAD-A1B2-6297E6E31E3E}"/>
              </a:ext>
            </a:extLst>
          </p:cNvPr>
          <p:cNvSpPr>
            <a:spLocks xmlns:a="http://schemas.openxmlformats.org/drawingml/2006/main" noGrp="1"/>
          </p:cNvSpPr>
          <p:nvPr/>
        </p:nvSpPr>
        <p:spPr>
          <a:xfrm xmlns:a="http://schemas.openxmlformats.org/drawingml/2006/main">
            <a:off x="685800" y="2524125"/>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25" b="1">
                <a:solidFill>
                  <a:srgbClr val="0B1F33"/>
                </a:solidFill>
              </a:defRPr>
            </a:pPr>
            <a:r>
              <a:rPr sz="2025" b="1">
                <a:solidFill>
                  <a:srgbClr val="0B1F33"/>
                </a:solidFill>
              </a:rPr>
              <a:t>Accelerate judgment without losing trust</a:t>
            </a:r>
          </a:p>
        </p:txBody>
      </p:sp>
      <p:sp>
        <p:nvSpPr>
          <p:cNvPr id="7" name="">
            <a:extLst xmlns:a="http://schemas.openxmlformats.org/drawingml/2006/main">
              <a:ext uri="{FF2B5EF4-FFF2-40B4-BE49-F238E27FC236}">
                <a16:creationId xmlns:a16="http://schemas.microsoft.com/office/drawing/2014/main" id="{7959B646-D76B-416A-9A65-DA8D2C7C8F62}"/>
              </a:ext>
            </a:extLst>
          </p:cNvPr>
          <p:cNvSpPr>
            <a:spLocks xmlns:a="http://schemas.openxmlformats.org/drawingml/2006/main" noGrp="1"/>
          </p:cNvSpPr>
          <p:nvPr/>
        </p:nvSpPr>
        <p:spPr>
          <a:xfrm xmlns:a="http://schemas.openxmlformats.org/drawingml/2006/main">
            <a:off x="685800" y="3162300"/>
            <a:ext cx="17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C45A2A"/>
                </a:solidFill>
              </a:defRPr>
            </a:pPr>
            <a:r>
              <a:rPr sz="1350" b="1">
                <a:solidFill>
                  <a:srgbClr val="C45A2A"/>
                </a:solidFill>
              </a:rPr>
              <a:t>•</a:t>
            </a:r>
          </a:p>
        </p:txBody>
      </p:sp>
      <p:sp>
        <p:nvSpPr>
          <p:cNvPr id="8" name="">
            <a:extLst xmlns:a="http://schemas.openxmlformats.org/drawingml/2006/main">
              <a:ext uri="{FF2B5EF4-FFF2-40B4-BE49-F238E27FC236}">
                <a16:creationId xmlns:a16="http://schemas.microsoft.com/office/drawing/2014/main" id="{72F48B4D-484E-4327-943F-DBA83E1D34B8}"/>
              </a:ext>
            </a:extLst>
          </p:cNvPr>
          <p:cNvSpPr>
            <a:spLocks xmlns:a="http://schemas.openxmlformats.org/drawingml/2006/main" noGrp="1"/>
          </p:cNvSpPr>
          <p:nvPr/>
        </p:nvSpPr>
        <p:spPr>
          <a:xfrm xmlns:a="http://schemas.openxmlformats.org/drawingml/2006/main">
            <a:off x="914400" y="3162300"/>
            <a:ext cx="4248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7212B"/>
                </a:solidFill>
              </a:defRPr>
            </a:pPr>
            <a:r>
              <a:rPr sz="1350" b="0">
                <a:solidFill>
                  <a:srgbClr val="17212B"/>
                </a:solidFill>
              </a:rPr>
              <a:t>New hires manage realistic simulated client books</a:t>
            </a:r>
          </a:p>
        </p:txBody>
      </p:sp>
      <p:sp>
        <p:nvSpPr>
          <p:cNvPr id="9" name="">
            <a:extLst xmlns:a="http://schemas.openxmlformats.org/drawingml/2006/main">
              <a:ext uri="{FF2B5EF4-FFF2-40B4-BE49-F238E27FC236}">
                <a16:creationId xmlns:a16="http://schemas.microsoft.com/office/drawing/2014/main" id="{57EE91DE-1B45-40EB-841C-293E52FD5521}"/>
              </a:ext>
            </a:extLst>
          </p:cNvPr>
          <p:cNvSpPr>
            <a:spLocks xmlns:a="http://schemas.openxmlformats.org/drawingml/2006/main" noGrp="1"/>
          </p:cNvSpPr>
          <p:nvPr/>
        </p:nvSpPr>
        <p:spPr>
          <a:xfrm xmlns:a="http://schemas.openxmlformats.org/drawingml/2006/main">
            <a:off x="685800" y="3790950"/>
            <a:ext cx="17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C45A2A"/>
                </a:solidFill>
              </a:defRPr>
            </a:pPr>
            <a:r>
              <a:rPr sz="1350" b="1">
                <a:solidFill>
                  <a:srgbClr val="C45A2A"/>
                </a:solidFill>
              </a:rPr>
              <a:t>•</a:t>
            </a:r>
          </a:p>
        </p:txBody>
      </p:sp>
      <p:sp>
        <p:nvSpPr>
          <p:cNvPr id="10" name="">
            <a:extLst xmlns:a="http://schemas.openxmlformats.org/drawingml/2006/main">
              <a:ext uri="{FF2B5EF4-FFF2-40B4-BE49-F238E27FC236}">
                <a16:creationId xmlns:a16="http://schemas.microsoft.com/office/drawing/2014/main" id="{629521C7-9872-44F8-9D8A-B43D7D1D0BA8}"/>
              </a:ext>
            </a:extLst>
          </p:cNvPr>
          <p:cNvSpPr>
            <a:spLocks xmlns:a="http://schemas.openxmlformats.org/drawingml/2006/main" noGrp="1"/>
          </p:cNvSpPr>
          <p:nvPr/>
        </p:nvSpPr>
        <p:spPr>
          <a:xfrm xmlns:a="http://schemas.openxmlformats.org/drawingml/2006/main">
            <a:off x="914400" y="3790950"/>
            <a:ext cx="4248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7212B"/>
                </a:solidFill>
              </a:defRPr>
            </a:pPr>
            <a:r>
              <a:rPr sz="1350" b="0">
                <a:solidFill>
                  <a:srgbClr val="17212B"/>
                </a:solidFill>
              </a:rPr>
              <a:t>Practice investments, lending, planning and communication</a:t>
            </a:r>
          </a:p>
        </p:txBody>
      </p:sp>
      <p:sp>
        <p:nvSpPr>
          <p:cNvPr id="11" name="">
            <a:extLst xmlns:a="http://schemas.openxmlformats.org/drawingml/2006/main">
              <a:ext uri="{FF2B5EF4-FFF2-40B4-BE49-F238E27FC236}">
                <a16:creationId xmlns:a16="http://schemas.microsoft.com/office/drawing/2014/main" id="{1D3AF54B-A362-4066-B5D2-EF48B37B3E02}"/>
              </a:ext>
            </a:extLst>
          </p:cNvPr>
          <p:cNvSpPr>
            <a:spLocks xmlns:a="http://schemas.openxmlformats.org/drawingml/2006/main" noGrp="1"/>
          </p:cNvSpPr>
          <p:nvPr/>
        </p:nvSpPr>
        <p:spPr>
          <a:xfrm xmlns:a="http://schemas.openxmlformats.org/drawingml/2006/main">
            <a:off x="685800" y="4419600"/>
            <a:ext cx="17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C45A2A"/>
                </a:solidFill>
              </a:defRPr>
            </a:pPr>
            <a:r>
              <a:rPr sz="1350" b="1">
                <a:solidFill>
                  <a:srgbClr val="C45A2A"/>
                </a:solidFill>
              </a:rPr>
              <a:t>•</a:t>
            </a:r>
          </a:p>
        </p:txBody>
      </p:sp>
      <p:sp>
        <p:nvSpPr>
          <p:cNvPr id="12" name="">
            <a:extLst xmlns:a="http://schemas.openxmlformats.org/drawingml/2006/main">
              <a:ext uri="{FF2B5EF4-FFF2-40B4-BE49-F238E27FC236}">
                <a16:creationId xmlns:a16="http://schemas.microsoft.com/office/drawing/2014/main" id="{C65030FD-91A7-40E0-80CB-0BFFC9BCF058}"/>
              </a:ext>
            </a:extLst>
          </p:cNvPr>
          <p:cNvSpPr>
            <a:spLocks xmlns:a="http://schemas.openxmlformats.org/drawingml/2006/main" noGrp="1"/>
          </p:cNvSpPr>
          <p:nvPr/>
        </p:nvSpPr>
        <p:spPr>
          <a:xfrm xmlns:a="http://schemas.openxmlformats.org/drawingml/2006/main">
            <a:off x="914400" y="4419600"/>
            <a:ext cx="4248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7212B"/>
                </a:solidFill>
              </a:defRPr>
            </a:pPr>
            <a:r>
              <a:rPr sz="1350" b="0">
                <a:solidFill>
                  <a:srgbClr val="17212B"/>
                </a:solidFill>
              </a:rPr>
              <a:t>Real client support teaches nuance, accountability and trust</a:t>
            </a:r>
          </a:p>
        </p:txBody>
      </p:sp>
      <p:sp>
        <p:nvSpPr>
          <p:cNvPr id="13" name="">
            <a:extLst xmlns:a="http://schemas.openxmlformats.org/drawingml/2006/main">
              <a:ext uri="{FF2B5EF4-FFF2-40B4-BE49-F238E27FC236}">
                <a16:creationId xmlns:a16="http://schemas.microsoft.com/office/drawing/2014/main" id="{7F9C081F-353F-4B20-A4BD-39BC324E28E2}"/>
              </a:ext>
            </a:extLst>
          </p:cNvPr>
          <p:cNvSpPr>
            <a:spLocks xmlns:a="http://schemas.openxmlformats.org/drawingml/2006/main" noGrp="1"/>
          </p:cNvSpPr>
          <p:nvPr/>
        </p:nvSpPr>
        <p:spPr>
          <a:xfrm xmlns:a="http://schemas.openxmlformats.org/drawingml/2006/main">
            <a:off x="5734050" y="2095500"/>
            <a:ext cx="19050" cy="3619500"/>
          </a:xfrm>
          <a:prstGeom xmlns:a="http://schemas.openxmlformats.org/drawingml/2006/main" prst="rect">
            <a:avLst/>
          </a:prstGeom>
          <a:solidFill xmlns:a="http://schemas.openxmlformats.org/drawingml/2006/main">
            <a:srgbClr val="D8E0E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50FAF03-1506-4E80-9935-C80459517628}"/>
              </a:ext>
            </a:extLst>
          </p:cNvPr>
          <p:cNvSpPr>
            <a:spLocks xmlns:a="http://schemas.openxmlformats.org/drawingml/2006/main" noGrp="1"/>
          </p:cNvSpPr>
          <p:nvPr/>
        </p:nvSpPr>
        <p:spPr>
          <a:xfrm xmlns:a="http://schemas.openxmlformats.org/drawingml/2006/main">
            <a:off x="6191250" y="2124075"/>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C45A2A"/>
                </a:solidFill>
              </a:defRPr>
            </a:pPr>
            <a:r>
              <a:rPr sz="1050" b="1">
                <a:solidFill>
                  <a:srgbClr val="C45A2A"/>
                </a:solidFill>
              </a:rPr>
              <a:t>POWER FRIDAY</a:t>
            </a:r>
          </a:p>
        </p:txBody>
      </p:sp>
      <p:sp>
        <p:nvSpPr>
          <p:cNvPr id="15" name="">
            <a:extLst xmlns:a="http://schemas.openxmlformats.org/drawingml/2006/main">
              <a:ext uri="{FF2B5EF4-FFF2-40B4-BE49-F238E27FC236}">
                <a16:creationId xmlns:a16="http://schemas.microsoft.com/office/drawing/2014/main" id="{60E89BAF-887C-441B-A532-928D42D5EBB8}"/>
              </a:ext>
            </a:extLst>
          </p:cNvPr>
          <p:cNvSpPr>
            <a:spLocks xmlns:a="http://schemas.openxmlformats.org/drawingml/2006/main" noGrp="1"/>
          </p:cNvSpPr>
          <p:nvPr/>
        </p:nvSpPr>
        <p:spPr>
          <a:xfrm xmlns:a="http://schemas.openxmlformats.org/drawingml/2006/main">
            <a:off x="6191250" y="2524125"/>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25" b="1">
                <a:solidFill>
                  <a:srgbClr val="0B1F33"/>
                </a:solidFill>
              </a:defRPr>
            </a:pPr>
            <a:r>
              <a:rPr sz="2025" b="1">
                <a:solidFill>
                  <a:srgbClr val="0B1F33"/>
                </a:solidFill>
              </a:rPr>
              <a:t>Turn each week of work into the next week of growth</a:t>
            </a:r>
          </a:p>
        </p:txBody>
      </p:sp>
      <p:sp>
        <p:nvSpPr>
          <p:cNvPr id="16" name="">
            <a:extLst xmlns:a="http://schemas.openxmlformats.org/drawingml/2006/main">
              <a:ext uri="{FF2B5EF4-FFF2-40B4-BE49-F238E27FC236}">
                <a16:creationId xmlns:a16="http://schemas.microsoft.com/office/drawing/2014/main" id="{F1B0B082-7FA0-4153-A0CF-DCFE4DC368F4}"/>
              </a:ext>
            </a:extLst>
          </p:cNvPr>
          <p:cNvSpPr>
            <a:spLocks xmlns:a="http://schemas.openxmlformats.org/drawingml/2006/main" noGrp="1"/>
          </p:cNvSpPr>
          <p:nvPr/>
        </p:nvSpPr>
        <p:spPr>
          <a:xfrm xmlns:a="http://schemas.openxmlformats.org/drawingml/2006/main">
            <a:off x="6191250" y="3162300"/>
            <a:ext cx="17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C45A2A"/>
                </a:solidFill>
              </a:defRPr>
            </a:pPr>
            <a:r>
              <a:rPr sz="1350" b="1">
                <a:solidFill>
                  <a:srgbClr val="C45A2A"/>
                </a:solidFill>
              </a:rPr>
              <a:t>•</a:t>
            </a:r>
          </a:p>
        </p:txBody>
      </p:sp>
      <p:sp>
        <p:nvSpPr>
          <p:cNvPr id="17" name="">
            <a:extLst xmlns:a="http://schemas.openxmlformats.org/drawingml/2006/main">
              <a:ext uri="{FF2B5EF4-FFF2-40B4-BE49-F238E27FC236}">
                <a16:creationId xmlns:a16="http://schemas.microsoft.com/office/drawing/2014/main" id="{553DE6F9-E947-49D5-87B9-D3AAB5A3031B}"/>
              </a:ext>
            </a:extLst>
          </p:cNvPr>
          <p:cNvSpPr>
            <a:spLocks xmlns:a="http://schemas.openxmlformats.org/drawingml/2006/main" noGrp="1"/>
          </p:cNvSpPr>
          <p:nvPr/>
        </p:nvSpPr>
        <p:spPr>
          <a:xfrm xmlns:a="http://schemas.openxmlformats.org/drawingml/2006/main">
            <a:off x="6419850" y="3162300"/>
            <a:ext cx="4533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7212B"/>
                </a:solidFill>
              </a:defRPr>
            </a:pPr>
            <a:r>
              <a:rPr sz="1350" b="0">
                <a:solidFill>
                  <a:srgbClr val="17212B"/>
                </a:solidFill>
              </a:rPr>
              <a:t>Reflect on strengths and friction using permitted signals</a:t>
            </a:r>
          </a:p>
        </p:txBody>
      </p:sp>
      <p:sp>
        <p:nvSpPr>
          <p:cNvPr id="18" name="">
            <a:extLst xmlns:a="http://schemas.openxmlformats.org/drawingml/2006/main">
              <a:ext uri="{FF2B5EF4-FFF2-40B4-BE49-F238E27FC236}">
                <a16:creationId xmlns:a16="http://schemas.microsoft.com/office/drawing/2014/main" id="{4260FDBC-201B-451F-9F97-44B71ACE8D2A}"/>
              </a:ext>
            </a:extLst>
          </p:cNvPr>
          <p:cNvSpPr>
            <a:spLocks xmlns:a="http://schemas.openxmlformats.org/drawingml/2006/main" noGrp="1"/>
          </p:cNvSpPr>
          <p:nvPr/>
        </p:nvSpPr>
        <p:spPr>
          <a:xfrm xmlns:a="http://schemas.openxmlformats.org/drawingml/2006/main">
            <a:off x="6191250" y="3790950"/>
            <a:ext cx="17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C45A2A"/>
                </a:solidFill>
              </a:defRPr>
            </a:pPr>
            <a:r>
              <a:rPr sz="1350" b="1">
                <a:solidFill>
                  <a:srgbClr val="C45A2A"/>
                </a:solidFill>
              </a:rPr>
              <a:t>•</a:t>
            </a:r>
          </a:p>
        </p:txBody>
      </p:sp>
      <p:sp>
        <p:nvSpPr>
          <p:cNvPr id="19" name="">
            <a:extLst xmlns:a="http://schemas.openxmlformats.org/drawingml/2006/main">
              <a:ext uri="{FF2B5EF4-FFF2-40B4-BE49-F238E27FC236}">
                <a16:creationId xmlns:a16="http://schemas.microsoft.com/office/drawing/2014/main" id="{97BEA83A-67A6-415C-96A0-43EF75F09C30}"/>
              </a:ext>
            </a:extLst>
          </p:cNvPr>
          <p:cNvSpPr>
            <a:spLocks xmlns:a="http://schemas.openxmlformats.org/drawingml/2006/main" noGrp="1"/>
          </p:cNvSpPr>
          <p:nvPr/>
        </p:nvSpPr>
        <p:spPr>
          <a:xfrm xmlns:a="http://schemas.openxmlformats.org/drawingml/2006/main">
            <a:off x="6419850" y="3790950"/>
            <a:ext cx="4533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7212B"/>
                </a:solidFill>
              </a:defRPr>
            </a:pPr>
            <a:r>
              <a:rPr sz="1350" b="0">
                <a:solidFill>
                  <a:srgbClr val="17212B"/>
                </a:solidFill>
              </a:rPr>
              <a:t>Choose one development focus and practice it safely</a:t>
            </a:r>
          </a:p>
        </p:txBody>
      </p:sp>
      <p:sp>
        <p:nvSpPr>
          <p:cNvPr id="20" name="">
            <a:extLst xmlns:a="http://schemas.openxmlformats.org/drawingml/2006/main">
              <a:ext uri="{FF2B5EF4-FFF2-40B4-BE49-F238E27FC236}">
                <a16:creationId xmlns:a16="http://schemas.microsoft.com/office/drawing/2014/main" id="{4907680C-DB64-4427-92BF-8BA38AFFBDAF}"/>
              </a:ext>
            </a:extLst>
          </p:cNvPr>
          <p:cNvSpPr>
            <a:spLocks xmlns:a="http://schemas.openxmlformats.org/drawingml/2006/main" noGrp="1"/>
          </p:cNvSpPr>
          <p:nvPr/>
        </p:nvSpPr>
        <p:spPr>
          <a:xfrm xmlns:a="http://schemas.openxmlformats.org/drawingml/2006/main">
            <a:off x="6191250" y="4419600"/>
            <a:ext cx="17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C45A2A"/>
                </a:solidFill>
              </a:defRPr>
            </a:pPr>
            <a:r>
              <a:rPr sz="1350" b="1">
                <a:solidFill>
                  <a:srgbClr val="C45A2A"/>
                </a:solidFill>
              </a:rPr>
              <a:t>•</a:t>
            </a:r>
          </a:p>
        </p:txBody>
      </p:sp>
      <p:sp>
        <p:nvSpPr>
          <p:cNvPr id="21" name="">
            <a:extLst xmlns:a="http://schemas.openxmlformats.org/drawingml/2006/main">
              <a:ext uri="{FF2B5EF4-FFF2-40B4-BE49-F238E27FC236}">
                <a16:creationId xmlns:a16="http://schemas.microsoft.com/office/drawing/2014/main" id="{1B23103C-BE0E-4016-B2A1-44EAA5EA90DC}"/>
              </a:ext>
            </a:extLst>
          </p:cNvPr>
          <p:cNvSpPr>
            <a:spLocks xmlns:a="http://schemas.openxmlformats.org/drawingml/2006/main" noGrp="1"/>
          </p:cNvSpPr>
          <p:nvPr/>
        </p:nvSpPr>
        <p:spPr>
          <a:xfrm xmlns:a="http://schemas.openxmlformats.org/drawingml/2006/main">
            <a:off x="6419850" y="4419600"/>
            <a:ext cx="4533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7212B"/>
                </a:solidFill>
              </a:defRPr>
            </a:pPr>
            <a:r>
              <a:rPr sz="1350" b="0">
                <a:solidFill>
                  <a:srgbClr val="17212B"/>
                </a:solidFill>
              </a:rPr>
              <a:t>Apply the learning to a real upcoming relationship or task</a:t>
            </a:r>
          </a:p>
        </p:txBody>
      </p:sp>
      <p:sp>
        <p:nvSpPr>
          <p:cNvPr id="22" name="">
            <a:extLst xmlns:a="http://schemas.openxmlformats.org/drawingml/2006/main">
              <a:ext uri="{FF2B5EF4-FFF2-40B4-BE49-F238E27FC236}">
                <a16:creationId xmlns:a16="http://schemas.microsoft.com/office/drawing/2014/main" id="{C0E987C5-8A4F-4ECF-908B-91269EE2F4DE}"/>
              </a:ext>
            </a:extLst>
          </p:cNvPr>
          <p:cNvSpPr>
            <a:spLocks xmlns:a="http://schemas.openxmlformats.org/drawingml/2006/main" noGrp="1"/>
          </p:cNvSpPr>
          <p:nvPr/>
        </p:nvSpPr>
        <p:spPr>
          <a:xfrm xmlns:a="http://schemas.openxmlformats.org/drawingml/2006/main">
            <a:off x="3429000" y="5905500"/>
            <a:ext cx="533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B6CB0"/>
                </a:solidFill>
              </a:defRPr>
            </a:pPr>
            <a:r>
              <a:rPr sz="1350" b="1">
                <a:solidFill>
                  <a:srgbClr val="2B6CB0"/>
                </a:solidFill>
              </a:rPr>
              <a:t>Your week becomes your curriculum. Development remains private by default.</a:t>
            </a:r>
          </a:p>
        </p:txBody>
      </p:sp>
    </p:spTree>
    <p:extLst>
      <p:ext uri="{BB962C8B-B14F-4D97-AF65-F5344CB8AC3E}">
        <p14:creationId xmlns:p14="http://schemas.microsoft.com/office/powerpoint/2010/main" val="176462197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slide-title">
            <a:extLst xmlns:a="http://schemas.openxmlformats.org/drawingml/2006/main">
              <a:ext uri="{FF2B5EF4-FFF2-40B4-BE49-F238E27FC236}">
                <a16:creationId xmlns:a16="http://schemas.microsoft.com/office/drawing/2014/main" id="{1A3CFB8F-E267-4FCC-B794-DC858E77E4FA}"/>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625" b="1">
                <a:solidFill>
                  <a:srgbClr val="0B1F33"/>
                </a:solidFill>
              </a:defRPr>
            </a:pPr>
            <a:r>
              <a:rPr sz="2625" b="1">
                <a:solidFill>
                  <a:srgbClr val="0B1F33"/>
                </a:solidFill>
              </a:rPr>
              <a:t>Leaders move from reviewing the business to steering it in real time.</a:t>
            </a:r>
          </a:p>
        </p:txBody>
      </p:sp>
      <p:sp>
        <p:nvSpPr>
          <p:cNvPr id="2" name="">
            <a:extLst xmlns:a="http://schemas.openxmlformats.org/drawingml/2006/main">
              <a:ext uri="{FF2B5EF4-FFF2-40B4-BE49-F238E27FC236}">
                <a16:creationId xmlns:a16="http://schemas.microsoft.com/office/drawing/2014/main" id="{CF589E98-1EA5-46BC-AE2F-4B0E5710A40B}"/>
              </a:ext>
            </a:extLst>
          </p:cNvPr>
          <p:cNvSpPr>
            <a:spLocks xmlns:a="http://schemas.openxmlformats.org/drawingml/2006/main" noGrp="1"/>
          </p:cNvSpPr>
          <p:nvPr/>
        </p:nvSpPr>
        <p:spPr>
          <a:xfrm xmlns:a="http://schemas.openxmlformats.org/drawingml/2006/main">
            <a:off x="685800" y="1695450"/>
            <a:ext cx="10820400" cy="19050"/>
          </a:xfrm>
          <a:prstGeom xmlns:a="http://schemas.openxmlformats.org/drawingml/2006/main" prst="rect">
            <a:avLst/>
          </a:prstGeom>
          <a:solidFill xmlns:a="http://schemas.openxmlformats.org/drawingml/2006/main">
            <a:srgbClr val="D8E0E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37CABDE-C519-45F4-BEC8-1F773745D428}"/>
              </a:ext>
            </a:extLst>
          </p:cNvPr>
          <p:cNvSpPr>
            <a:spLocks xmlns:a="http://schemas.openxmlformats.org/drawingml/2006/main" noGrp="1"/>
          </p:cNvSpPr>
          <p:nvPr/>
        </p:nvSpPr>
        <p:spPr>
          <a:xfrm xmlns:a="http://schemas.openxmlformats.org/drawingml/2006/main">
            <a:off x="685800" y="6496050"/>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675" b="1">
                <a:solidFill>
                  <a:srgbClr val="5E6B78"/>
                </a:solidFill>
              </a:defRPr>
            </a:pPr>
            <a:r>
              <a:rPr sz="675" b="1">
                <a:solidFill>
                  <a:srgbClr val="5E6B78"/>
                </a:solidFill>
              </a:rPr>
              <a:t>DISCUSSION DRAFT  |  AUGUST 2026</a:t>
            </a:r>
          </a:p>
        </p:txBody>
      </p:sp>
      <p:sp>
        <p:nvSpPr>
          <p:cNvPr id="4" name="">
            <a:extLst xmlns:a="http://schemas.openxmlformats.org/drawingml/2006/main">
              <a:ext uri="{FF2B5EF4-FFF2-40B4-BE49-F238E27FC236}">
                <a16:creationId xmlns:a16="http://schemas.microsoft.com/office/drawing/2014/main" id="{D065170B-8281-4298-897F-DC1405EA5631}"/>
              </a:ext>
            </a:extLst>
          </p:cNvPr>
          <p:cNvSpPr>
            <a:spLocks xmlns:a="http://schemas.openxmlformats.org/drawingml/2006/main" noGrp="1"/>
          </p:cNvSpPr>
          <p:nvPr/>
        </p:nvSpPr>
        <p:spPr>
          <a:xfrm xmlns:a="http://schemas.openxmlformats.org/drawingml/2006/main">
            <a:off x="10839450" y="6496050"/>
            <a:ext cx="666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675" b="1">
                <a:solidFill>
                  <a:srgbClr val="5E6B78"/>
                </a:solidFill>
              </a:defRPr>
            </a:pPr>
            <a:r>
              <a:rPr sz="675" b="1">
                <a:solidFill>
                  <a:srgbClr val="5E6B78"/>
                </a:solidFill>
              </a:rPr>
              <a:t>11</a:t>
            </a:r>
          </a:p>
        </p:txBody>
      </p:sp>
      <p:sp>
        <p:nvSpPr>
          <p:cNvPr id="5" name="">
            <a:extLst xmlns:a="http://schemas.openxmlformats.org/drawingml/2006/main">
              <a:ext uri="{FF2B5EF4-FFF2-40B4-BE49-F238E27FC236}">
                <a16:creationId xmlns:a16="http://schemas.microsoft.com/office/drawing/2014/main" id="{F1D9D079-9B85-41E5-BEBE-1A3B7646D9FB}"/>
              </a:ext>
            </a:extLst>
          </p:cNvPr>
          <p:cNvSpPr>
            <a:spLocks xmlns:a="http://schemas.openxmlformats.org/drawingml/2006/main" noGrp="1"/>
          </p:cNvSpPr>
          <p:nvPr/>
        </p:nvSpPr>
        <p:spPr>
          <a:xfrm xmlns:a="http://schemas.openxmlformats.org/drawingml/2006/main">
            <a:off x="685800" y="20955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C45A2A"/>
                </a:solidFill>
              </a:defRPr>
            </a:pPr>
            <a:r>
              <a:rPr sz="975" b="1">
                <a:solidFill>
                  <a:srgbClr val="C45A2A"/>
                </a:solidFill>
              </a:rPr>
              <a:t>01</a:t>
            </a:r>
          </a:p>
        </p:txBody>
      </p:sp>
      <p:sp>
        <p:nvSpPr>
          <p:cNvPr id="6" name="">
            <a:extLst xmlns:a="http://schemas.openxmlformats.org/drawingml/2006/main">
              <a:ext uri="{FF2B5EF4-FFF2-40B4-BE49-F238E27FC236}">
                <a16:creationId xmlns:a16="http://schemas.microsoft.com/office/drawing/2014/main" id="{56052CAB-6503-4304-B1E2-DA277CADB431}"/>
              </a:ext>
            </a:extLst>
          </p:cNvPr>
          <p:cNvSpPr>
            <a:spLocks xmlns:a="http://schemas.openxmlformats.org/drawingml/2006/main" noGrp="1"/>
          </p:cNvSpPr>
          <p:nvPr/>
        </p:nvSpPr>
        <p:spPr>
          <a:xfrm xmlns:a="http://schemas.openxmlformats.org/drawingml/2006/main">
            <a:off x="1314450" y="2095500"/>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0B1F33"/>
                </a:solidFill>
              </a:defRPr>
            </a:pPr>
            <a:r>
              <a:rPr sz="1275" b="1">
                <a:solidFill>
                  <a:srgbClr val="0B1F33"/>
                </a:solidFill>
              </a:rPr>
              <a:t>CLIENT DEMAND</a:t>
            </a:r>
          </a:p>
        </p:txBody>
      </p:sp>
      <p:sp>
        <p:nvSpPr>
          <p:cNvPr id="7" name="">
            <a:extLst xmlns:a="http://schemas.openxmlformats.org/drawingml/2006/main">
              <a:ext uri="{FF2B5EF4-FFF2-40B4-BE49-F238E27FC236}">
                <a16:creationId xmlns:a16="http://schemas.microsoft.com/office/drawing/2014/main" id="{BB4FA90D-6075-4828-98CD-52A9BF0C43F4}"/>
              </a:ext>
            </a:extLst>
          </p:cNvPr>
          <p:cNvSpPr>
            <a:spLocks xmlns:a="http://schemas.openxmlformats.org/drawingml/2006/main" noGrp="1"/>
          </p:cNvSpPr>
          <p:nvPr/>
        </p:nvSpPr>
        <p:spPr>
          <a:xfrm xmlns:a="http://schemas.openxmlformats.org/drawingml/2006/main">
            <a:off x="3857625" y="2076450"/>
            <a:ext cx="695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7212B"/>
                </a:solidFill>
              </a:defRPr>
            </a:pPr>
            <a:r>
              <a:rPr sz="1350" b="0">
                <a:solidFill>
                  <a:srgbClr val="17212B"/>
                </a:solidFill>
              </a:rPr>
              <a:t>See emerging needs, questions and opportunities as they develop.</a:t>
            </a:r>
          </a:p>
        </p:txBody>
      </p:sp>
      <p:sp>
        <p:nvSpPr>
          <p:cNvPr id="8" name="">
            <a:extLst xmlns:a="http://schemas.openxmlformats.org/drawingml/2006/main">
              <a:ext uri="{FF2B5EF4-FFF2-40B4-BE49-F238E27FC236}">
                <a16:creationId xmlns:a16="http://schemas.microsoft.com/office/drawing/2014/main" id="{882D8C15-CC34-422E-A12A-76373302D606}"/>
              </a:ext>
            </a:extLst>
          </p:cNvPr>
          <p:cNvSpPr>
            <a:spLocks xmlns:a="http://schemas.openxmlformats.org/drawingml/2006/main" noGrp="1"/>
          </p:cNvSpPr>
          <p:nvPr/>
        </p:nvSpPr>
        <p:spPr>
          <a:xfrm xmlns:a="http://schemas.openxmlformats.org/drawingml/2006/main">
            <a:off x="685800" y="2676525"/>
            <a:ext cx="10134600" cy="9525"/>
          </a:xfrm>
          <a:prstGeom xmlns:a="http://schemas.openxmlformats.org/drawingml/2006/main" prst="rect">
            <a:avLst/>
          </a:prstGeom>
          <a:solidFill xmlns:a="http://schemas.openxmlformats.org/drawingml/2006/main">
            <a:srgbClr val="D8E0E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2D28789-2FD3-48E4-9F43-99E608D9261F}"/>
              </a:ext>
            </a:extLst>
          </p:cNvPr>
          <p:cNvSpPr>
            <a:spLocks xmlns:a="http://schemas.openxmlformats.org/drawingml/2006/main" noGrp="1"/>
          </p:cNvSpPr>
          <p:nvPr/>
        </p:nvSpPr>
        <p:spPr>
          <a:xfrm xmlns:a="http://schemas.openxmlformats.org/drawingml/2006/main">
            <a:off x="685800" y="29337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C45A2A"/>
                </a:solidFill>
              </a:defRPr>
            </a:pPr>
            <a:r>
              <a:rPr sz="975" b="1">
                <a:solidFill>
                  <a:srgbClr val="C45A2A"/>
                </a:solidFill>
              </a:rPr>
              <a:t>02</a:t>
            </a:r>
          </a:p>
        </p:txBody>
      </p:sp>
      <p:sp>
        <p:nvSpPr>
          <p:cNvPr id="10" name="">
            <a:extLst xmlns:a="http://schemas.openxmlformats.org/drawingml/2006/main">
              <a:ext uri="{FF2B5EF4-FFF2-40B4-BE49-F238E27FC236}">
                <a16:creationId xmlns:a16="http://schemas.microsoft.com/office/drawing/2014/main" id="{75E11FCC-7DB9-4946-9D7E-D34C0A81390B}"/>
              </a:ext>
            </a:extLst>
          </p:cNvPr>
          <p:cNvSpPr>
            <a:spLocks xmlns:a="http://schemas.openxmlformats.org/drawingml/2006/main" noGrp="1"/>
          </p:cNvSpPr>
          <p:nvPr/>
        </p:nvSpPr>
        <p:spPr>
          <a:xfrm xmlns:a="http://schemas.openxmlformats.org/drawingml/2006/main">
            <a:off x="1314450" y="2933700"/>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0B1F33"/>
                </a:solidFill>
              </a:defRPr>
            </a:pPr>
            <a:r>
              <a:rPr sz="1275" b="1">
                <a:solidFill>
                  <a:srgbClr val="0B1F33"/>
                </a:solidFill>
              </a:rPr>
              <a:t>FLOW OF WORK</a:t>
            </a:r>
          </a:p>
        </p:txBody>
      </p:sp>
      <p:sp>
        <p:nvSpPr>
          <p:cNvPr id="11" name="">
            <a:extLst xmlns:a="http://schemas.openxmlformats.org/drawingml/2006/main">
              <a:ext uri="{FF2B5EF4-FFF2-40B4-BE49-F238E27FC236}">
                <a16:creationId xmlns:a16="http://schemas.microsoft.com/office/drawing/2014/main" id="{859C779F-B0DD-44B4-A458-B6D2F225ADB6}"/>
              </a:ext>
            </a:extLst>
          </p:cNvPr>
          <p:cNvSpPr>
            <a:spLocks xmlns:a="http://schemas.openxmlformats.org/drawingml/2006/main" noGrp="1"/>
          </p:cNvSpPr>
          <p:nvPr/>
        </p:nvSpPr>
        <p:spPr>
          <a:xfrm xmlns:a="http://schemas.openxmlformats.org/drawingml/2006/main">
            <a:off x="3857625" y="2914650"/>
            <a:ext cx="695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7212B"/>
                </a:solidFill>
              </a:defRPr>
            </a:pPr>
            <a:r>
              <a:rPr sz="1350" b="0">
                <a:solidFill>
                  <a:srgbClr val="17212B"/>
                </a:solidFill>
              </a:rPr>
              <a:t>Identify commitments at risk, bottlenecks, capacity and meaningful exceptions.</a:t>
            </a:r>
          </a:p>
        </p:txBody>
      </p:sp>
      <p:sp>
        <p:nvSpPr>
          <p:cNvPr id="12" name="">
            <a:extLst xmlns:a="http://schemas.openxmlformats.org/drawingml/2006/main">
              <a:ext uri="{FF2B5EF4-FFF2-40B4-BE49-F238E27FC236}">
                <a16:creationId xmlns:a16="http://schemas.microsoft.com/office/drawing/2014/main" id="{605F73D9-4E72-4714-B867-901B8A13D649}"/>
              </a:ext>
            </a:extLst>
          </p:cNvPr>
          <p:cNvSpPr>
            <a:spLocks xmlns:a="http://schemas.openxmlformats.org/drawingml/2006/main" noGrp="1"/>
          </p:cNvSpPr>
          <p:nvPr/>
        </p:nvSpPr>
        <p:spPr>
          <a:xfrm xmlns:a="http://schemas.openxmlformats.org/drawingml/2006/main">
            <a:off x="685800" y="3514725"/>
            <a:ext cx="10134600" cy="9525"/>
          </a:xfrm>
          <a:prstGeom xmlns:a="http://schemas.openxmlformats.org/drawingml/2006/main" prst="rect">
            <a:avLst/>
          </a:prstGeom>
          <a:solidFill xmlns:a="http://schemas.openxmlformats.org/drawingml/2006/main">
            <a:srgbClr val="D8E0E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C98BE62-8891-42A6-9331-3F10909D4242}"/>
              </a:ext>
            </a:extLst>
          </p:cNvPr>
          <p:cNvSpPr>
            <a:spLocks xmlns:a="http://schemas.openxmlformats.org/drawingml/2006/main" noGrp="1"/>
          </p:cNvSpPr>
          <p:nvPr/>
        </p:nvSpPr>
        <p:spPr>
          <a:xfrm xmlns:a="http://schemas.openxmlformats.org/drawingml/2006/main">
            <a:off x="685800" y="37719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C45A2A"/>
                </a:solidFill>
              </a:defRPr>
            </a:pPr>
            <a:r>
              <a:rPr sz="975" b="1">
                <a:solidFill>
                  <a:srgbClr val="C45A2A"/>
                </a:solidFill>
              </a:rPr>
              <a:t>03</a:t>
            </a:r>
          </a:p>
        </p:txBody>
      </p:sp>
      <p:sp>
        <p:nvSpPr>
          <p:cNvPr id="14" name="">
            <a:extLst xmlns:a="http://schemas.openxmlformats.org/drawingml/2006/main">
              <a:ext uri="{FF2B5EF4-FFF2-40B4-BE49-F238E27FC236}">
                <a16:creationId xmlns:a16="http://schemas.microsoft.com/office/drawing/2014/main" id="{91F95DCB-AEE7-4728-8E57-9ECC72B57902}"/>
              </a:ext>
            </a:extLst>
          </p:cNvPr>
          <p:cNvSpPr>
            <a:spLocks xmlns:a="http://schemas.openxmlformats.org/drawingml/2006/main" noGrp="1"/>
          </p:cNvSpPr>
          <p:nvPr/>
        </p:nvSpPr>
        <p:spPr>
          <a:xfrm xmlns:a="http://schemas.openxmlformats.org/drawingml/2006/main">
            <a:off x="1314450" y="3771900"/>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0B1F33"/>
                </a:solidFill>
              </a:defRPr>
            </a:pPr>
            <a:r>
              <a:rPr sz="1275" b="1">
                <a:solidFill>
                  <a:srgbClr val="0B1F33"/>
                </a:solidFill>
              </a:rPr>
              <a:t>CAPABILITY</a:t>
            </a:r>
          </a:p>
        </p:txBody>
      </p:sp>
      <p:sp>
        <p:nvSpPr>
          <p:cNvPr id="15" name="">
            <a:extLst xmlns:a="http://schemas.openxmlformats.org/drawingml/2006/main">
              <a:ext uri="{FF2B5EF4-FFF2-40B4-BE49-F238E27FC236}">
                <a16:creationId xmlns:a16="http://schemas.microsoft.com/office/drawing/2014/main" id="{177211E3-3F9C-48CE-BE8B-FBFC3CC65F72}"/>
              </a:ext>
            </a:extLst>
          </p:cNvPr>
          <p:cNvSpPr>
            <a:spLocks xmlns:a="http://schemas.openxmlformats.org/drawingml/2006/main" noGrp="1"/>
          </p:cNvSpPr>
          <p:nvPr/>
        </p:nvSpPr>
        <p:spPr>
          <a:xfrm xmlns:a="http://schemas.openxmlformats.org/drawingml/2006/main">
            <a:off x="3857625" y="3752850"/>
            <a:ext cx="695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7212B"/>
                </a:solidFill>
              </a:defRPr>
            </a:pPr>
            <a:r>
              <a:rPr sz="1350" b="0">
                <a:solidFill>
                  <a:srgbClr val="17212B"/>
                </a:solidFill>
              </a:rPr>
              <a:t>Allocate expertise, address gaps and turn recurring needs into new skills.</a:t>
            </a:r>
          </a:p>
        </p:txBody>
      </p:sp>
      <p:sp>
        <p:nvSpPr>
          <p:cNvPr id="16" name="">
            <a:extLst xmlns:a="http://schemas.openxmlformats.org/drawingml/2006/main">
              <a:ext uri="{FF2B5EF4-FFF2-40B4-BE49-F238E27FC236}">
                <a16:creationId xmlns:a16="http://schemas.microsoft.com/office/drawing/2014/main" id="{1C551B53-99EE-41D7-BC5C-E179DD492316}"/>
              </a:ext>
            </a:extLst>
          </p:cNvPr>
          <p:cNvSpPr>
            <a:spLocks xmlns:a="http://schemas.openxmlformats.org/drawingml/2006/main" noGrp="1"/>
          </p:cNvSpPr>
          <p:nvPr/>
        </p:nvSpPr>
        <p:spPr>
          <a:xfrm xmlns:a="http://schemas.openxmlformats.org/drawingml/2006/main">
            <a:off x="685800" y="4352925"/>
            <a:ext cx="10134600" cy="9525"/>
          </a:xfrm>
          <a:prstGeom xmlns:a="http://schemas.openxmlformats.org/drawingml/2006/main" prst="rect">
            <a:avLst/>
          </a:prstGeom>
          <a:solidFill xmlns:a="http://schemas.openxmlformats.org/drawingml/2006/main">
            <a:srgbClr val="D8E0E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B3E64EF-605B-46A6-A831-C53DA63CB9F0}"/>
              </a:ext>
            </a:extLst>
          </p:cNvPr>
          <p:cNvSpPr>
            <a:spLocks xmlns:a="http://schemas.openxmlformats.org/drawingml/2006/main" noGrp="1"/>
          </p:cNvSpPr>
          <p:nvPr/>
        </p:nvSpPr>
        <p:spPr>
          <a:xfrm xmlns:a="http://schemas.openxmlformats.org/drawingml/2006/main">
            <a:off x="685800" y="46101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C45A2A"/>
                </a:solidFill>
              </a:defRPr>
            </a:pPr>
            <a:r>
              <a:rPr sz="975" b="1">
                <a:solidFill>
                  <a:srgbClr val="C45A2A"/>
                </a:solidFill>
              </a:rPr>
              <a:t>04</a:t>
            </a:r>
          </a:p>
        </p:txBody>
      </p:sp>
      <p:sp>
        <p:nvSpPr>
          <p:cNvPr id="18" name="">
            <a:extLst xmlns:a="http://schemas.openxmlformats.org/drawingml/2006/main">
              <a:ext uri="{FF2B5EF4-FFF2-40B4-BE49-F238E27FC236}">
                <a16:creationId xmlns:a16="http://schemas.microsoft.com/office/drawing/2014/main" id="{5A30CBC0-CCD7-4825-9BD6-E0BABC82B71C}"/>
              </a:ext>
            </a:extLst>
          </p:cNvPr>
          <p:cNvSpPr>
            <a:spLocks xmlns:a="http://schemas.openxmlformats.org/drawingml/2006/main" noGrp="1"/>
          </p:cNvSpPr>
          <p:nvPr/>
        </p:nvSpPr>
        <p:spPr>
          <a:xfrm xmlns:a="http://schemas.openxmlformats.org/drawingml/2006/main">
            <a:off x="1314450" y="4610100"/>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0B1F33"/>
                </a:solidFill>
              </a:defRPr>
            </a:pPr>
            <a:r>
              <a:rPr sz="1275" b="1">
                <a:solidFill>
                  <a:srgbClr val="0B1F33"/>
                </a:solidFill>
              </a:rPr>
              <a:t>QUALITY + RISK</a:t>
            </a:r>
          </a:p>
        </p:txBody>
      </p:sp>
      <p:sp>
        <p:nvSpPr>
          <p:cNvPr id="19" name="">
            <a:extLst xmlns:a="http://schemas.openxmlformats.org/drawingml/2006/main">
              <a:ext uri="{FF2B5EF4-FFF2-40B4-BE49-F238E27FC236}">
                <a16:creationId xmlns:a16="http://schemas.microsoft.com/office/drawing/2014/main" id="{4EBE8B7B-58C1-44C8-B69F-268DF6541E00}"/>
              </a:ext>
            </a:extLst>
          </p:cNvPr>
          <p:cNvSpPr>
            <a:spLocks xmlns:a="http://schemas.openxmlformats.org/drawingml/2006/main" noGrp="1"/>
          </p:cNvSpPr>
          <p:nvPr/>
        </p:nvSpPr>
        <p:spPr>
          <a:xfrm xmlns:a="http://schemas.openxmlformats.org/drawingml/2006/main">
            <a:off x="3857625" y="4591050"/>
            <a:ext cx="695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7212B"/>
                </a:solidFill>
              </a:defRPr>
            </a:pPr>
            <a:r>
              <a:rPr sz="1350" b="0">
                <a:solidFill>
                  <a:srgbClr val="17212B"/>
                </a:solidFill>
              </a:rPr>
              <a:t>Track adoption, outcomes, economics and control performance together.</a:t>
            </a:r>
          </a:p>
        </p:txBody>
      </p:sp>
      <p:sp>
        <p:nvSpPr>
          <p:cNvPr id="20" name="">
            <a:extLst xmlns:a="http://schemas.openxmlformats.org/drawingml/2006/main">
              <a:ext uri="{FF2B5EF4-FFF2-40B4-BE49-F238E27FC236}">
                <a16:creationId xmlns:a16="http://schemas.microsoft.com/office/drawing/2014/main" id="{6F243B77-37F0-4E0D-A674-5E01AD24867F}"/>
              </a:ext>
            </a:extLst>
          </p:cNvPr>
          <p:cNvSpPr>
            <a:spLocks xmlns:a="http://schemas.openxmlformats.org/drawingml/2006/main" noGrp="1"/>
          </p:cNvSpPr>
          <p:nvPr/>
        </p:nvSpPr>
        <p:spPr>
          <a:xfrm xmlns:a="http://schemas.openxmlformats.org/drawingml/2006/main">
            <a:off x="685800" y="5191125"/>
            <a:ext cx="10134600" cy="9525"/>
          </a:xfrm>
          <a:prstGeom xmlns:a="http://schemas.openxmlformats.org/drawingml/2006/main" prst="rect">
            <a:avLst/>
          </a:prstGeom>
          <a:solidFill xmlns:a="http://schemas.openxmlformats.org/drawingml/2006/main">
            <a:srgbClr val="D8E0E7"/>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59DF565B-4993-4B57-93B4-16BB2F3C76EF}"/>
              </a:ext>
            </a:extLst>
          </p:cNvPr>
          <p:cNvSpPr>
            <a:spLocks xmlns:a="http://schemas.openxmlformats.org/drawingml/2006/main" noGrp="1"/>
          </p:cNvSpPr>
          <p:nvPr/>
        </p:nvSpPr>
        <p:spPr>
          <a:xfrm xmlns:a="http://schemas.openxmlformats.org/drawingml/2006/main">
            <a:off x="1238250" y="5810250"/>
            <a:ext cx="971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1F33"/>
                </a:solidFill>
              </a:defRPr>
            </a:pPr>
            <a:r>
              <a:rPr sz="2100" b="1">
                <a:solidFill>
                  <a:srgbClr val="0B1F33"/>
                </a:solidFill>
              </a:rPr>
              <a:t>Earlier support and better management, not surveillance.</a:t>
            </a:r>
          </a:p>
        </p:txBody>
      </p:sp>
    </p:spTree>
    <p:extLst>
      <p:ext uri="{BB962C8B-B14F-4D97-AF65-F5344CB8AC3E}">
        <p14:creationId xmlns:p14="http://schemas.microsoft.com/office/powerpoint/2010/main" val="2001340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slide-title">
            <a:extLst xmlns:a="http://schemas.openxmlformats.org/drawingml/2006/main">
              <a:ext uri="{FF2B5EF4-FFF2-40B4-BE49-F238E27FC236}">
                <a16:creationId xmlns:a16="http://schemas.microsoft.com/office/drawing/2014/main" id="{3B76F061-E21A-4E28-AEE8-3F6EDFD3BDB9}"/>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625" b="1">
                <a:solidFill>
                  <a:srgbClr val="0B1F33"/>
                </a:solidFill>
              </a:defRPr>
            </a:pPr>
            <a:r>
              <a:rPr sz="2625" b="1">
                <a:solidFill>
                  <a:srgbClr val="0B1F33"/>
                </a:solidFill>
              </a:rPr>
              <a:t>Coach orchestrates. The Client Agent remembers. The bank executes.</a:t>
            </a:r>
          </a:p>
        </p:txBody>
      </p:sp>
      <p:sp>
        <p:nvSpPr>
          <p:cNvPr id="2" name="">
            <a:extLst xmlns:a="http://schemas.openxmlformats.org/drawingml/2006/main">
              <a:ext uri="{FF2B5EF4-FFF2-40B4-BE49-F238E27FC236}">
                <a16:creationId xmlns:a16="http://schemas.microsoft.com/office/drawing/2014/main" id="{4A9CA87F-8216-4123-9EE1-67524165E21B}"/>
              </a:ext>
            </a:extLst>
          </p:cNvPr>
          <p:cNvSpPr>
            <a:spLocks xmlns:a="http://schemas.openxmlformats.org/drawingml/2006/main" noGrp="1"/>
          </p:cNvSpPr>
          <p:nvPr/>
        </p:nvSpPr>
        <p:spPr>
          <a:xfrm xmlns:a="http://schemas.openxmlformats.org/drawingml/2006/main">
            <a:off x="685800" y="1695450"/>
            <a:ext cx="10820400" cy="19050"/>
          </a:xfrm>
          <a:prstGeom xmlns:a="http://schemas.openxmlformats.org/drawingml/2006/main" prst="rect">
            <a:avLst/>
          </a:prstGeom>
          <a:solidFill xmlns:a="http://schemas.openxmlformats.org/drawingml/2006/main">
            <a:srgbClr val="D8E0E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B15196A-C52C-4245-9671-B503A01DC034}"/>
              </a:ext>
            </a:extLst>
          </p:cNvPr>
          <p:cNvSpPr>
            <a:spLocks xmlns:a="http://schemas.openxmlformats.org/drawingml/2006/main" noGrp="1"/>
          </p:cNvSpPr>
          <p:nvPr/>
        </p:nvSpPr>
        <p:spPr>
          <a:xfrm xmlns:a="http://schemas.openxmlformats.org/drawingml/2006/main">
            <a:off x="685800" y="6496050"/>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675" b="1">
                <a:solidFill>
                  <a:srgbClr val="5E6B78"/>
                </a:solidFill>
              </a:defRPr>
            </a:pPr>
            <a:r>
              <a:rPr sz="675" b="1">
                <a:solidFill>
                  <a:srgbClr val="5E6B78"/>
                </a:solidFill>
              </a:rPr>
              <a:t>DISCUSSION DRAFT  |  AUGUST 2026</a:t>
            </a:r>
          </a:p>
        </p:txBody>
      </p:sp>
      <p:sp>
        <p:nvSpPr>
          <p:cNvPr id="4" name="">
            <a:extLst xmlns:a="http://schemas.openxmlformats.org/drawingml/2006/main">
              <a:ext uri="{FF2B5EF4-FFF2-40B4-BE49-F238E27FC236}">
                <a16:creationId xmlns:a16="http://schemas.microsoft.com/office/drawing/2014/main" id="{CD0365AF-25D3-4917-BC87-2618DCC82AB5}"/>
              </a:ext>
            </a:extLst>
          </p:cNvPr>
          <p:cNvSpPr>
            <a:spLocks xmlns:a="http://schemas.openxmlformats.org/drawingml/2006/main" noGrp="1"/>
          </p:cNvSpPr>
          <p:nvPr/>
        </p:nvSpPr>
        <p:spPr>
          <a:xfrm xmlns:a="http://schemas.openxmlformats.org/drawingml/2006/main">
            <a:off x="10839450" y="6496050"/>
            <a:ext cx="666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675" b="1">
                <a:solidFill>
                  <a:srgbClr val="5E6B78"/>
                </a:solidFill>
              </a:defRPr>
            </a:pPr>
            <a:r>
              <a:rPr sz="675" b="1">
                <a:solidFill>
                  <a:srgbClr val="5E6B78"/>
                </a:solidFill>
              </a:rPr>
              <a:t>12</a:t>
            </a:r>
          </a:p>
        </p:txBody>
      </p:sp>
      <p:sp>
        <p:nvSpPr>
          <p:cNvPr id="5" name="">
            <a:extLst xmlns:a="http://schemas.openxmlformats.org/drawingml/2006/main">
              <a:ext uri="{FF2B5EF4-FFF2-40B4-BE49-F238E27FC236}">
                <a16:creationId xmlns:a16="http://schemas.microsoft.com/office/drawing/2014/main" id="{AA7BB70E-6E45-4C86-8C17-2B23D1AFAFD4}"/>
              </a:ext>
            </a:extLst>
          </p:cNvPr>
          <p:cNvSpPr>
            <a:spLocks xmlns:a="http://schemas.openxmlformats.org/drawingml/2006/main" noGrp="1"/>
          </p:cNvSpPr>
          <p:nvPr/>
        </p:nvSpPr>
        <p:spPr>
          <a:xfrm xmlns:a="http://schemas.openxmlformats.org/drawingml/2006/main">
            <a:off x="685800" y="21431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C45A2A"/>
                </a:solidFill>
              </a:defRPr>
            </a:pPr>
            <a:r>
              <a:rPr sz="975" b="1">
                <a:solidFill>
                  <a:srgbClr val="C45A2A"/>
                </a:solidFill>
              </a:rPr>
              <a:t>SHARED INPUTS</a:t>
            </a:r>
          </a:p>
        </p:txBody>
      </p:sp>
      <p:sp>
        <p:nvSpPr>
          <p:cNvPr id="6" name="">
            <a:extLst xmlns:a="http://schemas.openxmlformats.org/drawingml/2006/main">
              <a:ext uri="{FF2B5EF4-FFF2-40B4-BE49-F238E27FC236}">
                <a16:creationId xmlns:a16="http://schemas.microsoft.com/office/drawing/2014/main" id="{BB39EBB8-9068-4E8A-BCB7-13324F4CB1D8}"/>
              </a:ext>
            </a:extLst>
          </p:cNvPr>
          <p:cNvSpPr>
            <a:spLocks xmlns:a="http://schemas.openxmlformats.org/drawingml/2006/main" noGrp="1"/>
          </p:cNvSpPr>
          <p:nvPr/>
        </p:nvSpPr>
        <p:spPr>
          <a:xfrm xmlns:a="http://schemas.openxmlformats.org/drawingml/2006/main">
            <a:off x="685800" y="2552700"/>
            <a:ext cx="1952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17212B"/>
                </a:solidFill>
              </a:defRPr>
            </a:pPr>
            <a:r>
              <a:rPr sz="1275" b="1">
                <a:solidFill>
                  <a:srgbClr val="17212B"/>
                </a:solidFill>
              </a:rPr>
              <a:t>Experiences and channels</a:t>
            </a:r>
          </a:p>
        </p:txBody>
      </p:sp>
      <p:sp>
        <p:nvSpPr>
          <p:cNvPr id="7" name="">
            <a:extLst xmlns:a="http://schemas.openxmlformats.org/drawingml/2006/main">
              <a:ext uri="{FF2B5EF4-FFF2-40B4-BE49-F238E27FC236}">
                <a16:creationId xmlns:a16="http://schemas.microsoft.com/office/drawing/2014/main" id="{41F20ABE-B093-4672-9CAC-E408AC5999B1}"/>
              </a:ext>
            </a:extLst>
          </p:cNvPr>
          <p:cNvSpPr>
            <a:spLocks xmlns:a="http://schemas.openxmlformats.org/drawingml/2006/main" noGrp="1"/>
          </p:cNvSpPr>
          <p:nvPr/>
        </p:nvSpPr>
        <p:spPr>
          <a:xfrm xmlns:a="http://schemas.openxmlformats.org/drawingml/2006/main">
            <a:off x="685800" y="3019425"/>
            <a:ext cx="1952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17212B"/>
                </a:solidFill>
              </a:defRPr>
            </a:pPr>
            <a:r>
              <a:rPr sz="1275" b="0">
                <a:solidFill>
                  <a:srgbClr val="17212B"/>
                </a:solidFill>
              </a:rPr>
              <a:t>Data and permitted events</a:t>
            </a:r>
          </a:p>
        </p:txBody>
      </p:sp>
      <p:sp>
        <p:nvSpPr>
          <p:cNvPr id="8" name="">
            <a:extLst xmlns:a="http://schemas.openxmlformats.org/drawingml/2006/main">
              <a:ext uri="{FF2B5EF4-FFF2-40B4-BE49-F238E27FC236}">
                <a16:creationId xmlns:a16="http://schemas.microsoft.com/office/drawing/2014/main" id="{B6B30107-8ECD-45AC-853C-F22A2B98B82C}"/>
              </a:ext>
            </a:extLst>
          </p:cNvPr>
          <p:cNvSpPr>
            <a:spLocks xmlns:a="http://schemas.openxmlformats.org/drawingml/2006/main" noGrp="1"/>
          </p:cNvSpPr>
          <p:nvPr/>
        </p:nvSpPr>
        <p:spPr>
          <a:xfrm xmlns:a="http://schemas.openxmlformats.org/drawingml/2006/main">
            <a:off x="685800" y="3486150"/>
            <a:ext cx="1952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17212B"/>
                </a:solidFill>
              </a:defRPr>
            </a:pPr>
            <a:r>
              <a:rPr sz="1275" b="0">
                <a:solidFill>
                  <a:srgbClr val="17212B"/>
                </a:solidFill>
              </a:rPr>
              <a:t>Certified skills and specialists</a:t>
            </a:r>
          </a:p>
        </p:txBody>
      </p:sp>
      <p:sp>
        <p:nvSpPr>
          <p:cNvPr id="9" name="">
            <a:extLst xmlns:a="http://schemas.openxmlformats.org/drawingml/2006/main">
              <a:ext uri="{FF2B5EF4-FFF2-40B4-BE49-F238E27FC236}">
                <a16:creationId xmlns:a16="http://schemas.microsoft.com/office/drawing/2014/main" id="{40682BB1-5D8F-4A61-BD3B-70710C7DEA0D}"/>
              </a:ext>
            </a:extLst>
          </p:cNvPr>
          <p:cNvSpPr>
            <a:spLocks xmlns:a="http://schemas.openxmlformats.org/drawingml/2006/main" noGrp="1"/>
          </p:cNvSpPr>
          <p:nvPr/>
        </p:nvSpPr>
        <p:spPr>
          <a:xfrm xmlns:a="http://schemas.openxmlformats.org/drawingml/2006/main">
            <a:off x="685800" y="3952875"/>
            <a:ext cx="1952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17212B"/>
                </a:solidFill>
              </a:defRPr>
            </a:pPr>
            <a:r>
              <a:rPr sz="1275" b="0">
                <a:solidFill>
                  <a:srgbClr val="17212B"/>
                </a:solidFill>
              </a:rPr>
              <a:t>Systems of record</a:t>
            </a:r>
          </a:p>
        </p:txBody>
      </p:sp>
      <p:sp>
        <p:nvSpPr>
          <p:cNvPr id="10" name="">
            <a:extLst xmlns:a="http://schemas.openxmlformats.org/drawingml/2006/main">
              <a:ext uri="{FF2B5EF4-FFF2-40B4-BE49-F238E27FC236}">
                <a16:creationId xmlns:a16="http://schemas.microsoft.com/office/drawing/2014/main" id="{A66F97BC-5B95-4EF5-91DC-B15BA91E318F}"/>
              </a:ext>
            </a:extLst>
          </p:cNvPr>
          <p:cNvSpPr>
            <a:spLocks xmlns:a="http://schemas.openxmlformats.org/drawingml/2006/main" noGrp="1"/>
          </p:cNvSpPr>
          <p:nvPr/>
        </p:nvSpPr>
        <p:spPr>
          <a:xfrm xmlns:a="http://schemas.openxmlformats.org/drawingml/2006/main">
            <a:off x="2743200" y="3086100"/>
            <a:ext cx="523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6CB4EE"/>
                </a:solidFill>
              </a:defRPr>
            </a:pPr>
            <a:r>
              <a:rPr sz="2550" b="1">
                <a:solidFill>
                  <a:srgbClr val="6CB4EE"/>
                </a:solidFill>
              </a:rPr>
              <a:t>→</a:t>
            </a:r>
          </a:p>
        </p:txBody>
      </p:sp>
      <p:sp>
        <p:nvSpPr>
          <p:cNvPr id="11" name="">
            <a:extLst xmlns:a="http://schemas.openxmlformats.org/drawingml/2006/main">
              <a:ext uri="{FF2B5EF4-FFF2-40B4-BE49-F238E27FC236}">
                <a16:creationId xmlns:a16="http://schemas.microsoft.com/office/drawing/2014/main" id="{514ACE29-0273-4340-97B8-48528AEB914C}"/>
              </a:ext>
            </a:extLst>
          </p:cNvPr>
          <p:cNvSpPr>
            <a:spLocks xmlns:a="http://schemas.openxmlformats.org/drawingml/2006/main" noGrp="1"/>
          </p:cNvSpPr>
          <p:nvPr/>
        </p:nvSpPr>
        <p:spPr>
          <a:xfrm xmlns:a="http://schemas.openxmlformats.org/drawingml/2006/main">
            <a:off x="3333750" y="2190750"/>
            <a:ext cx="3143250" cy="2381250"/>
          </a:xfrm>
          <a:prstGeom xmlns:a="http://schemas.openxmlformats.org/drawingml/2006/main" prst="roundRect">
            <a:avLst>
              <a:gd name="adj" fmla="val 4800"/>
            </a:avLst>
          </a:prstGeom>
          <a:solidFill xmlns:a="http://schemas.openxmlformats.org/drawingml/2006/main">
            <a:srgbClr val="EAF2F8"/>
          </a:solidFill>
          <a:ln xmlns:a="http://schemas.openxmlformats.org/drawingml/2006/main" w="9525">
            <a:solidFill>
              <a:srgbClr val="D8E0E7"/>
            </a:solidFill>
            <a:prstDash val="solid"/>
          </a:ln>
        </p:spPr>
      </p:sp>
      <p:sp>
        <p:nvSpPr>
          <p:cNvPr id="12" name="">
            <a:extLst xmlns:a="http://schemas.openxmlformats.org/drawingml/2006/main">
              <a:ext uri="{FF2B5EF4-FFF2-40B4-BE49-F238E27FC236}">
                <a16:creationId xmlns:a16="http://schemas.microsoft.com/office/drawing/2014/main" id="{57141932-B7AA-4328-99FA-09653E0A49D8}"/>
              </a:ext>
            </a:extLst>
          </p:cNvPr>
          <p:cNvSpPr>
            <a:spLocks xmlns:a="http://schemas.openxmlformats.org/drawingml/2006/main" noGrp="1"/>
          </p:cNvSpPr>
          <p:nvPr/>
        </p:nvSpPr>
        <p:spPr>
          <a:xfrm xmlns:a="http://schemas.openxmlformats.org/drawingml/2006/main">
            <a:off x="3667125" y="2476500"/>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2B6CB0"/>
                </a:solidFill>
              </a:defRPr>
            </a:pPr>
            <a:r>
              <a:rPr sz="975" b="1">
                <a:solidFill>
                  <a:srgbClr val="2B6CB0"/>
                </a:solidFill>
              </a:rPr>
              <a:t>COACH</a:t>
            </a:r>
          </a:p>
        </p:txBody>
      </p:sp>
      <p:sp>
        <p:nvSpPr>
          <p:cNvPr id="13" name="">
            <a:extLst xmlns:a="http://schemas.openxmlformats.org/drawingml/2006/main">
              <a:ext uri="{FF2B5EF4-FFF2-40B4-BE49-F238E27FC236}">
                <a16:creationId xmlns:a16="http://schemas.microsoft.com/office/drawing/2014/main" id="{48C2A44A-9335-4F56-9CBB-B70F4F715029}"/>
              </a:ext>
            </a:extLst>
          </p:cNvPr>
          <p:cNvSpPr>
            <a:spLocks xmlns:a="http://schemas.openxmlformats.org/drawingml/2006/main" noGrp="1"/>
          </p:cNvSpPr>
          <p:nvPr/>
        </p:nvSpPr>
        <p:spPr>
          <a:xfrm xmlns:a="http://schemas.openxmlformats.org/drawingml/2006/main">
            <a:off x="3667125" y="2914650"/>
            <a:ext cx="24765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a:solidFill>
                  <a:srgbClr val="0B1F33"/>
                </a:solidFill>
              </a:defRPr>
            </a:pPr>
            <a:r>
              <a:rPr sz="1425" b="1">
                <a:solidFill>
                  <a:srgbClr val="0B1F33"/>
                </a:solidFill>
              </a:rPr>
              <a:t>Understands intent</a:t>
            </a:r>
          </a:p>
          <a:p xmlns:a="http://schemas.openxmlformats.org/drawingml/2006/main">
            <a:pPr algn="ctr">
              <a:buNone/>
              <a:defRPr sz="1425" b="1">
                <a:solidFill>
                  <a:srgbClr val="0B1F33"/>
                </a:solidFill>
              </a:defRPr>
            </a:pPr>
            <a:r>
              <a:rPr sz="1425" b="1">
                <a:solidFill>
                  <a:srgbClr val="0B1F33"/>
                </a:solidFill>
              </a:rPr>
              <a:t>Builds permitted context</a:t>
            </a:r>
          </a:p>
          <a:p xmlns:a="http://schemas.openxmlformats.org/drawingml/2006/main">
            <a:pPr algn="ctr">
              <a:buNone/>
              <a:defRPr sz="1425" b="1">
                <a:solidFill>
                  <a:srgbClr val="0B1F33"/>
                </a:solidFill>
              </a:defRPr>
            </a:pPr>
            <a:r>
              <a:rPr sz="1425" b="1">
                <a:solidFill>
                  <a:srgbClr val="0B1F33"/>
                </a:solidFill>
              </a:rPr>
              <a:t>Selects skills and agents</a:t>
            </a:r>
          </a:p>
          <a:p xmlns:a="http://schemas.openxmlformats.org/drawingml/2006/main">
            <a:pPr algn="ctr">
              <a:buNone/>
              <a:defRPr sz="1425" b="1">
                <a:solidFill>
                  <a:srgbClr val="0B1F33"/>
                </a:solidFill>
              </a:defRPr>
            </a:pPr>
            <a:r>
              <a:rPr sz="1425" b="1">
                <a:solidFill>
                  <a:srgbClr val="0B1F33"/>
                </a:solidFill>
              </a:rPr>
              <a:t>Creates the needed workspace</a:t>
            </a:r>
          </a:p>
          <a:p xmlns:a="http://schemas.openxmlformats.org/drawingml/2006/main">
            <a:pPr algn="ctr">
              <a:buNone/>
              <a:defRPr sz="1425" b="1">
                <a:solidFill>
                  <a:srgbClr val="0B1F33"/>
                </a:solidFill>
              </a:defRPr>
            </a:pPr>
            <a:r>
              <a:rPr sz="1425" b="1">
                <a:solidFill>
                  <a:srgbClr val="0B1F33"/>
                </a:solidFill>
              </a:rPr>
              <a:t>Routes answer or action</a:t>
            </a:r>
          </a:p>
        </p:txBody>
      </p:sp>
      <p:sp>
        <p:nvSpPr>
          <p:cNvPr id="14" name="">
            <a:extLst xmlns:a="http://schemas.openxmlformats.org/drawingml/2006/main">
              <a:ext uri="{FF2B5EF4-FFF2-40B4-BE49-F238E27FC236}">
                <a16:creationId xmlns:a16="http://schemas.microsoft.com/office/drawing/2014/main" id="{FD2DE369-2D45-4D16-8B31-2A6EE75712E4}"/>
              </a:ext>
            </a:extLst>
          </p:cNvPr>
          <p:cNvSpPr>
            <a:spLocks xmlns:a="http://schemas.openxmlformats.org/drawingml/2006/main" noGrp="1"/>
          </p:cNvSpPr>
          <p:nvPr/>
        </p:nvSpPr>
        <p:spPr>
          <a:xfrm xmlns:a="http://schemas.openxmlformats.org/drawingml/2006/main">
            <a:off x="6610350" y="3086100"/>
            <a:ext cx="523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6CB4EE"/>
                </a:solidFill>
              </a:defRPr>
            </a:pPr>
            <a:r>
              <a:rPr sz="2550" b="1">
                <a:solidFill>
                  <a:srgbClr val="6CB4EE"/>
                </a:solidFill>
              </a:rPr>
              <a:t>→</a:t>
            </a:r>
          </a:p>
        </p:txBody>
      </p:sp>
      <p:sp>
        <p:nvSpPr>
          <p:cNvPr id="15" name="">
            <a:extLst xmlns:a="http://schemas.openxmlformats.org/drawingml/2006/main">
              <a:ext uri="{FF2B5EF4-FFF2-40B4-BE49-F238E27FC236}">
                <a16:creationId xmlns:a16="http://schemas.microsoft.com/office/drawing/2014/main" id="{D823A6B0-E57E-406C-8513-5622454D3708}"/>
              </a:ext>
            </a:extLst>
          </p:cNvPr>
          <p:cNvSpPr>
            <a:spLocks xmlns:a="http://schemas.openxmlformats.org/drawingml/2006/main" noGrp="1"/>
          </p:cNvSpPr>
          <p:nvPr/>
        </p:nvSpPr>
        <p:spPr>
          <a:xfrm xmlns:a="http://schemas.openxmlformats.org/drawingml/2006/main">
            <a:off x="7239000" y="2190750"/>
            <a:ext cx="4000500" cy="2381250"/>
          </a:xfrm>
          <a:prstGeom xmlns:a="http://schemas.openxmlformats.org/drawingml/2006/main" prst="roundRect">
            <a:avLst>
              <a:gd name="adj" fmla="val 4800"/>
            </a:avLst>
          </a:prstGeom>
          <a:solidFill xmlns:a="http://schemas.openxmlformats.org/drawingml/2006/main">
            <a:srgbClr val="0B1F33"/>
          </a:solidFill>
          <a:ln xmlns:a="http://schemas.openxmlformats.org/drawingml/2006/main" w="9525">
            <a:solidFill>
              <a:srgbClr val="0B1F33"/>
            </a:solidFill>
            <a:prstDash val="solid"/>
          </a:ln>
        </p:spPr>
      </p:sp>
      <p:sp>
        <p:nvSpPr>
          <p:cNvPr id="16" name="">
            <a:extLst xmlns:a="http://schemas.openxmlformats.org/drawingml/2006/main">
              <a:ext uri="{FF2B5EF4-FFF2-40B4-BE49-F238E27FC236}">
                <a16:creationId xmlns:a16="http://schemas.microsoft.com/office/drawing/2014/main" id="{D72E5ED7-7AEE-4FDC-8FC3-08C711CEFEFF}"/>
              </a:ext>
            </a:extLst>
          </p:cNvPr>
          <p:cNvSpPr>
            <a:spLocks xmlns:a="http://schemas.openxmlformats.org/drawingml/2006/main" noGrp="1"/>
          </p:cNvSpPr>
          <p:nvPr/>
        </p:nvSpPr>
        <p:spPr>
          <a:xfrm xmlns:a="http://schemas.openxmlformats.org/drawingml/2006/main">
            <a:off x="7620000" y="2476500"/>
            <a:ext cx="3238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6CB4EE"/>
                </a:solidFill>
              </a:defRPr>
            </a:pPr>
            <a:r>
              <a:rPr sz="975" b="1">
                <a:solidFill>
                  <a:srgbClr val="6CB4EE"/>
                </a:solidFill>
              </a:rPr>
              <a:t>CLIENT AGENT + ACTION CENTER</a:t>
            </a:r>
          </a:p>
        </p:txBody>
      </p:sp>
      <p:sp>
        <p:nvSpPr>
          <p:cNvPr id="17" name="">
            <a:extLst xmlns:a="http://schemas.openxmlformats.org/drawingml/2006/main">
              <a:ext uri="{FF2B5EF4-FFF2-40B4-BE49-F238E27FC236}">
                <a16:creationId xmlns:a16="http://schemas.microsoft.com/office/drawing/2014/main" id="{B2CDA711-5A76-4F1E-A471-22B8DE778AEF}"/>
              </a:ext>
            </a:extLst>
          </p:cNvPr>
          <p:cNvSpPr>
            <a:spLocks xmlns:a="http://schemas.openxmlformats.org/drawingml/2006/main" noGrp="1"/>
          </p:cNvSpPr>
          <p:nvPr/>
        </p:nvSpPr>
        <p:spPr>
          <a:xfrm xmlns:a="http://schemas.openxmlformats.org/drawingml/2006/main">
            <a:off x="7620000" y="29527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FFFFFF"/>
                </a:solidFill>
              </a:defRPr>
            </a:pPr>
            <a:r>
              <a:rPr sz="1575" b="1">
                <a:solidFill>
                  <a:srgbClr val="FFFFFF"/>
                </a:solidFill>
              </a:rPr>
              <a:t>Carries relationship memory</a:t>
            </a:r>
          </a:p>
          <a:p xmlns:a="http://schemas.openxmlformats.org/drawingml/2006/main">
            <a:pPr algn="ctr">
              <a:buNone/>
              <a:defRPr sz="1575" b="1">
                <a:solidFill>
                  <a:srgbClr val="FFFFFF"/>
                </a:solidFill>
              </a:defRPr>
            </a:pPr>
            <a:r>
              <a:rPr sz="1575" b="1">
                <a:solidFill>
                  <a:srgbClr val="FFFFFF"/>
                </a:solidFill>
              </a:rPr>
              <a:t>Maintains commitments</a:t>
            </a:r>
          </a:p>
          <a:p xmlns:a="http://schemas.openxmlformats.org/drawingml/2006/main">
            <a:pPr algn="ctr">
              <a:buNone/>
              <a:defRPr sz="1575" b="1">
                <a:solidFill>
                  <a:srgbClr val="FFFFFF"/>
                </a:solidFill>
              </a:defRPr>
            </a:pPr>
            <a:r>
              <a:rPr sz="1575" b="1">
                <a:solidFill>
                  <a:srgbClr val="FFFFFF"/>
                </a:solidFill>
              </a:rPr>
              <a:t>Applies approvals and controls</a:t>
            </a:r>
          </a:p>
          <a:p xmlns:a="http://schemas.openxmlformats.org/drawingml/2006/main">
            <a:pPr algn="ctr">
              <a:buNone/>
              <a:defRPr sz="1575" b="1">
                <a:solidFill>
                  <a:srgbClr val="FFFFFF"/>
                </a:solidFill>
              </a:defRPr>
            </a:pPr>
            <a:r>
              <a:rPr sz="1575" b="1">
                <a:solidFill>
                  <a:srgbClr val="FFFFFF"/>
                </a:solidFill>
              </a:rPr>
              <a:t>Moves work into execution</a:t>
            </a:r>
          </a:p>
        </p:txBody>
      </p:sp>
      <p:sp>
        <p:nvSpPr>
          <p:cNvPr id="18" name="">
            <a:extLst xmlns:a="http://schemas.openxmlformats.org/drawingml/2006/main">
              <a:ext uri="{FF2B5EF4-FFF2-40B4-BE49-F238E27FC236}">
                <a16:creationId xmlns:a16="http://schemas.microsoft.com/office/drawing/2014/main" id="{A585EB82-7E03-432E-85F6-3856B1409211}"/>
              </a:ext>
            </a:extLst>
          </p:cNvPr>
          <p:cNvSpPr>
            <a:spLocks xmlns:a="http://schemas.openxmlformats.org/drawingml/2006/main" noGrp="1"/>
          </p:cNvSpPr>
          <p:nvPr/>
        </p:nvSpPr>
        <p:spPr>
          <a:xfrm xmlns:a="http://schemas.openxmlformats.org/drawingml/2006/main">
            <a:off x="685800" y="5038725"/>
            <a:ext cx="10553700" cy="9525"/>
          </a:xfrm>
          <a:prstGeom xmlns:a="http://schemas.openxmlformats.org/drawingml/2006/main" prst="rect">
            <a:avLst/>
          </a:prstGeom>
          <a:solidFill xmlns:a="http://schemas.openxmlformats.org/drawingml/2006/main">
            <a:srgbClr val="D8E0E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C0ABC66-14AC-449F-941F-9C119A95E657}"/>
              </a:ext>
            </a:extLst>
          </p:cNvPr>
          <p:cNvSpPr>
            <a:spLocks xmlns:a="http://schemas.openxmlformats.org/drawingml/2006/main" noGrp="1"/>
          </p:cNvSpPr>
          <p:nvPr/>
        </p:nvSpPr>
        <p:spPr>
          <a:xfrm xmlns:a="http://schemas.openxmlformats.org/drawingml/2006/main">
            <a:off x="952500" y="5353050"/>
            <a:ext cx="100203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17212B"/>
                </a:solidFill>
              </a:defRPr>
            </a:pPr>
            <a:r>
              <a:rPr sz="1500" b="1">
                <a:solidFill>
                  <a:srgbClr val="17212B"/>
                </a:solidFill>
              </a:rPr>
              <a:t>Hive senses the franchise. Identity, permissions, evidence, suitability, monitoring and audit run through every layer.</a:t>
            </a:r>
          </a:p>
        </p:txBody>
      </p:sp>
    </p:spTree>
    <p:extLst>
      <p:ext uri="{BB962C8B-B14F-4D97-AF65-F5344CB8AC3E}">
        <p14:creationId xmlns:p14="http://schemas.microsoft.com/office/powerpoint/2010/main" val="188279161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slide-title">
            <a:extLst xmlns:a="http://schemas.openxmlformats.org/drawingml/2006/main">
              <a:ext uri="{FF2B5EF4-FFF2-40B4-BE49-F238E27FC236}">
                <a16:creationId xmlns:a16="http://schemas.microsoft.com/office/drawing/2014/main" id="{1A3CFB8F-E267-4FCC-B794-DC858E77E4FA}"/>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625" b="1">
                <a:solidFill>
                  <a:srgbClr val="0B1F33"/>
                </a:solidFill>
              </a:defRPr>
            </a:pPr>
            <a:r>
              <a:rPr sz="2625" b="1">
                <a:solidFill>
                  <a:srgbClr val="0B1F33"/>
                </a:solidFill>
              </a:rPr>
              <a:t>Autonomy expands only as trust is earned.</a:t>
            </a:r>
          </a:p>
        </p:txBody>
      </p:sp>
      <p:sp>
        <p:nvSpPr>
          <p:cNvPr id="2" name="">
            <a:extLst xmlns:a="http://schemas.openxmlformats.org/drawingml/2006/main">
              <a:ext uri="{FF2B5EF4-FFF2-40B4-BE49-F238E27FC236}">
                <a16:creationId xmlns:a16="http://schemas.microsoft.com/office/drawing/2014/main" id="{CF589E98-1EA5-46BC-AE2F-4B0E5710A40B}"/>
              </a:ext>
            </a:extLst>
          </p:cNvPr>
          <p:cNvSpPr>
            <a:spLocks xmlns:a="http://schemas.openxmlformats.org/drawingml/2006/main" noGrp="1"/>
          </p:cNvSpPr>
          <p:nvPr/>
        </p:nvSpPr>
        <p:spPr>
          <a:xfrm xmlns:a="http://schemas.openxmlformats.org/drawingml/2006/main">
            <a:off x="685800" y="1695450"/>
            <a:ext cx="10820400" cy="19050"/>
          </a:xfrm>
          <a:prstGeom xmlns:a="http://schemas.openxmlformats.org/drawingml/2006/main" prst="rect">
            <a:avLst/>
          </a:prstGeom>
          <a:solidFill xmlns:a="http://schemas.openxmlformats.org/drawingml/2006/main">
            <a:srgbClr val="D8E0E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37CABDE-C519-45F4-BEC8-1F773745D428}"/>
              </a:ext>
            </a:extLst>
          </p:cNvPr>
          <p:cNvSpPr>
            <a:spLocks xmlns:a="http://schemas.openxmlformats.org/drawingml/2006/main" noGrp="1"/>
          </p:cNvSpPr>
          <p:nvPr/>
        </p:nvSpPr>
        <p:spPr>
          <a:xfrm xmlns:a="http://schemas.openxmlformats.org/drawingml/2006/main">
            <a:off x="685800" y="6496050"/>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675" b="1">
                <a:solidFill>
                  <a:srgbClr val="5E6B78"/>
                </a:solidFill>
              </a:defRPr>
            </a:pPr>
            <a:r>
              <a:rPr sz="675" b="1">
                <a:solidFill>
                  <a:srgbClr val="5E6B78"/>
                </a:solidFill>
              </a:rPr>
              <a:t>DISCUSSION DRAFT  |  AUGUST 2026</a:t>
            </a:r>
          </a:p>
        </p:txBody>
      </p:sp>
      <p:sp>
        <p:nvSpPr>
          <p:cNvPr id="4" name="">
            <a:extLst xmlns:a="http://schemas.openxmlformats.org/drawingml/2006/main">
              <a:ext uri="{FF2B5EF4-FFF2-40B4-BE49-F238E27FC236}">
                <a16:creationId xmlns:a16="http://schemas.microsoft.com/office/drawing/2014/main" id="{D065170B-8281-4298-897F-DC1405EA5631}"/>
              </a:ext>
            </a:extLst>
          </p:cNvPr>
          <p:cNvSpPr>
            <a:spLocks xmlns:a="http://schemas.openxmlformats.org/drawingml/2006/main" noGrp="1"/>
          </p:cNvSpPr>
          <p:nvPr/>
        </p:nvSpPr>
        <p:spPr>
          <a:xfrm xmlns:a="http://schemas.openxmlformats.org/drawingml/2006/main">
            <a:off x="10839450" y="6496050"/>
            <a:ext cx="666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675" b="1">
                <a:solidFill>
                  <a:srgbClr val="5E6B78"/>
                </a:solidFill>
              </a:defRPr>
            </a:pPr>
            <a:r>
              <a:rPr sz="675" b="1">
                <a:solidFill>
                  <a:srgbClr val="5E6B78"/>
                </a:solidFill>
              </a:rPr>
              <a:t>13</a:t>
            </a:r>
          </a:p>
        </p:txBody>
      </p:sp>
      <p:sp>
        <p:nvSpPr>
          <p:cNvPr id="5" name="">
            <a:extLst xmlns:a="http://schemas.openxmlformats.org/drawingml/2006/main">
              <a:ext uri="{FF2B5EF4-FFF2-40B4-BE49-F238E27FC236}">
                <a16:creationId xmlns:a16="http://schemas.microsoft.com/office/drawing/2014/main" id="{F1D9D079-9B85-41E5-BEBE-1A3B7646D9FB}"/>
              </a:ext>
            </a:extLst>
          </p:cNvPr>
          <p:cNvSpPr>
            <a:spLocks xmlns:a="http://schemas.openxmlformats.org/drawingml/2006/main" noGrp="1"/>
          </p:cNvSpPr>
          <p:nvPr/>
        </p:nvSpPr>
        <p:spPr>
          <a:xfrm xmlns:a="http://schemas.openxmlformats.org/drawingml/2006/main">
            <a:off x="685800" y="20955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C45A2A"/>
                </a:solidFill>
              </a:defRPr>
            </a:pPr>
            <a:r>
              <a:rPr sz="975" b="1">
                <a:solidFill>
                  <a:srgbClr val="C45A2A"/>
                </a:solidFill>
              </a:rPr>
              <a:t>01</a:t>
            </a:r>
          </a:p>
        </p:txBody>
      </p:sp>
      <p:sp>
        <p:nvSpPr>
          <p:cNvPr id="6" name="">
            <a:extLst xmlns:a="http://schemas.openxmlformats.org/drawingml/2006/main">
              <a:ext uri="{FF2B5EF4-FFF2-40B4-BE49-F238E27FC236}">
                <a16:creationId xmlns:a16="http://schemas.microsoft.com/office/drawing/2014/main" id="{56052CAB-6503-4304-B1E2-DA277CADB431}"/>
              </a:ext>
            </a:extLst>
          </p:cNvPr>
          <p:cNvSpPr>
            <a:spLocks xmlns:a="http://schemas.openxmlformats.org/drawingml/2006/main" noGrp="1"/>
          </p:cNvSpPr>
          <p:nvPr/>
        </p:nvSpPr>
        <p:spPr>
          <a:xfrm xmlns:a="http://schemas.openxmlformats.org/drawingml/2006/main">
            <a:off x="1314450" y="2095500"/>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0B1F33"/>
                </a:solidFill>
              </a:defRPr>
            </a:pPr>
            <a:r>
              <a:rPr sz="1275" b="1">
                <a:solidFill>
                  <a:srgbClr val="0B1F33"/>
                </a:solidFill>
              </a:rPr>
              <a:t>IDENTITY + OWNERSHIP</a:t>
            </a:r>
          </a:p>
        </p:txBody>
      </p:sp>
      <p:sp>
        <p:nvSpPr>
          <p:cNvPr id="7" name="">
            <a:extLst xmlns:a="http://schemas.openxmlformats.org/drawingml/2006/main">
              <a:ext uri="{FF2B5EF4-FFF2-40B4-BE49-F238E27FC236}">
                <a16:creationId xmlns:a16="http://schemas.microsoft.com/office/drawing/2014/main" id="{BB4FA90D-6075-4828-98CD-52A9BF0C43F4}"/>
              </a:ext>
            </a:extLst>
          </p:cNvPr>
          <p:cNvSpPr>
            <a:spLocks xmlns:a="http://schemas.openxmlformats.org/drawingml/2006/main" noGrp="1"/>
          </p:cNvSpPr>
          <p:nvPr/>
        </p:nvSpPr>
        <p:spPr>
          <a:xfrm xmlns:a="http://schemas.openxmlformats.org/drawingml/2006/main">
            <a:off x="3857625" y="2076450"/>
            <a:ext cx="695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7212B"/>
                </a:solidFill>
              </a:defRPr>
            </a:pPr>
            <a:r>
              <a:rPr sz="1350" b="0">
                <a:solidFill>
                  <a:srgbClr val="17212B"/>
                </a:solidFill>
              </a:rPr>
              <a:t>Every agent has an owner, purpose, version and approved access.</a:t>
            </a:r>
          </a:p>
        </p:txBody>
      </p:sp>
      <p:sp>
        <p:nvSpPr>
          <p:cNvPr id="8" name="">
            <a:extLst xmlns:a="http://schemas.openxmlformats.org/drawingml/2006/main">
              <a:ext uri="{FF2B5EF4-FFF2-40B4-BE49-F238E27FC236}">
                <a16:creationId xmlns:a16="http://schemas.microsoft.com/office/drawing/2014/main" id="{882D8C15-CC34-422E-A12A-76373302D606}"/>
              </a:ext>
            </a:extLst>
          </p:cNvPr>
          <p:cNvSpPr>
            <a:spLocks xmlns:a="http://schemas.openxmlformats.org/drawingml/2006/main" noGrp="1"/>
          </p:cNvSpPr>
          <p:nvPr/>
        </p:nvSpPr>
        <p:spPr>
          <a:xfrm xmlns:a="http://schemas.openxmlformats.org/drawingml/2006/main">
            <a:off x="685800" y="2676525"/>
            <a:ext cx="10134600" cy="9525"/>
          </a:xfrm>
          <a:prstGeom xmlns:a="http://schemas.openxmlformats.org/drawingml/2006/main" prst="rect">
            <a:avLst/>
          </a:prstGeom>
          <a:solidFill xmlns:a="http://schemas.openxmlformats.org/drawingml/2006/main">
            <a:srgbClr val="D8E0E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2D28789-2FD3-48E4-9F43-99E608D9261F}"/>
              </a:ext>
            </a:extLst>
          </p:cNvPr>
          <p:cNvSpPr>
            <a:spLocks xmlns:a="http://schemas.openxmlformats.org/drawingml/2006/main" noGrp="1"/>
          </p:cNvSpPr>
          <p:nvPr/>
        </p:nvSpPr>
        <p:spPr>
          <a:xfrm xmlns:a="http://schemas.openxmlformats.org/drawingml/2006/main">
            <a:off x="685800" y="29337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C45A2A"/>
                </a:solidFill>
              </a:defRPr>
            </a:pPr>
            <a:r>
              <a:rPr sz="975" b="1">
                <a:solidFill>
                  <a:srgbClr val="C45A2A"/>
                </a:solidFill>
              </a:rPr>
              <a:t>02</a:t>
            </a:r>
          </a:p>
        </p:txBody>
      </p:sp>
      <p:sp>
        <p:nvSpPr>
          <p:cNvPr id="10" name="">
            <a:extLst xmlns:a="http://schemas.openxmlformats.org/drawingml/2006/main">
              <a:ext uri="{FF2B5EF4-FFF2-40B4-BE49-F238E27FC236}">
                <a16:creationId xmlns:a16="http://schemas.microsoft.com/office/drawing/2014/main" id="{75E11FCC-7DB9-4946-9D7E-D34C0A81390B}"/>
              </a:ext>
            </a:extLst>
          </p:cNvPr>
          <p:cNvSpPr>
            <a:spLocks xmlns:a="http://schemas.openxmlformats.org/drawingml/2006/main" noGrp="1"/>
          </p:cNvSpPr>
          <p:nvPr/>
        </p:nvSpPr>
        <p:spPr>
          <a:xfrm xmlns:a="http://schemas.openxmlformats.org/drawingml/2006/main">
            <a:off x="1314450" y="2933700"/>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0B1F33"/>
                </a:solidFill>
              </a:defRPr>
            </a:pPr>
            <a:r>
              <a:rPr sz="1275" b="1">
                <a:solidFill>
                  <a:srgbClr val="0B1F33"/>
                </a:solidFill>
              </a:rPr>
              <a:t>AUTHORITY</a:t>
            </a:r>
          </a:p>
        </p:txBody>
      </p:sp>
      <p:sp>
        <p:nvSpPr>
          <p:cNvPr id="11" name="">
            <a:extLst xmlns:a="http://schemas.openxmlformats.org/drawingml/2006/main">
              <a:ext uri="{FF2B5EF4-FFF2-40B4-BE49-F238E27FC236}">
                <a16:creationId xmlns:a16="http://schemas.microsoft.com/office/drawing/2014/main" id="{859C779F-B0DD-44B4-A458-B6D2F225ADB6}"/>
              </a:ext>
            </a:extLst>
          </p:cNvPr>
          <p:cNvSpPr>
            <a:spLocks xmlns:a="http://schemas.openxmlformats.org/drawingml/2006/main" noGrp="1"/>
          </p:cNvSpPr>
          <p:nvPr/>
        </p:nvSpPr>
        <p:spPr>
          <a:xfrm xmlns:a="http://schemas.openxmlformats.org/drawingml/2006/main">
            <a:off x="3857625" y="2914650"/>
            <a:ext cx="695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7212B"/>
                </a:solidFill>
              </a:defRPr>
            </a:pPr>
            <a:r>
              <a:rPr sz="1350" b="0">
                <a:solidFill>
                  <a:srgbClr val="17212B"/>
                </a:solidFill>
              </a:rPr>
              <a:t>Every action has an autonomy ceiling, approval path, limits and safe stop.</a:t>
            </a:r>
          </a:p>
        </p:txBody>
      </p:sp>
      <p:sp>
        <p:nvSpPr>
          <p:cNvPr id="12" name="">
            <a:extLst xmlns:a="http://schemas.openxmlformats.org/drawingml/2006/main">
              <a:ext uri="{FF2B5EF4-FFF2-40B4-BE49-F238E27FC236}">
                <a16:creationId xmlns:a16="http://schemas.microsoft.com/office/drawing/2014/main" id="{605F73D9-4E72-4714-B867-901B8A13D649}"/>
              </a:ext>
            </a:extLst>
          </p:cNvPr>
          <p:cNvSpPr>
            <a:spLocks xmlns:a="http://schemas.openxmlformats.org/drawingml/2006/main" noGrp="1"/>
          </p:cNvSpPr>
          <p:nvPr/>
        </p:nvSpPr>
        <p:spPr>
          <a:xfrm xmlns:a="http://schemas.openxmlformats.org/drawingml/2006/main">
            <a:off x="685800" y="3514725"/>
            <a:ext cx="10134600" cy="9525"/>
          </a:xfrm>
          <a:prstGeom xmlns:a="http://schemas.openxmlformats.org/drawingml/2006/main" prst="rect">
            <a:avLst/>
          </a:prstGeom>
          <a:solidFill xmlns:a="http://schemas.openxmlformats.org/drawingml/2006/main">
            <a:srgbClr val="D8E0E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C98BE62-8891-42A6-9331-3F10909D4242}"/>
              </a:ext>
            </a:extLst>
          </p:cNvPr>
          <p:cNvSpPr>
            <a:spLocks xmlns:a="http://schemas.openxmlformats.org/drawingml/2006/main" noGrp="1"/>
          </p:cNvSpPr>
          <p:nvPr/>
        </p:nvSpPr>
        <p:spPr>
          <a:xfrm xmlns:a="http://schemas.openxmlformats.org/drawingml/2006/main">
            <a:off x="685800" y="37719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C45A2A"/>
                </a:solidFill>
              </a:defRPr>
            </a:pPr>
            <a:r>
              <a:rPr sz="975" b="1">
                <a:solidFill>
                  <a:srgbClr val="C45A2A"/>
                </a:solidFill>
              </a:rPr>
              <a:t>03</a:t>
            </a:r>
          </a:p>
        </p:txBody>
      </p:sp>
      <p:sp>
        <p:nvSpPr>
          <p:cNvPr id="14" name="">
            <a:extLst xmlns:a="http://schemas.openxmlformats.org/drawingml/2006/main">
              <a:ext uri="{FF2B5EF4-FFF2-40B4-BE49-F238E27FC236}">
                <a16:creationId xmlns:a16="http://schemas.microsoft.com/office/drawing/2014/main" id="{91F95DCB-AEE7-4728-8E57-9ECC72B57902}"/>
              </a:ext>
            </a:extLst>
          </p:cNvPr>
          <p:cNvSpPr>
            <a:spLocks xmlns:a="http://schemas.openxmlformats.org/drawingml/2006/main" noGrp="1"/>
          </p:cNvSpPr>
          <p:nvPr/>
        </p:nvSpPr>
        <p:spPr>
          <a:xfrm xmlns:a="http://schemas.openxmlformats.org/drawingml/2006/main">
            <a:off x="1314450" y="3771900"/>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0B1F33"/>
                </a:solidFill>
              </a:defRPr>
            </a:pPr>
            <a:r>
              <a:rPr sz="1275" b="1">
                <a:solidFill>
                  <a:srgbClr val="0B1F33"/>
                </a:solidFill>
              </a:rPr>
              <a:t>MEMORY + EVIDENCE</a:t>
            </a:r>
          </a:p>
        </p:txBody>
      </p:sp>
      <p:sp>
        <p:nvSpPr>
          <p:cNvPr id="15" name="">
            <a:extLst xmlns:a="http://schemas.openxmlformats.org/drawingml/2006/main">
              <a:ext uri="{FF2B5EF4-FFF2-40B4-BE49-F238E27FC236}">
                <a16:creationId xmlns:a16="http://schemas.microsoft.com/office/drawing/2014/main" id="{177211E3-3F9C-48CE-BE8B-FBFC3CC65F72}"/>
              </a:ext>
            </a:extLst>
          </p:cNvPr>
          <p:cNvSpPr>
            <a:spLocks xmlns:a="http://schemas.openxmlformats.org/drawingml/2006/main" noGrp="1"/>
          </p:cNvSpPr>
          <p:nvPr/>
        </p:nvSpPr>
        <p:spPr>
          <a:xfrm xmlns:a="http://schemas.openxmlformats.org/drawingml/2006/main">
            <a:off x="3857625" y="3752850"/>
            <a:ext cx="695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7212B"/>
                </a:solidFill>
              </a:defRPr>
            </a:pPr>
            <a:r>
              <a:rPr sz="1350" b="0">
                <a:solidFill>
                  <a:srgbClr val="17212B"/>
                </a:solidFill>
              </a:rPr>
              <a:t>Every retained fact has a source, freshness, permission and validation status.</a:t>
            </a:r>
          </a:p>
        </p:txBody>
      </p:sp>
      <p:sp>
        <p:nvSpPr>
          <p:cNvPr id="16" name="">
            <a:extLst xmlns:a="http://schemas.openxmlformats.org/drawingml/2006/main">
              <a:ext uri="{FF2B5EF4-FFF2-40B4-BE49-F238E27FC236}">
                <a16:creationId xmlns:a16="http://schemas.microsoft.com/office/drawing/2014/main" id="{1C551B53-99EE-41D7-BC5C-E179DD492316}"/>
              </a:ext>
            </a:extLst>
          </p:cNvPr>
          <p:cNvSpPr>
            <a:spLocks xmlns:a="http://schemas.openxmlformats.org/drawingml/2006/main" noGrp="1"/>
          </p:cNvSpPr>
          <p:nvPr/>
        </p:nvSpPr>
        <p:spPr>
          <a:xfrm xmlns:a="http://schemas.openxmlformats.org/drawingml/2006/main">
            <a:off x="685800" y="4352925"/>
            <a:ext cx="10134600" cy="9525"/>
          </a:xfrm>
          <a:prstGeom xmlns:a="http://schemas.openxmlformats.org/drawingml/2006/main" prst="rect">
            <a:avLst/>
          </a:prstGeom>
          <a:solidFill xmlns:a="http://schemas.openxmlformats.org/drawingml/2006/main">
            <a:srgbClr val="D8E0E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B3E64EF-605B-46A6-A831-C53DA63CB9F0}"/>
              </a:ext>
            </a:extLst>
          </p:cNvPr>
          <p:cNvSpPr>
            <a:spLocks xmlns:a="http://schemas.openxmlformats.org/drawingml/2006/main" noGrp="1"/>
          </p:cNvSpPr>
          <p:nvPr/>
        </p:nvSpPr>
        <p:spPr>
          <a:xfrm xmlns:a="http://schemas.openxmlformats.org/drawingml/2006/main">
            <a:off x="685800" y="46101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C45A2A"/>
                </a:solidFill>
              </a:defRPr>
            </a:pPr>
            <a:r>
              <a:rPr sz="975" b="1">
                <a:solidFill>
                  <a:srgbClr val="C45A2A"/>
                </a:solidFill>
              </a:rPr>
              <a:t>04</a:t>
            </a:r>
          </a:p>
        </p:txBody>
      </p:sp>
      <p:sp>
        <p:nvSpPr>
          <p:cNvPr id="18" name="">
            <a:extLst xmlns:a="http://schemas.openxmlformats.org/drawingml/2006/main">
              <a:ext uri="{FF2B5EF4-FFF2-40B4-BE49-F238E27FC236}">
                <a16:creationId xmlns:a16="http://schemas.microsoft.com/office/drawing/2014/main" id="{5A30CBC0-CCD7-4825-9BD6-E0BABC82B71C}"/>
              </a:ext>
            </a:extLst>
          </p:cNvPr>
          <p:cNvSpPr>
            <a:spLocks xmlns:a="http://schemas.openxmlformats.org/drawingml/2006/main" noGrp="1"/>
          </p:cNvSpPr>
          <p:nvPr/>
        </p:nvSpPr>
        <p:spPr>
          <a:xfrm xmlns:a="http://schemas.openxmlformats.org/drawingml/2006/main">
            <a:off x="1314450" y="4610100"/>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0B1F33"/>
                </a:solidFill>
              </a:defRPr>
            </a:pPr>
            <a:r>
              <a:rPr sz="1275" b="1">
                <a:solidFill>
                  <a:srgbClr val="0B1F33"/>
                </a:solidFill>
              </a:rPr>
              <a:t>LIFECYCLE</a:t>
            </a:r>
          </a:p>
        </p:txBody>
      </p:sp>
      <p:sp>
        <p:nvSpPr>
          <p:cNvPr id="19" name="">
            <a:extLst xmlns:a="http://schemas.openxmlformats.org/drawingml/2006/main">
              <a:ext uri="{FF2B5EF4-FFF2-40B4-BE49-F238E27FC236}">
                <a16:creationId xmlns:a16="http://schemas.microsoft.com/office/drawing/2014/main" id="{4EBE8B7B-58C1-44C8-B69F-268DF6541E00}"/>
              </a:ext>
            </a:extLst>
          </p:cNvPr>
          <p:cNvSpPr>
            <a:spLocks xmlns:a="http://schemas.openxmlformats.org/drawingml/2006/main" noGrp="1"/>
          </p:cNvSpPr>
          <p:nvPr/>
        </p:nvSpPr>
        <p:spPr>
          <a:xfrm xmlns:a="http://schemas.openxmlformats.org/drawingml/2006/main">
            <a:off x="3857625" y="4591050"/>
            <a:ext cx="695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7212B"/>
                </a:solidFill>
              </a:defRPr>
            </a:pPr>
            <a:r>
              <a:rPr sz="1350" b="0">
                <a:solidFill>
                  <a:srgbClr val="17212B"/>
                </a:solidFill>
              </a:rPr>
              <a:t>Every capability is tested, monitored, reviewed, paused and eventually retired.</a:t>
            </a:r>
          </a:p>
        </p:txBody>
      </p:sp>
      <p:sp>
        <p:nvSpPr>
          <p:cNvPr id="20" name="">
            <a:extLst xmlns:a="http://schemas.openxmlformats.org/drawingml/2006/main">
              <a:ext uri="{FF2B5EF4-FFF2-40B4-BE49-F238E27FC236}">
                <a16:creationId xmlns:a16="http://schemas.microsoft.com/office/drawing/2014/main" id="{6F243B77-37F0-4E0D-A674-5E01AD24867F}"/>
              </a:ext>
            </a:extLst>
          </p:cNvPr>
          <p:cNvSpPr>
            <a:spLocks xmlns:a="http://schemas.openxmlformats.org/drawingml/2006/main" noGrp="1"/>
          </p:cNvSpPr>
          <p:nvPr/>
        </p:nvSpPr>
        <p:spPr>
          <a:xfrm xmlns:a="http://schemas.openxmlformats.org/drawingml/2006/main">
            <a:off x="685800" y="5191125"/>
            <a:ext cx="10134600" cy="9525"/>
          </a:xfrm>
          <a:prstGeom xmlns:a="http://schemas.openxmlformats.org/drawingml/2006/main" prst="rect">
            <a:avLst/>
          </a:prstGeom>
          <a:solidFill xmlns:a="http://schemas.openxmlformats.org/drawingml/2006/main">
            <a:srgbClr val="D8E0E7"/>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59DF565B-4993-4B57-93B4-16BB2F3C76EF}"/>
              </a:ext>
            </a:extLst>
          </p:cNvPr>
          <p:cNvSpPr>
            <a:spLocks xmlns:a="http://schemas.openxmlformats.org/drawingml/2006/main" noGrp="1"/>
          </p:cNvSpPr>
          <p:nvPr/>
        </p:nvSpPr>
        <p:spPr>
          <a:xfrm xmlns:a="http://schemas.openxmlformats.org/drawingml/2006/main">
            <a:off x="1238250" y="5810250"/>
            <a:ext cx="971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1F33"/>
                </a:solidFill>
              </a:defRPr>
            </a:pPr>
            <a:r>
              <a:rPr sz="2100" b="1">
                <a:solidFill>
                  <a:srgbClr val="0B1F33"/>
                </a:solidFill>
              </a:rPr>
              <a:t>Better encoded controls create the right to greater autonomy.</a:t>
            </a:r>
          </a:p>
        </p:txBody>
      </p:sp>
    </p:spTree>
    <p:extLst>
      <p:ext uri="{BB962C8B-B14F-4D97-AF65-F5344CB8AC3E}">
        <p14:creationId xmlns:p14="http://schemas.microsoft.com/office/powerpoint/2010/main" val="2001340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1A24FC9E-8458-4624-BDB8-B957106E6BE3}"/>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625" b="1">
                <a:solidFill>
                  <a:srgbClr val="0B1F33"/>
                </a:solidFill>
              </a:defRPr>
            </a:pPr>
            <a:r>
              <a:rPr sz="2625" b="1">
                <a:solidFill>
                  <a:srgbClr val="0B1F33"/>
                </a:solidFill>
              </a:rPr>
              <a:t>Every interaction strengthens the next one.</a:t>
            </a:r>
          </a:p>
        </p:txBody>
      </p:sp>
      <p:sp>
        <p:nvSpPr>
          <p:cNvPr id="2" name="">
            <a:extLst xmlns:a="http://schemas.openxmlformats.org/drawingml/2006/main">
              <a:ext uri="{FF2B5EF4-FFF2-40B4-BE49-F238E27FC236}">
                <a16:creationId xmlns:a16="http://schemas.microsoft.com/office/drawing/2014/main" id="{8A35EC2B-5BF7-4009-8492-7083B3C341A2}"/>
              </a:ext>
            </a:extLst>
          </p:cNvPr>
          <p:cNvSpPr>
            <a:spLocks xmlns:a="http://schemas.openxmlformats.org/drawingml/2006/main" noGrp="1"/>
          </p:cNvSpPr>
          <p:nvPr/>
        </p:nvSpPr>
        <p:spPr>
          <a:xfrm xmlns:a="http://schemas.openxmlformats.org/drawingml/2006/main">
            <a:off x="685800" y="1695450"/>
            <a:ext cx="10820400" cy="19050"/>
          </a:xfrm>
          <a:prstGeom xmlns:a="http://schemas.openxmlformats.org/drawingml/2006/main" prst="rect">
            <a:avLst/>
          </a:prstGeom>
          <a:solidFill xmlns:a="http://schemas.openxmlformats.org/drawingml/2006/main">
            <a:srgbClr val="D8E0E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59046F8-D42E-42A4-8C56-B15F4A985358}"/>
              </a:ext>
            </a:extLst>
          </p:cNvPr>
          <p:cNvSpPr>
            <a:spLocks xmlns:a="http://schemas.openxmlformats.org/drawingml/2006/main" noGrp="1"/>
          </p:cNvSpPr>
          <p:nvPr/>
        </p:nvSpPr>
        <p:spPr>
          <a:xfrm xmlns:a="http://schemas.openxmlformats.org/drawingml/2006/main">
            <a:off x="685800" y="6496050"/>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675" b="1">
                <a:solidFill>
                  <a:srgbClr val="5E6B78"/>
                </a:solidFill>
              </a:defRPr>
            </a:pPr>
            <a:r>
              <a:rPr sz="675" b="1">
                <a:solidFill>
                  <a:srgbClr val="5E6B78"/>
                </a:solidFill>
              </a:rPr>
              <a:t>DISCUSSION DRAFT  |  AUGUST 2026</a:t>
            </a:r>
          </a:p>
        </p:txBody>
      </p:sp>
      <p:sp>
        <p:nvSpPr>
          <p:cNvPr id="4" name="">
            <a:extLst xmlns:a="http://schemas.openxmlformats.org/drawingml/2006/main">
              <a:ext uri="{FF2B5EF4-FFF2-40B4-BE49-F238E27FC236}">
                <a16:creationId xmlns:a16="http://schemas.microsoft.com/office/drawing/2014/main" id="{53A2626F-ED3D-428D-8C77-33E00C10C07F}"/>
              </a:ext>
            </a:extLst>
          </p:cNvPr>
          <p:cNvSpPr>
            <a:spLocks xmlns:a="http://schemas.openxmlformats.org/drawingml/2006/main" noGrp="1"/>
          </p:cNvSpPr>
          <p:nvPr/>
        </p:nvSpPr>
        <p:spPr>
          <a:xfrm xmlns:a="http://schemas.openxmlformats.org/drawingml/2006/main">
            <a:off x="10839450" y="6496050"/>
            <a:ext cx="666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675" b="1">
                <a:solidFill>
                  <a:srgbClr val="5E6B78"/>
                </a:solidFill>
              </a:defRPr>
            </a:pPr>
            <a:r>
              <a:rPr sz="675" b="1">
                <a:solidFill>
                  <a:srgbClr val="5E6B78"/>
                </a:solidFill>
              </a:rPr>
              <a:t>14</a:t>
            </a:r>
          </a:p>
        </p:txBody>
      </p:sp>
      <p:sp>
        <p:nvSpPr>
          <p:cNvPr id="5" name="">
            <a:extLst xmlns:a="http://schemas.openxmlformats.org/drawingml/2006/main">
              <a:ext uri="{FF2B5EF4-FFF2-40B4-BE49-F238E27FC236}">
                <a16:creationId xmlns:a16="http://schemas.microsoft.com/office/drawing/2014/main" id="{B6DE531D-44FE-4588-A2DC-2648BEBB2C46}"/>
              </a:ext>
            </a:extLst>
          </p:cNvPr>
          <p:cNvSpPr>
            <a:spLocks xmlns:a="http://schemas.openxmlformats.org/drawingml/2006/main" noGrp="1"/>
          </p:cNvSpPr>
          <p:nvPr/>
        </p:nvSpPr>
        <p:spPr>
          <a:xfrm xmlns:a="http://schemas.openxmlformats.org/drawingml/2006/main">
            <a:off x="685800" y="2238375"/>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a:solidFill>
                  <a:srgbClr val="C45A2A"/>
                </a:solidFill>
              </a:defRPr>
            </a:pPr>
            <a:r>
              <a:rPr sz="1050" b="1">
                <a:solidFill>
                  <a:srgbClr val="C45A2A"/>
                </a:solidFill>
              </a:rPr>
              <a:t>THE COMPOUNDING ADVANTAGE</a:t>
            </a:r>
          </a:p>
        </p:txBody>
      </p:sp>
      <p:sp>
        <p:nvSpPr>
          <p:cNvPr id="6" name="">
            <a:extLst xmlns:a="http://schemas.openxmlformats.org/drawingml/2006/main">
              <a:ext uri="{FF2B5EF4-FFF2-40B4-BE49-F238E27FC236}">
                <a16:creationId xmlns:a16="http://schemas.microsoft.com/office/drawing/2014/main" id="{1DC77EF8-146F-4BE4-8232-788F1EB028FA}"/>
              </a:ext>
            </a:extLst>
          </p:cNvPr>
          <p:cNvSpPr>
            <a:spLocks xmlns:a="http://schemas.openxmlformats.org/drawingml/2006/main" noGrp="1"/>
          </p:cNvSpPr>
          <p:nvPr/>
        </p:nvSpPr>
        <p:spPr>
          <a:xfrm xmlns:a="http://schemas.openxmlformats.org/drawingml/2006/main">
            <a:off x="685800" y="2695575"/>
            <a:ext cx="2095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25" b="1">
                <a:solidFill>
                  <a:srgbClr val="0B1F33"/>
                </a:solidFill>
              </a:defRPr>
            </a:pPr>
            <a:r>
              <a:rPr sz="2025" b="1">
                <a:solidFill>
                  <a:srgbClr val="0B1F33"/>
                </a:solidFill>
              </a:rPr>
              <a:t>SENSE WHAT</a:t>
            </a:r>
          </a:p>
          <a:p xmlns:a="http://schemas.openxmlformats.org/drawingml/2006/main">
            <a:pPr algn="ctr">
              <a:buNone/>
              <a:defRPr sz="2025" b="1">
                <a:solidFill>
                  <a:srgbClr val="0B1F33"/>
                </a:solidFill>
              </a:defRPr>
            </a:pPr>
            <a:r>
              <a:rPr sz="2025" b="1">
                <a:solidFill>
                  <a:srgbClr val="0B1F33"/>
                </a:solidFill>
              </a:rPr>
              <a:t>CHANGED</a:t>
            </a:r>
          </a:p>
        </p:txBody>
      </p:sp>
      <p:sp>
        <p:nvSpPr>
          <p:cNvPr id="7" name="">
            <a:extLst xmlns:a="http://schemas.openxmlformats.org/drawingml/2006/main">
              <a:ext uri="{FF2B5EF4-FFF2-40B4-BE49-F238E27FC236}">
                <a16:creationId xmlns:a16="http://schemas.microsoft.com/office/drawing/2014/main" id="{CF17E5ED-9EE0-4272-9287-91F1FA75F0AF}"/>
              </a:ext>
            </a:extLst>
          </p:cNvPr>
          <p:cNvSpPr>
            <a:spLocks xmlns:a="http://schemas.openxmlformats.org/drawingml/2006/main" noGrp="1"/>
          </p:cNvSpPr>
          <p:nvPr/>
        </p:nvSpPr>
        <p:spPr>
          <a:xfrm xmlns:a="http://schemas.openxmlformats.org/drawingml/2006/main">
            <a:off x="2867025" y="2838450"/>
            <a:ext cx="342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6CB4EE"/>
                </a:solidFill>
              </a:defRPr>
            </a:pPr>
            <a:r>
              <a:rPr sz="2100" b="1">
                <a:solidFill>
                  <a:srgbClr val="6CB4EE"/>
                </a:solidFill>
              </a:rPr>
              <a:t>→</a:t>
            </a:r>
          </a:p>
        </p:txBody>
      </p:sp>
      <p:sp>
        <p:nvSpPr>
          <p:cNvPr id="8" name="">
            <a:extLst xmlns:a="http://schemas.openxmlformats.org/drawingml/2006/main">
              <a:ext uri="{FF2B5EF4-FFF2-40B4-BE49-F238E27FC236}">
                <a16:creationId xmlns:a16="http://schemas.microsoft.com/office/drawing/2014/main" id="{4E897F03-C046-4ED6-ACF7-06CF2ED233D2}"/>
              </a:ext>
            </a:extLst>
          </p:cNvPr>
          <p:cNvSpPr>
            <a:spLocks xmlns:a="http://schemas.openxmlformats.org/drawingml/2006/main" noGrp="1"/>
          </p:cNvSpPr>
          <p:nvPr/>
        </p:nvSpPr>
        <p:spPr>
          <a:xfrm xmlns:a="http://schemas.openxmlformats.org/drawingml/2006/main">
            <a:off x="3286125" y="2695575"/>
            <a:ext cx="2095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0B1F33"/>
                </a:solidFill>
              </a:defRPr>
            </a:pPr>
            <a:r>
              <a:rPr sz="1725" b="1">
                <a:solidFill>
                  <a:srgbClr val="0B1F33"/>
                </a:solidFill>
              </a:rPr>
              <a:t>REMEMBER</a:t>
            </a:r>
          </a:p>
          <a:p xmlns:a="http://schemas.openxmlformats.org/drawingml/2006/main">
            <a:pPr algn="ctr">
              <a:buNone/>
              <a:defRPr sz="1725" b="1">
                <a:solidFill>
                  <a:srgbClr val="0B1F33"/>
                </a:solidFill>
              </a:defRPr>
            </a:pPr>
            <a:r>
              <a:rPr sz="1725" b="1">
                <a:solidFill>
                  <a:srgbClr val="0B1F33"/>
                </a:solidFill>
              </a:rPr>
              <a:t>WITH CONTEXT</a:t>
            </a:r>
          </a:p>
        </p:txBody>
      </p:sp>
      <p:sp>
        <p:nvSpPr>
          <p:cNvPr id="9" name="">
            <a:extLst xmlns:a="http://schemas.openxmlformats.org/drawingml/2006/main">
              <a:ext uri="{FF2B5EF4-FFF2-40B4-BE49-F238E27FC236}">
                <a16:creationId xmlns:a16="http://schemas.microsoft.com/office/drawing/2014/main" id="{A0AF73B7-E9EF-40B8-94B7-40BEE600FFE0}"/>
              </a:ext>
            </a:extLst>
          </p:cNvPr>
          <p:cNvSpPr>
            <a:spLocks xmlns:a="http://schemas.openxmlformats.org/drawingml/2006/main" noGrp="1"/>
          </p:cNvSpPr>
          <p:nvPr/>
        </p:nvSpPr>
        <p:spPr>
          <a:xfrm xmlns:a="http://schemas.openxmlformats.org/drawingml/2006/main">
            <a:off x="5467350" y="2838450"/>
            <a:ext cx="342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6CB4EE"/>
                </a:solidFill>
              </a:defRPr>
            </a:pPr>
            <a:r>
              <a:rPr sz="2100" b="1">
                <a:solidFill>
                  <a:srgbClr val="6CB4EE"/>
                </a:solidFill>
              </a:rPr>
              <a:t>→</a:t>
            </a:r>
          </a:p>
        </p:txBody>
      </p:sp>
      <p:sp>
        <p:nvSpPr>
          <p:cNvPr id="10" name="">
            <a:extLst xmlns:a="http://schemas.openxmlformats.org/drawingml/2006/main">
              <a:ext uri="{FF2B5EF4-FFF2-40B4-BE49-F238E27FC236}">
                <a16:creationId xmlns:a16="http://schemas.microsoft.com/office/drawing/2014/main" id="{61964519-8E32-4063-9D22-EE090FC606B1}"/>
              </a:ext>
            </a:extLst>
          </p:cNvPr>
          <p:cNvSpPr>
            <a:spLocks xmlns:a="http://schemas.openxmlformats.org/drawingml/2006/main" noGrp="1"/>
          </p:cNvSpPr>
          <p:nvPr/>
        </p:nvSpPr>
        <p:spPr>
          <a:xfrm xmlns:a="http://schemas.openxmlformats.org/drawingml/2006/main">
            <a:off x="5886450" y="2695575"/>
            <a:ext cx="2095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25" b="1">
                <a:solidFill>
                  <a:srgbClr val="0B1F33"/>
                </a:solidFill>
              </a:defRPr>
            </a:pPr>
            <a:r>
              <a:rPr sz="2025" b="1">
                <a:solidFill>
                  <a:srgbClr val="0B1F33"/>
                </a:solidFill>
              </a:rPr>
              <a:t>ACT WITH</a:t>
            </a:r>
          </a:p>
          <a:p xmlns:a="http://schemas.openxmlformats.org/drawingml/2006/main">
            <a:pPr algn="ctr">
              <a:buNone/>
              <a:defRPr sz="2025" b="1">
                <a:solidFill>
                  <a:srgbClr val="0B1F33"/>
                </a:solidFill>
              </a:defRPr>
            </a:pPr>
            <a:r>
              <a:rPr sz="2025" b="1">
                <a:solidFill>
                  <a:srgbClr val="0B1F33"/>
                </a:solidFill>
              </a:rPr>
              <a:t>FIRM EXPERTISE</a:t>
            </a:r>
          </a:p>
        </p:txBody>
      </p:sp>
      <p:sp>
        <p:nvSpPr>
          <p:cNvPr id="11" name="">
            <a:extLst xmlns:a="http://schemas.openxmlformats.org/drawingml/2006/main">
              <a:ext uri="{FF2B5EF4-FFF2-40B4-BE49-F238E27FC236}">
                <a16:creationId xmlns:a16="http://schemas.microsoft.com/office/drawing/2014/main" id="{89C2C854-CE2F-46C0-97BB-9B34DDAFA5C9}"/>
              </a:ext>
            </a:extLst>
          </p:cNvPr>
          <p:cNvSpPr>
            <a:spLocks xmlns:a="http://schemas.openxmlformats.org/drawingml/2006/main" noGrp="1"/>
          </p:cNvSpPr>
          <p:nvPr/>
        </p:nvSpPr>
        <p:spPr>
          <a:xfrm xmlns:a="http://schemas.openxmlformats.org/drawingml/2006/main">
            <a:off x="8067675" y="2838450"/>
            <a:ext cx="342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6CB4EE"/>
                </a:solidFill>
              </a:defRPr>
            </a:pPr>
            <a:r>
              <a:rPr sz="2100" b="1">
                <a:solidFill>
                  <a:srgbClr val="6CB4EE"/>
                </a:solidFill>
              </a:rPr>
              <a:t>→</a:t>
            </a:r>
          </a:p>
        </p:txBody>
      </p:sp>
      <p:sp>
        <p:nvSpPr>
          <p:cNvPr id="12" name="">
            <a:extLst xmlns:a="http://schemas.openxmlformats.org/drawingml/2006/main">
              <a:ext uri="{FF2B5EF4-FFF2-40B4-BE49-F238E27FC236}">
                <a16:creationId xmlns:a16="http://schemas.microsoft.com/office/drawing/2014/main" id="{D96FE3D4-7C61-4629-A99A-398F4090D44D}"/>
              </a:ext>
            </a:extLst>
          </p:cNvPr>
          <p:cNvSpPr>
            <a:spLocks xmlns:a="http://schemas.openxmlformats.org/drawingml/2006/main" noGrp="1"/>
          </p:cNvSpPr>
          <p:nvPr/>
        </p:nvSpPr>
        <p:spPr>
          <a:xfrm xmlns:a="http://schemas.openxmlformats.org/drawingml/2006/main">
            <a:off x="8486775" y="2695575"/>
            <a:ext cx="2333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0B1F33"/>
                </a:solidFill>
              </a:defRPr>
            </a:pPr>
            <a:r>
              <a:rPr sz="1875" b="1">
                <a:solidFill>
                  <a:srgbClr val="0B1F33"/>
                </a:solidFill>
              </a:rPr>
              <a:t>LEARN FROM</a:t>
            </a:r>
          </a:p>
          <a:p xmlns:a="http://schemas.openxmlformats.org/drawingml/2006/main">
            <a:pPr algn="ctr">
              <a:buNone/>
              <a:defRPr sz="1875" b="1">
                <a:solidFill>
                  <a:srgbClr val="0B1F33"/>
                </a:solidFill>
              </a:defRPr>
            </a:pPr>
            <a:r>
              <a:rPr sz="1875" b="1">
                <a:solidFill>
                  <a:srgbClr val="0B1F33"/>
                </a:solidFill>
              </a:rPr>
              <a:t>OUTCOMES</a:t>
            </a:r>
          </a:p>
        </p:txBody>
      </p:sp>
      <p:sp>
        <p:nvSpPr>
          <p:cNvPr id="13" name="">
            <a:extLst xmlns:a="http://schemas.openxmlformats.org/drawingml/2006/main">
              <a:ext uri="{FF2B5EF4-FFF2-40B4-BE49-F238E27FC236}">
                <a16:creationId xmlns:a16="http://schemas.microsoft.com/office/drawing/2014/main" id="{B03FB93F-BBA5-4A6B-839E-B0B2CF335A82}"/>
              </a:ext>
            </a:extLst>
          </p:cNvPr>
          <p:cNvSpPr>
            <a:spLocks xmlns:a="http://schemas.openxmlformats.org/drawingml/2006/main" noGrp="1"/>
          </p:cNvSpPr>
          <p:nvPr/>
        </p:nvSpPr>
        <p:spPr>
          <a:xfrm xmlns:a="http://schemas.openxmlformats.org/drawingml/2006/main">
            <a:off x="838200" y="3905250"/>
            <a:ext cx="10668000" cy="19050"/>
          </a:xfrm>
          <a:prstGeom xmlns:a="http://schemas.openxmlformats.org/drawingml/2006/main" prst="rect">
            <a:avLst/>
          </a:prstGeom>
          <a:solidFill xmlns:a="http://schemas.openxmlformats.org/drawingml/2006/main">
            <a:srgbClr val="D8E0E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8A70DCB-9014-44BC-B6B8-F61843126E83}"/>
              </a:ext>
            </a:extLst>
          </p:cNvPr>
          <p:cNvSpPr>
            <a:spLocks xmlns:a="http://schemas.openxmlformats.org/drawingml/2006/main" noGrp="1"/>
          </p:cNvSpPr>
          <p:nvPr/>
        </p:nvSpPr>
        <p:spPr>
          <a:xfrm xmlns:a="http://schemas.openxmlformats.org/drawingml/2006/main">
            <a:off x="1428750" y="4343400"/>
            <a:ext cx="9334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7212B"/>
                </a:solidFill>
              </a:defRPr>
            </a:pPr>
            <a:r>
              <a:rPr sz="1800" b="1">
                <a:solidFill>
                  <a:srgbClr val="17212B"/>
                </a:solidFill>
              </a:rPr>
              <a:t>Scale is earned when client value, employee leverage, operating quality, economics and trust improve together.</a:t>
            </a:r>
          </a:p>
        </p:txBody>
      </p:sp>
    </p:spTree>
    <p:extLst>
      <p:ext uri="{BB962C8B-B14F-4D97-AF65-F5344CB8AC3E}">
        <p14:creationId xmlns:p14="http://schemas.microsoft.com/office/powerpoint/2010/main" val="165284064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slide-title">
            <a:extLst xmlns:a="http://schemas.openxmlformats.org/drawingml/2006/main">
              <a:ext uri="{FF2B5EF4-FFF2-40B4-BE49-F238E27FC236}">
                <a16:creationId xmlns:a16="http://schemas.microsoft.com/office/drawing/2014/main" id="{1A3CFB8F-E267-4FCC-B794-DC858E77E4FA}"/>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625" b="1">
                <a:solidFill>
                  <a:srgbClr val="0B1F33"/>
                </a:solidFill>
              </a:defRPr>
            </a:pPr>
            <a:r>
              <a:rPr sz="2625" b="1">
                <a:solidFill>
                  <a:srgbClr val="0B1F33"/>
                </a:solidFill>
              </a:rPr>
              <a:t>Build one operating system, starting with three lighthouse journeys.</a:t>
            </a:r>
          </a:p>
        </p:txBody>
      </p:sp>
      <p:sp>
        <p:nvSpPr>
          <p:cNvPr id="2" name="">
            <a:extLst xmlns:a="http://schemas.openxmlformats.org/drawingml/2006/main">
              <a:ext uri="{FF2B5EF4-FFF2-40B4-BE49-F238E27FC236}">
                <a16:creationId xmlns:a16="http://schemas.microsoft.com/office/drawing/2014/main" id="{CF589E98-1EA5-46BC-AE2F-4B0E5710A40B}"/>
              </a:ext>
            </a:extLst>
          </p:cNvPr>
          <p:cNvSpPr>
            <a:spLocks xmlns:a="http://schemas.openxmlformats.org/drawingml/2006/main" noGrp="1"/>
          </p:cNvSpPr>
          <p:nvPr/>
        </p:nvSpPr>
        <p:spPr>
          <a:xfrm xmlns:a="http://schemas.openxmlformats.org/drawingml/2006/main">
            <a:off x="685800" y="1695450"/>
            <a:ext cx="10820400" cy="19050"/>
          </a:xfrm>
          <a:prstGeom xmlns:a="http://schemas.openxmlformats.org/drawingml/2006/main" prst="rect">
            <a:avLst/>
          </a:prstGeom>
          <a:solidFill xmlns:a="http://schemas.openxmlformats.org/drawingml/2006/main">
            <a:srgbClr val="D8E0E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37CABDE-C519-45F4-BEC8-1F773745D428}"/>
              </a:ext>
            </a:extLst>
          </p:cNvPr>
          <p:cNvSpPr>
            <a:spLocks xmlns:a="http://schemas.openxmlformats.org/drawingml/2006/main" noGrp="1"/>
          </p:cNvSpPr>
          <p:nvPr/>
        </p:nvSpPr>
        <p:spPr>
          <a:xfrm xmlns:a="http://schemas.openxmlformats.org/drawingml/2006/main">
            <a:off x="685800" y="6496050"/>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675" b="1">
                <a:solidFill>
                  <a:srgbClr val="5E6B78"/>
                </a:solidFill>
              </a:defRPr>
            </a:pPr>
            <a:r>
              <a:rPr sz="675" b="1">
                <a:solidFill>
                  <a:srgbClr val="5E6B78"/>
                </a:solidFill>
              </a:rPr>
              <a:t>DISCUSSION DRAFT  |  AUGUST 2026</a:t>
            </a:r>
          </a:p>
        </p:txBody>
      </p:sp>
      <p:sp>
        <p:nvSpPr>
          <p:cNvPr id="4" name="">
            <a:extLst xmlns:a="http://schemas.openxmlformats.org/drawingml/2006/main">
              <a:ext uri="{FF2B5EF4-FFF2-40B4-BE49-F238E27FC236}">
                <a16:creationId xmlns:a16="http://schemas.microsoft.com/office/drawing/2014/main" id="{D065170B-8281-4298-897F-DC1405EA5631}"/>
              </a:ext>
            </a:extLst>
          </p:cNvPr>
          <p:cNvSpPr>
            <a:spLocks xmlns:a="http://schemas.openxmlformats.org/drawingml/2006/main" noGrp="1"/>
          </p:cNvSpPr>
          <p:nvPr/>
        </p:nvSpPr>
        <p:spPr>
          <a:xfrm xmlns:a="http://schemas.openxmlformats.org/drawingml/2006/main">
            <a:off x="10839450" y="6496050"/>
            <a:ext cx="666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675" b="1">
                <a:solidFill>
                  <a:srgbClr val="5E6B78"/>
                </a:solidFill>
              </a:defRPr>
            </a:pPr>
            <a:r>
              <a:rPr sz="675" b="1">
                <a:solidFill>
                  <a:srgbClr val="5E6B78"/>
                </a:solidFill>
              </a:rPr>
              <a:t>15</a:t>
            </a:r>
          </a:p>
        </p:txBody>
      </p:sp>
      <p:sp>
        <p:nvSpPr>
          <p:cNvPr id="5" name="">
            <a:extLst xmlns:a="http://schemas.openxmlformats.org/drawingml/2006/main">
              <a:ext uri="{FF2B5EF4-FFF2-40B4-BE49-F238E27FC236}">
                <a16:creationId xmlns:a16="http://schemas.microsoft.com/office/drawing/2014/main" id="{F1D9D079-9B85-41E5-BEBE-1A3B7646D9FB}"/>
              </a:ext>
            </a:extLst>
          </p:cNvPr>
          <p:cNvSpPr>
            <a:spLocks xmlns:a="http://schemas.openxmlformats.org/drawingml/2006/main" noGrp="1"/>
          </p:cNvSpPr>
          <p:nvPr/>
        </p:nvSpPr>
        <p:spPr>
          <a:xfrm xmlns:a="http://schemas.openxmlformats.org/drawingml/2006/main">
            <a:off x="685800" y="20955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C45A2A"/>
                </a:solidFill>
              </a:defRPr>
            </a:pPr>
            <a:r>
              <a:rPr sz="975" b="1">
                <a:solidFill>
                  <a:srgbClr val="C45A2A"/>
                </a:solidFill>
              </a:rPr>
              <a:t>01</a:t>
            </a:r>
          </a:p>
        </p:txBody>
      </p:sp>
      <p:sp>
        <p:nvSpPr>
          <p:cNvPr id="6" name="">
            <a:extLst xmlns:a="http://schemas.openxmlformats.org/drawingml/2006/main">
              <a:ext uri="{FF2B5EF4-FFF2-40B4-BE49-F238E27FC236}">
                <a16:creationId xmlns:a16="http://schemas.microsoft.com/office/drawing/2014/main" id="{56052CAB-6503-4304-B1E2-DA277CADB431}"/>
              </a:ext>
            </a:extLst>
          </p:cNvPr>
          <p:cNvSpPr>
            <a:spLocks xmlns:a="http://schemas.openxmlformats.org/drawingml/2006/main" noGrp="1"/>
          </p:cNvSpPr>
          <p:nvPr/>
        </p:nvSpPr>
        <p:spPr>
          <a:xfrm xmlns:a="http://schemas.openxmlformats.org/drawingml/2006/main">
            <a:off x="1314450" y="2095500"/>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0B1F33"/>
                </a:solidFill>
              </a:defRPr>
            </a:pPr>
            <a:r>
              <a:rPr sz="1275" b="1">
                <a:solidFill>
                  <a:srgbClr val="0B1F33"/>
                </a:solidFill>
              </a:rPr>
              <a:t>SIGNAL TO ADVICE</a:t>
            </a:r>
          </a:p>
        </p:txBody>
      </p:sp>
      <p:sp>
        <p:nvSpPr>
          <p:cNvPr id="7" name="">
            <a:extLst xmlns:a="http://schemas.openxmlformats.org/drawingml/2006/main">
              <a:ext uri="{FF2B5EF4-FFF2-40B4-BE49-F238E27FC236}">
                <a16:creationId xmlns:a16="http://schemas.microsoft.com/office/drawing/2014/main" id="{BB4FA90D-6075-4828-98CD-52A9BF0C43F4}"/>
              </a:ext>
            </a:extLst>
          </p:cNvPr>
          <p:cNvSpPr>
            <a:spLocks xmlns:a="http://schemas.openxmlformats.org/drawingml/2006/main" noGrp="1"/>
          </p:cNvSpPr>
          <p:nvPr/>
        </p:nvSpPr>
        <p:spPr>
          <a:xfrm xmlns:a="http://schemas.openxmlformats.org/drawingml/2006/main">
            <a:off x="3857625" y="2076450"/>
            <a:ext cx="695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7212B"/>
                </a:solidFill>
              </a:defRPr>
            </a:pPr>
            <a:r>
              <a:rPr sz="1350" b="0">
                <a:solidFill>
                  <a:srgbClr val="17212B"/>
                </a:solidFill>
              </a:rPr>
              <a:t>Prove the proactive advisor day and Client Agent anticipation.</a:t>
            </a:r>
          </a:p>
        </p:txBody>
      </p:sp>
      <p:sp>
        <p:nvSpPr>
          <p:cNvPr id="8" name="">
            <a:extLst xmlns:a="http://schemas.openxmlformats.org/drawingml/2006/main">
              <a:ext uri="{FF2B5EF4-FFF2-40B4-BE49-F238E27FC236}">
                <a16:creationId xmlns:a16="http://schemas.microsoft.com/office/drawing/2014/main" id="{882D8C15-CC34-422E-A12A-76373302D606}"/>
              </a:ext>
            </a:extLst>
          </p:cNvPr>
          <p:cNvSpPr>
            <a:spLocks xmlns:a="http://schemas.openxmlformats.org/drawingml/2006/main" noGrp="1"/>
          </p:cNvSpPr>
          <p:nvPr/>
        </p:nvSpPr>
        <p:spPr>
          <a:xfrm xmlns:a="http://schemas.openxmlformats.org/drawingml/2006/main">
            <a:off x="685800" y="2676525"/>
            <a:ext cx="10134600" cy="9525"/>
          </a:xfrm>
          <a:prstGeom xmlns:a="http://schemas.openxmlformats.org/drawingml/2006/main" prst="rect">
            <a:avLst/>
          </a:prstGeom>
          <a:solidFill xmlns:a="http://schemas.openxmlformats.org/drawingml/2006/main">
            <a:srgbClr val="D8E0E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2D28789-2FD3-48E4-9F43-99E608D9261F}"/>
              </a:ext>
            </a:extLst>
          </p:cNvPr>
          <p:cNvSpPr>
            <a:spLocks xmlns:a="http://schemas.openxmlformats.org/drawingml/2006/main" noGrp="1"/>
          </p:cNvSpPr>
          <p:nvPr/>
        </p:nvSpPr>
        <p:spPr>
          <a:xfrm xmlns:a="http://schemas.openxmlformats.org/drawingml/2006/main">
            <a:off x="685800" y="29337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C45A2A"/>
                </a:solidFill>
              </a:defRPr>
            </a:pPr>
            <a:r>
              <a:rPr sz="975" b="1">
                <a:solidFill>
                  <a:srgbClr val="C45A2A"/>
                </a:solidFill>
              </a:rPr>
              <a:t>02</a:t>
            </a:r>
          </a:p>
        </p:txBody>
      </p:sp>
      <p:sp>
        <p:nvSpPr>
          <p:cNvPr id="10" name="">
            <a:extLst xmlns:a="http://schemas.openxmlformats.org/drawingml/2006/main">
              <a:ext uri="{FF2B5EF4-FFF2-40B4-BE49-F238E27FC236}">
                <a16:creationId xmlns:a16="http://schemas.microsoft.com/office/drawing/2014/main" id="{75E11FCC-7DB9-4946-9D7E-D34C0A81390B}"/>
              </a:ext>
            </a:extLst>
          </p:cNvPr>
          <p:cNvSpPr>
            <a:spLocks xmlns:a="http://schemas.openxmlformats.org/drawingml/2006/main" noGrp="1"/>
          </p:cNvSpPr>
          <p:nvPr/>
        </p:nvSpPr>
        <p:spPr>
          <a:xfrm xmlns:a="http://schemas.openxmlformats.org/drawingml/2006/main">
            <a:off x="1314450" y="2933700"/>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0B1F33"/>
                </a:solidFill>
              </a:defRPr>
            </a:pPr>
            <a:r>
              <a:rPr sz="1275" b="1">
                <a:solidFill>
                  <a:srgbClr val="0B1F33"/>
                </a:solidFill>
              </a:rPr>
              <a:t>CONVERSATION TO ACTION</a:t>
            </a:r>
          </a:p>
        </p:txBody>
      </p:sp>
      <p:sp>
        <p:nvSpPr>
          <p:cNvPr id="11" name="">
            <a:extLst xmlns:a="http://schemas.openxmlformats.org/drawingml/2006/main">
              <a:ext uri="{FF2B5EF4-FFF2-40B4-BE49-F238E27FC236}">
                <a16:creationId xmlns:a16="http://schemas.microsoft.com/office/drawing/2014/main" id="{859C779F-B0DD-44B4-A458-B6D2F225ADB6}"/>
              </a:ext>
            </a:extLst>
          </p:cNvPr>
          <p:cNvSpPr>
            <a:spLocks xmlns:a="http://schemas.openxmlformats.org/drawingml/2006/main" noGrp="1"/>
          </p:cNvSpPr>
          <p:nvPr/>
        </p:nvSpPr>
        <p:spPr>
          <a:xfrm xmlns:a="http://schemas.openxmlformats.org/drawingml/2006/main">
            <a:off x="3857625" y="2914650"/>
            <a:ext cx="695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7212B"/>
                </a:solidFill>
              </a:defRPr>
            </a:pPr>
            <a:r>
              <a:rPr sz="1350" b="0">
                <a:solidFill>
                  <a:srgbClr val="17212B"/>
                </a:solidFill>
              </a:rPr>
              <a:t>Prove the Smartest Room and the full-firm meeting experience.</a:t>
            </a:r>
          </a:p>
        </p:txBody>
      </p:sp>
      <p:sp>
        <p:nvSpPr>
          <p:cNvPr id="12" name="">
            <a:extLst xmlns:a="http://schemas.openxmlformats.org/drawingml/2006/main">
              <a:ext uri="{FF2B5EF4-FFF2-40B4-BE49-F238E27FC236}">
                <a16:creationId xmlns:a16="http://schemas.microsoft.com/office/drawing/2014/main" id="{605F73D9-4E72-4714-B867-901B8A13D649}"/>
              </a:ext>
            </a:extLst>
          </p:cNvPr>
          <p:cNvSpPr>
            <a:spLocks xmlns:a="http://schemas.openxmlformats.org/drawingml/2006/main" noGrp="1"/>
          </p:cNvSpPr>
          <p:nvPr/>
        </p:nvSpPr>
        <p:spPr>
          <a:xfrm xmlns:a="http://schemas.openxmlformats.org/drawingml/2006/main">
            <a:off x="685800" y="3514725"/>
            <a:ext cx="10134600" cy="9525"/>
          </a:xfrm>
          <a:prstGeom xmlns:a="http://schemas.openxmlformats.org/drawingml/2006/main" prst="rect">
            <a:avLst/>
          </a:prstGeom>
          <a:solidFill xmlns:a="http://schemas.openxmlformats.org/drawingml/2006/main">
            <a:srgbClr val="D8E0E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C98BE62-8891-42A6-9331-3F10909D4242}"/>
              </a:ext>
            </a:extLst>
          </p:cNvPr>
          <p:cNvSpPr>
            <a:spLocks xmlns:a="http://schemas.openxmlformats.org/drawingml/2006/main" noGrp="1"/>
          </p:cNvSpPr>
          <p:nvPr/>
        </p:nvSpPr>
        <p:spPr>
          <a:xfrm xmlns:a="http://schemas.openxmlformats.org/drawingml/2006/main">
            <a:off x="685800" y="37719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C45A2A"/>
                </a:solidFill>
              </a:defRPr>
            </a:pPr>
            <a:r>
              <a:rPr sz="975" b="1">
                <a:solidFill>
                  <a:srgbClr val="C45A2A"/>
                </a:solidFill>
              </a:rPr>
              <a:t>03</a:t>
            </a:r>
          </a:p>
        </p:txBody>
      </p:sp>
      <p:sp>
        <p:nvSpPr>
          <p:cNvPr id="14" name="">
            <a:extLst xmlns:a="http://schemas.openxmlformats.org/drawingml/2006/main">
              <a:ext uri="{FF2B5EF4-FFF2-40B4-BE49-F238E27FC236}">
                <a16:creationId xmlns:a16="http://schemas.microsoft.com/office/drawing/2014/main" id="{91F95DCB-AEE7-4728-8E57-9ECC72B57902}"/>
              </a:ext>
            </a:extLst>
          </p:cNvPr>
          <p:cNvSpPr>
            <a:spLocks xmlns:a="http://schemas.openxmlformats.org/drawingml/2006/main" noGrp="1"/>
          </p:cNvSpPr>
          <p:nvPr/>
        </p:nvSpPr>
        <p:spPr>
          <a:xfrm xmlns:a="http://schemas.openxmlformats.org/drawingml/2006/main">
            <a:off x="1314450" y="3771900"/>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0B1F33"/>
                </a:solidFill>
              </a:defRPr>
            </a:pPr>
            <a:r>
              <a:rPr sz="1275" b="1">
                <a:solidFill>
                  <a:srgbClr val="0B1F33"/>
                </a:solidFill>
              </a:rPr>
              <a:t>REQUEST TO RESOLUTION</a:t>
            </a:r>
          </a:p>
        </p:txBody>
      </p:sp>
      <p:sp>
        <p:nvSpPr>
          <p:cNvPr id="15" name="">
            <a:extLst xmlns:a="http://schemas.openxmlformats.org/drawingml/2006/main">
              <a:ext uri="{FF2B5EF4-FFF2-40B4-BE49-F238E27FC236}">
                <a16:creationId xmlns:a16="http://schemas.microsoft.com/office/drawing/2014/main" id="{177211E3-3F9C-48CE-BE8B-FBFC3CC65F72}"/>
              </a:ext>
            </a:extLst>
          </p:cNvPr>
          <p:cNvSpPr>
            <a:spLocks xmlns:a="http://schemas.openxmlformats.org/drawingml/2006/main" noGrp="1"/>
          </p:cNvSpPr>
          <p:nvPr/>
        </p:nvSpPr>
        <p:spPr>
          <a:xfrm xmlns:a="http://schemas.openxmlformats.org/drawingml/2006/main">
            <a:off x="3857625" y="3752850"/>
            <a:ext cx="695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7212B"/>
                </a:solidFill>
              </a:defRPr>
            </a:pPr>
            <a:r>
              <a:rPr sz="1350" b="0">
                <a:solidFill>
                  <a:srgbClr val="17212B"/>
                </a:solidFill>
              </a:rPr>
              <a:t>Prove governed, low-risk service from intent to completion.</a:t>
            </a:r>
          </a:p>
        </p:txBody>
      </p:sp>
      <p:sp>
        <p:nvSpPr>
          <p:cNvPr id="16" name="">
            <a:extLst xmlns:a="http://schemas.openxmlformats.org/drawingml/2006/main">
              <a:ext uri="{FF2B5EF4-FFF2-40B4-BE49-F238E27FC236}">
                <a16:creationId xmlns:a16="http://schemas.microsoft.com/office/drawing/2014/main" id="{1C551B53-99EE-41D7-BC5C-E179DD492316}"/>
              </a:ext>
            </a:extLst>
          </p:cNvPr>
          <p:cNvSpPr>
            <a:spLocks xmlns:a="http://schemas.openxmlformats.org/drawingml/2006/main" noGrp="1"/>
          </p:cNvSpPr>
          <p:nvPr/>
        </p:nvSpPr>
        <p:spPr>
          <a:xfrm xmlns:a="http://schemas.openxmlformats.org/drawingml/2006/main">
            <a:off x="685800" y="4352925"/>
            <a:ext cx="10134600" cy="9525"/>
          </a:xfrm>
          <a:prstGeom xmlns:a="http://schemas.openxmlformats.org/drawingml/2006/main" prst="rect">
            <a:avLst/>
          </a:prstGeom>
          <a:solidFill xmlns:a="http://schemas.openxmlformats.org/drawingml/2006/main">
            <a:srgbClr val="D8E0E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B3E64EF-605B-46A6-A831-C53DA63CB9F0}"/>
              </a:ext>
            </a:extLst>
          </p:cNvPr>
          <p:cNvSpPr>
            <a:spLocks xmlns:a="http://schemas.openxmlformats.org/drawingml/2006/main" noGrp="1"/>
          </p:cNvSpPr>
          <p:nvPr/>
        </p:nvSpPr>
        <p:spPr>
          <a:xfrm xmlns:a="http://schemas.openxmlformats.org/drawingml/2006/main">
            <a:off x="685800" y="46101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C45A2A"/>
                </a:solidFill>
              </a:defRPr>
            </a:pPr>
            <a:r>
              <a:rPr sz="975" b="1">
                <a:solidFill>
                  <a:srgbClr val="C45A2A"/>
                </a:solidFill>
              </a:rPr>
              <a:t>04</a:t>
            </a:r>
          </a:p>
        </p:txBody>
      </p:sp>
      <p:sp>
        <p:nvSpPr>
          <p:cNvPr id="18" name="">
            <a:extLst xmlns:a="http://schemas.openxmlformats.org/drawingml/2006/main">
              <a:ext uri="{FF2B5EF4-FFF2-40B4-BE49-F238E27FC236}">
                <a16:creationId xmlns:a16="http://schemas.microsoft.com/office/drawing/2014/main" id="{5A30CBC0-CCD7-4825-9BD6-E0BABC82B71C}"/>
              </a:ext>
            </a:extLst>
          </p:cNvPr>
          <p:cNvSpPr>
            <a:spLocks xmlns:a="http://schemas.openxmlformats.org/drawingml/2006/main" noGrp="1"/>
          </p:cNvSpPr>
          <p:nvPr/>
        </p:nvSpPr>
        <p:spPr>
          <a:xfrm xmlns:a="http://schemas.openxmlformats.org/drawingml/2006/main">
            <a:off x="1314450" y="4610100"/>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0B1F33"/>
                </a:solidFill>
              </a:defRPr>
            </a:pPr>
            <a:r>
              <a:rPr sz="1275" b="1">
                <a:solidFill>
                  <a:srgbClr val="0B1F33"/>
                </a:solidFill>
              </a:rPr>
              <a:t>ONE TRANSFORMATION</a:t>
            </a:r>
          </a:p>
        </p:txBody>
      </p:sp>
      <p:sp>
        <p:nvSpPr>
          <p:cNvPr id="19" name="">
            <a:extLst xmlns:a="http://schemas.openxmlformats.org/drawingml/2006/main">
              <a:ext uri="{FF2B5EF4-FFF2-40B4-BE49-F238E27FC236}">
                <a16:creationId xmlns:a16="http://schemas.microsoft.com/office/drawing/2014/main" id="{4EBE8B7B-58C1-44C8-B69F-268DF6541E00}"/>
              </a:ext>
            </a:extLst>
          </p:cNvPr>
          <p:cNvSpPr>
            <a:spLocks xmlns:a="http://schemas.openxmlformats.org/drawingml/2006/main" noGrp="1"/>
          </p:cNvSpPr>
          <p:nvPr/>
        </p:nvSpPr>
        <p:spPr>
          <a:xfrm xmlns:a="http://schemas.openxmlformats.org/drawingml/2006/main">
            <a:off x="3857625" y="4591050"/>
            <a:ext cx="695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7212B"/>
                </a:solidFill>
              </a:defRPr>
            </a:pPr>
            <a:r>
              <a:rPr sz="1350" b="0">
                <a:solidFill>
                  <a:srgbClr val="17212B"/>
                </a:solidFill>
              </a:rPr>
              <a:t>Mobilize one accountable team around Coach, Client Agent, trust and outcomes.</a:t>
            </a:r>
          </a:p>
        </p:txBody>
      </p:sp>
      <p:sp>
        <p:nvSpPr>
          <p:cNvPr id="20" name="">
            <a:extLst xmlns:a="http://schemas.openxmlformats.org/drawingml/2006/main">
              <a:ext uri="{FF2B5EF4-FFF2-40B4-BE49-F238E27FC236}">
                <a16:creationId xmlns:a16="http://schemas.microsoft.com/office/drawing/2014/main" id="{6F243B77-37F0-4E0D-A674-5E01AD24867F}"/>
              </a:ext>
            </a:extLst>
          </p:cNvPr>
          <p:cNvSpPr>
            <a:spLocks xmlns:a="http://schemas.openxmlformats.org/drawingml/2006/main" noGrp="1"/>
          </p:cNvSpPr>
          <p:nvPr/>
        </p:nvSpPr>
        <p:spPr>
          <a:xfrm xmlns:a="http://schemas.openxmlformats.org/drawingml/2006/main">
            <a:off x="685800" y="5191125"/>
            <a:ext cx="10134600" cy="9525"/>
          </a:xfrm>
          <a:prstGeom xmlns:a="http://schemas.openxmlformats.org/drawingml/2006/main" prst="rect">
            <a:avLst/>
          </a:prstGeom>
          <a:solidFill xmlns:a="http://schemas.openxmlformats.org/drawingml/2006/main">
            <a:srgbClr val="D8E0E7"/>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59DF565B-4993-4B57-93B4-16BB2F3C76EF}"/>
              </a:ext>
            </a:extLst>
          </p:cNvPr>
          <p:cNvSpPr>
            <a:spLocks xmlns:a="http://schemas.openxmlformats.org/drawingml/2006/main" noGrp="1"/>
          </p:cNvSpPr>
          <p:nvPr/>
        </p:nvSpPr>
        <p:spPr>
          <a:xfrm xmlns:a="http://schemas.openxmlformats.org/drawingml/2006/main">
            <a:off x="1238250" y="5810250"/>
            <a:ext cx="971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1F33"/>
                </a:solidFill>
              </a:defRPr>
            </a:pPr>
            <a:r>
              <a:rPr sz="2100" b="1">
                <a:solidFill>
                  <a:srgbClr val="0B1F33"/>
                </a:solidFill>
              </a:rPr>
              <a:t>A Private Bank that remembers, anticipates, learns and acts as one.</a:t>
            </a:r>
          </a:p>
        </p:txBody>
      </p:sp>
    </p:spTree>
    <p:extLst>
      <p:ext uri="{BB962C8B-B14F-4D97-AF65-F5344CB8AC3E}">
        <p14:creationId xmlns:p14="http://schemas.microsoft.com/office/powerpoint/2010/main" val="200134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2026-08-18T17:53:51.9600000Z</dcterms:created>
  <dcterms:modified xsi:type="dcterms:W3CDTF">2026-08-18T17:53:51.9600000Z</dcterms:modified>
</coreProperties>
</file>