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88780"/>
                </a:solidFill>
                <a:latin typeface="Helvetica Neue Medium"/>
              </a:rPr>
              <a:t>01   </a:t>
            </a:r>
            <a:r>
              <a:rPr sz="1100" b="0" i="0">
                <a:solidFill>
                  <a:srgbClr val="993C1D"/>
                </a:solidFill>
                <a:latin typeface="Helvetica Neue Medium"/>
              </a:rPr>
              <a:t>Global private banking &amp; innovation — the Coach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96112"/>
            <a:ext cx="104543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2C2C2A"/>
                </a:solidFill>
                <a:latin typeface="Helvetica Neue Medium"/>
              </a:rPr>
              <a:t>From routing questions, to reasoning toward objectives.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89888"/>
            <a:ext cx="104543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F5E5A"/>
                </a:solidFill>
                <a:latin typeface="Helvetica Neue"/>
              </a:rPr>
              <a:t>Three generations of Coach are in the field. The fourth is taking shape in the lab.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10512"/>
            <a:ext cx="2325547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2011680"/>
            <a:ext cx="18866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88780"/>
                </a:solidFill>
                <a:latin typeface="Helvetica Neue Medium"/>
              </a:rPr>
              <a:t>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2267712"/>
            <a:ext cx="18866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2C2C2A"/>
                </a:solidFill>
                <a:latin typeface="Helvetica Neue Medium"/>
              </a:rPr>
              <a:t>Coach 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2651760"/>
            <a:ext cx="18866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44441"/>
                </a:solidFill>
                <a:latin typeface="Helvetica Neue Medium"/>
              </a:rPr>
              <a:t>Single-agent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999232"/>
            <a:ext cx="1886635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444441"/>
                </a:solidFill>
                <a:latin typeface="Helvetica Neue"/>
              </a:rPr>
              <a:t>Ask a question; Coach routes it to the right specialist and returns the answer.</a:t>
            </a:r>
          </a:p>
          <a:p>
            <a:pPr algn="l">
              <a:lnSpc>
                <a:spcPct val="128000"/>
              </a:lnSpc>
              <a:spcBef>
                <a:spcPts val="700"/>
              </a:spcBef>
            </a:pPr>
            <a:r>
              <a:rPr sz="1050" b="0" i="0">
                <a:solidFill>
                  <a:srgbClr val="5F5E5A"/>
                </a:solidFill>
                <a:latin typeface="Helvetica Neue"/>
              </a:rPr>
              <a:t>Investment views → the investment agent. Market data → the FactSet agent. Client questions → the CRM agent.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58235" y="2414016"/>
            <a:ext cx="256032" cy="0"/>
          </a:xfrm>
          <a:prstGeom prst="line">
            <a:avLst/>
          </a:prstGeom>
          <a:ln w="12700">
            <a:solidFill>
              <a:srgbClr val="D85A3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78275" y="1810512"/>
            <a:ext cx="2325547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7731" y="2011680"/>
            <a:ext cx="18866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88780"/>
                </a:solidFill>
                <a:latin typeface="Helvetica Neue Medium"/>
              </a:rPr>
              <a:t>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7731" y="2267712"/>
            <a:ext cx="18866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2C2C2A"/>
                </a:solidFill>
                <a:latin typeface="Helvetica Neue Medium"/>
              </a:rPr>
              <a:t>Coach 2.0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7731" y="2651760"/>
            <a:ext cx="18866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44441"/>
                </a:solidFill>
                <a:latin typeface="Helvetica Neue Medium"/>
              </a:rPr>
              <a:t>Multi-agent 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7731" y="2999232"/>
            <a:ext cx="1886635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444441"/>
                </a:solidFill>
                <a:latin typeface="Helvetica Neue"/>
              </a:rPr>
              <a:t>Agents work in sequence — the output of one becomes the input of the next.</a:t>
            </a:r>
          </a:p>
          <a:p>
            <a:pPr algn="l">
              <a:lnSpc>
                <a:spcPct val="128000"/>
              </a:lnSpc>
              <a:spcBef>
                <a:spcPts val="700"/>
              </a:spcBef>
            </a:pPr>
            <a:r>
              <a:rPr sz="1050" b="0" i="0">
                <a:solidFill>
                  <a:srgbClr val="5F5E5A"/>
                </a:solidFill>
                <a:latin typeface="Helvetica Neue"/>
              </a:rPr>
              <a:t>“Give me a market update and tell me which clients to call” — investments and FactSet feed a portfolio search across the book, ending in one synthesized answer.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67830" y="2414016"/>
            <a:ext cx="256032" cy="0"/>
          </a:xfrm>
          <a:prstGeom prst="line">
            <a:avLst/>
          </a:prstGeom>
          <a:ln w="12700">
            <a:solidFill>
              <a:srgbClr val="D85A3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7870" y="1810512"/>
            <a:ext cx="2325547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7326" y="2011680"/>
            <a:ext cx="18866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88780"/>
                </a:solidFill>
                <a:latin typeface="Helvetica Neue Medium"/>
              </a:rPr>
              <a:t>Rolling 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6" y="2267712"/>
            <a:ext cx="18866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2C2C2A"/>
                </a:solidFill>
                <a:latin typeface="Helvetica Neue Medium"/>
              </a:rPr>
              <a:t>Coach 3.0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6" y="2651760"/>
            <a:ext cx="18866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44441"/>
                </a:solidFill>
                <a:latin typeface="Helvetica Neue Medium"/>
              </a:rPr>
              <a:t>Skills and smarter orchestration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6" y="2999232"/>
            <a:ext cx="1886635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444441"/>
                </a:solidFill>
                <a:latin typeface="Helvetica Neue"/>
              </a:rPr>
              <a:t>Packaged skills, scheduled prompts, and sharper routing across the agent network.</a:t>
            </a:r>
          </a:p>
          <a:p>
            <a:pPr algn="l">
              <a:lnSpc>
                <a:spcPct val="128000"/>
              </a:lnSpc>
              <a:spcBef>
                <a:spcPts val="700"/>
              </a:spcBef>
            </a:pPr>
            <a:r>
              <a:rPr sz="1050" b="0" i="0">
                <a:solidFill>
                  <a:srgbClr val="5F5E5A"/>
                </a:solidFill>
                <a:latin typeface="Helvetica Neue"/>
              </a:rPr>
              <a:t>Recurring intelligence arrives proactively; repeatable workflows replace one-off answers.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77425" y="2414016"/>
            <a:ext cx="256032" cy="0"/>
          </a:xfrm>
          <a:prstGeom prst="line">
            <a:avLst/>
          </a:prstGeom>
          <a:ln w="12700">
            <a:solidFill>
              <a:srgbClr val="D85A3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997465" y="1810512"/>
            <a:ext cx="2325547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6921" y="2011680"/>
            <a:ext cx="18866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93C1D"/>
                </a:solidFill>
                <a:latin typeface="Helvetica Neue Medium"/>
              </a:rPr>
              <a:t>In the 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6921" y="2267712"/>
            <a:ext cx="18866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2C2C2A"/>
                </a:solidFill>
                <a:latin typeface="Helvetica Neue Medium"/>
              </a:rPr>
              <a:t>Playbook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6921" y="2651760"/>
            <a:ext cx="18866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993C1D"/>
                </a:solidFill>
                <a:latin typeface="Helvetica Neue Medium"/>
              </a:rPr>
              <a:t>Agentic reasoning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6921" y="2999232"/>
            <a:ext cx="1886635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444441"/>
                </a:solidFill>
                <a:latin typeface="Helvetica Neue"/>
              </a:rPr>
              <a:t>The experiment for the next generation of Coach, built on the ReAct framework.</a:t>
            </a:r>
          </a:p>
          <a:p>
            <a:pPr algn="l">
              <a:lnSpc>
                <a:spcPct val="128000"/>
              </a:lnSpc>
              <a:spcBef>
                <a:spcPts val="700"/>
              </a:spcBef>
            </a:pPr>
            <a:r>
              <a:rPr sz="1050" b="0" i="0">
                <a:solidFill>
                  <a:srgbClr val="5F5E5A"/>
                </a:solidFill>
                <a:latin typeface="Helvetica Neue"/>
              </a:rPr>
              <a:t>It reasons in a loop toward a clear objective — and adds coding-agent capability. Detailed on the pages that follow.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5650992"/>
            <a:ext cx="10454335" cy="777240"/>
          </a:xfrm>
          <a:prstGeom prst="roundRect">
            <a:avLst>
              <a:gd name="adj" fmla="val 18000"/>
            </a:avLst>
          </a:prstGeom>
          <a:solidFill>
            <a:srgbClr val="FAF8F1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46304" bIns="146304" wrap="square"/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C2C2A"/>
                </a:solidFill>
                <a:latin typeface="Helvetica Neue Medium"/>
              </a:rPr>
              <a:t>Each generation compounds on the last — </a:t>
            </a:r>
            <a:r>
              <a:rPr sz="1500" b="0">
                <a:solidFill>
                  <a:srgbClr val="5F5E5A"/>
                </a:solidFill>
                <a:latin typeface="Helvetica Neue"/>
              </a:rPr>
              <a:t>the platform now answers questions no single agent could.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289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 Medium"/>
              </a:rPr>
              <a:t>1</a:t>
            </a:r>
            <a:r>
              <a:rPr sz="1000" b="0" i="0">
                <a:solidFill>
                  <a:srgbClr val="888780"/>
                </a:solidFill>
                <a:latin typeface="Helvetica Neue Medium"/>
              </a:rPr>
              <a:t>  /  5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88780"/>
                </a:solidFill>
                <a:latin typeface="Helvetica Neue Medium"/>
              </a:rPr>
              <a:t>02   </a:t>
            </a:r>
            <a:r>
              <a:rPr sz="1100" b="0" i="0">
                <a:solidFill>
                  <a:srgbClr val="993C1D"/>
                </a:solidFill>
                <a:latin typeface="Helvetica Neue Medium"/>
              </a:rPr>
              <a:t>Side by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96112"/>
            <a:ext cx="104543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2C2C2A"/>
                </a:solidFill>
                <a:latin typeface="Helvetica Neue Medium"/>
              </a:rPr>
              <a:t>Orchestration today. </a:t>
            </a:r>
            <a:r>
              <a:rPr sz="2600" b="0" i="0">
                <a:solidFill>
                  <a:srgbClr val="5F5E5A"/>
                </a:solidFill>
                <a:latin typeface="Helvetica Neue Medium"/>
              </a:rPr>
              <a:t>Reasoning next.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481328"/>
            <a:ext cx="4983480" cy="4041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C2C2A"/>
                </a:solidFill>
                <a:latin typeface="Helvetica Neue Medium"/>
              </a:rPr>
              <a:t>Coach today</a:t>
            </a:r>
            <a:r>
              <a:rPr sz="1100" b="0" i="0">
                <a:solidFill>
                  <a:srgbClr val="888780"/>
                </a:solidFill>
                <a:latin typeface="Helvetica Neue Medium"/>
              </a:rPr>
              <a:t>   2.0 / 3.0 —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56816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F5E5A"/>
                </a:solidFill>
                <a:latin typeface="Helvetica Neue"/>
              </a:rPr>
              <a:t>One question, orchestrated across specialist agents.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83180" y="2350008"/>
            <a:ext cx="1554480" cy="347472"/>
          </a:xfrm>
          <a:prstGeom prst="roundRect">
            <a:avLst>
              <a:gd name="adj" fmla="val 16000"/>
            </a:avLst>
          </a:prstGeom>
          <a:solidFill>
            <a:srgbClr val="FAF8F1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C2C2A"/>
                </a:solidFill>
                <a:latin typeface="Helvetica Neue Medium"/>
              </a:rPr>
              <a:t>Your question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60420.0" y="2724912"/>
            <a:ext cx="0.0" cy="182880"/>
          </a:xfrm>
          <a:prstGeom prst="line">
            <a:avLst/>
          </a:prstGeom>
          <a:ln w="12700">
            <a:solidFill>
              <a:srgbClr val="D85A3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217420" y="2907792"/>
            <a:ext cx="2286000" cy="438912"/>
          </a:xfrm>
          <a:prstGeom prst="roundRect">
            <a:avLst>
              <a:gd name="adj" fmla="val 16000"/>
            </a:avLst>
          </a:prstGeom>
          <a:solidFill>
            <a:srgbClr val="FAECE7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993C1D"/>
                </a:solidFill>
                <a:latin typeface="Helvetica Neue Medium"/>
              </a:rPr>
              <a:t>Coach — the orchestrator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618488.0" y="3346704"/>
            <a:ext cx="1741932.0" cy="402336"/>
          </a:xfrm>
          <a:prstGeom prst="line">
            <a:avLst/>
          </a:prstGeom>
          <a:ln w="9525">
            <a:solidFill>
              <a:srgbClr val="C8C7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779776.0" y="3346704"/>
            <a:ext cx="580644.0" cy="402336"/>
          </a:xfrm>
          <a:prstGeom prst="line">
            <a:avLst/>
          </a:prstGeom>
          <a:ln w="9525">
            <a:solidFill>
              <a:srgbClr val="C8C7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360420.0" y="3346704"/>
            <a:ext cx="580644.0" cy="402336"/>
          </a:xfrm>
          <a:prstGeom prst="line">
            <a:avLst/>
          </a:prstGeom>
          <a:ln w="9525">
            <a:solidFill>
              <a:srgbClr val="C8C7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360420.0" y="3346704"/>
            <a:ext cx="1741932.0" cy="402336"/>
          </a:xfrm>
          <a:prstGeom prst="line">
            <a:avLst/>
          </a:prstGeom>
          <a:ln w="9525">
            <a:solidFill>
              <a:srgbClr val="C8C7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97280" y="3749040"/>
            <a:ext cx="1042416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44441"/>
                </a:solidFill>
                <a:latin typeface="Helvetica Neue Medium"/>
              </a:rPr>
              <a:t>Investments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58568" y="3749040"/>
            <a:ext cx="1042416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44441"/>
                </a:solidFill>
                <a:latin typeface="Helvetica Neue Medium"/>
              </a:rPr>
              <a:t>FactSet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19856" y="3749040"/>
            <a:ext cx="1042416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44441"/>
                </a:solidFill>
                <a:latin typeface="Helvetica Neue Medium"/>
              </a:rPr>
              <a:t>Portfolio search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81144" y="3749040"/>
            <a:ext cx="1042416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44441"/>
                </a:solidFill>
                <a:latin typeface="Helvetica Neue Medium"/>
              </a:rPr>
              <a:t>News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206240"/>
            <a:ext cx="1042416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44441"/>
                </a:solidFill>
                <a:latin typeface="Helvetica Neue Medium"/>
              </a:rPr>
              <a:t>Lending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58568" y="4206240"/>
            <a:ext cx="1042416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44441"/>
                </a:solidFill>
                <a:latin typeface="Helvetica Neue Medium"/>
              </a:rPr>
              <a:t>Deposits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9856" y="4206240"/>
            <a:ext cx="1042416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44441"/>
                </a:solidFill>
                <a:latin typeface="Helvetica Neue Medium"/>
              </a:rPr>
              <a:t>Fees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81144" y="4206240"/>
            <a:ext cx="1042416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44441"/>
                </a:solidFill>
                <a:latin typeface="Helvetica Neue Medium"/>
              </a:rPr>
              <a:t>CRM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608576"/>
            <a:ext cx="4526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888780"/>
                </a:solidFill>
                <a:latin typeface="Helvetica Neue"/>
              </a:rPr>
              <a:t>…and a growing roster of specialists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360420.0" y="4846320"/>
            <a:ext cx="0.0" cy="182880"/>
          </a:xfrm>
          <a:prstGeom prst="line">
            <a:avLst/>
          </a:prstGeom>
          <a:ln w="12700">
            <a:solidFill>
              <a:srgbClr val="D85A3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125980" y="5029200"/>
            <a:ext cx="2468880" cy="365760"/>
          </a:xfrm>
          <a:prstGeom prst="roundRect">
            <a:avLst>
              <a:gd name="adj" fmla="val 16000"/>
            </a:avLst>
          </a:prstGeom>
          <a:solidFill>
            <a:srgbClr val="FAF8F1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C2C2A"/>
                </a:solidFill>
                <a:latin typeface="Helvetica Neue Medium"/>
              </a:rPr>
              <a:t>One synthesized answer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481328"/>
            <a:ext cx="5105095" cy="4041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645920"/>
            <a:ext cx="4647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C2C2A"/>
                </a:solidFill>
                <a:latin typeface="Helvetica Neue Medium"/>
              </a:rPr>
              <a:t>Playbook AI</a:t>
            </a:r>
            <a:r>
              <a:rPr sz="1100" b="0" i="0">
                <a:solidFill>
                  <a:srgbClr val="993C1D"/>
                </a:solidFill>
                <a:latin typeface="Helvetica Neue Medium"/>
              </a:rPr>
              <a:t>   in the lab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1956816"/>
            <a:ext cx="46478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F5E5A"/>
                </a:solidFill>
                <a:latin typeface="Helvetica Neue"/>
              </a:rPr>
              <a:t>One objective, reasoned toward in a loop — with the same agents, and more.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93227" y="2350008"/>
            <a:ext cx="1554480" cy="347472"/>
          </a:xfrm>
          <a:prstGeom prst="roundRect">
            <a:avLst>
              <a:gd name="adj" fmla="val 16000"/>
            </a:avLst>
          </a:prstGeom>
          <a:solidFill>
            <a:srgbClr val="FAF8F1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C2C2A"/>
                </a:solidFill>
                <a:latin typeface="Helvetica Neue Medium"/>
              </a:rPr>
              <a:t>Your objective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70467.5" y="2724912"/>
            <a:ext cx="0.0" cy="182880"/>
          </a:xfrm>
          <a:prstGeom prst="line">
            <a:avLst/>
          </a:prstGeom>
          <a:ln w="12700">
            <a:solidFill>
              <a:srgbClr val="D85A3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548475" y="2907792"/>
            <a:ext cx="1298448" cy="438912"/>
          </a:xfrm>
          <a:prstGeom prst="roundRect">
            <a:avLst>
              <a:gd name="adj" fmla="val 16000"/>
            </a:avLst>
          </a:prstGeom>
          <a:solidFill>
            <a:srgbClr val="FAECE7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993C1D"/>
                </a:solidFill>
                <a:latin typeface="Helvetica Neue Medium"/>
              </a:rPr>
              <a:t>Thought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876923.5" y="3127248.0"/>
            <a:ext cx="214320.0" cy="0.0"/>
          </a:xfrm>
          <a:prstGeom prst="line">
            <a:avLst/>
          </a:prstGeom>
          <a:ln w="12700">
            <a:solidFill>
              <a:srgbClr val="D85A3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21243" y="2907792"/>
            <a:ext cx="1298448" cy="4389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C2C2A"/>
                </a:solidFill>
                <a:latin typeface="Helvetica Neue Medium"/>
              </a:rPr>
              <a:t>Action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449691.5" y="3127248.0"/>
            <a:ext cx="214320.0" cy="0.0"/>
          </a:xfrm>
          <a:prstGeom prst="line">
            <a:avLst/>
          </a:prstGeom>
          <a:ln w="12700">
            <a:solidFill>
              <a:srgbClr val="D85A3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694011" y="2907792"/>
            <a:ext cx="1298448" cy="4389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C2C2A"/>
                </a:solidFill>
                <a:latin typeface="Helvetica Neue Medium"/>
              </a:rPr>
              <a:t>Observation</a:t>
            </a:r>
          </a:p>
        </p:txBody>
      </p:sp>
      <p:sp>
        <p:nvSpPr>
          <p:cNvPr id="35" name="Freeform 34"/>
          <p:cNvSpPr/>
          <p:nvPr/>
        </p:nvSpPr>
        <p:spPr>
          <a:xfrm>
            <a:off x="7197699" y="3364704"/>
            <a:ext cx="3145536" cy="183168"/>
          </a:xfrm>
          <a:custGeom>
            <a:avLst/>
            <a:gdLst/>
            <a:ahLst/>
            <a:cxnLst/>
            <a:rect l="l" t="t" r="r" b="b"/>
            <a:pathLst>
              <a:path w="3145536" h="183168">
                <a:moveTo>
                  <a:pt x="3145536" y="0"/>
                </a:moveTo>
                <a:lnTo>
                  <a:pt x="3145536" y="183168"/>
                </a:lnTo>
                <a:lnTo>
                  <a:pt x="0" y="183168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D85A3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593592"/>
            <a:ext cx="464789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993C1D"/>
                </a:solidFill>
                <a:latin typeface="Helvetica Neue"/>
              </a:rPr>
              <a:t>Re-approaches until the objective is met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770467.5" y="3803904"/>
            <a:ext cx="0.0" cy="382336"/>
          </a:xfrm>
          <a:prstGeom prst="line">
            <a:avLst/>
          </a:prstGeom>
          <a:ln w="9525">
            <a:solidFill>
              <a:srgbClr val="C8C7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446520" y="4206240"/>
            <a:ext cx="1470050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44441"/>
                </a:solidFill>
                <a:latin typeface="Helvetica Neue Medium"/>
              </a:rPr>
              <a:t>Every Coach agent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35442" y="4206240"/>
            <a:ext cx="1470050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44441"/>
                </a:solidFill>
                <a:latin typeface="Helvetica Neue Medium"/>
              </a:rPr>
              <a:t>Writes &amp; runs code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24364" y="4206240"/>
            <a:ext cx="1470050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44441"/>
                </a:solidFill>
                <a:latin typeface="Helvetica Neue Medium"/>
              </a:rPr>
              <a:t>Analytics on the fly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46520" y="4645152"/>
            <a:ext cx="1470050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44441"/>
                </a:solidFill>
                <a:latin typeface="Helvetica Neue Medium"/>
              </a:rPr>
              <a:t>Creates artifacts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35442" y="4645152"/>
            <a:ext cx="1470050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44441"/>
                </a:solidFill>
                <a:latin typeface="Helvetica Neue Medium"/>
              </a:rPr>
              <a:t>Builds dashboards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24364" y="4645152"/>
            <a:ext cx="1470050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44441"/>
                </a:solidFill>
                <a:latin typeface="Helvetica Neue Medium"/>
              </a:rPr>
              <a:t>Self-corrects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770467.5" y="5047488"/>
            <a:ext cx="0.0" cy="109727"/>
          </a:xfrm>
          <a:prstGeom prst="line">
            <a:avLst/>
          </a:prstGeom>
          <a:ln w="12700">
            <a:solidFill>
              <a:srgbClr val="D85A3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215987" y="5157215"/>
            <a:ext cx="3108960" cy="347472"/>
          </a:xfrm>
          <a:prstGeom prst="roundRect">
            <a:avLst>
              <a:gd name="adj" fmla="val 16000"/>
            </a:avLst>
          </a:prstGeom>
          <a:solidFill>
            <a:srgbClr val="FAF8F1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C2C2A"/>
                </a:solidFill>
                <a:latin typeface="Helvetica Neue Medium"/>
              </a:rPr>
              <a:t>An answer, an analysis — or a working artifact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8680" y="5650992"/>
            <a:ext cx="10454335" cy="777240"/>
          </a:xfrm>
          <a:prstGeom prst="roundRect">
            <a:avLst>
              <a:gd name="adj" fmla="val 18000"/>
            </a:avLst>
          </a:prstGeom>
          <a:solidFill>
            <a:srgbClr val="FAF8F1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46304" bIns="146304" wrap="square"/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C2C2A"/>
                </a:solidFill>
                <a:latin typeface="Helvetica Neue Medium"/>
              </a:rPr>
              <a:t>Coach orchestrates specialists. </a:t>
            </a:r>
            <a:r>
              <a:rPr sz="1500" b="0">
                <a:solidFill>
                  <a:srgbClr val="5F5E5A"/>
                </a:solidFill>
                <a:latin typeface="Helvetica Neue"/>
              </a:rPr>
              <a:t>Playbook reasons with them — and builds.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6289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 Medium"/>
              </a:rPr>
              <a:t>2</a:t>
            </a:r>
            <a:r>
              <a:rPr sz="1000" b="0" i="0">
                <a:solidFill>
                  <a:srgbClr val="888780"/>
                </a:solidFill>
                <a:latin typeface="Helvetica Neue Medium"/>
              </a:rPr>
              <a:t>  /  5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88780"/>
                </a:solidFill>
                <a:latin typeface="Helvetica Neue Medium"/>
              </a:rPr>
              <a:t>03   </a:t>
            </a:r>
            <a:r>
              <a:rPr sz="1100" b="0" i="0">
                <a:solidFill>
                  <a:srgbClr val="993C1D"/>
                </a:solidFill>
                <a:latin typeface="Helvetica Neue Medium"/>
              </a:rPr>
              <a:t>What's in the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96112"/>
            <a:ext cx="104543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2C2C2A"/>
                </a:solidFill>
                <a:latin typeface="Helvetica Neue Medium"/>
              </a:rPr>
              <a:t>Playbook AI. </a:t>
            </a:r>
            <a:r>
              <a:rPr sz="2600" b="0" i="0">
                <a:solidFill>
                  <a:srgbClr val="5F5E5A"/>
                </a:solidFill>
                <a:latin typeface="Helvetica Neue Medium"/>
              </a:rPr>
              <a:t>Reasoning in a loop, anchored to an objective.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72768"/>
            <a:ext cx="498348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" y="1792224"/>
            <a:ext cx="4471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C2C2A"/>
                </a:solidFill>
                <a:latin typeface="Helvetica Neue Medium"/>
              </a:rPr>
              <a:t>What 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2176272"/>
            <a:ext cx="4471416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8000"/>
              </a:lnSpc>
            </a:pPr>
            <a:r>
              <a:rPr sz="1300" b="0" i="0">
                <a:solidFill>
                  <a:srgbClr val="444441"/>
                </a:solidFill>
                <a:latin typeface="Helvetica Neue"/>
              </a:rPr>
              <a:t>Playbook AI is built on the </a:t>
            </a:r>
            <a:r>
              <a:rPr sz="1300" b="0" i="0">
                <a:solidFill>
                  <a:srgbClr val="2C2C2A"/>
                </a:solidFill>
                <a:latin typeface="Helvetica Neue Medium"/>
              </a:rPr>
              <a:t>ReAct framework</a:t>
            </a:r>
            <a:r>
              <a:rPr sz="1300" b="0" i="0">
                <a:solidFill>
                  <a:srgbClr val="444441"/>
                </a:solidFill>
                <a:latin typeface="Helvetica Neue"/>
              </a:rPr>
              <a:t> — reasoning and acting. The model interleaves thinking with doing, building full context and moving deliberately through each step with the tools available to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16152" y="3721608"/>
            <a:ext cx="1298448" cy="512064"/>
          </a:xfrm>
          <a:prstGeom prst="roundRect">
            <a:avLst>
              <a:gd name="adj" fmla="val 12000"/>
            </a:avLst>
          </a:prstGeom>
          <a:solidFill>
            <a:srgbClr val="FAECE7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993C1D"/>
                </a:solidFill>
                <a:latin typeface="Helvetica Neue Medium"/>
              </a:rPr>
              <a:t>Thought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3977640.0"/>
            <a:ext cx="256032" cy="0.0"/>
          </a:xfrm>
          <a:prstGeom prst="line">
            <a:avLst/>
          </a:prstGeom>
          <a:ln w="12700">
            <a:solidFill>
              <a:srgbClr val="D85A3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62072" y="3721608"/>
            <a:ext cx="1298448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C2C2A"/>
                </a:solidFill>
                <a:latin typeface="Helvetica Neue Medium"/>
              </a:rPr>
              <a:t>Action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06240" y="3977640.0"/>
            <a:ext cx="256032" cy="0.0"/>
          </a:xfrm>
          <a:prstGeom prst="line">
            <a:avLst/>
          </a:prstGeom>
          <a:ln w="12700">
            <a:solidFill>
              <a:srgbClr val="D85A3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07992" y="3721608"/>
            <a:ext cx="1298448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C2C2A"/>
                </a:solidFill>
                <a:latin typeface="Helvetica Neue Medium"/>
              </a:rPr>
              <a:t>Observation</a:t>
            </a:r>
          </a:p>
        </p:txBody>
      </p:sp>
      <p:sp>
        <p:nvSpPr>
          <p:cNvPr id="12" name="Freeform 11"/>
          <p:cNvSpPr/>
          <p:nvPr/>
        </p:nvSpPr>
        <p:spPr>
          <a:xfrm>
            <a:off x="1865376" y="4253672"/>
            <a:ext cx="3291840" cy="290896"/>
          </a:xfrm>
          <a:custGeom>
            <a:avLst/>
            <a:gdLst/>
            <a:ahLst/>
            <a:cxnLst/>
            <a:rect l="l" t="t" r="r" b="b"/>
            <a:pathLst>
              <a:path w="3291840" h="290896">
                <a:moveTo>
                  <a:pt x="3291840" y="0"/>
                </a:moveTo>
                <a:lnTo>
                  <a:pt x="3291840" y="290896"/>
                </a:lnTo>
                <a:lnTo>
                  <a:pt x="0" y="29089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D85A3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4617720"/>
            <a:ext cx="44714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5F5E5A"/>
                </a:solidFill>
                <a:latin typeface="Helvetica Neue"/>
              </a:rPr>
              <a:t>The loop repeats until the objective is met.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72768"/>
            <a:ext cx="5105095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792224"/>
            <a:ext cx="4593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C2C2A"/>
                </a:solidFill>
                <a:latin typeface="Helvetica Neue Medium"/>
              </a:rPr>
              <a:t>Where it goes beyond Coach 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212848"/>
            <a:ext cx="4593031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C2C2A"/>
                </a:solidFill>
                <a:latin typeface="Helvetica Neue Medium"/>
              </a:rPr>
              <a:t>Iterative, not one-shot. </a:t>
            </a:r>
            <a:r>
              <a:rPr sz="1200" b="0" i="0">
                <a:solidFill>
                  <a:srgbClr val="444441"/>
                </a:solidFill>
                <a:latin typeface="Helvetica Neue"/>
              </a:rPr>
              <a:t>Coach today makes a single tool call — if the response is weak, it stops there. Playbook recognizes a weak response and re-approaches the query from different angles until it extracts what it needs.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200" b="0" i="0">
                <a:solidFill>
                  <a:srgbClr val="2C2C2A"/>
                </a:solidFill>
                <a:latin typeface="Helvetica Neue Medium"/>
              </a:rPr>
              <a:t>Anchored to a clear objective. </a:t>
            </a:r>
            <a:r>
              <a:rPr sz="1200" b="0" i="0">
                <a:solidFill>
                  <a:srgbClr val="444441"/>
                </a:solidFill>
                <a:latin typeface="Helvetica Neue"/>
              </a:rPr>
              <a:t>The cycle is genuinely iterative and aimed at a defined goal — not a router that hopes the first answer lands.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200" b="0" i="0">
                <a:solidFill>
                  <a:srgbClr val="2C2C2A"/>
                </a:solidFill>
                <a:latin typeface="Helvetica Neue Medium"/>
              </a:rPr>
              <a:t>Coding agent, and more. </a:t>
            </a:r>
            <a:r>
              <a:rPr sz="1200" b="0" i="0">
                <a:solidFill>
                  <a:srgbClr val="444441"/>
                </a:solidFill>
                <a:latin typeface="Helvetica Neue"/>
              </a:rPr>
              <a:t>Playbook adds coding-agent capability and further skills — the working architecture for the next generation of Coach.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650992"/>
            <a:ext cx="10454335" cy="777240"/>
          </a:xfrm>
          <a:prstGeom prst="roundRect">
            <a:avLst>
              <a:gd name="adj" fmla="val 18000"/>
            </a:avLst>
          </a:prstGeom>
          <a:solidFill>
            <a:srgbClr val="FAF8F1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46304" bIns="146304" wrap="square"/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993C1D"/>
                </a:solidFill>
                <a:latin typeface="Helvetica Neue Medium"/>
              </a:rPr>
              <a:t>The caveat: output is only as good as the tool call. </a:t>
            </a:r>
            <a:r>
              <a:rPr sz="1500" b="0">
                <a:solidFill>
                  <a:srgbClr val="5F5E5A"/>
                </a:solidFill>
                <a:latin typeface="Helvetica Neue"/>
              </a:rPr>
              <a:t>The framework does not fix a weak source — so alongside it, we are raising the quality of the underlying agents and layering in guardrails.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289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 Medium"/>
              </a:rPr>
              <a:t>3</a:t>
            </a:r>
            <a:r>
              <a:rPr sz="1000" b="0" i="0">
                <a:solidFill>
                  <a:srgbClr val="888780"/>
                </a:solidFill>
                <a:latin typeface="Helvetica Neue Medium"/>
              </a:rPr>
              <a:t>  /  5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88780"/>
                </a:solidFill>
                <a:latin typeface="Helvetica Neue Medium"/>
              </a:rPr>
              <a:t>04   </a:t>
            </a:r>
            <a:r>
              <a:rPr sz="1100" b="0" i="0">
                <a:solidFill>
                  <a:srgbClr val="993C1D"/>
                </a:solidFill>
                <a:latin typeface="Helvetica Neue Medium"/>
              </a:rPr>
              <a:t>A 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96112"/>
            <a:ext cx="104543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2C2C2A"/>
                </a:solidFill>
                <a:latin typeface="Helvetica Neue Medium"/>
              </a:rPr>
              <a:t>One request. </a:t>
            </a:r>
            <a:r>
              <a:rPr sz="2600" b="0" i="0">
                <a:solidFill>
                  <a:srgbClr val="5F5E5A"/>
                </a:solidFill>
                <a:latin typeface="Helvetica Neue Medium"/>
              </a:rPr>
              <a:t>Two ways of working.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417320"/>
            <a:ext cx="10454335" cy="502920"/>
          </a:xfrm>
          <a:prstGeom prst="roundRect">
            <a:avLst>
              <a:gd name="adj" fmla="val 18000"/>
            </a:avLst>
          </a:prstGeom>
          <a:solidFill>
            <a:srgbClr val="FAF8F1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91440" bIns="91440" wrap="square"/>
          <a:lstStyle/>
          <a:p>
            <a:pPr algn="l"/>
            <a:r>
              <a:rPr sz="1450" b="0" i="1">
                <a:solidFill>
                  <a:srgbClr val="2C2C2A"/>
                </a:solidFill>
                <a:latin typeface="Helvetica Neue Medium"/>
              </a:rPr>
              <a:t>“Summarize this morning's meeting and tell me which clients I should call.”</a:t>
            </a:r>
            <a:r>
              <a:rPr sz="1150" i="1">
                <a:solidFill>
                  <a:srgbClr val="888780"/>
                </a:solidFill>
                <a:latin typeface="Helvetica Neue"/>
              </a:rPr>
              <a:t>   — an advisor, any weekday morning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21408"/>
            <a:ext cx="4983480" cy="3346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" y="2286000"/>
            <a:ext cx="4507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C2C2A"/>
                </a:solidFill>
                <a:latin typeface="Helvetica Neue Medium"/>
              </a:rPr>
              <a:t>With Coach today</a:t>
            </a:r>
            <a:r>
              <a:rPr sz="1100" b="0" i="0">
                <a:solidFill>
                  <a:srgbClr val="888780"/>
                </a:solidFill>
                <a:latin typeface="Helvetica Neue Medium"/>
              </a:rPr>
              <a:t>   2.0 /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" y="26974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D85A30"/>
                </a:solidFill>
                <a:latin typeface="Helvetica Neue Mediu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688336"/>
            <a:ext cx="419709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2C2C2A"/>
                </a:solidFill>
                <a:latin typeface="Helvetica Neue Medium"/>
              </a:rPr>
              <a:t>Routes the request. </a:t>
            </a:r>
            <a:r>
              <a:rPr sz="1150" b="0" i="0">
                <a:solidFill>
                  <a:srgbClr val="444441"/>
                </a:solidFill>
                <a:latin typeface="Helvetica Neue"/>
              </a:rPr>
              <a:t>Coach sends it to the meeting-notes and investments agents.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33009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D85A30"/>
                </a:solidFill>
                <a:latin typeface="Helvetica Neue Medium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291840"/>
            <a:ext cx="419709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2C2C2A"/>
                </a:solidFill>
                <a:latin typeface="Helvetica Neue Medium"/>
              </a:rPr>
              <a:t>Assembles the summary. </a:t>
            </a:r>
            <a:r>
              <a:rPr sz="1150" b="0" i="0">
                <a:solidFill>
                  <a:srgbClr val="444441"/>
                </a:solidFill>
                <a:latin typeface="Helvetica Neue"/>
              </a:rPr>
              <a:t>The morning meeting's views and market calls, in brief.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39044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D85A30"/>
                </a:solidFill>
                <a:latin typeface="Helvetica Neue Medium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895344"/>
            <a:ext cx="419709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2C2C2A"/>
                </a:solidFill>
                <a:latin typeface="Helvetica Neue Medium"/>
              </a:rPr>
              <a:t>Searches the book. </a:t>
            </a:r>
            <a:r>
              <a:rPr sz="1150" b="0" i="0">
                <a:solidFill>
                  <a:srgbClr val="444441"/>
                </a:solidFill>
                <a:latin typeface="Helvetica Neue"/>
              </a:rPr>
              <a:t>Portfolio search finds the clients holding the names discussed.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" y="45079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D85A30"/>
                </a:solidFill>
                <a:latin typeface="Helvetica Neue Medium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498848"/>
            <a:ext cx="419709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2C2C2A"/>
                </a:solidFill>
                <a:latin typeface="Helvetica Neue Medium"/>
              </a:rPr>
              <a:t>Returns the answer. </a:t>
            </a:r>
            <a:r>
              <a:rPr sz="1150" b="0" i="0">
                <a:solidFill>
                  <a:srgbClr val="444441"/>
                </a:solidFill>
                <a:latin typeface="Helvetica Neue"/>
              </a:rPr>
              <a:t>One response: the summary, and a list of clients to call.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5065776"/>
            <a:ext cx="4507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888780"/>
                </a:solidFill>
                <a:latin typeface="Helvetica Neue"/>
              </a:rPr>
              <a:t>Strong when every agent answers well. If one comes back thin, the response reflects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21408"/>
            <a:ext cx="5105095" cy="3346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286000"/>
            <a:ext cx="4629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C2C2A"/>
                </a:solidFill>
                <a:latin typeface="Helvetica Neue Medium"/>
              </a:rPr>
              <a:t>With Playbook AI</a:t>
            </a:r>
            <a:r>
              <a:rPr sz="1100" b="0" i="0">
                <a:solidFill>
                  <a:srgbClr val="993C1D"/>
                </a:solidFill>
                <a:latin typeface="Helvetica Neue Medium"/>
              </a:rPr>
              <a:t>   in the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6974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D85A30"/>
                </a:solidFill>
                <a:latin typeface="Helvetica Neue Medium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688336"/>
            <a:ext cx="4318711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2C2C2A"/>
                </a:solidFill>
                <a:latin typeface="Helvetica Neue Medium"/>
              </a:rPr>
              <a:t>Plans the work. </a:t>
            </a:r>
            <a:r>
              <a:rPr sz="1150" b="0" i="0">
                <a:solidFill>
                  <a:srgbClr val="444441"/>
                </a:solidFill>
                <a:latin typeface="Helvetica Neue"/>
              </a:rPr>
              <a:t>Breaks the request into parts: meeting takeaways, market impact, book exposure, call priority.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3558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D85A30"/>
                </a:solidFill>
                <a:latin typeface="Helvetica Neue Medium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346704"/>
            <a:ext cx="4318711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993C1D"/>
                </a:solidFill>
                <a:latin typeface="Helvetica Neue Medium"/>
              </a:rPr>
              <a:t>Acts, then checks its own work. </a:t>
            </a:r>
            <a:r>
              <a:rPr sz="1150" b="0" i="0">
                <a:solidFill>
                  <a:srgbClr val="444441"/>
                </a:solidFill>
                <a:latin typeface="Helvetica Neue"/>
              </a:rPr>
              <a:t>Queries the meeting-notes agent, sees the summary is thin, and re-approaches from another angle until it holds up.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40142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D85A30"/>
                </a:solidFill>
                <a:latin typeface="Helvetica Neue Medium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005072"/>
            <a:ext cx="4318711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2C2C2A"/>
                </a:solidFill>
                <a:latin typeface="Helvetica Neue Medium"/>
              </a:rPr>
              <a:t>Connects the dots. </a:t>
            </a:r>
            <a:r>
              <a:rPr sz="1150" b="0" i="0">
                <a:solidFill>
                  <a:srgbClr val="444441"/>
                </a:solidFill>
                <a:latin typeface="Helvetica Neue"/>
              </a:rPr>
              <a:t>Cross-checks FactSet price moves against portfolio search to rank clients by exposure.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4672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D85A30"/>
                </a:solidFill>
                <a:latin typeface="Helvetica Neue Medium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663440"/>
            <a:ext cx="4318711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2C2C2A"/>
                </a:solidFill>
                <a:latin typeface="Helvetica Neue Medium"/>
              </a:rPr>
              <a:t>Delivers call-ready output. </a:t>
            </a:r>
            <a:r>
              <a:rPr sz="1150" b="0" i="0">
                <a:solidFill>
                  <a:srgbClr val="444441"/>
                </a:solidFill>
                <a:latin typeface="Helvetica Neue"/>
              </a:rPr>
              <a:t>A briefing and a prioritized call list with talking points — or a working dashboard, built on the spot.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5650992"/>
            <a:ext cx="10454335" cy="777240"/>
          </a:xfrm>
          <a:prstGeom prst="roundRect">
            <a:avLst>
              <a:gd name="adj" fmla="val 18000"/>
            </a:avLst>
          </a:prstGeom>
          <a:solidFill>
            <a:srgbClr val="FAF8F1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46304" bIns="146304" wrap="square"/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C2C2A"/>
                </a:solidFill>
                <a:latin typeface="Helvetica Neue Medium"/>
              </a:rPr>
              <a:t>Same request. Same agents. </a:t>
            </a:r>
            <a:r>
              <a:rPr sz="1500" b="0">
                <a:solidFill>
                  <a:srgbClr val="5F5E5A"/>
                </a:solidFill>
                <a:latin typeface="Helvetica Neue"/>
              </a:rPr>
              <a:t>Playbook keeps working until the answer is call-ready.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289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 Medium"/>
              </a:rPr>
              <a:t>4</a:t>
            </a:r>
            <a:r>
              <a:rPr sz="1000" b="0" i="0">
                <a:solidFill>
                  <a:srgbClr val="888780"/>
                </a:solidFill>
                <a:latin typeface="Helvetica Neue Medium"/>
              </a:rPr>
              <a:t>  /  5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4543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88780"/>
                </a:solidFill>
                <a:latin typeface="Helvetica Neue Medium"/>
              </a:rPr>
              <a:t>05   </a:t>
            </a:r>
            <a:r>
              <a:rPr sz="1100" b="0" i="0">
                <a:solidFill>
                  <a:srgbClr val="993C1D"/>
                </a:solidFill>
                <a:latin typeface="Helvetica Neue Medium"/>
              </a:rPr>
              <a:t>A worked example — alternate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96112"/>
            <a:ext cx="104543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2C2C2A"/>
                </a:solidFill>
                <a:latin typeface="Helvetica Neue Medium"/>
              </a:rPr>
              <a:t>One pass. </a:t>
            </a:r>
            <a:r>
              <a:rPr sz="2600" b="0" i="0">
                <a:solidFill>
                  <a:srgbClr val="5F5E5A"/>
                </a:solidFill>
                <a:latin typeface="Helvetica Neue Medium"/>
              </a:rPr>
              <a:t>One loop.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389888"/>
            <a:ext cx="10454335" cy="438912"/>
          </a:xfrm>
          <a:prstGeom prst="roundRect">
            <a:avLst>
              <a:gd name="adj" fmla="val 18000"/>
            </a:avLst>
          </a:prstGeom>
          <a:solidFill>
            <a:srgbClr val="FAF8F1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 bIns="73152" wrap="square"/>
          <a:lstStyle/>
          <a:p>
            <a:pPr algn="ctr"/>
            <a:r>
              <a:rPr sz="1350" i="1" b="0">
                <a:solidFill>
                  <a:srgbClr val="2C2C2A"/>
                </a:solidFill>
                <a:latin typeface="Helvetica Neue Medium"/>
              </a:rPr>
              <a:t>“Summarize this morning's meeting and tell me which clients I should call.”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93392"/>
            <a:ext cx="10454335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21408"/>
            <a:ext cx="99971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C2C2A"/>
                </a:solidFill>
                <a:latin typeface="Helvetica Neue Medium"/>
              </a:rPr>
              <a:t>With Coach today</a:t>
            </a:r>
            <a:r>
              <a:rPr sz="1050" b="0" i="0">
                <a:solidFill>
                  <a:srgbClr val="888780"/>
                </a:solidFill>
                <a:latin typeface="Helvetica Neue Medium"/>
              </a:rPr>
              <a:t>   one pass, left to right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468880"/>
            <a:ext cx="1407109" cy="502920"/>
          </a:xfrm>
          <a:prstGeom prst="roundRect">
            <a:avLst>
              <a:gd name="adj" fmla="val 16000"/>
            </a:avLst>
          </a:prstGeom>
          <a:solidFill>
            <a:srgbClr val="FAF8F1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C2C2A"/>
                </a:solidFill>
                <a:latin typeface="Helvetica Neue Medium"/>
              </a:rPr>
              <a:t>The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3026664"/>
            <a:ext cx="151683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888780"/>
                </a:solidFill>
                <a:latin typeface="Helvetica Neue"/>
              </a:rPr>
              <a:t>advisor asks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9389" y="2720340.0"/>
            <a:ext cx="260896" cy="0.0"/>
          </a:xfrm>
          <a:prstGeom prst="line">
            <a:avLst/>
          </a:prstGeom>
          <a:ln w="12700">
            <a:solidFill>
              <a:srgbClr val="D85A3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15285" y="2468880"/>
            <a:ext cx="1407109" cy="502920"/>
          </a:xfrm>
          <a:prstGeom prst="roundRect">
            <a:avLst>
              <a:gd name="adj" fmla="val 16000"/>
            </a:avLst>
          </a:prstGeom>
          <a:solidFill>
            <a:srgbClr val="FAECE7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93C1D"/>
                </a:solidFill>
                <a:latin typeface="Helvetica Neue Medium"/>
              </a:rPr>
              <a:t>Coach routes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0421" y="3026664"/>
            <a:ext cx="151683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888780"/>
                </a:solidFill>
                <a:latin typeface="Helvetica Neue"/>
              </a:rPr>
              <a:t>orchestrator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47394" y="2720340.0"/>
            <a:ext cx="260896" cy="0.0"/>
          </a:xfrm>
          <a:prstGeom prst="line">
            <a:avLst/>
          </a:prstGeom>
          <a:ln w="12700">
            <a:solidFill>
              <a:srgbClr val="D85A3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33290" y="2468880"/>
            <a:ext cx="1407109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C2C2A"/>
                </a:solidFill>
                <a:latin typeface="Helvetica Neue Medium"/>
              </a:rPr>
              <a:t>Meeting-notes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8426" y="3026664"/>
            <a:ext cx="151683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888780"/>
                </a:solidFill>
                <a:latin typeface="Helvetica Neue"/>
              </a:rPr>
              <a:t>morning views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65399" y="2720340.0"/>
            <a:ext cx="260896" cy="0.0"/>
          </a:xfrm>
          <a:prstGeom prst="line">
            <a:avLst/>
          </a:prstGeom>
          <a:ln w="12700">
            <a:solidFill>
              <a:srgbClr val="D85A3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51295" y="2468880"/>
            <a:ext cx="1407109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C2C2A"/>
                </a:solidFill>
                <a:latin typeface="Helvetica Neue Medium"/>
              </a:rPr>
              <a:t>FactSet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6431" y="3026664"/>
            <a:ext cx="151683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888780"/>
                </a:solidFill>
                <a:latin typeface="Helvetica Neue"/>
              </a:rPr>
              <a:t>market moves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83404" y="2720340.0"/>
            <a:ext cx="260896" cy="0.0"/>
          </a:xfrm>
          <a:prstGeom prst="line">
            <a:avLst/>
          </a:prstGeom>
          <a:ln w="12700">
            <a:solidFill>
              <a:srgbClr val="D85A3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969300" y="2468880"/>
            <a:ext cx="1407109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C2C2A"/>
                </a:solidFill>
                <a:latin typeface="Helvetica Neue Medium"/>
              </a:rPr>
              <a:t>Portfolio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14436" y="3026664"/>
            <a:ext cx="151683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888780"/>
                </a:solidFill>
                <a:latin typeface="Helvetica Neue"/>
              </a:rPr>
              <a:t>who holds what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01409" y="2720340.0"/>
            <a:ext cx="260896" cy="0.0"/>
          </a:xfrm>
          <a:prstGeom prst="line">
            <a:avLst/>
          </a:prstGeom>
          <a:ln w="12700">
            <a:solidFill>
              <a:srgbClr val="D85A3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87305" y="2468880"/>
            <a:ext cx="1407109" cy="502920"/>
          </a:xfrm>
          <a:prstGeom prst="roundRect">
            <a:avLst>
              <a:gd name="adj" fmla="val 16000"/>
            </a:avLst>
          </a:prstGeom>
          <a:solidFill>
            <a:srgbClr val="FAF8F1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C2C2A"/>
                </a:solidFill>
                <a:latin typeface="Helvetica Neue Medium"/>
              </a:rPr>
              <a:t>Summary + call 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2441" y="3026664"/>
            <a:ext cx="151683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888780"/>
                </a:solidFill>
                <a:latin typeface="Helvetica Neue"/>
              </a:rPr>
              <a:t>one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273552"/>
            <a:ext cx="9997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5F5E5A"/>
                </a:solidFill>
                <a:latin typeface="Helvetica Neue"/>
              </a:rPr>
              <a:t>Each agent is called once. The answer carries whatever came back.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3730752"/>
            <a:ext cx="10454335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3858768"/>
            <a:ext cx="99971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C2C2A"/>
                </a:solidFill>
                <a:latin typeface="Helvetica Neue Medium"/>
              </a:rPr>
              <a:t>With Playbook AI</a:t>
            </a:r>
            <a:r>
              <a:rPr sz="1050" b="0" i="0">
                <a:solidFill>
                  <a:srgbClr val="993C1D"/>
                </a:solidFill>
                <a:latin typeface="Helvetica Neue Medium"/>
              </a:rPr>
              <a:t>   a loop, not a 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4462272"/>
            <a:ext cx="1208706" cy="475488"/>
          </a:xfrm>
          <a:prstGeom prst="roundRect">
            <a:avLst>
              <a:gd name="adj" fmla="val 16000"/>
            </a:avLst>
          </a:prstGeom>
          <a:solidFill>
            <a:srgbClr val="FAF8F1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2C2C2A"/>
                </a:solidFill>
                <a:latin typeface="Helvetica Neue Medium"/>
              </a:rPr>
              <a:t>The objective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" y="4983480"/>
            <a:ext cx="131843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888780"/>
                </a:solidFill>
                <a:latin typeface="Helvetica Neue"/>
              </a:rPr>
              <a:t>advisor asks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327986" y="4700016.0"/>
            <a:ext cx="212032" cy="0.0"/>
          </a:xfrm>
          <a:prstGeom prst="line">
            <a:avLst/>
          </a:prstGeom>
          <a:ln w="12700">
            <a:solidFill>
              <a:srgbClr val="D85A3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562018" y="4462272"/>
            <a:ext cx="1208706" cy="475488"/>
          </a:xfrm>
          <a:prstGeom prst="roundRect">
            <a:avLst>
              <a:gd name="adj" fmla="val 16000"/>
            </a:avLst>
          </a:prstGeom>
          <a:solidFill>
            <a:srgbClr val="FAECE7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93C1D"/>
                </a:solidFill>
                <a:latin typeface="Helvetica Neue Medium"/>
              </a:rPr>
              <a:t>Plans the 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07154" y="4983480"/>
            <a:ext cx="131843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888780"/>
                </a:solidFill>
                <a:latin typeface="Helvetica Neue"/>
              </a:rPr>
              <a:t>thought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792724" y="4700016.0"/>
            <a:ext cx="212032" cy="0.0"/>
          </a:xfrm>
          <a:prstGeom prst="line">
            <a:avLst/>
          </a:prstGeom>
          <a:ln w="12700">
            <a:solidFill>
              <a:srgbClr val="D85A3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026756" y="4462272"/>
            <a:ext cx="1208706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2C2C2A"/>
                </a:solidFill>
                <a:latin typeface="Helvetica Neue Medium"/>
              </a:rPr>
              <a:t>Meeting-notes agent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257462" y="4700016.0"/>
            <a:ext cx="212032" cy="0.0"/>
          </a:xfrm>
          <a:prstGeom prst="line">
            <a:avLst/>
          </a:prstGeom>
          <a:ln w="12700">
            <a:solidFill>
              <a:srgbClr val="D85A3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491494" y="4462272"/>
            <a:ext cx="1208706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2C2C2A"/>
                </a:solidFill>
                <a:latin typeface="Helvetica Neue Medium"/>
              </a:rPr>
              <a:t>FactSet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36630" y="4983480"/>
            <a:ext cx="131843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888780"/>
                </a:solidFill>
                <a:latin typeface="Helvetica Neue"/>
              </a:rPr>
              <a:t>market moves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722200" y="4700016.0"/>
            <a:ext cx="212032" cy="0.0"/>
          </a:xfrm>
          <a:prstGeom prst="line">
            <a:avLst/>
          </a:prstGeom>
          <a:ln w="12700">
            <a:solidFill>
              <a:srgbClr val="D85A3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956232" y="4462272"/>
            <a:ext cx="1208706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2C2C2A"/>
                </a:solidFill>
                <a:latin typeface="Helvetica Neue Medium"/>
              </a:rPr>
              <a:t>Portfolio search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1368" y="4983480"/>
            <a:ext cx="131843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888780"/>
                </a:solidFill>
                <a:latin typeface="Helvetica Neue"/>
              </a:rPr>
              <a:t>ranks exposure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186938" y="4700016.0"/>
            <a:ext cx="212032" cy="0.0"/>
          </a:xfrm>
          <a:prstGeom prst="line">
            <a:avLst/>
          </a:prstGeom>
          <a:ln w="12700">
            <a:solidFill>
              <a:srgbClr val="D85A3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420970" y="4462272"/>
            <a:ext cx="1208706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2C2C2A"/>
                </a:solidFill>
                <a:latin typeface="Helvetica Neue Medium"/>
              </a:rPr>
              <a:t>Coding 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106" y="4983480"/>
            <a:ext cx="131843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888780"/>
                </a:solidFill>
                <a:latin typeface="Helvetica Neue"/>
              </a:rPr>
              <a:t>builds dashboard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651676" y="4700016.0"/>
            <a:ext cx="212032" cy="0.0"/>
          </a:xfrm>
          <a:prstGeom prst="line">
            <a:avLst/>
          </a:prstGeom>
          <a:ln w="12700">
            <a:solidFill>
              <a:srgbClr val="D85A3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9885708" y="4462272"/>
            <a:ext cx="1208706" cy="475488"/>
          </a:xfrm>
          <a:prstGeom prst="roundRect">
            <a:avLst>
              <a:gd name="adj" fmla="val 16000"/>
            </a:avLst>
          </a:prstGeom>
          <a:solidFill>
            <a:srgbClr val="FAF8F1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2C2C2A"/>
                </a:solidFill>
                <a:latin typeface="Helvetica Neue Medium"/>
              </a:rPr>
              <a:t>Call-ready output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30844" y="4983480"/>
            <a:ext cx="131843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888780"/>
                </a:solidFill>
                <a:latin typeface="Helvetica Neue"/>
              </a:rPr>
              <a:t>brief + call list</a:t>
            </a:r>
          </a:p>
        </p:txBody>
      </p:sp>
      <p:sp>
        <p:nvSpPr>
          <p:cNvPr id="46" name="Freeform 45"/>
          <p:cNvSpPr/>
          <p:nvPr/>
        </p:nvSpPr>
        <p:spPr>
          <a:xfrm>
            <a:off x="4191348" y="4242816"/>
            <a:ext cx="879522" cy="205456"/>
          </a:xfrm>
          <a:custGeom>
            <a:avLst/>
            <a:gdLst/>
            <a:ahLst/>
            <a:cxnLst/>
            <a:rect l="l" t="t" r="r" b="b"/>
            <a:pathLst>
              <a:path w="879522" h="205456">
                <a:moveTo>
                  <a:pt x="879522" y="205456"/>
                </a:moveTo>
                <a:lnTo>
                  <a:pt x="879522" y="0"/>
                </a:lnTo>
                <a:lnTo>
                  <a:pt x="0" y="0"/>
                </a:lnTo>
                <a:lnTo>
                  <a:pt x="0" y="205456"/>
                </a:lnTo>
              </a:path>
            </a:pathLst>
          </a:custGeom>
          <a:noFill/>
          <a:ln w="9525">
            <a:solidFill>
              <a:srgbClr val="D85A3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23836" y="4041648"/>
            <a:ext cx="221454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993C1D"/>
                </a:solidFill>
                <a:latin typeface="Helvetica Neue Medium"/>
              </a:rPr>
              <a:t>thin answer — re-approaches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5248656"/>
            <a:ext cx="9997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5F5E5A"/>
                </a:solidFill>
                <a:latin typeface="Helvetica Neue"/>
              </a:rPr>
              <a:t>Playbook checks each result, re-approaches weak ones, and builds as it goes.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" y="5650992"/>
            <a:ext cx="10454335" cy="777240"/>
          </a:xfrm>
          <a:prstGeom prst="roundRect">
            <a:avLst>
              <a:gd name="adj" fmla="val 18000"/>
            </a:avLst>
          </a:prstGeom>
          <a:solidFill>
            <a:srgbClr val="FAF8F1"/>
          </a:solidFill>
          <a:ln w="6350">
            <a:solidFill>
              <a:srgbClr val="C8C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46304" bIns="146304" wrap="square"/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C2C2A"/>
                </a:solidFill>
                <a:latin typeface="Helvetica Neue Medium"/>
              </a:rPr>
              <a:t>The difference is the shape of the flow. </a:t>
            </a:r>
            <a:r>
              <a:rPr sz="1500" b="0">
                <a:solidFill>
                  <a:srgbClr val="5F5E5A"/>
                </a:solidFill>
                <a:latin typeface="Helvetica Neue"/>
              </a:rPr>
              <a:t>One pass — versus a loop that ends only when the output is call-ready.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6289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F5E5A"/>
                </a:solidFill>
                <a:latin typeface="Helvetica Neue Medium"/>
              </a:rPr>
              <a:t>5</a:t>
            </a:r>
            <a:r>
              <a:rPr sz="1000" b="0" i="0">
                <a:solidFill>
                  <a:srgbClr val="888780"/>
                </a:solidFill>
                <a:latin typeface="Helvetica Neue Medium"/>
              </a:rPr>
              <a:t>  /  5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