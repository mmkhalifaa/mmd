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083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the Impact of AI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 / Scale framework for the Solutions portfolio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Off-Site  ·  Managing Director Briefing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Leadership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Eighty-plus AI ideas. One quarterly slate.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Solutions, every business has an AI list. Mortgage wants underwriting automation. Trust wants agentic administration. Investment Strategy wants idea-matching at scale. Lending wants precedent mining. The slate is long, the capital is finite, and the cost of picking the wrong three things compounds for years.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across Solutions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4290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sub-businesses competing for capacity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060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54864" cy="14630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prioritization rhythm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know which three to fund?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ROI lens. Two very different P&amp;Ls.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BUSINESSES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Mortgage · Lending Ops · KYC · DD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their keep by processing volume reliably, accurately, and on the client clock.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mechanic: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· Cycle time · STP · Unit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this on "revenue uplift" gets the wrong answer.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54864" cy="32918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INSIGHT ENGINES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 · parts of Alts · Advisor productivity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1031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their keep by generating ideas, content, and matched opportunities that move the client outcome.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834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mechanic: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063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· Deepening · Precision · Adoption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35204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scores this on "FTE saved" gets the wrong answer.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initiative scored on two axes.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FF6EE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generate revenue, deepen the relationship, or surface ideas we'd otherwise miss?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834640"/>
            <a:ext cx="3474720" cy="0"/>
          </a:xfrm>
          <a:prstGeom prst="line">
            <a:avLst/>
          </a:prstGeom>
          <a:noFill/>
          <a:ln w="9525">
            <a:solidFill>
              <a:srgbClr val="2E6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in: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revenue. NII. AUM growth. Multi-generational retention. Share of wallet.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EF2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54864" cy="32918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this unlock capacity, compress cycle time, or raise output per person?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2834640"/>
            <a:ext cx="3474720" cy="0"/>
          </a:xfrm>
          <a:prstGeom prst="line">
            <a:avLst/>
          </a:prstGeom>
          <a:noFill/>
          <a:ln w="9525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in: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FTE-equivalents unlocked. Cycle-time compression. STP rate. Lower unit cost.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ONE  ·  GROW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actually asking.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" cy="713232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399032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3990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371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put an idea or product in front of an Advisor they would not have surfaced?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30552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130552"/>
            <a:ext cx="54864" cy="713232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2249424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224942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2221992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raise the precision of what we already do — better matches, fewer false positives?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980944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980944"/>
            <a:ext cx="54864" cy="713232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3099816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309981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072384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deepen the relationship — broader wallet share, more products, longer tenure?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831336"/>
            <a:ext cx="54864" cy="713232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" y="3950208"/>
            <a:ext cx="502920" cy="475488"/>
          </a:xfrm>
          <a:prstGeom prst="roundRect">
            <a:avLst>
              <a:gd name="adj" fmla="val 23077"/>
            </a:avLst>
          </a:prstGeom>
          <a:solidFill>
            <a:srgbClr val="2E6B4F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39502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922776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improve client experience in a way that drives referrals or retention?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adoption is the binding constraint. High theoretical value with weak adoption produces nothing.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TWO  · 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actually asking.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2618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3232" y="12618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2344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FTE-equivalents does this unlock at full deployment?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18745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19476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" y="19476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19202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how much does it compress cycle time on the client-facing clock?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5603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" y="26334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" y="26334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post-deployment straight-through rate vs. the baseline?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" y="33192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" y="3319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2918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reduce error or exception volume, releasing supervisory capacity?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4005072"/>
            <a:ext cx="457200" cy="420624"/>
          </a:xfrm>
          <a:prstGeom prst="roundRect">
            <a:avLst>
              <a:gd name="adj" fmla="val 26087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0050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371600" y="39776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 to the unit cost of the next transaction?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46451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 capacity is the currency that funds Grow bets and absorbs growth.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wins fund Grow bets.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Scale initiative unlocks capacity, the business head has three doors — and chooses deliberately.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initiative ships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27432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22860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A0824E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unlocked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212080" y="2080260"/>
            <a:ext cx="0" cy="66294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12080" y="20802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852160" y="16916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52160" y="1691640"/>
            <a:ext cx="54864" cy="777240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16752" y="17830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GROWTH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16752" y="20574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 more volume without adding headcount.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0" y="2743200"/>
            <a:ext cx="0" cy="25146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0" y="29946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26060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52160" y="260604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16752" y="26974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TO GROW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16752" y="2971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FTE into revenue or relationship-deepening work.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457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12080" y="2743200"/>
            <a:ext cx="0" cy="116586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0" y="3909060"/>
            <a:ext cx="5943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52160" y="352044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52160" y="3520440"/>
            <a:ext cx="54864" cy="77724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16752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6752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saving to the run-rate.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526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Cost-out chosen by default is the failure mode this framework exists to prevent.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 ·  GROW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sub-criteria. 1 to 5. Weighted.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30759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Incremental revenue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Attributable, not asserted.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237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0" y="1380744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1335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1847088"/>
            <a:ext cx="54864" cy="566928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19659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1965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Deepening / wallet share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in products and balances per client.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665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237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0" y="2039112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2505456"/>
            <a:ext cx="54864" cy="566928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2624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2624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 rate on opportunities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82880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% of surfaced ideas accepted by Advisors.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665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237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80960" y="2697480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552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" y="3163824"/>
            <a:ext cx="54864" cy="566928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7240" y="3282696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3282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adoption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8288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eligible Advisors at 6 months.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093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665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237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680960" y="3355848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95528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8640" y="3822192"/>
            <a:ext cx="54864" cy="566928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7240" y="394106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7240" y="3941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8288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experience uplift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8288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shift in speed, accuracy, or referrals.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521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093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7665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2237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680960" y="4014216"/>
            <a:ext cx="201168" cy="201168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55280" y="3968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 ·  SCALE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sub-criteria. 1 to 5. Weighted.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130759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FTE-equivalent capacity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0" y="1481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→ FTE-equivalents in the affected workflow.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380744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665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223760" y="1380744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0" y="1380744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1335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1847088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1847088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19659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19659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828800" y="1892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Cycle-time reduction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elapsed time on the client-facing clock.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521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309360" y="2039112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665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23760" y="2039112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0" y="2039112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95528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2505456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" y="2505456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77240" y="2624328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26243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8288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Straight-through rate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828800" y="27980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cases completed end-to-end without human touch.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2697480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665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23760" y="2697480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680960" y="269748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955280" y="2651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163824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" y="3163824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77240" y="3282696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77240" y="32826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828800" y="32095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/ exception reduction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828800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rework, breaks, escalations, audit findings.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8521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09360" y="3355848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665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223760" y="3355848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680960" y="3355848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955280" y="3310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3822192"/>
            <a:ext cx="804672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8640" y="3822192"/>
            <a:ext cx="54864" cy="566928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77240" y="3941064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77240" y="39410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828800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 cost per transaction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182880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 per completed unit.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521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09360" y="4014216"/>
            <a:ext cx="201168" cy="201168"/>
          </a:xfrm>
          <a:prstGeom prst="ellipse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7665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7223760" y="4014216"/>
            <a:ext cx="201168" cy="201168"/>
          </a:xfrm>
          <a:prstGeom prst="ellipse">
            <a:avLst/>
          </a:prstGeom>
          <a:solidFill>
            <a:srgbClr val="C4A9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680960" y="4014216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955280" y="39684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Mortgage: 60 days to near-zero.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Scale-dominant with a material Grow tailwind. The canonical dual-face initiative.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EFF6EE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4864" cy="2468880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COMPOSITE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3.35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5.00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experience uplift (5/5) and Advisor adoption (4/5) carry the story. Revenue is indirect via pull-through.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EEF2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691640"/>
            <a:ext cx="54864" cy="24688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COMPOSITE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4.65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46634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5.00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(5/5), cycle time (5/5), unit cost (5/5). The business case carries itself.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A0824E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Top-right of the 2x2.  A Dual Win.  Staff it first.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METRIC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Alpha per Person to Productive Yield per FTE.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"Alpha" already means something specific in this house. We propose a cleaner name and a tighter definition.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54864" cy="132588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1783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PRODUCTIVE YIELD PER FTE  (PY/FTE)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Value-creating output produced by a team in a period, divided by average FTE deployed in that period — measured in the unit that is meaningful for that business.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TWO-CLOCK RULE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864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clock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delta. Defends the operating plan.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474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3474720"/>
            <a:ext cx="54864" cy="137160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Vintage clock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8404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baseline pre-launch, steady-state at 6 months post. Defends every AI business case.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PY/FTE  ·  BY BUSINESS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metric. Four different output units.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ESTATES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Complexity-weighted accounts administered + annual reviews + distributions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121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40 accounts / officer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88720" y="24688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– 70 accounts / officer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Complexity-weighted loans booked + dollars funded + days to close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214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12080" y="21214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loans / underwriter · 60 days to close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4688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loans / underwriter · &lt;3 days to close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" y="30175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Originations + renewals + credit memos + annual reviews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950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88720" y="3950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facilities / credit officer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50 facilities / credit officer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01752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0" y="3017520"/>
            <a:ext cx="54864" cy="16916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5488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54880" y="33832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Consumed pieces + Advisor-accepted idea-matches + SLA-met responses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95020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395020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publications / strategist / week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297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42976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5x volume of personalized variants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[ASSUMPTION] placeholders.  Validate with each business head before locking.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× Scale — the prioritization grid.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1280160"/>
            <a:ext cx="3017520" cy="1645920"/>
          </a:xfrm>
          <a:prstGeom prst="rect">
            <a:avLst/>
          </a:prstGeom>
          <a:solidFill>
            <a:srgbClr val="EFF6EE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10512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Grow plays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1051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10512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deepening, idea-surfacing wins. Watch Advisor adoption.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017520" cy="1645920"/>
          </a:xfrm>
          <a:prstGeom prst="rect">
            <a:avLst/>
          </a:prstGeom>
          <a:solidFill>
            <a:srgbClr val="F5EFE3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28032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Wins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8032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28032" y="2057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axes light up. Strategic anchors. Fund first.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45920" y="2926080"/>
            <a:ext cx="3017520" cy="1645920"/>
          </a:xfrm>
          <a:prstGeom prst="rect">
            <a:avLst/>
          </a:prstGeom>
          <a:solidFill>
            <a:srgbClr val="F2F2F2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1051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Deprioritize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10512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Bottom-left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10512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unless explicit gating-fix or stepping-stone.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017520" cy="1645920"/>
          </a:xfrm>
          <a:prstGeom prst="rect">
            <a:avLst/>
          </a:prstGeom>
          <a:solidFill>
            <a:srgbClr val="EEF2F8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Scale plays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28032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Bottom-right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cycle time, STP. The cash machine.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1371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2743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00200" y="4572000"/>
            <a:ext cx="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4892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0" y="5212080"/>
            <a:ext cx="603504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INITIATIVES PLOTTED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slate lands.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645920" y="1188720"/>
            <a:ext cx="2377440" cy="1691640"/>
          </a:xfrm>
          <a:prstGeom prst="rect">
            <a:avLst/>
          </a:prstGeom>
          <a:solidFill>
            <a:srgbClr val="EFF6EE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83080" y="1280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Grow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1188720"/>
            <a:ext cx="2377440" cy="1691640"/>
          </a:xfrm>
          <a:prstGeom prst="rect">
            <a:avLst/>
          </a:prstGeom>
          <a:solidFill>
            <a:srgbClr val="F5EFE3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60520" y="128016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Wins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2880360"/>
            <a:ext cx="2377440" cy="1691640"/>
          </a:xfrm>
          <a:prstGeom prst="rect">
            <a:avLst/>
          </a:prstGeom>
          <a:solidFill>
            <a:srgbClr val="F2F2F2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83080" y="2971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Deprioritize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023360" y="2880360"/>
            <a:ext cx="2377440" cy="1691640"/>
          </a:xfrm>
          <a:prstGeom prst="rect">
            <a:avLst/>
          </a:prstGeom>
          <a:solidFill>
            <a:srgbClr val="EEF2F8"/>
          </a:solidFill>
          <a:ln w="63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60520" y="29718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Scale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1104" y="1577340"/>
            <a:ext cx="237744" cy="23774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61104" y="15773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65876" y="2465451"/>
            <a:ext cx="237744" cy="237744"/>
          </a:xfrm>
          <a:prstGeom prst="ellipse">
            <a:avLst/>
          </a:prstGeom>
          <a:solidFill>
            <a:srgbClr val="A0824E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65876" y="246545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91256" y="1661922"/>
            <a:ext cx="237744" cy="237744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191256" y="16619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68696" y="3353562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68696" y="33535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12080" y="3438144"/>
            <a:ext cx="237744" cy="237744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600200" y="4572000"/>
            <a:ext cx="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645920" y="4617720"/>
            <a:ext cx="475488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27432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1554480"/>
            <a:ext cx="274320" cy="274320"/>
          </a:xfrm>
          <a:prstGeom prst="ellipse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Lending Insight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1810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4.40  ·  S 3.30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66560" y="2121408"/>
            <a:ext cx="274320" cy="274320"/>
          </a:xfrm>
          <a:prstGeom prst="ellipse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6656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21396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Mortgage Underwriting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3.35  ·  S 4.65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766560" y="2688336"/>
            <a:ext cx="274320" cy="274320"/>
          </a:xfrm>
          <a:prstGeom prst="ellipse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76656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270662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Client-to-Idea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0" y="29443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4.30  ·  S 2.40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3255264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7665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0" y="327355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Trust Admin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132320" y="35112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2.30  ·  S 4.40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66560" y="3822192"/>
            <a:ext cx="274320" cy="2743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6656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Alts Auto DD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40782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2.20  ·  S 4.10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REDEPLOYMENT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capacity unlocks, choose deliberately.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questions. Three doors. One written reason that we re-read twelve months later.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150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150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unlocked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0710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1742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1742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environment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302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6334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6334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opportunity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9894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0926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50926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cost-out case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44868" y="2080260"/>
            <a:ext cx="192024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55180" y="1691640"/>
            <a:ext cx="1417320" cy="777240"/>
          </a:xfrm>
          <a:prstGeom prst="roundRect">
            <a:avLst>
              <a:gd name="adj" fmla="val 14118"/>
            </a:avLst>
          </a:prstGeom>
          <a:solidFill>
            <a:srgbClr val="A0824E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55180" y="169164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Choose. Write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reason.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54864" cy="1920240"/>
          </a:xfrm>
          <a:prstGeom prst="rect">
            <a:avLst/>
          </a:prstGeom>
          <a:solidFill>
            <a:srgbClr val="2E6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 GROWTH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Demand-constrained; pipeline above run-rate; high marginal revenue on absorbed volume.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capacity re-inflating quietly. Recapture discipline at 12 months.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0708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07080" y="2834640"/>
            <a:ext cx="54864" cy="1920240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8996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REDEPLOY TO GROW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8996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8996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queued Grow initiative has cleared the rubric; skill match is plausible.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8996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8996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 is harder than it looks. Sponsor owns the productivity ramp.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65520" y="2834640"/>
            <a:ext cx="2529840" cy="1920240"/>
          </a:xfrm>
          <a:prstGeom prst="roundRect">
            <a:avLst>
              <a:gd name="adj" fmla="val 4762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065520" y="2834640"/>
            <a:ext cx="54864" cy="192024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48400" y="294436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48400" y="329184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WHEN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48400" y="3520440"/>
            <a:ext cx="225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queued Grow case clears the bar; demand stable; not a talent feeder team.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48400" y="4114800"/>
            <a:ext cx="225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WATCH-OUT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48400" y="434340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 in bench depth and morale. Cost-out by default is the failure mode.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RHYTHM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run this every quarter.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54864" cy="7132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2801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828800" y="1307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16184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and in-flight initiatives scored on both axes by the sponsor.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75688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2075688"/>
            <a:ext cx="54864" cy="7132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12140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82880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24597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first. Then one Scale anchor and one Grow anchor per quarter.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16936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2916936"/>
            <a:ext cx="54864" cy="713232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96265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828800" y="2990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33009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with a named Advisor cohort, an adoption plan, and gating-criteria signoff.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8046720" cy="713232"/>
          </a:xfrm>
          <a:prstGeom prst="roundRect">
            <a:avLst>
              <a:gd name="adj" fmla="val 12821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758184"/>
            <a:ext cx="54864" cy="713232"/>
          </a:xfrm>
          <a:prstGeom prst="rect">
            <a:avLst/>
          </a:prstGeom>
          <a:solidFill>
            <a:srgbClr val="A082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77240" y="380390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1828800" y="3831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&amp; redeploy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4142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clock at 6 months. Capacity choice deliberate, written, archived.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 is not in the rubric. It is in running this every quarter and re-reading last year's written reasons.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FRAMEWORK DOESN'T OPTIMIZE FOR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sit outside, deliberately.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NOVELTY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664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model is interesting only if it moves a Grow or Scale metric. "We used an LLM" is not a value proposition.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IN ISOLATION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Risk, controls, MRM, and regulatory comfort are gating criteria — they pass or fail, but they don't get scored. They are the price of entry.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F9F5F0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864" cy="960120"/>
          </a:xfrm>
          <a:prstGeom prst="rect">
            <a:avLst/>
          </a:prstGeom>
          <a:solidFill>
            <a:srgbClr val="9B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COST-OUT OPTICS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502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Headcount reduction is one of three legitimate uses of unlocked capacity, not the default. The framework forces a deliberate redeployment choice.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PRIVATE BANK  ·  SOLUTIONS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28016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Score.  Sequence.  Deploy.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Redeploy with intent.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axes. One rhythm. Every initiative defensible on the page.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1822</Words>
  <Application>Microsoft Macintosh PowerPoint</Application>
  <PresentationFormat>On-screen Show (16:9)</PresentationFormat>
  <Paragraphs>324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Impact of AI — Grow &amp; Scale Framework</dc:title>
  <dc:subject>PptxGenJS Presentation</dc:subject>
  <dc:creator>Solutions Leadership</dc:creator>
  <cp:lastModifiedBy>Mohamed Khalifa</cp:lastModifiedBy>
  <cp:revision>2</cp:revision>
  <dcterms:created xsi:type="dcterms:W3CDTF">2026-05-12T15:03:44Z</dcterms:created>
  <dcterms:modified xsi:type="dcterms:W3CDTF">2026-05-12T15:11:40Z</dcterms:modified>
</cp:coreProperties>
</file>