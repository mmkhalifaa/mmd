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Impact of AI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 / Scale framework for the Solutions portfolio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Off-Site  ·  Managing Director Briefing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Leadership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Eighty-plus AI ideas. One quarterly slate.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Solutions, every business has an AI list. Mortgage wants underwriting automation. Trust wants agentic administration. Investment Strategy wants idea-matching at scale. Lending wants precedent mining. The slate is long, the capital is finite, and the cost of picking the wrong three things compounds for years.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across Solutions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290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sub-businesses competing for capacity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prioritization rhythm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know which three to fund?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ROI lens. Two very different P&amp;Ls.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BUSINESSES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Mortgage · Lending Ops · KYC · DD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their keep by processing volume reliably, accurately, and on the client clock.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mechanic: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· Cycle time · STP · Unit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this on "revenue uplift" gets the wrong answer.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54864" cy="32918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INSIGHT ENGINES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· parts of Alts · Advisor productivity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their keep by generating ideas, content, and matched opportunities that move the client outcome.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mechanic: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· Deepening · Precision · Adoption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this on "FTE saved" gets the wrong answer.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initiative scored on two axes.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FF6E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generate revenue, deepen the relationship, or surface ideas we'd otherwise miss?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474720" cy="0"/>
          </a:xfrm>
          <a:prstGeom prst="line">
            <a:avLst/>
          </a:prstGeom>
          <a:noFill/>
          <a:ln w="9525">
            <a:solidFill>
              <a:srgbClr val="2E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in: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revenue. NII. AUM growth. Multi-generational retention. Share of wallet.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EF2F8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54864" cy="3291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unlock capacity, compress cycle time, or raise output per person?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347472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in: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FTE-equivalents unlocked. Cycle-time compression. STP rate. Lower unit cost.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ONE  ·  GROW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actually asking.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7132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399032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13990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371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put an idea or product in front of an Advisor they would not have surfaced?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30552"/>
            <a:ext cx="54864" cy="7132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249424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22494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2219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raise the precision of what we already do — better matches, fewer false positives?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80944"/>
            <a:ext cx="54864" cy="7132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099816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3099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0723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deepen the relationship — broader wallet share, more products, longer tenure?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31336"/>
            <a:ext cx="54864" cy="713232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950208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9502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9227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improve client experience in a way that drives referrals or retention?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adoption is the binding constraint. High theoretical value with weak adoption produces nothing.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TWO  · 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actually asking.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2618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12618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234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FTE-equivalents does this unlock at full deployment?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745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19476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1947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 does it compress cycle time on the client-facing clock?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5603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26334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post-deployment straight-through rate vs. the baseline?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2461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3192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9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reduce error or exception volume, releasing supervisory capacity?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9319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0050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" y="40050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 to the unit cost of the next transaction?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 capacity is the currency that funds Grow bets and absorbs growth.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fund Grow bets.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Scale initiative unlocks capacity, the business head has three doors — and chooses deliberately.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 ships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27432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22860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unlocked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080260"/>
            <a:ext cx="0" cy="66294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0802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1691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691640"/>
            <a:ext cx="54864" cy="77724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GROWTH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2057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more volume without adding headcount.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2743200"/>
            <a:ext cx="0" cy="25146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29946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2606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260604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TO GROW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16752" y="2971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FTE into revenue or relationship-deepening work.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743200"/>
            <a:ext cx="0" cy="116586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39090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52160" y="3520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3520440"/>
            <a:ext cx="54864" cy="77724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32" name="Text 30"/>
          <p:cNvSpPr/>
          <p:nvPr/>
        </p:nvSpPr>
        <p:spPr>
          <a:xfrm>
            <a:off x="6016752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6752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saving to the run-rate.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Cost-out chosen by default is the failure mode this framework exists to prevent.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 ·  GROW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sub-criteria. 1 to 5. Weighted.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30759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07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 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Attributable, not asserted.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1380744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1335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847088"/>
            <a:ext cx="54864" cy="566928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19659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1965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Deepening / wallet share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products and balances per client.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2039112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2505456"/>
            <a:ext cx="54864" cy="566928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2624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2624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 rate on opportunities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82880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% of surfaced ideas accepted by Advisors.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9" name="Shape 37"/>
          <p:cNvSpPr/>
          <p:nvPr/>
        </p:nvSpPr>
        <p:spPr>
          <a:xfrm>
            <a:off x="67665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40" name="Shape 38"/>
          <p:cNvSpPr/>
          <p:nvPr/>
        </p:nvSpPr>
        <p:spPr>
          <a:xfrm>
            <a:off x="72237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41" name="Shape 39"/>
          <p:cNvSpPr/>
          <p:nvPr/>
        </p:nvSpPr>
        <p:spPr>
          <a:xfrm>
            <a:off x="7680960" y="2697480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3163824"/>
            <a:ext cx="54864" cy="566928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45" name="Shape 43"/>
          <p:cNvSpPr/>
          <p:nvPr/>
        </p:nvSpPr>
        <p:spPr>
          <a:xfrm>
            <a:off x="777240" y="3282696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3282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adoption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8288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eligible Advisors at 6 months.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3093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51" name="Shape 49"/>
          <p:cNvSpPr/>
          <p:nvPr/>
        </p:nvSpPr>
        <p:spPr>
          <a:xfrm>
            <a:off x="67665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52" name="Shape 50"/>
          <p:cNvSpPr/>
          <p:nvPr/>
        </p:nvSpPr>
        <p:spPr>
          <a:xfrm>
            <a:off x="72237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53" name="Shape 51"/>
          <p:cNvSpPr/>
          <p:nvPr/>
        </p:nvSpPr>
        <p:spPr>
          <a:xfrm>
            <a:off x="7680960" y="3355848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54" name="Text 52"/>
          <p:cNvSpPr/>
          <p:nvPr/>
        </p:nvSpPr>
        <p:spPr>
          <a:xfrm>
            <a:off x="795528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8640" y="3822192"/>
            <a:ext cx="54864" cy="566928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394106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3941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8288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experience uplift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8288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shift in speed, accuracy, or referrals.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521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62" name="Shape 60"/>
          <p:cNvSpPr/>
          <p:nvPr/>
        </p:nvSpPr>
        <p:spPr>
          <a:xfrm>
            <a:off x="63093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63" name="Shape 61"/>
          <p:cNvSpPr/>
          <p:nvPr/>
        </p:nvSpPr>
        <p:spPr>
          <a:xfrm>
            <a:off x="67665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64" name="Shape 62"/>
          <p:cNvSpPr/>
          <p:nvPr/>
        </p:nvSpPr>
        <p:spPr>
          <a:xfrm>
            <a:off x="72237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65" name="Shape 63"/>
          <p:cNvSpPr/>
          <p:nvPr/>
        </p:nvSpPr>
        <p:spPr>
          <a:xfrm>
            <a:off x="7680960" y="4014216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6" name="Text 64"/>
          <p:cNvSpPr/>
          <p:nvPr/>
        </p:nvSpPr>
        <p:spPr>
          <a:xfrm>
            <a:off x="7955280" y="3968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 · 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sub-criteria. 1 to 5. Weighted.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30759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07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 capacity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→ FTE-equivalents in the affected workflow.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1380744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1335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847088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19659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1965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Cycle-time reduction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elapsed time on the client-facing clock.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2039112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2505456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" y="2624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2624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Straight-through rate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82880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cases completed end-to-end without human touch.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9" name="Shape 37"/>
          <p:cNvSpPr/>
          <p:nvPr/>
        </p:nvSpPr>
        <p:spPr>
          <a:xfrm>
            <a:off x="67665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40" name="Shape 38"/>
          <p:cNvSpPr/>
          <p:nvPr/>
        </p:nvSpPr>
        <p:spPr>
          <a:xfrm>
            <a:off x="72237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41" name="Shape 39"/>
          <p:cNvSpPr/>
          <p:nvPr/>
        </p:nvSpPr>
        <p:spPr>
          <a:xfrm>
            <a:off x="7680960" y="269748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3163824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777240" y="3282696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3282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/ exception reduction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8288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rework, breaks, escalations, audit findings.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3093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51" name="Shape 49"/>
          <p:cNvSpPr/>
          <p:nvPr/>
        </p:nvSpPr>
        <p:spPr>
          <a:xfrm>
            <a:off x="67665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52" name="Shape 50"/>
          <p:cNvSpPr/>
          <p:nvPr/>
        </p:nvSpPr>
        <p:spPr>
          <a:xfrm>
            <a:off x="72237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53" name="Shape 51"/>
          <p:cNvSpPr/>
          <p:nvPr/>
        </p:nvSpPr>
        <p:spPr>
          <a:xfrm>
            <a:off x="7680960" y="3355848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4" name="Text 52"/>
          <p:cNvSpPr/>
          <p:nvPr/>
        </p:nvSpPr>
        <p:spPr>
          <a:xfrm>
            <a:off x="795528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8640" y="3822192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394106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3941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8288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cost per transaction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8288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 per completed unit.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521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62" name="Shape 60"/>
          <p:cNvSpPr/>
          <p:nvPr/>
        </p:nvSpPr>
        <p:spPr>
          <a:xfrm>
            <a:off x="63093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63" name="Shape 61"/>
          <p:cNvSpPr/>
          <p:nvPr/>
        </p:nvSpPr>
        <p:spPr>
          <a:xfrm>
            <a:off x="67665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64" name="Shape 62"/>
          <p:cNvSpPr/>
          <p:nvPr/>
        </p:nvSpPr>
        <p:spPr>
          <a:xfrm>
            <a:off x="72237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</p:sp>
      <p:sp>
        <p:nvSpPr>
          <p:cNvPr id="65" name="Shape 63"/>
          <p:cNvSpPr/>
          <p:nvPr/>
        </p:nvSpPr>
        <p:spPr>
          <a:xfrm>
            <a:off x="7680960" y="4014216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6" name="Text 64"/>
          <p:cNvSpPr/>
          <p:nvPr/>
        </p:nvSpPr>
        <p:spPr>
          <a:xfrm>
            <a:off x="7955280" y="3968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Mortgage: 60 days to near-zero.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Scale-dominant with a material Grow tailwind. The canonical dual-face initiative.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EFF6E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54864" cy="246888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COMPOSITE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3.35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5.00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 uplift (5/5) and Advisor adoption (4/5) carry the story. Revenue is indirect via pull-through.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91640"/>
            <a:ext cx="54864" cy="2468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COMPOSITE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4.65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5.00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(5/5), cycle time (5/5), unit cost (5/5). The business case carries itself.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Top-right of the 2x2.  A Dual Win.  Staff it first.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METRIC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Alpha per Person to Productive Yield per FTE.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"Alpha" already means something specific in this house. We propose a cleaner name and a tighter definition.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54864" cy="13258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YIELD PER FTE  (PY/FTE)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Value-creating output produced by a team in a period, divided by average FTE deployed in that period — measured in the unit that is meaningful for that business.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TWO-CLOCK RULE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74720"/>
            <a:ext cx="54864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clock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delta. Defends the operating plan.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474720"/>
            <a:ext cx="54864" cy="13716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Vintage clock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baseline pre-launch, steady-state at 6 months post. Defends every AI business case.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PY/FTE  ·  BY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metric. Four different output units.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ESTATES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Complexity-weighted accounts administered + annual reviews + distributions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21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accounts / officer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70 accounts / officer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1887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Complexity-weighted loans booked + dollars funded + days to close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21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loans / underwriter · 60 days to close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loans / underwriter · &lt;3 days to close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0175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Originations + renewals + credit memos + annual reviews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950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950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facilities / credit officer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50 facilities / credit officer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0175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Consumed pieces + Advisor-accepted idea-matches + SLA-met responses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950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3950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publications / strategist / week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5x volume of personalized variants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[ASSUMPTION] placeholders.  Validate with each business head before locking.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× Scale — the prioritization grid.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1280160"/>
            <a:ext cx="3017520" cy="1645920"/>
          </a:xfrm>
          <a:prstGeom prst="rect">
            <a:avLst/>
          </a:prstGeom>
          <a:solidFill>
            <a:srgbClr val="EFF6EE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Grow plays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deepening, idea-surfacing wins. Watch Advisor adoption.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017520" cy="1645920"/>
          </a:xfrm>
          <a:prstGeom prst="rect">
            <a:avLst/>
          </a:prstGeom>
          <a:solidFill>
            <a:srgbClr val="F5EFE3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Wins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8032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axes light up. Strategic anchors. Fund 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926080"/>
            <a:ext cx="30175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Deprioritize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0512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10512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unless explicit gating-fix or stepping-stone.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017520" cy="1645920"/>
          </a:xfrm>
          <a:prstGeom prst="rect">
            <a:avLst/>
          </a:prstGeom>
          <a:solidFill>
            <a:srgbClr val="EEF2F8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Scale plays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8032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cycle time, STP. The cash machine.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00200" y="4572000"/>
            <a:ext cx="0" cy="-32918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73736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0" y="5212080"/>
            <a:ext cx="60350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INITIATIVES PLOTTED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slate lands.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1188720"/>
            <a:ext cx="2377440" cy="1691640"/>
          </a:xfrm>
          <a:prstGeom prst="rect">
            <a:avLst/>
          </a:prstGeom>
          <a:solidFill>
            <a:srgbClr val="EFF6EE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80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2377440" cy="1691640"/>
          </a:xfrm>
          <a:prstGeom prst="rect">
            <a:avLst/>
          </a:prstGeom>
          <a:solidFill>
            <a:srgbClr val="F5EFE3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280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880360"/>
            <a:ext cx="2377440" cy="1691640"/>
          </a:xfrm>
          <a:prstGeom prst="rect">
            <a:avLst/>
          </a:prstGeom>
          <a:solidFill>
            <a:srgbClr val="F2F2F2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971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2880360"/>
            <a:ext cx="2377440" cy="1691640"/>
          </a:xfrm>
          <a:prstGeom prst="rect">
            <a:avLst/>
          </a:prstGeom>
          <a:solidFill>
            <a:srgbClr val="EEF2F8"/>
          </a:solidFill>
          <a:ln w="63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971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Scale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1104" y="1577340"/>
            <a:ext cx="237744" cy="23774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61104" y="15773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65876" y="2465451"/>
            <a:ext cx="237744" cy="23774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65876" y="246545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661922"/>
            <a:ext cx="237744" cy="237744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91256" y="16619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68696" y="3353562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68696" y="33535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438144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208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0" y="4572000"/>
            <a:ext cx="0" cy="-338328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645920" y="4617720"/>
            <a:ext cx="475488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31520" y="2743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274320" cy="274320"/>
          </a:xfrm>
          <a:prstGeom prst="ellipse">
            <a:avLst/>
          </a:prstGeom>
          <a:solidFill>
            <a:srgbClr val="A0824E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Insight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4.40  ·  S 3.30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121408"/>
            <a:ext cx="274320" cy="274320"/>
          </a:xfrm>
          <a:prstGeom prst="ellipse">
            <a:avLst/>
          </a:prstGeom>
          <a:solidFill>
            <a:srgbClr val="A0824E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3.35  ·  S 4.65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688336"/>
            <a:ext cx="274320" cy="27432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706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Client-to-Idea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4.30  ·  S 2.40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255264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273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Trust Admin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35112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2.30  ·  S 4.40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382219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Alts Auto DD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4078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2.20  ·  S 4.10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capacity unlocks, choose deliberately.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questions. Three doors. One written reason that we re-read twelve months later.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unlocked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0710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1742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1742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environment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302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6334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6334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opportunity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9894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0926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926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cost-out case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486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5518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518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Choose. 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reason.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834640"/>
            <a:ext cx="54864" cy="1920240"/>
          </a:xfrm>
          <a:prstGeom prst="rect">
            <a:avLst/>
          </a:prstGeom>
          <a:solidFill>
            <a:srgbClr val="2E6B4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GROWTH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Demand-constrained; pipeline above run-rate; high marginal revenue on absorbed volume.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capacity re-inflating quietly. Recapture discipline at 12 months.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0708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07080" y="2834640"/>
            <a:ext cx="54864" cy="1920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1" name="Text 29"/>
          <p:cNvSpPr/>
          <p:nvPr/>
        </p:nvSpPr>
        <p:spPr>
          <a:xfrm>
            <a:off x="348996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TO GROW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8996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8996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queued Grow initiative has cleared the rubric; skill match is plausible.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8996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8996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is harder than it looks. Sponsor owns the productivity ramp.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6552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65520" y="2834640"/>
            <a:ext cx="54864" cy="192024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38" name="Text 36"/>
          <p:cNvSpPr/>
          <p:nvPr/>
        </p:nvSpPr>
        <p:spPr>
          <a:xfrm>
            <a:off x="624840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840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840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queued Grow case clears the bar; demand stable; not a talent feeder team.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4840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4840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 in bench depth and morale. Cost-out by default is the failure mode.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RHYTHM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run this every quarter.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1307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618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in-flight initiatives scored on both axes by the sponsor.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75688"/>
            <a:ext cx="54864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214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4597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first. Then one Scale anchor and one Grow anchor per quarter.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16936"/>
            <a:ext cx="54864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626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82880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33009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a named Advisor cohort, an adoption plan, and gating-criteria signoff.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58184"/>
            <a:ext cx="54864" cy="713232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0390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828800" y="3831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&amp; redeploy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4142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clock at 6 months. Capacity choice deliberate, written, archived.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 is not in the rubric. It is in running this every quarter and re-reading last year's written reasons.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FRAMEWORK DOESN'T OPTIMIZE FOR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sit outside, deliberately.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NOVELTY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is interesting only if it moves a Grow or Scale metric. "We used an LLM" is not a value proposition.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23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IN ISOLATION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controls, MRM, and regulatory comfort are gating criteria — they pass or fail, but they don't get scored. They are the price of entry.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 OPTICS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50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Headcount reduction is one of three legitimate uses of unlocked capacity, not the default. The framework forces a deliberate redeployment choice.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Score.  Sequence.  Deploy.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Redeploy with intent.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axes. One rhythm. Every initiative defensible on the page.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Impact of AI — Grow &amp; Scale Framework</dc:title>
  <dc:subject>PptxGenJS Presentation</dc:subject>
  <dc:creator>Solutions Leadership</dc:creator>
  <cp:lastModifiedBy>Solutions Leadership</cp:lastModifiedBy>
  <cp:revision>1</cp:revision>
  <dcterms:created xsi:type="dcterms:W3CDTF">2026-05-12T15:03:44Z</dcterms:created>
  <dcterms:modified xsi:type="dcterms:W3CDTF">2026-05-12T15:03:44Z</dcterms:modified>
</cp:coreProperties>
</file>