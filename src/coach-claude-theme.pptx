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Evolution of Coach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single-agent chat to agentic reasoning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78892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C3A7A"/>
          </a:solidFill>
          <a:ln w="9525">
            <a:solidFill>
              <a:srgbClr val="455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7889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1.0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3017520"/>
            <a:ext cx="1828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240280" y="278892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C3A7A"/>
          </a:solidFill>
          <a:ln w="9525">
            <a:solidFill>
              <a:srgbClr val="455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27889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2.0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11880" y="3017520"/>
            <a:ext cx="1828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840480" y="278892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2C3A7A"/>
          </a:solidFill>
          <a:ln w="9525">
            <a:solidFill>
              <a:srgbClr val="455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27889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3.0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0" y="3017520"/>
            <a:ext cx="1828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40680" y="278892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27889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Private Banking &amp; Innovation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routing questions to reasoning toward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74520" cy="2880360"/>
          </a:xfrm>
          <a:prstGeom prst="roundRect">
            <a:avLst>
              <a:gd name="adj" fmla="val 3415"/>
            </a:avLst>
          </a:prstGeom>
          <a:solidFill>
            <a:srgbClr val="EAF1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197864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1978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1527048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 1.0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21792" y="1892808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Single-agent orchestration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2350008"/>
            <a:ext cx="15453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question; Coach routes it to the right specialist. Investment views → investment agent; market data → FactSet; client questions → CRM.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59152" y="1645920"/>
            <a:ext cx="192024" cy="0"/>
          </a:xfrm>
          <a:prstGeom prst="line">
            <a:avLst/>
          </a:prstGeom>
          <a:noFill/>
          <a:ln w="19050">
            <a:solidFill>
              <a:srgbClr val="3A4A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78608" y="1051560"/>
            <a:ext cx="1874520" cy="2880360"/>
          </a:xfrm>
          <a:prstGeom prst="roundRect">
            <a:avLst>
              <a:gd name="adj" fmla="val 3415"/>
            </a:avLst>
          </a:prstGeom>
          <a:solidFill>
            <a:srgbClr val="EAF1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1197864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1978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0" y="1527048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 2.0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743200" y="1892808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2350008"/>
            <a:ext cx="15453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work in sequence — a market update from investments and FactSet feeds a portfolio search across the book, ending in one answer.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80560" y="1645920"/>
            <a:ext cx="192024" cy="0"/>
          </a:xfrm>
          <a:prstGeom prst="line">
            <a:avLst/>
          </a:prstGeom>
          <a:noFill/>
          <a:ln w="19050">
            <a:solidFill>
              <a:srgbClr val="3A4A8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700016" y="1051560"/>
            <a:ext cx="1874520" cy="2880360"/>
          </a:xfrm>
          <a:prstGeom prst="roundRect">
            <a:avLst>
              <a:gd name="adj" fmla="val 3415"/>
            </a:avLst>
          </a:prstGeom>
          <a:solidFill>
            <a:srgbClr val="EAF1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64608" y="1197864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864608" y="11978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out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64608" y="1527048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 3.0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864608" y="1892808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smarter orchestration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2350008"/>
            <a:ext cx="15453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skills, scheduled prompts, and sharper routing across a growing agent network. Recurring intelligence arrives proactively.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01968" y="1645920"/>
            <a:ext cx="192024" cy="0"/>
          </a:xfrm>
          <a:prstGeom prst="line">
            <a:avLst/>
          </a:prstGeom>
          <a:noFill/>
          <a:ln w="19050">
            <a:solidFill>
              <a:srgbClr val="3A4A8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21424" y="1051560"/>
            <a:ext cx="1874520" cy="2880360"/>
          </a:xfrm>
          <a:prstGeom prst="roundRect">
            <a:avLst>
              <a:gd name="adj" fmla="val 3415"/>
            </a:avLst>
          </a:prstGeom>
          <a:solidFill>
            <a:srgbClr val="FBEEDC"/>
          </a:solidFill>
          <a:ln w="15875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86016" y="1197864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6986016" y="119786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lab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86016" y="1527048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Playbook AI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986016" y="1892808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reasoning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86016" y="2350008"/>
            <a:ext cx="15453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 for the next generation of Coach, built on the ReAct framework — it reasons in a loop and adds coding capability.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4224528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5800" y="42245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generation compounds on the last — </a:t>
            </a:r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now answers questions no single agent could.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today.  Reasoning next.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2336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58368" y="1069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 today</a:t>
            </a:r>
            <a:pPr indent="0" marL="0">
              <a:buNone/>
            </a:pPr>
            <a:r>
              <a:rPr lang="en-US" sz="95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2.0 / 3.0 — live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0" y="1399032"/>
            <a:ext cx="1280160" cy="274320"/>
          </a:xfrm>
          <a:prstGeom prst="roundRect">
            <a:avLst>
              <a:gd name="adj" fmla="val 30000"/>
            </a:avLst>
          </a:prstGeom>
          <a:solidFill>
            <a:srgbClr val="F4F7FC"/>
          </a:solidFill>
          <a:ln w="9525">
            <a:solidFill>
              <a:srgbClr val="C7D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399032"/>
            <a:ext cx="12801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question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1682496"/>
            <a:ext cx="0" cy="118872"/>
          </a:xfrm>
          <a:prstGeom prst="line">
            <a:avLst/>
          </a:prstGeom>
          <a:noFill/>
          <a:ln w="19050">
            <a:solidFill>
              <a:srgbClr val="3A4A8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554480" y="1819656"/>
            <a:ext cx="1828800" cy="329184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819656"/>
            <a:ext cx="18288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— the orchestrator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flipH="1">
            <a:off x="1056132" y="2148840"/>
            <a:ext cx="1412748" cy="219456"/>
          </a:xfrm>
          <a:prstGeom prst="line">
            <a:avLst/>
          </a:prstGeom>
          <a:noFill/>
          <a:ln w="9525">
            <a:solidFill>
              <a:srgbClr val="C7D4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1997964" y="2148840"/>
            <a:ext cx="470916" cy="219456"/>
          </a:xfrm>
          <a:prstGeom prst="line">
            <a:avLst/>
          </a:prstGeom>
          <a:noFill/>
          <a:ln w="9525">
            <a:solidFill>
              <a:srgbClr val="C7D4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2148840"/>
            <a:ext cx="470916" cy="219456"/>
          </a:xfrm>
          <a:prstGeom prst="line">
            <a:avLst/>
          </a:prstGeom>
          <a:noFill/>
          <a:ln w="9525">
            <a:solidFill>
              <a:srgbClr val="C7D4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2148840"/>
            <a:ext cx="1412748" cy="219456"/>
          </a:xfrm>
          <a:prstGeom prst="line">
            <a:avLst/>
          </a:prstGeom>
          <a:noFill/>
          <a:ln w="9525">
            <a:solidFill>
              <a:srgbClr val="C7D4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" y="2368296"/>
            <a:ext cx="859536" cy="310896"/>
          </a:xfrm>
          <a:prstGeom prst="roundRect">
            <a:avLst>
              <a:gd name="adj" fmla="val 26471"/>
            </a:avLst>
          </a:prstGeom>
          <a:solidFill>
            <a:srgbClr val="EAF1FC"/>
          </a:solidFill>
          <a:ln w="9525">
            <a:solidFill>
              <a:srgbClr val="C7D4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" y="2368296"/>
            <a:ext cx="859536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568196" y="2368296"/>
            <a:ext cx="859536" cy="310896"/>
          </a:xfrm>
          <a:prstGeom prst="roundRect">
            <a:avLst>
              <a:gd name="adj" fmla="val 26471"/>
            </a:avLst>
          </a:prstGeom>
          <a:solidFill>
            <a:srgbClr val="EAF1FC"/>
          </a:solidFill>
          <a:ln w="9525">
            <a:solidFill>
              <a:srgbClr val="C7D4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68196" y="2368296"/>
            <a:ext cx="859536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FactSet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510028" y="2368296"/>
            <a:ext cx="859536" cy="310896"/>
          </a:xfrm>
          <a:prstGeom prst="roundRect">
            <a:avLst>
              <a:gd name="adj" fmla="val 26471"/>
            </a:avLst>
          </a:prstGeom>
          <a:solidFill>
            <a:srgbClr val="EAF1FC"/>
          </a:solidFill>
          <a:ln w="9525">
            <a:solidFill>
              <a:srgbClr val="C7D4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0028" y="2368296"/>
            <a:ext cx="859536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search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451860" y="2368296"/>
            <a:ext cx="859536" cy="310896"/>
          </a:xfrm>
          <a:prstGeom prst="roundRect">
            <a:avLst>
              <a:gd name="adj" fmla="val 26471"/>
            </a:avLst>
          </a:prstGeom>
          <a:solidFill>
            <a:srgbClr val="EAF1FC"/>
          </a:solidFill>
          <a:ln w="9525">
            <a:solidFill>
              <a:srgbClr val="C7D4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51860" y="2368296"/>
            <a:ext cx="859536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26364" y="2752344"/>
            <a:ext cx="859536" cy="310896"/>
          </a:xfrm>
          <a:prstGeom prst="roundRect">
            <a:avLst>
              <a:gd name="adj" fmla="val 26471"/>
            </a:avLst>
          </a:prstGeom>
          <a:solidFill>
            <a:srgbClr val="EAF1FC"/>
          </a:solidFill>
          <a:ln w="9525">
            <a:solidFill>
              <a:srgbClr val="C7D4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" y="2752344"/>
            <a:ext cx="859536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568196" y="2752344"/>
            <a:ext cx="859536" cy="310896"/>
          </a:xfrm>
          <a:prstGeom prst="roundRect">
            <a:avLst>
              <a:gd name="adj" fmla="val 26471"/>
            </a:avLst>
          </a:prstGeom>
          <a:solidFill>
            <a:srgbClr val="EAF1FC"/>
          </a:solidFill>
          <a:ln w="9525">
            <a:solidFill>
              <a:srgbClr val="C7D4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68196" y="2752344"/>
            <a:ext cx="859536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510028" y="2752344"/>
            <a:ext cx="859536" cy="310896"/>
          </a:xfrm>
          <a:prstGeom prst="roundRect">
            <a:avLst>
              <a:gd name="adj" fmla="val 26471"/>
            </a:avLst>
          </a:prstGeom>
          <a:solidFill>
            <a:srgbClr val="EAF1FC"/>
          </a:solidFill>
          <a:ln w="9525">
            <a:solidFill>
              <a:srgbClr val="C7D4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0028" y="2752344"/>
            <a:ext cx="859536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451860" y="2752344"/>
            <a:ext cx="859536" cy="310896"/>
          </a:xfrm>
          <a:prstGeom prst="roundRect">
            <a:avLst>
              <a:gd name="adj" fmla="val 26471"/>
            </a:avLst>
          </a:prstGeom>
          <a:solidFill>
            <a:srgbClr val="EAF1FC"/>
          </a:solidFill>
          <a:ln w="9525">
            <a:solidFill>
              <a:srgbClr val="C7D4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51860" y="2752344"/>
            <a:ext cx="859536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57200" y="317296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a growing roster of specialists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68880" y="3374136"/>
            <a:ext cx="0" cy="118872"/>
          </a:xfrm>
          <a:prstGeom prst="line">
            <a:avLst/>
          </a:prstGeom>
          <a:noFill/>
          <a:ln w="19050">
            <a:solidFill>
              <a:srgbClr val="3A4A8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508760" y="3511296"/>
            <a:ext cx="1920240" cy="310896"/>
          </a:xfrm>
          <a:prstGeom prst="roundRect">
            <a:avLst>
              <a:gd name="adj" fmla="val 26471"/>
            </a:avLst>
          </a:prstGeom>
          <a:solidFill>
            <a:srgbClr val="F4F7FC"/>
          </a:solidFill>
          <a:ln w="9525">
            <a:solidFill>
              <a:srgbClr val="C7D4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08760" y="3511296"/>
            <a:ext cx="192024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synthesized answer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960120"/>
            <a:ext cx="4023360" cy="3246120"/>
          </a:xfrm>
          <a:prstGeom prst="roundRect">
            <a:avLst>
              <a:gd name="adj" fmla="val 1972"/>
            </a:avLst>
          </a:prstGeom>
          <a:solidFill>
            <a:srgbClr val="FBEEDC"/>
          </a:solidFill>
          <a:ln w="15875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64608" y="1069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Playbook AI</a:t>
            </a:r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 the lab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035040" y="1399032"/>
            <a:ext cx="1280160" cy="274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C7D4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1399032"/>
            <a:ext cx="12801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objective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75120" y="1682496"/>
            <a:ext cx="0" cy="118872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882896" y="1819656"/>
            <a:ext cx="1060704" cy="329184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82896" y="1819656"/>
            <a:ext cx="106070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61888" y="1984248"/>
            <a:ext cx="16459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144768" y="1819656"/>
            <a:ext cx="1060704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C7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44768" y="1819656"/>
            <a:ext cx="106070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223760" y="1984248"/>
            <a:ext cx="16459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406640" y="1819656"/>
            <a:ext cx="1060704" cy="32918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E3C79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06640" y="1819656"/>
            <a:ext cx="1060704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202936" y="2148840"/>
            <a:ext cx="0" cy="128016"/>
          </a:xfrm>
          <a:prstGeom prst="line">
            <a:avLst/>
          </a:prstGeom>
          <a:noFill/>
          <a:ln w="12700">
            <a:solidFill>
              <a:srgbClr val="D97706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5202936" y="2276856"/>
            <a:ext cx="2944368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8147304" y="2148840"/>
            <a:ext cx="0" cy="128016"/>
          </a:xfrm>
          <a:prstGeom prst="line">
            <a:avLst/>
          </a:prstGeom>
          <a:noFill/>
          <a:ln w="12700">
            <a:solidFill>
              <a:srgbClr val="D97706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4663440" y="231343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re-approaches until the objective is met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800600" y="2587752"/>
            <a:ext cx="11887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9525">
            <a:solidFill>
              <a:srgbClr val="E3C79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2587752"/>
            <a:ext cx="118872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Coach agent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080760" y="2587752"/>
            <a:ext cx="11887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9525">
            <a:solidFill>
              <a:srgbClr val="E3C79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80760" y="2587752"/>
            <a:ext cx="118872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&amp; runs code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360920" y="2587752"/>
            <a:ext cx="11887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9525">
            <a:solidFill>
              <a:srgbClr val="E3C79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60920" y="2587752"/>
            <a:ext cx="118872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on the fly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800600" y="2971800"/>
            <a:ext cx="11887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9525">
            <a:solidFill>
              <a:srgbClr val="E3C79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00600" y="2971800"/>
            <a:ext cx="118872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artifacts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080760" y="2971800"/>
            <a:ext cx="11887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9525">
            <a:solidFill>
              <a:srgbClr val="E3C79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80760" y="2971800"/>
            <a:ext cx="118872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dashboards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360920" y="2971800"/>
            <a:ext cx="118872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9525">
            <a:solidFill>
              <a:srgbClr val="E3C79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60920" y="2971800"/>
            <a:ext cx="118872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Self-corrects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6675120" y="3374136"/>
            <a:ext cx="0" cy="118872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5257800" y="3511296"/>
            <a:ext cx="2834640" cy="310896"/>
          </a:xfrm>
          <a:prstGeom prst="roundRect">
            <a:avLst>
              <a:gd name="adj" fmla="val 26471"/>
            </a:avLst>
          </a:prstGeom>
          <a:solidFill>
            <a:srgbClr val="FFFFFF"/>
          </a:solidFill>
          <a:ln w="9525">
            <a:solidFill>
              <a:srgbClr val="C7D4E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57800" y="3511296"/>
            <a:ext cx="283464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answer, an analysis — or a working artifact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57200" y="4370832"/>
            <a:ext cx="8229600" cy="475488"/>
          </a:xfrm>
          <a:prstGeom prst="roundRect">
            <a:avLst>
              <a:gd name="adj" fmla="val 13462"/>
            </a:avLst>
          </a:prstGeom>
          <a:solidFill>
            <a:srgbClr val="EAF1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2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685800" y="437083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orchestrates specialists. </a:t>
            </a:r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reasons with them — and builds.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request. Two ways of working.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411480"/>
          </a:xfrm>
          <a:prstGeom prst="roundRect">
            <a:avLst>
              <a:gd name="adj" fmla="val 15556"/>
            </a:avLst>
          </a:prstGeom>
          <a:solidFill>
            <a:srgbClr val="EAF1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868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“Summarize this morning's meeting and tell me which clients I should call.”</a:t>
            </a:r>
            <a:pPr indent="0" marL="0">
              <a:buNone/>
            </a:pPr>
            <a:r>
              <a:rPr lang="en-US" sz="9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an advisor, any weekday morning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57276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Coach today</a:t>
            </a:r>
            <a:pPr indent="0" marL="0">
              <a:buNone/>
            </a:pPr>
            <a:r>
              <a:rPr lang="en-US" sz="95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2.0 / 3.0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58368" y="193852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938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3255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the request.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sends it to the meeting-notes and investments agents.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248716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487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468880"/>
            <a:ext cx="3255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the summary.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morning meeting's views and market calls, in brief.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" y="303580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3035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3017520"/>
            <a:ext cx="3255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the book.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search finds the clients holding the names discussed.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358444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584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566160"/>
            <a:ext cx="3255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answer.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response: the summary, and a list of clients to call.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" y="4142232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when every agent answers well. If one comes back thin, the response reflects it.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1463040"/>
            <a:ext cx="4023360" cy="3063240"/>
          </a:xfrm>
          <a:prstGeom prst="roundRect">
            <a:avLst>
              <a:gd name="adj" fmla="val 2090"/>
            </a:avLst>
          </a:prstGeom>
          <a:solidFill>
            <a:srgbClr val="FBEEDC"/>
          </a:solidFill>
          <a:ln w="15875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64608" y="157276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Playbook AI</a:t>
            </a:r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 the lab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864608" y="1938528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864608" y="1938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1920240"/>
            <a:ext cx="3255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the work.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the request into parts: meeting takeaways, market impact, book exposure, call priority.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64608" y="2560320"/>
            <a:ext cx="256032" cy="25603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2560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2542032"/>
            <a:ext cx="3255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Acts, then checks its own work.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the meeting-notes agent, sees the summary is thin, and re-approaches until it holds up.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64608" y="3182112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4864608" y="3182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3163824"/>
            <a:ext cx="3255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the dots.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FactSet price moves against portfolio search to rank clients by exposure.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64608" y="3803904"/>
            <a:ext cx="256032" cy="2560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4864608" y="3803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3785616"/>
            <a:ext cx="3255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call-ready output. 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briefing and prioritized call list with talking points — or a working dashboard, built on the spot.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617720"/>
            <a:ext cx="8229600" cy="384048"/>
          </a:xfrm>
          <a:prstGeom prst="roundRect">
            <a:avLst>
              <a:gd name="adj" fmla="val 16667"/>
            </a:avLst>
          </a:prstGeom>
          <a:solidFill>
            <a:srgbClr val="EAF1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85800" y="46177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request. Same agents. </a:t>
            </a:r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keeps working until the answer is call-ready.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pass. One loop.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365760"/>
          </a:xfrm>
          <a:prstGeom prst="roundRect">
            <a:avLst>
              <a:gd name="adj" fmla="val 17500"/>
            </a:avLst>
          </a:prstGeom>
          <a:solidFill>
            <a:srgbClr val="EAF1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8412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“Summarize this morning's meeting and tell me which clients I should call.”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46304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Coach today</a:t>
            </a:r>
            <a:pPr indent="0" marL="0">
              <a:buNone/>
            </a:pPr>
            <a:r>
              <a:rPr lang="en-US" sz="900" b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one pass, left to right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8368" y="1773936"/>
            <a:ext cx="1121664" cy="384048"/>
          </a:xfrm>
          <a:prstGeom prst="roundRect">
            <a:avLst>
              <a:gd name="adj" fmla="val 21429"/>
            </a:avLst>
          </a:prstGeom>
          <a:solidFill>
            <a:srgbClr val="EAF1FC"/>
          </a:solidFill>
          <a:ln w="9525">
            <a:solidFill>
              <a:srgbClr val="C7D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773936"/>
            <a:ext cx="1121664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2648" y="2194560"/>
            <a:ext cx="1213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asks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798320" y="1965960"/>
            <a:ext cx="182880" cy="0"/>
          </a:xfrm>
          <a:prstGeom prst="line">
            <a:avLst/>
          </a:prstGeom>
          <a:noFill/>
          <a:ln w="19050">
            <a:solidFill>
              <a:srgbClr val="3A4A8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999488" y="1773936"/>
            <a:ext cx="1121664" cy="384048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9488" y="1773936"/>
            <a:ext cx="1121664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routes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953768" y="2194560"/>
            <a:ext cx="1213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139440" y="1965960"/>
            <a:ext cx="182880" cy="0"/>
          </a:xfrm>
          <a:prstGeom prst="line">
            <a:avLst/>
          </a:prstGeom>
          <a:noFill/>
          <a:ln w="19050">
            <a:solidFill>
              <a:srgbClr val="3A4A8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40608" y="1773936"/>
            <a:ext cx="1121664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C7D4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40608" y="1773936"/>
            <a:ext cx="1121664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Meeting-notes agent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94888" y="2194560"/>
            <a:ext cx="1213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views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80560" y="1965960"/>
            <a:ext cx="182880" cy="0"/>
          </a:xfrm>
          <a:prstGeom prst="line">
            <a:avLst/>
          </a:prstGeom>
          <a:noFill/>
          <a:ln w="19050">
            <a:solidFill>
              <a:srgbClr val="3A4A8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681728" y="1773936"/>
            <a:ext cx="1121664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C7D4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1773936"/>
            <a:ext cx="1121664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FactSet agent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36008" y="2194560"/>
            <a:ext cx="1213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moves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821680" y="1965960"/>
            <a:ext cx="182880" cy="0"/>
          </a:xfrm>
          <a:prstGeom prst="line">
            <a:avLst/>
          </a:prstGeom>
          <a:noFill/>
          <a:ln w="19050">
            <a:solidFill>
              <a:srgbClr val="3A4A8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22848" y="1773936"/>
            <a:ext cx="1121664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C7D4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22848" y="1773936"/>
            <a:ext cx="1121664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search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77128" y="2194560"/>
            <a:ext cx="1213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holds what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62800" y="1965960"/>
            <a:ext cx="182880" cy="0"/>
          </a:xfrm>
          <a:prstGeom prst="line">
            <a:avLst/>
          </a:prstGeom>
          <a:noFill/>
          <a:ln w="19050">
            <a:solidFill>
              <a:srgbClr val="3A4A8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63968" y="1773936"/>
            <a:ext cx="1121664" cy="384048"/>
          </a:xfrm>
          <a:prstGeom prst="roundRect">
            <a:avLst>
              <a:gd name="adj" fmla="val 21429"/>
            </a:avLst>
          </a:prstGeom>
          <a:solidFill>
            <a:srgbClr val="EAF1FC"/>
          </a:solidFill>
          <a:ln w="9525">
            <a:solidFill>
              <a:srgbClr val="C7D4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63968" y="1773936"/>
            <a:ext cx="1121664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+ call list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18248" y="2194560"/>
            <a:ext cx="1213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response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58368" y="24505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is called once. The answer carries whatever came back.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017520"/>
            <a:ext cx="8229600" cy="1627632"/>
          </a:xfrm>
          <a:prstGeom prst="roundRect">
            <a:avLst>
              <a:gd name="adj" fmla="val 3933"/>
            </a:avLst>
          </a:prstGeom>
          <a:solidFill>
            <a:srgbClr val="FBEEDC"/>
          </a:solidFill>
          <a:ln w="15875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12700" dir="5400000">
              <a:srgbClr val="1E2761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8368" y="310896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Playbook AI</a:t>
            </a:r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 loop, not a line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58368" y="3675888"/>
            <a:ext cx="961426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E3C7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3675888"/>
            <a:ext cx="96142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12648" y="4096512"/>
            <a:ext cx="10528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asks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638082" y="3867912"/>
            <a:ext cx="146304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802674" y="3675888"/>
            <a:ext cx="961426" cy="384048"/>
          </a:xfrm>
          <a:prstGeom prst="roundRect">
            <a:avLst>
              <a:gd name="adj" fmla="val 21429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02674" y="3675888"/>
            <a:ext cx="96142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the work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756954" y="4096512"/>
            <a:ext cx="10528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782389" y="3867912"/>
            <a:ext cx="146304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946981" y="3675888"/>
            <a:ext cx="961426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E3C7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46981" y="3675888"/>
            <a:ext cx="96142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Meeting-notes agent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926695" y="3867912"/>
            <a:ext cx="146304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091287" y="3675888"/>
            <a:ext cx="961426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E3C7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91287" y="3675888"/>
            <a:ext cx="96142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FactSet agent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045567" y="4096512"/>
            <a:ext cx="10528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moves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071001" y="3867912"/>
            <a:ext cx="146304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235593" y="3675888"/>
            <a:ext cx="961426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E3C79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35593" y="3675888"/>
            <a:ext cx="96142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search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189873" y="4096512"/>
            <a:ext cx="10528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exposure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215307" y="3867912"/>
            <a:ext cx="146304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379899" y="3675888"/>
            <a:ext cx="961426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E3C79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79899" y="3675888"/>
            <a:ext cx="96142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334179" y="4096512"/>
            <a:ext cx="10528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dashboard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359614" y="3867912"/>
            <a:ext cx="146304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7524206" y="3675888"/>
            <a:ext cx="961426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E3C7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24206" y="3675888"/>
            <a:ext cx="961426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Call-ready output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478486" y="4096512"/>
            <a:ext cx="10528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+ call list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056709" y="3529584"/>
            <a:ext cx="0" cy="128016"/>
          </a:xfrm>
          <a:prstGeom prst="line">
            <a:avLst/>
          </a:prstGeom>
          <a:noFill/>
          <a:ln w="12700">
            <a:solidFill>
              <a:srgbClr val="D97706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3056709" y="3529584"/>
            <a:ext cx="741970" cy="0"/>
          </a:xfrm>
          <a:prstGeom prst="line">
            <a:avLst/>
          </a:prstGeom>
          <a:noFill/>
          <a:ln w="12700">
            <a:solidFill>
              <a:srgbClr val="D97706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3798679" y="3529584"/>
            <a:ext cx="0" cy="128016"/>
          </a:xfrm>
          <a:prstGeom prst="line">
            <a:avLst/>
          </a:prstGeom>
          <a:noFill/>
          <a:ln w="12700">
            <a:solidFill>
              <a:srgbClr val="D97706"/>
            </a:solidFill>
            <a:prstDash val="dash"/>
          </a:ln>
        </p:spPr>
      </p:sp>
      <p:sp>
        <p:nvSpPr>
          <p:cNvPr id="62" name="Text 60"/>
          <p:cNvSpPr/>
          <p:nvPr/>
        </p:nvSpPr>
        <p:spPr>
          <a:xfrm>
            <a:off x="2489781" y="3346704"/>
            <a:ext cx="187582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answer — re-approaches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58368" y="43708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6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checks each result, re-approaches weak ones, and builds as it goes.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57200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the shape of the flow — </a:t>
            </a:r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pass, versus a loop that ends only when the output is call-ready.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Evolution of Coach</dc:title>
  <dc:subject>PptxGenJS Presentation</dc:subject>
  <dc:creator>Global Private Banking &amp; Innovation</dc:creator>
  <cp:lastModifiedBy>Global Private Banking &amp; Innovation</cp:lastModifiedBy>
  <cp:revision>1</cp:revision>
  <dcterms:created xsi:type="dcterms:W3CDTF">2026-07-14T13:00:10Z</dcterms:created>
  <dcterms:modified xsi:type="dcterms:W3CDTF">2026-07-14T13:00:10Z</dcterms:modified>
</cp:coreProperties>
</file>