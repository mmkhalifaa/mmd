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Pause. Don't elaborate. Let the room sit in the contrast for four seconds before moving on. This is the only slide where silence is the work. Transition: "That's not a forecast. It's already happening at every company building AI products. I want to talk today about what that changes about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what's everywhere. Read the three quotes flatly — they're not attributed, and they don't need to be. Most of the room has heard a version of each one in the last month. Deliver the closer with confidence: "Some of this is right. Most of it is missing the point." Transition: "Here's what I think we should believe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line I want you to leave with. Say each sentence slowly; let the second one hit. Then read the supporting line below. Pause before the next slide. Transition: "And before we go further — this isn't a prediction. It's already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this in flat. "This isn't a forecast." Point at the four numbers. "Anthropic's product timelines went from six months to one day in five years. The team shipping the tools we're describing is shipping faster than any of us — and they're showing the rest of the industry how it's done." Transition: "Which is why I want to introduce you to someone. Meet Maya."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Maya in one sentence — she's a composite product owner for alternatives access. You don't have to read every beat. Walk the room through three or four, then linger on 7:02: "4,400 words. Nothing shipped." Land the closing line plainly: "She is good at her job. The job is mostly waiting." Pause. Transition: "Now meet the same person, six years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name, same role, same firm — different job. Walk three or four beats again. Linger on 1:45 (she kills her own feature) and 3:00 (she pushes back with data). Land the close: "The job is harder now. It is also entirely hers." Pause longer than feels comfortable. Transition: "What changed isn't just Maya. The bar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Read each statement as one continuous beat — the gray clause first, then the navy clause. Don't read them as a list. Let the contrast in color do the work. The hidden message: friction used to hide variance in product judgment, and the friction is gone. End on the closer: "There used to be places to hide. There aren't anymore." That's the line they'll repeat in the hallway. Transition: "Let me show you the same shift in analytical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analytical anchor. Read across, not down. Don't go row by row. Land on "what's scarce" — engineering capacity used to be the bottleneck; taste, judgment, and editing are now. That's the pivot of the whole talk. Transition: "I want to pull one row out of this table — planning horizon — and look at it more closely. Because roadmaps are how this firm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I want us to steal. Alex Embirico runs product for OpenAI's Codex team. He says they plan near-term — eight weeks, what a team can rally around and ship. They have a long-term conviction — a year out, a view of where the models and the world are going. They never plan medium-term. That's the part that's always wrong and always wasted. Pause on "awkward" — let the word do its work. Then land the closer of the quote: they don't have a roadmap. They have a long-term direction and short-term bets that bring them toward it. For us: less time defending a four-quarter Gantt chart, more time on the next eight weeks and the next two years. Conviction in the direction, nimbleness in the bets. Transition: "So what does this mean for our actual product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room: mortgages, lending, alternatives, insurance, brokerage. The hardest part for these PMs: vendor management and committee navigation used to be the job. Now those are table stakes; the new leverage is reading data, building prototypes, and writing evals for AI-drafted credit memos. Transition: "Same shift for our advisor-platform PMs — different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treatment for advisor-facing PMs. The shift: from managing the queue to being closer to advisors than anyone in the firm — and being technical enough to build for them on Tuesday what they asked for on Monday. The hardest move is letting go of the ticket as the artifact. Transition: "All of this assumes we use the speed wisely. Most teams won't."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Rick Rubin and Jack Dorsey said it better than I will. Read both quotes. AI removed the natural governor on doing too much. We have to choose restraint — nothing will force it on us. In our category — advisors and clients with low tolerance for noise — the scarce act is choosing what not to build. Transition: "So what's actually scarce now? Eight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card. The slide is meant to be looked at, not narrated. Land on three or four — taste, hands-on instinct, intellectual honesty — and give one specific example from the room. Close with: "These are what AI cannot give us. Which is why they're what we hire for." Transition: "And that's the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audience hears the implication for their teams. The cards mirror the qualities on the previous slide — "these are what's scarce, so these are what we'll commit to." Don't read every card. Land on three: "Taste over title," "Editing equals creating," and "Data-backed pushback." Hold the last one — that's the line the senior leaders will weigh against their own behavior. Transition: "Which means, in practice — these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trade-off out loud. Stop after each one. This is the slide every executive should leave with. Trade-offs land because they imply a choice was made. Transition: don't transition. The next slide does its own work. Take a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anything else. Don't say "thank you." Don't say "questions." Let the line sit. Look at the room. Wait five seconds. Longer if you can stand it. Then either walk back to your seat or open the floor with: "What do you want to push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274320" y="1828800"/>
            <a:ext cx="8595360" cy="731520"/>
          </a:xfrm>
          <a:prstGeom prst="rect">
            <a:avLst/>
          </a:prstGeom>
          <a:noFill/>
          <a:ln/>
        </p:spPr>
        <p:txBody>
          <a:bodyPr wrap="square" lIns="0" tIns="0" rIns="0" bIns="0" rtlCol="0" anchor="ctr"/>
          <a:lstStyle/>
          <a:p>
            <a:pPr algn="ctr" indent="0" marL="0">
              <a:buNone/>
            </a:pPr>
            <a:r>
              <a:rPr lang="en-US" sz="2800" i="1" dirty="0">
                <a:solidFill>
                  <a:srgbClr val="2D2D2D"/>
                </a:solidFill>
                <a:latin typeface="Georgia" pitchFamily="34" charset="0"/>
                <a:ea typeface="Georgia" pitchFamily="34" charset="-122"/>
                <a:cs typeface="Georgia" pitchFamily="34" charset="-120"/>
              </a:rPr>
              <a:t>In 2020, our best PMs shipped quarterly.</a:t>
            </a:r>
            <a:endParaRPr lang="en-US" sz="2800" dirty="0"/>
          </a:p>
        </p:txBody>
      </p:sp>
      <p:sp>
        <p:nvSpPr>
          <p:cNvPr id="3" name="Text 1"/>
          <p:cNvSpPr/>
          <p:nvPr/>
        </p:nvSpPr>
        <p:spPr>
          <a:xfrm>
            <a:off x="274320" y="2560320"/>
            <a:ext cx="8595360" cy="731520"/>
          </a:xfrm>
          <a:prstGeom prst="rect">
            <a:avLst/>
          </a:prstGeom>
          <a:noFill/>
          <a:ln/>
        </p:spPr>
        <p:txBody>
          <a:bodyPr wrap="square" lIns="0" tIns="0" rIns="0" bIns="0" rtlCol="0" anchor="ctr"/>
          <a:lstStyle/>
          <a:p>
            <a:pPr algn="ctr" indent="0" marL="0">
              <a:buNone/>
            </a:pPr>
            <a:r>
              <a:rPr lang="en-US" sz="2800" i="1" dirty="0">
                <a:solidFill>
                  <a:srgbClr val="2D2D2D"/>
                </a:solidFill>
                <a:latin typeface="Georgia" pitchFamily="34" charset="0"/>
                <a:ea typeface="Georgia" pitchFamily="34" charset="-122"/>
                <a:cs typeface="Georgia" pitchFamily="34" charset="-120"/>
              </a:rPr>
              <a:t>In 2027, they'll ship on Tuesday.</a:t>
            </a:r>
            <a:endParaRPr lang="en-US" sz="2800" dirty="0"/>
          </a:p>
        </p:txBody>
      </p:sp>
      <p:sp>
        <p:nvSpPr>
          <p:cNvPr id="4" name="Shape 2"/>
          <p:cNvSpPr/>
          <p:nvPr/>
        </p:nvSpPr>
        <p:spPr>
          <a:xfrm>
            <a:off x="4114800" y="3520440"/>
            <a:ext cx="914400" cy="0"/>
          </a:xfrm>
          <a:prstGeom prst="line">
            <a:avLst/>
          </a:prstGeom>
          <a:noFill/>
          <a:ln w="19050">
            <a:solidFill>
              <a:srgbClr val="A0824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The noise.</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This is what you'll hear right now.</a:t>
            </a:r>
            <a:endParaRPr lang="en-US" sz="1200" dirty="0"/>
          </a:p>
        </p:txBody>
      </p:sp>
      <p:sp>
        <p:nvSpPr>
          <p:cNvPr id="5" name="Shape 3"/>
          <p:cNvSpPr/>
          <p:nvPr/>
        </p:nvSpPr>
        <p:spPr>
          <a:xfrm>
            <a:off x="731520" y="1783080"/>
            <a:ext cx="7680960" cy="594360"/>
          </a:xfrm>
          <a:prstGeom prst="roundRect">
            <a:avLst>
              <a:gd name="adj" fmla="val 15385"/>
            </a:avLst>
          </a:prstGeom>
          <a:solidFill>
            <a:srgbClr val="F9F5F0"/>
          </a:solidFill>
          <a:ln/>
          <a:effectLst>
            <a:outerShdw sx="100000" sy="100000" kx="0" ky="0" algn="bl" rotWithShape="0" blurRad="38100" dist="12700" dir="8100000">
              <a:srgbClr val="000000">
                <a:alpha val="8000"/>
              </a:srgbClr>
            </a:outerShdw>
          </a:effectLst>
        </p:spPr>
      </p:sp>
      <p:sp>
        <p:nvSpPr>
          <p:cNvPr id="6" name="Shape 4"/>
          <p:cNvSpPr/>
          <p:nvPr/>
        </p:nvSpPr>
        <p:spPr>
          <a:xfrm>
            <a:off x="731520" y="1783080"/>
            <a:ext cx="54864" cy="594360"/>
          </a:xfrm>
          <a:prstGeom prst="rect">
            <a:avLst/>
          </a:prstGeom>
          <a:solidFill>
            <a:srgbClr val="A0824E"/>
          </a:solidFill>
          <a:ln/>
        </p:spPr>
      </p:sp>
      <p:sp>
        <p:nvSpPr>
          <p:cNvPr id="7" name="Text 5"/>
          <p:cNvSpPr/>
          <p:nvPr/>
        </p:nvSpPr>
        <p:spPr>
          <a:xfrm>
            <a:off x="914400" y="1783080"/>
            <a:ext cx="7315200" cy="594360"/>
          </a:xfrm>
          <a:prstGeom prst="rect">
            <a:avLst/>
          </a:prstGeom>
          <a:noFill/>
          <a:ln/>
        </p:spPr>
        <p:txBody>
          <a:bodyPr wrap="square" lIns="0" tIns="0" rIns="0" bIns="0" rtlCol="0" anchor="ctr"/>
          <a:lstStyle/>
          <a:p>
            <a:pPr indent="0" marL="0">
              <a:buNone/>
            </a:pPr>
            <a:r>
              <a:rPr lang="en-US" sz="1600" i="1" dirty="0">
                <a:solidFill>
                  <a:srgbClr val="2D2D2D"/>
                </a:solidFill>
                <a:latin typeface="Georgia" pitchFamily="34" charset="0"/>
                <a:ea typeface="Georgia" pitchFamily="34" charset="-122"/>
                <a:cs typeface="Georgia" pitchFamily="34" charset="-120"/>
              </a:rPr>
              <a:t>"PMs are dead. Eng plus AI is the new pod."</a:t>
            </a:r>
            <a:endParaRPr lang="en-US" sz="1600" dirty="0"/>
          </a:p>
        </p:txBody>
      </p:sp>
      <p:sp>
        <p:nvSpPr>
          <p:cNvPr id="8" name="Shape 6"/>
          <p:cNvSpPr/>
          <p:nvPr/>
        </p:nvSpPr>
        <p:spPr>
          <a:xfrm>
            <a:off x="731520" y="2560320"/>
            <a:ext cx="7680960" cy="594360"/>
          </a:xfrm>
          <a:prstGeom prst="roundRect">
            <a:avLst>
              <a:gd name="adj" fmla="val 15385"/>
            </a:avLst>
          </a:prstGeom>
          <a:solidFill>
            <a:srgbClr val="F9F5F0"/>
          </a:solidFill>
          <a:ln/>
          <a:effectLst>
            <a:outerShdw sx="100000" sy="100000" kx="0" ky="0" algn="bl" rotWithShape="0" blurRad="38100" dist="12700" dir="8100000">
              <a:srgbClr val="000000">
                <a:alpha val="8000"/>
              </a:srgbClr>
            </a:outerShdw>
          </a:effectLst>
        </p:spPr>
      </p:sp>
      <p:sp>
        <p:nvSpPr>
          <p:cNvPr id="9" name="Shape 7"/>
          <p:cNvSpPr/>
          <p:nvPr/>
        </p:nvSpPr>
        <p:spPr>
          <a:xfrm>
            <a:off x="731520" y="2560320"/>
            <a:ext cx="54864" cy="594360"/>
          </a:xfrm>
          <a:prstGeom prst="rect">
            <a:avLst/>
          </a:prstGeom>
          <a:solidFill>
            <a:srgbClr val="A0824E"/>
          </a:solidFill>
          <a:ln/>
        </p:spPr>
      </p:sp>
      <p:sp>
        <p:nvSpPr>
          <p:cNvPr id="10" name="Text 8"/>
          <p:cNvSpPr/>
          <p:nvPr/>
        </p:nvSpPr>
        <p:spPr>
          <a:xfrm>
            <a:off x="914400" y="2560320"/>
            <a:ext cx="7315200" cy="594360"/>
          </a:xfrm>
          <a:prstGeom prst="rect">
            <a:avLst/>
          </a:prstGeom>
          <a:noFill/>
          <a:ln/>
        </p:spPr>
        <p:txBody>
          <a:bodyPr wrap="square" lIns="0" tIns="0" rIns="0" bIns="0" rtlCol="0" anchor="ctr"/>
          <a:lstStyle/>
          <a:p>
            <a:pPr indent="0" marL="0">
              <a:buNone/>
            </a:pPr>
            <a:r>
              <a:rPr lang="en-US" sz="1600" i="1" dirty="0">
                <a:solidFill>
                  <a:srgbClr val="2D2D2D"/>
                </a:solidFill>
                <a:latin typeface="Georgia" pitchFamily="34" charset="0"/>
                <a:ea typeface="Georgia" pitchFamily="34" charset="-122"/>
                <a:cs typeface="Georgia" pitchFamily="34" charset="-120"/>
              </a:rPr>
              <a:t>"Everyone is an engineer now."</a:t>
            </a:r>
            <a:endParaRPr lang="en-US" sz="1600" dirty="0"/>
          </a:p>
        </p:txBody>
      </p:sp>
      <p:sp>
        <p:nvSpPr>
          <p:cNvPr id="11" name="Shape 9"/>
          <p:cNvSpPr/>
          <p:nvPr/>
        </p:nvSpPr>
        <p:spPr>
          <a:xfrm>
            <a:off x="731520" y="3337560"/>
            <a:ext cx="7680960" cy="594360"/>
          </a:xfrm>
          <a:prstGeom prst="roundRect">
            <a:avLst>
              <a:gd name="adj" fmla="val 15385"/>
            </a:avLst>
          </a:prstGeom>
          <a:solidFill>
            <a:srgbClr val="F9F5F0"/>
          </a:solidFill>
          <a:ln/>
          <a:effectLst>
            <a:outerShdw sx="100000" sy="100000" kx="0" ky="0" algn="bl" rotWithShape="0" blurRad="38100" dist="12700" dir="8100000">
              <a:srgbClr val="000000">
                <a:alpha val="8000"/>
              </a:srgbClr>
            </a:outerShdw>
          </a:effectLst>
        </p:spPr>
      </p:sp>
      <p:sp>
        <p:nvSpPr>
          <p:cNvPr id="12" name="Shape 10"/>
          <p:cNvSpPr/>
          <p:nvPr/>
        </p:nvSpPr>
        <p:spPr>
          <a:xfrm>
            <a:off x="731520" y="3337560"/>
            <a:ext cx="54864" cy="594360"/>
          </a:xfrm>
          <a:prstGeom prst="rect">
            <a:avLst/>
          </a:prstGeom>
          <a:solidFill>
            <a:srgbClr val="A0824E"/>
          </a:solidFill>
          <a:ln/>
        </p:spPr>
      </p:sp>
      <p:sp>
        <p:nvSpPr>
          <p:cNvPr id="13" name="Text 11"/>
          <p:cNvSpPr/>
          <p:nvPr/>
        </p:nvSpPr>
        <p:spPr>
          <a:xfrm>
            <a:off x="914400" y="3337560"/>
            <a:ext cx="7315200" cy="594360"/>
          </a:xfrm>
          <a:prstGeom prst="rect">
            <a:avLst/>
          </a:prstGeom>
          <a:noFill/>
          <a:ln/>
        </p:spPr>
        <p:txBody>
          <a:bodyPr wrap="square" lIns="0" tIns="0" rIns="0" bIns="0" rtlCol="0" anchor="ctr"/>
          <a:lstStyle/>
          <a:p>
            <a:pPr indent="0" marL="0">
              <a:buNone/>
            </a:pPr>
            <a:r>
              <a:rPr lang="en-US" sz="1600" i="1" dirty="0">
                <a:solidFill>
                  <a:srgbClr val="2D2D2D"/>
                </a:solidFill>
                <a:latin typeface="Georgia" pitchFamily="34" charset="0"/>
                <a:ea typeface="Georgia" pitchFamily="34" charset="-122"/>
                <a:cs typeface="Georgia" pitchFamily="34" charset="-120"/>
              </a:rPr>
              <a:t>"PRDs are obsolete. Just prompt the model."</a:t>
            </a:r>
            <a:endParaRPr lang="en-US" sz="1600" dirty="0"/>
          </a:p>
        </p:txBody>
      </p:sp>
      <p:sp>
        <p:nvSpPr>
          <p:cNvPr id="14" name="Text 12"/>
          <p:cNvSpPr/>
          <p:nvPr/>
        </p:nvSpPr>
        <p:spPr>
          <a:xfrm>
            <a:off x="731520" y="4297680"/>
            <a:ext cx="7680960" cy="411480"/>
          </a:xfrm>
          <a:prstGeom prst="rect">
            <a:avLst/>
          </a:prstGeom>
          <a:noFill/>
          <a:ln/>
        </p:spPr>
        <p:txBody>
          <a:bodyPr wrap="square" lIns="0" tIns="0" rIns="0" bIns="0" rtlCol="0" anchor="ctr"/>
          <a:lstStyle/>
          <a:p>
            <a:pPr algn="ctr" indent="0" marL="0">
              <a:buNone/>
            </a:pPr>
            <a:r>
              <a:rPr lang="en-US" sz="1600" i="1" dirty="0">
                <a:solidFill>
                  <a:srgbClr val="1B2A4A"/>
                </a:solidFill>
                <a:latin typeface="Georgia" pitchFamily="34" charset="0"/>
                <a:ea typeface="Georgia" pitchFamily="34" charset="-122"/>
                <a:cs typeface="Georgia" pitchFamily="34" charset="-120"/>
              </a:rPr>
              <a:t>Some of this is right. Most of it is missing the point.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The thesis.</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365760" y="1828800"/>
            <a:ext cx="8412480" cy="640080"/>
          </a:xfrm>
          <a:prstGeom prst="rect">
            <a:avLst/>
          </a:prstGeom>
          <a:noFill/>
          <a:ln/>
        </p:spPr>
        <p:txBody>
          <a:bodyPr wrap="square" lIns="0" tIns="0" rIns="0" bIns="0" rtlCol="0" anchor="ctr"/>
          <a:lstStyle/>
          <a:p>
            <a:pPr algn="ctr" indent="0" marL="0">
              <a:buNone/>
            </a:pPr>
            <a:r>
              <a:rPr lang="en-US" sz="2600" i="1" dirty="0">
                <a:solidFill>
                  <a:srgbClr val="2D2D2D"/>
                </a:solidFill>
                <a:latin typeface="Georgia" pitchFamily="34" charset="0"/>
                <a:ea typeface="Georgia" pitchFamily="34" charset="-122"/>
                <a:cs typeface="Georgia" pitchFamily="34" charset="-120"/>
              </a:rPr>
              <a:t>The cost of building has collapsed.</a:t>
            </a:r>
            <a:endParaRPr lang="en-US" sz="2600" dirty="0"/>
          </a:p>
        </p:txBody>
      </p:sp>
      <p:sp>
        <p:nvSpPr>
          <p:cNvPr id="5" name="Text 3"/>
          <p:cNvSpPr/>
          <p:nvPr/>
        </p:nvSpPr>
        <p:spPr>
          <a:xfrm>
            <a:off x="365760" y="2468880"/>
            <a:ext cx="8412480" cy="640080"/>
          </a:xfrm>
          <a:prstGeom prst="rect">
            <a:avLst/>
          </a:prstGeom>
          <a:noFill/>
          <a:ln/>
        </p:spPr>
        <p:txBody>
          <a:bodyPr wrap="square" lIns="0" tIns="0" rIns="0" bIns="0" rtlCol="0" anchor="ctr"/>
          <a:lstStyle/>
          <a:p>
            <a:pPr algn="ctr" indent="0" marL="0">
              <a:buNone/>
            </a:pPr>
            <a:r>
              <a:rPr lang="en-US" sz="2600" i="1" dirty="0">
                <a:solidFill>
                  <a:srgbClr val="2D2D2D"/>
                </a:solidFill>
                <a:latin typeface="Georgia" pitchFamily="34" charset="0"/>
                <a:ea typeface="Georgia" pitchFamily="34" charset="-122"/>
                <a:cs typeface="Georgia" pitchFamily="34" charset="-120"/>
              </a:rPr>
              <a:t>The cost of building the wrong thing has not.</a:t>
            </a:r>
            <a:endParaRPr lang="en-US" sz="2600" dirty="0"/>
          </a:p>
        </p:txBody>
      </p:sp>
      <p:sp>
        <p:nvSpPr>
          <p:cNvPr id="6" name="Shape 4"/>
          <p:cNvSpPr/>
          <p:nvPr/>
        </p:nvSpPr>
        <p:spPr>
          <a:xfrm>
            <a:off x="4114800" y="3337560"/>
            <a:ext cx="914400" cy="0"/>
          </a:xfrm>
          <a:prstGeom prst="line">
            <a:avLst/>
          </a:prstGeom>
          <a:noFill/>
          <a:ln w="19050">
            <a:solidFill>
              <a:srgbClr val="A0824E"/>
            </a:solidFill>
            <a:prstDash val="solid"/>
          </a:ln>
        </p:spPr>
      </p:sp>
      <p:sp>
        <p:nvSpPr>
          <p:cNvPr id="7" name="Text 5"/>
          <p:cNvSpPr/>
          <p:nvPr/>
        </p:nvSpPr>
        <p:spPr>
          <a:xfrm>
            <a:off x="1097280" y="3566160"/>
            <a:ext cx="6949440" cy="822960"/>
          </a:xfrm>
          <a:prstGeom prst="rect">
            <a:avLst/>
          </a:prstGeom>
          <a:noFill/>
          <a:ln/>
        </p:spPr>
        <p:txBody>
          <a:bodyPr wrap="square" lIns="0" tIns="0" rIns="0" bIns="0" rtlCol="0" anchor="ctr"/>
          <a:lstStyle/>
          <a:p>
            <a:pPr algn="ctr" indent="0" marL="0">
              <a:lnSpc>
                <a:spcPct val="140000"/>
              </a:lnSpc>
              <a:buNone/>
            </a:pPr>
            <a:r>
              <a:rPr lang="en-US" sz="1400" dirty="0">
                <a:solidFill>
                  <a:srgbClr val="6B6B6B"/>
                </a:solidFill>
                <a:latin typeface="Calibri" pitchFamily="34" charset="0"/>
                <a:ea typeface="Calibri" pitchFamily="34" charset="-122"/>
                <a:cs typeface="Calibri" pitchFamily="34" charset="-120"/>
              </a:rPr>
              <a:t>Customers still pay for bad product — in trust, in attention, in time.</a:t>
            </a:r>
            <a:endParaRPr lang="en-US" sz="1400" dirty="0"/>
          </a:p>
          <a:p>
            <a:pPr algn="ctr" indent="0" marL="0">
              <a:lnSpc>
                <a:spcPct val="140000"/>
              </a:lnSpc>
              <a:buNone/>
            </a:pPr>
            <a:r>
              <a:rPr lang="en-US" sz="1400" dirty="0">
                <a:solidFill>
                  <a:srgbClr val="6B6B6B"/>
                </a:solidFill>
                <a:latin typeface="Calibri" pitchFamily="34" charset="0"/>
                <a:ea typeface="Calibri" pitchFamily="34" charset="-122"/>
                <a:cs typeface="Calibri" pitchFamily="34" charset="-120"/>
              </a:rPr>
              <a:t>The variance in outcomes has moved from execution to judgment.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It's already happening.</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Anthropic's product timelines, from Cat Wu, Head of Product, Claude Code.</a:t>
            </a:r>
            <a:endParaRPr lang="en-US" sz="1200" dirty="0"/>
          </a:p>
        </p:txBody>
      </p:sp>
      <p:sp>
        <p:nvSpPr>
          <p:cNvPr id="5" name="Text 3"/>
          <p:cNvSpPr/>
          <p:nvPr/>
        </p:nvSpPr>
        <p:spPr>
          <a:xfrm>
            <a:off x="960120" y="1783080"/>
            <a:ext cx="1463040" cy="868680"/>
          </a:xfrm>
          <a:prstGeom prst="rect">
            <a:avLst/>
          </a:prstGeom>
          <a:noFill/>
          <a:ln/>
        </p:spPr>
        <p:txBody>
          <a:bodyPr wrap="square" lIns="0" tIns="0" rIns="0" bIns="0" rtlCol="0" anchor="ctr"/>
          <a:lstStyle/>
          <a:p>
            <a:pPr algn="ctr" indent="0" marL="0">
              <a:buNone/>
            </a:pPr>
            <a:r>
              <a:rPr lang="en-US" sz="6400" i="1" dirty="0">
                <a:solidFill>
                  <a:srgbClr val="1B2A4A"/>
                </a:solidFill>
                <a:latin typeface="Georgia" pitchFamily="34" charset="0"/>
                <a:ea typeface="Georgia" pitchFamily="34" charset="-122"/>
                <a:cs typeface="Georgia" pitchFamily="34" charset="-120"/>
              </a:rPr>
              <a:t>6</a:t>
            </a:r>
            <a:endParaRPr lang="en-US" sz="6400" dirty="0"/>
          </a:p>
        </p:txBody>
      </p:sp>
      <p:sp>
        <p:nvSpPr>
          <p:cNvPr id="6" name="Text 4"/>
          <p:cNvSpPr/>
          <p:nvPr/>
        </p:nvSpPr>
        <p:spPr>
          <a:xfrm>
            <a:off x="960120" y="2651760"/>
            <a:ext cx="1463040" cy="365760"/>
          </a:xfrm>
          <a:prstGeom prst="rect">
            <a:avLst/>
          </a:prstGeom>
          <a:noFill/>
          <a:ln/>
        </p:spPr>
        <p:txBody>
          <a:bodyPr wrap="square" lIns="0" tIns="0" rIns="0" bIns="0" rtlCol="0" anchor="t"/>
          <a:lstStyle/>
          <a:p>
            <a:pPr algn="ctr" indent="0" marL="0">
              <a:buNone/>
            </a:pPr>
            <a:r>
              <a:rPr lang="en-US" sz="1600" i="1" dirty="0">
                <a:solidFill>
                  <a:srgbClr val="6B6B6B"/>
                </a:solidFill>
                <a:latin typeface="Georgia" pitchFamily="34" charset="0"/>
                <a:ea typeface="Georgia" pitchFamily="34" charset="-122"/>
                <a:cs typeface="Georgia" pitchFamily="34" charset="-120"/>
              </a:rPr>
              <a:t>months</a:t>
            </a:r>
            <a:endParaRPr lang="en-US" sz="1600" dirty="0"/>
          </a:p>
        </p:txBody>
      </p:sp>
      <p:sp>
        <p:nvSpPr>
          <p:cNvPr id="7" name="Shape 5"/>
          <p:cNvSpPr/>
          <p:nvPr/>
        </p:nvSpPr>
        <p:spPr>
          <a:xfrm>
            <a:off x="2468880" y="2240280"/>
            <a:ext cx="365760" cy="0"/>
          </a:xfrm>
          <a:prstGeom prst="line">
            <a:avLst/>
          </a:prstGeom>
          <a:noFill/>
          <a:ln w="19050">
            <a:solidFill>
              <a:srgbClr val="A0824E"/>
            </a:solidFill>
            <a:prstDash val="solid"/>
            <a:tailEnd type="triangle"/>
          </a:ln>
        </p:spPr>
      </p:sp>
      <p:sp>
        <p:nvSpPr>
          <p:cNvPr id="8" name="Text 6"/>
          <p:cNvSpPr/>
          <p:nvPr/>
        </p:nvSpPr>
        <p:spPr>
          <a:xfrm>
            <a:off x="2880360" y="1783080"/>
            <a:ext cx="1463040" cy="868680"/>
          </a:xfrm>
          <a:prstGeom prst="rect">
            <a:avLst/>
          </a:prstGeom>
          <a:noFill/>
          <a:ln/>
        </p:spPr>
        <p:txBody>
          <a:bodyPr wrap="square" lIns="0" tIns="0" rIns="0" bIns="0" rtlCol="0" anchor="ctr"/>
          <a:lstStyle/>
          <a:p>
            <a:pPr algn="ctr" indent="0" marL="0">
              <a:buNone/>
            </a:pPr>
            <a:r>
              <a:rPr lang="en-US" sz="6400" i="1" dirty="0">
                <a:solidFill>
                  <a:srgbClr val="1B2A4A"/>
                </a:solidFill>
                <a:latin typeface="Georgia" pitchFamily="34" charset="0"/>
                <a:ea typeface="Georgia" pitchFamily="34" charset="-122"/>
                <a:cs typeface="Georgia" pitchFamily="34" charset="-120"/>
              </a:rPr>
              <a:t>1</a:t>
            </a:r>
            <a:endParaRPr lang="en-US" sz="6400" dirty="0"/>
          </a:p>
        </p:txBody>
      </p:sp>
      <p:sp>
        <p:nvSpPr>
          <p:cNvPr id="9" name="Text 7"/>
          <p:cNvSpPr/>
          <p:nvPr/>
        </p:nvSpPr>
        <p:spPr>
          <a:xfrm>
            <a:off x="2880360" y="2651760"/>
            <a:ext cx="1463040" cy="365760"/>
          </a:xfrm>
          <a:prstGeom prst="rect">
            <a:avLst/>
          </a:prstGeom>
          <a:noFill/>
          <a:ln/>
        </p:spPr>
        <p:txBody>
          <a:bodyPr wrap="square" lIns="0" tIns="0" rIns="0" bIns="0" rtlCol="0" anchor="t"/>
          <a:lstStyle/>
          <a:p>
            <a:pPr algn="ctr" indent="0" marL="0">
              <a:buNone/>
            </a:pPr>
            <a:r>
              <a:rPr lang="en-US" sz="1600" i="1" dirty="0">
                <a:solidFill>
                  <a:srgbClr val="6B6B6B"/>
                </a:solidFill>
                <a:latin typeface="Georgia" pitchFamily="34" charset="0"/>
                <a:ea typeface="Georgia" pitchFamily="34" charset="-122"/>
                <a:cs typeface="Georgia" pitchFamily="34" charset="-120"/>
              </a:rPr>
              <a:t>month</a:t>
            </a:r>
            <a:endParaRPr lang="en-US" sz="1600" dirty="0"/>
          </a:p>
        </p:txBody>
      </p:sp>
      <p:sp>
        <p:nvSpPr>
          <p:cNvPr id="10" name="Shape 8"/>
          <p:cNvSpPr/>
          <p:nvPr/>
        </p:nvSpPr>
        <p:spPr>
          <a:xfrm>
            <a:off x="4389120" y="2240280"/>
            <a:ext cx="365760" cy="0"/>
          </a:xfrm>
          <a:prstGeom prst="line">
            <a:avLst/>
          </a:prstGeom>
          <a:noFill/>
          <a:ln w="19050">
            <a:solidFill>
              <a:srgbClr val="A0824E"/>
            </a:solidFill>
            <a:prstDash val="solid"/>
            <a:tailEnd type="triangle"/>
          </a:ln>
        </p:spPr>
      </p:sp>
      <p:sp>
        <p:nvSpPr>
          <p:cNvPr id="11" name="Text 9"/>
          <p:cNvSpPr/>
          <p:nvPr/>
        </p:nvSpPr>
        <p:spPr>
          <a:xfrm>
            <a:off x="4800600" y="1783080"/>
            <a:ext cx="1463040" cy="868680"/>
          </a:xfrm>
          <a:prstGeom prst="rect">
            <a:avLst/>
          </a:prstGeom>
          <a:noFill/>
          <a:ln/>
        </p:spPr>
        <p:txBody>
          <a:bodyPr wrap="square" lIns="0" tIns="0" rIns="0" bIns="0" rtlCol="0" anchor="ctr"/>
          <a:lstStyle/>
          <a:p>
            <a:pPr algn="ctr" indent="0" marL="0">
              <a:buNone/>
            </a:pPr>
            <a:r>
              <a:rPr lang="en-US" sz="6400" i="1" dirty="0">
                <a:solidFill>
                  <a:srgbClr val="1B2A4A"/>
                </a:solidFill>
                <a:latin typeface="Georgia" pitchFamily="34" charset="0"/>
                <a:ea typeface="Georgia" pitchFamily="34" charset="-122"/>
                <a:cs typeface="Georgia" pitchFamily="34" charset="-120"/>
              </a:rPr>
              <a:t>1</a:t>
            </a:r>
            <a:endParaRPr lang="en-US" sz="6400" dirty="0"/>
          </a:p>
        </p:txBody>
      </p:sp>
      <p:sp>
        <p:nvSpPr>
          <p:cNvPr id="12" name="Text 10"/>
          <p:cNvSpPr/>
          <p:nvPr/>
        </p:nvSpPr>
        <p:spPr>
          <a:xfrm>
            <a:off x="4800600" y="2651760"/>
            <a:ext cx="1463040" cy="365760"/>
          </a:xfrm>
          <a:prstGeom prst="rect">
            <a:avLst/>
          </a:prstGeom>
          <a:noFill/>
          <a:ln/>
        </p:spPr>
        <p:txBody>
          <a:bodyPr wrap="square" lIns="0" tIns="0" rIns="0" bIns="0" rtlCol="0" anchor="t"/>
          <a:lstStyle/>
          <a:p>
            <a:pPr algn="ctr" indent="0" marL="0">
              <a:buNone/>
            </a:pPr>
            <a:r>
              <a:rPr lang="en-US" sz="1600" i="1" dirty="0">
                <a:solidFill>
                  <a:srgbClr val="6B6B6B"/>
                </a:solidFill>
                <a:latin typeface="Georgia" pitchFamily="34" charset="0"/>
                <a:ea typeface="Georgia" pitchFamily="34" charset="-122"/>
                <a:cs typeface="Georgia" pitchFamily="34" charset="-120"/>
              </a:rPr>
              <a:t>week</a:t>
            </a:r>
            <a:endParaRPr lang="en-US" sz="1600" dirty="0"/>
          </a:p>
        </p:txBody>
      </p:sp>
      <p:sp>
        <p:nvSpPr>
          <p:cNvPr id="13" name="Shape 11"/>
          <p:cNvSpPr/>
          <p:nvPr/>
        </p:nvSpPr>
        <p:spPr>
          <a:xfrm>
            <a:off x="6309360" y="2240280"/>
            <a:ext cx="365760" cy="0"/>
          </a:xfrm>
          <a:prstGeom prst="line">
            <a:avLst/>
          </a:prstGeom>
          <a:noFill/>
          <a:ln w="19050">
            <a:solidFill>
              <a:srgbClr val="A0824E"/>
            </a:solidFill>
            <a:prstDash val="solid"/>
            <a:tailEnd type="triangle"/>
          </a:ln>
        </p:spPr>
      </p:sp>
      <p:sp>
        <p:nvSpPr>
          <p:cNvPr id="14" name="Text 12"/>
          <p:cNvSpPr/>
          <p:nvPr/>
        </p:nvSpPr>
        <p:spPr>
          <a:xfrm>
            <a:off x="6720840" y="1783080"/>
            <a:ext cx="1463040" cy="868680"/>
          </a:xfrm>
          <a:prstGeom prst="rect">
            <a:avLst/>
          </a:prstGeom>
          <a:noFill/>
          <a:ln/>
        </p:spPr>
        <p:txBody>
          <a:bodyPr wrap="square" lIns="0" tIns="0" rIns="0" bIns="0" rtlCol="0" anchor="ctr"/>
          <a:lstStyle/>
          <a:p>
            <a:pPr algn="ctr" indent="0" marL="0">
              <a:buNone/>
            </a:pPr>
            <a:r>
              <a:rPr lang="en-US" sz="6400" i="1" dirty="0">
                <a:solidFill>
                  <a:srgbClr val="1B2A4A"/>
                </a:solidFill>
                <a:latin typeface="Georgia" pitchFamily="34" charset="0"/>
                <a:ea typeface="Georgia" pitchFamily="34" charset="-122"/>
                <a:cs typeface="Georgia" pitchFamily="34" charset="-120"/>
              </a:rPr>
              <a:t>1</a:t>
            </a:r>
            <a:endParaRPr lang="en-US" sz="6400" dirty="0"/>
          </a:p>
        </p:txBody>
      </p:sp>
      <p:sp>
        <p:nvSpPr>
          <p:cNvPr id="15" name="Text 13"/>
          <p:cNvSpPr/>
          <p:nvPr/>
        </p:nvSpPr>
        <p:spPr>
          <a:xfrm>
            <a:off x="6720840" y="2651760"/>
            <a:ext cx="1463040" cy="365760"/>
          </a:xfrm>
          <a:prstGeom prst="rect">
            <a:avLst/>
          </a:prstGeom>
          <a:noFill/>
          <a:ln/>
        </p:spPr>
        <p:txBody>
          <a:bodyPr wrap="square" lIns="0" tIns="0" rIns="0" bIns="0" rtlCol="0" anchor="t"/>
          <a:lstStyle/>
          <a:p>
            <a:pPr algn="ctr" indent="0" marL="0">
              <a:buNone/>
            </a:pPr>
            <a:r>
              <a:rPr lang="en-US" sz="1600" i="1" dirty="0">
                <a:solidFill>
                  <a:srgbClr val="6B6B6B"/>
                </a:solidFill>
                <a:latin typeface="Georgia" pitchFamily="34" charset="0"/>
                <a:ea typeface="Georgia" pitchFamily="34" charset="-122"/>
                <a:cs typeface="Georgia" pitchFamily="34" charset="-120"/>
              </a:rPr>
              <a:t>day</a:t>
            </a:r>
            <a:endParaRPr lang="en-US" sz="1600" dirty="0"/>
          </a:p>
        </p:txBody>
      </p:sp>
      <p:sp>
        <p:nvSpPr>
          <p:cNvPr id="16" name="Text 14"/>
          <p:cNvSpPr/>
          <p:nvPr/>
        </p:nvSpPr>
        <p:spPr>
          <a:xfrm>
            <a:off x="731520" y="3246120"/>
            <a:ext cx="7680960" cy="320040"/>
          </a:xfrm>
          <a:prstGeom prst="rect">
            <a:avLst/>
          </a:prstGeom>
          <a:noFill/>
          <a:ln/>
        </p:spPr>
        <p:txBody>
          <a:bodyPr wrap="square" lIns="0" tIns="0" rIns="0" bIns="0" rtlCol="0" anchor="ctr"/>
          <a:lstStyle/>
          <a:p>
            <a:pPr algn="ctr" indent="0" marL="0">
              <a:buNone/>
            </a:pPr>
            <a:r>
              <a:rPr lang="en-US" sz="1000" b="1" spc="200" kern="0" dirty="0">
                <a:solidFill>
                  <a:srgbClr val="999999"/>
                </a:solidFill>
                <a:latin typeface="Calibri" pitchFamily="34" charset="0"/>
                <a:ea typeface="Calibri" pitchFamily="34" charset="-122"/>
                <a:cs typeface="Calibri" pitchFamily="34" charset="-120"/>
              </a:rPr>
              <a:t>THE COLLAPSE IN SHIPPING CYCLES, 2020 — 2026</a:t>
            </a:r>
            <a:endParaRPr lang="en-US" sz="1000" dirty="0"/>
          </a:p>
        </p:txBody>
      </p:sp>
      <p:sp>
        <p:nvSpPr>
          <p:cNvPr id="17" name="Shape 15"/>
          <p:cNvSpPr/>
          <p:nvPr/>
        </p:nvSpPr>
        <p:spPr>
          <a:xfrm>
            <a:off x="3657600" y="3794760"/>
            <a:ext cx="1828800" cy="0"/>
          </a:xfrm>
          <a:prstGeom prst="line">
            <a:avLst/>
          </a:prstGeom>
          <a:noFill/>
          <a:ln w="19050">
            <a:solidFill>
              <a:srgbClr val="A0824E"/>
            </a:solidFill>
            <a:prstDash val="solid"/>
          </a:ln>
        </p:spPr>
      </p:sp>
      <p:sp>
        <p:nvSpPr>
          <p:cNvPr id="18" name="Text 16"/>
          <p:cNvSpPr/>
          <p:nvPr/>
        </p:nvSpPr>
        <p:spPr>
          <a:xfrm>
            <a:off x="731520" y="4023360"/>
            <a:ext cx="7680960" cy="502920"/>
          </a:xfrm>
          <a:prstGeom prst="rect">
            <a:avLst/>
          </a:prstGeom>
          <a:noFill/>
          <a:ln/>
        </p:spPr>
        <p:txBody>
          <a:bodyPr wrap="square" lIns="0" tIns="0" rIns="0" bIns="0" rtlCol="0" anchor="ctr"/>
          <a:lstStyle/>
          <a:p>
            <a:pPr algn="ctr" indent="0" marL="0">
              <a:buNone/>
            </a:pPr>
            <a:r>
              <a:rPr lang="en-US" sz="1600" i="1" dirty="0">
                <a:solidFill>
                  <a:srgbClr val="2D2D2D"/>
                </a:solidFill>
                <a:latin typeface="Georgia" pitchFamily="34" charset="0"/>
                <a:ea typeface="Georgia" pitchFamily="34" charset="-122"/>
                <a:cs typeface="Georgia" pitchFamily="34" charset="-120"/>
              </a:rPr>
              <a:t>That's not theory. That's the team building the tools we're describing.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A Tuesday in 2020.</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Meet Maya. She runs alternatives access for our advisors.</a:t>
            </a:r>
            <a:endParaRPr lang="en-US" sz="1200" dirty="0"/>
          </a:p>
        </p:txBody>
      </p:sp>
      <p:sp>
        <p:nvSpPr>
          <p:cNvPr id="5" name="Shape 3"/>
          <p:cNvSpPr/>
          <p:nvPr/>
        </p:nvSpPr>
        <p:spPr>
          <a:xfrm>
            <a:off x="731520" y="1600200"/>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6" name="Text 4"/>
          <p:cNvSpPr/>
          <p:nvPr/>
        </p:nvSpPr>
        <p:spPr>
          <a:xfrm>
            <a:off x="731520" y="1600200"/>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8:32 am</a:t>
            </a:r>
            <a:endParaRPr lang="en-US" sz="1000" dirty="0"/>
          </a:p>
        </p:txBody>
      </p:sp>
      <p:sp>
        <p:nvSpPr>
          <p:cNvPr id="7" name="Text 5"/>
          <p:cNvSpPr/>
          <p:nvPr/>
        </p:nvSpPr>
        <p:spPr>
          <a:xfrm>
            <a:off x="1737360" y="1600200"/>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Joins the team standup. Eleven people on Zoom. Says two sentences.</a:t>
            </a:r>
            <a:endParaRPr lang="en-US" sz="1100" dirty="0"/>
          </a:p>
        </p:txBody>
      </p:sp>
      <p:sp>
        <p:nvSpPr>
          <p:cNvPr id="8" name="Shape 6"/>
          <p:cNvSpPr/>
          <p:nvPr/>
        </p:nvSpPr>
        <p:spPr>
          <a:xfrm>
            <a:off x="731520" y="1911096"/>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9" name="Text 7"/>
          <p:cNvSpPr/>
          <p:nvPr/>
        </p:nvSpPr>
        <p:spPr>
          <a:xfrm>
            <a:off x="731520" y="1911096"/>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9:15</a:t>
            </a:r>
            <a:endParaRPr lang="en-US" sz="1000" dirty="0"/>
          </a:p>
        </p:txBody>
      </p:sp>
      <p:sp>
        <p:nvSpPr>
          <p:cNvPr id="10" name="Text 8"/>
          <p:cNvSpPr/>
          <p:nvPr/>
        </p:nvSpPr>
        <p:spPr>
          <a:xfrm>
            <a:off x="1737360" y="1911096"/>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Reformats the PRD. Third version. Different template, different MD.</a:t>
            </a:r>
            <a:endParaRPr lang="en-US" sz="1100" dirty="0"/>
          </a:p>
        </p:txBody>
      </p:sp>
      <p:sp>
        <p:nvSpPr>
          <p:cNvPr id="11" name="Shape 9"/>
          <p:cNvSpPr/>
          <p:nvPr/>
        </p:nvSpPr>
        <p:spPr>
          <a:xfrm>
            <a:off x="731520" y="2221992"/>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12" name="Text 10"/>
          <p:cNvSpPr/>
          <p:nvPr/>
        </p:nvSpPr>
        <p:spPr>
          <a:xfrm>
            <a:off x="731520" y="2221992"/>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10:00</a:t>
            </a:r>
            <a:endParaRPr lang="en-US" sz="1000" dirty="0"/>
          </a:p>
        </p:txBody>
      </p:sp>
      <p:sp>
        <p:nvSpPr>
          <p:cNvPr id="13" name="Text 11"/>
          <p:cNvSpPr/>
          <p:nvPr/>
        </p:nvSpPr>
        <p:spPr>
          <a:xfrm>
            <a:off x="1737360" y="2221992"/>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Emails BI for a data pull. "Ten to fourteen business days."</a:t>
            </a:r>
            <a:endParaRPr lang="en-US" sz="1100" dirty="0"/>
          </a:p>
        </p:txBody>
      </p:sp>
      <p:sp>
        <p:nvSpPr>
          <p:cNvPr id="14" name="Shape 12"/>
          <p:cNvSpPr/>
          <p:nvPr/>
        </p:nvSpPr>
        <p:spPr>
          <a:xfrm>
            <a:off x="731520" y="2532888"/>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15" name="Text 13"/>
          <p:cNvSpPr/>
          <p:nvPr/>
        </p:nvSpPr>
        <p:spPr>
          <a:xfrm>
            <a:off x="731520" y="2532888"/>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11:00</a:t>
            </a:r>
            <a:endParaRPr lang="en-US" sz="1000" dirty="0"/>
          </a:p>
        </p:txBody>
      </p:sp>
      <p:sp>
        <p:nvSpPr>
          <p:cNvPr id="16" name="Text 14"/>
          <p:cNvSpPr/>
          <p:nvPr/>
        </p:nvSpPr>
        <p:spPr>
          <a:xfrm>
            <a:off x="1737360" y="2532888"/>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Steering committee. Eight people, ninety minutes. Decision deferred.</a:t>
            </a:r>
            <a:endParaRPr lang="en-US" sz="1100" dirty="0"/>
          </a:p>
        </p:txBody>
      </p:sp>
      <p:sp>
        <p:nvSpPr>
          <p:cNvPr id="17" name="Shape 15"/>
          <p:cNvSpPr/>
          <p:nvPr/>
        </p:nvSpPr>
        <p:spPr>
          <a:xfrm>
            <a:off x="731520" y="2843784"/>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18" name="Text 16"/>
          <p:cNvSpPr/>
          <p:nvPr/>
        </p:nvSpPr>
        <p:spPr>
          <a:xfrm>
            <a:off x="731520" y="2843784"/>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1:30 pm</a:t>
            </a:r>
            <a:endParaRPr lang="en-US" sz="1000" dirty="0"/>
          </a:p>
        </p:txBody>
      </p:sp>
      <p:sp>
        <p:nvSpPr>
          <p:cNvPr id="19" name="Text 17"/>
          <p:cNvSpPr/>
          <p:nvPr/>
        </p:nvSpPr>
        <p:spPr>
          <a:xfrm>
            <a:off x="1737360" y="2843784"/>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Vendor call. Three contract amendments needed for one workflow tweak.</a:t>
            </a:r>
            <a:endParaRPr lang="en-US" sz="1100" dirty="0"/>
          </a:p>
        </p:txBody>
      </p:sp>
      <p:sp>
        <p:nvSpPr>
          <p:cNvPr id="20" name="Shape 18"/>
          <p:cNvSpPr/>
          <p:nvPr/>
        </p:nvSpPr>
        <p:spPr>
          <a:xfrm>
            <a:off x="731520" y="3154680"/>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21" name="Text 19"/>
          <p:cNvSpPr/>
          <p:nvPr/>
        </p:nvSpPr>
        <p:spPr>
          <a:xfrm>
            <a:off x="731520" y="3154680"/>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3:00</a:t>
            </a:r>
            <a:endParaRPr lang="en-US" sz="1000" dirty="0"/>
          </a:p>
        </p:txBody>
      </p:sp>
      <p:sp>
        <p:nvSpPr>
          <p:cNvPr id="22" name="Text 20"/>
          <p:cNvSpPr/>
          <p:nvPr/>
        </p:nvSpPr>
        <p:spPr>
          <a:xfrm>
            <a:off x="1737360" y="3154680"/>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Compliance review. Fourteen questions. Reconvene in two weeks.</a:t>
            </a:r>
            <a:endParaRPr lang="en-US" sz="1100" dirty="0"/>
          </a:p>
        </p:txBody>
      </p:sp>
      <p:sp>
        <p:nvSpPr>
          <p:cNvPr id="23" name="Shape 21"/>
          <p:cNvSpPr/>
          <p:nvPr/>
        </p:nvSpPr>
        <p:spPr>
          <a:xfrm>
            <a:off x="731520" y="3465576"/>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24" name="Text 22"/>
          <p:cNvSpPr/>
          <p:nvPr/>
        </p:nvSpPr>
        <p:spPr>
          <a:xfrm>
            <a:off x="731520" y="3465576"/>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4:30</a:t>
            </a:r>
            <a:endParaRPr lang="en-US" sz="1000" dirty="0"/>
          </a:p>
        </p:txBody>
      </p:sp>
      <p:sp>
        <p:nvSpPr>
          <p:cNvPr id="25" name="Text 23"/>
          <p:cNvSpPr/>
          <p:nvPr/>
        </p:nvSpPr>
        <p:spPr>
          <a:xfrm>
            <a:off x="1737360" y="3465576"/>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Drafts the JIRA epic. Engineering: "Can't pick this up until next quarter."</a:t>
            </a:r>
            <a:endParaRPr lang="en-US" sz="1100" dirty="0"/>
          </a:p>
        </p:txBody>
      </p:sp>
      <p:sp>
        <p:nvSpPr>
          <p:cNvPr id="26" name="Shape 24"/>
          <p:cNvSpPr/>
          <p:nvPr/>
        </p:nvSpPr>
        <p:spPr>
          <a:xfrm>
            <a:off x="731520" y="3776472"/>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27" name="Text 25"/>
          <p:cNvSpPr/>
          <p:nvPr/>
        </p:nvSpPr>
        <p:spPr>
          <a:xfrm>
            <a:off x="731520" y="3776472"/>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6:00</a:t>
            </a:r>
            <a:endParaRPr lang="en-US" sz="1000" dirty="0"/>
          </a:p>
        </p:txBody>
      </p:sp>
      <p:sp>
        <p:nvSpPr>
          <p:cNvPr id="28" name="Text 26"/>
          <p:cNvSpPr/>
          <p:nvPr/>
        </p:nvSpPr>
        <p:spPr>
          <a:xfrm>
            <a:off x="1737360" y="3776472"/>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Advisor in Zurich asks when the new fund opens. She doesn't have an answer.</a:t>
            </a:r>
            <a:endParaRPr lang="en-US" sz="1100" dirty="0"/>
          </a:p>
        </p:txBody>
      </p:sp>
      <p:sp>
        <p:nvSpPr>
          <p:cNvPr id="29" name="Shape 27"/>
          <p:cNvSpPr/>
          <p:nvPr/>
        </p:nvSpPr>
        <p:spPr>
          <a:xfrm>
            <a:off x="731520" y="4087368"/>
            <a:ext cx="868680" cy="256032"/>
          </a:xfrm>
          <a:prstGeom prst="roundRect">
            <a:avLst>
              <a:gd name="adj" fmla="val 28571"/>
            </a:avLst>
          </a:prstGeom>
          <a:solidFill>
            <a:srgbClr val="1B2A4A"/>
          </a:solidFill>
          <a:ln/>
          <a:effectLst>
            <a:outerShdw sx="100000" sy="100000" kx="0" ky="0" algn="bl" rotWithShape="0" blurRad="38100" dist="12700" dir="8100000">
              <a:srgbClr val="000000">
                <a:alpha val="8000"/>
              </a:srgbClr>
            </a:outerShdw>
          </a:effectLst>
        </p:spPr>
      </p:sp>
      <p:sp>
        <p:nvSpPr>
          <p:cNvPr id="30" name="Text 28"/>
          <p:cNvSpPr/>
          <p:nvPr/>
        </p:nvSpPr>
        <p:spPr>
          <a:xfrm>
            <a:off x="731520" y="4087368"/>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7:02</a:t>
            </a:r>
            <a:endParaRPr lang="en-US" sz="1000" dirty="0"/>
          </a:p>
        </p:txBody>
      </p:sp>
      <p:sp>
        <p:nvSpPr>
          <p:cNvPr id="31" name="Text 29"/>
          <p:cNvSpPr/>
          <p:nvPr/>
        </p:nvSpPr>
        <p:spPr>
          <a:xfrm>
            <a:off x="1737360" y="4087368"/>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Closes the laptop. 4,400 words written today. Nothing shipped.</a:t>
            </a:r>
            <a:endParaRPr lang="en-US" sz="1100" dirty="0"/>
          </a:p>
        </p:txBody>
      </p:sp>
      <p:sp>
        <p:nvSpPr>
          <p:cNvPr id="32" name="Text 30"/>
          <p:cNvSpPr/>
          <p:nvPr/>
        </p:nvSpPr>
        <p:spPr>
          <a:xfrm>
            <a:off x="731520" y="4526280"/>
            <a:ext cx="7680960" cy="365760"/>
          </a:xfrm>
          <a:prstGeom prst="rect">
            <a:avLst/>
          </a:prstGeom>
          <a:noFill/>
          <a:ln/>
        </p:spPr>
        <p:txBody>
          <a:bodyPr wrap="square" lIns="0" tIns="0" rIns="0" bIns="0" rtlCol="0" anchor="ctr"/>
          <a:lstStyle/>
          <a:p>
            <a:pPr algn="ctr" indent="0" marL="0">
              <a:buNone/>
            </a:pPr>
            <a:r>
              <a:rPr lang="en-US" sz="1400" i="1" dirty="0">
                <a:solidFill>
                  <a:srgbClr val="1B2A4A"/>
                </a:solidFill>
                <a:latin typeface="Georgia" pitchFamily="34" charset="0"/>
                <a:ea typeface="Georgia" pitchFamily="34" charset="-122"/>
                <a:cs typeface="Georgia" pitchFamily="34" charset="-120"/>
              </a:rPr>
              <a:t>She is good at her job. The job is mostly waiting.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A Tuesday in 2027.</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Same Maya. Same firm. Same role on paper.</a:t>
            </a:r>
            <a:endParaRPr lang="en-US" sz="1200" dirty="0"/>
          </a:p>
        </p:txBody>
      </p:sp>
      <p:sp>
        <p:nvSpPr>
          <p:cNvPr id="5" name="Shape 3"/>
          <p:cNvSpPr/>
          <p:nvPr/>
        </p:nvSpPr>
        <p:spPr>
          <a:xfrm>
            <a:off x="731520" y="1600200"/>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6" name="Text 4"/>
          <p:cNvSpPr/>
          <p:nvPr/>
        </p:nvSpPr>
        <p:spPr>
          <a:xfrm>
            <a:off x="731520" y="1600200"/>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6:50 am</a:t>
            </a:r>
            <a:endParaRPr lang="en-US" sz="1000" dirty="0"/>
          </a:p>
        </p:txBody>
      </p:sp>
      <p:sp>
        <p:nvSpPr>
          <p:cNvPr id="7" name="Text 5"/>
          <p:cNvSpPr/>
          <p:nvPr/>
        </p:nvSpPr>
        <p:spPr>
          <a:xfrm>
            <a:off x="1737360" y="1600200"/>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Pulls overnight evals up on her phone. Flags two regressions.</a:t>
            </a:r>
            <a:endParaRPr lang="en-US" sz="1100" dirty="0"/>
          </a:p>
        </p:txBody>
      </p:sp>
      <p:sp>
        <p:nvSpPr>
          <p:cNvPr id="8" name="Shape 6"/>
          <p:cNvSpPr/>
          <p:nvPr/>
        </p:nvSpPr>
        <p:spPr>
          <a:xfrm>
            <a:off x="731520" y="1911096"/>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9" name="Text 7"/>
          <p:cNvSpPr/>
          <p:nvPr/>
        </p:nvSpPr>
        <p:spPr>
          <a:xfrm>
            <a:off x="731520" y="1911096"/>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9:00</a:t>
            </a:r>
            <a:endParaRPr lang="en-US" sz="1000" dirty="0"/>
          </a:p>
        </p:txBody>
      </p:sp>
      <p:sp>
        <p:nvSpPr>
          <p:cNvPr id="10" name="Text 8"/>
          <p:cNvSpPr/>
          <p:nvPr/>
        </p:nvSpPr>
        <p:spPr>
          <a:xfrm>
            <a:off x="1737360" y="1911096"/>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Watches two São Paulo advisors use yesterday's prototype. Doesn't talk.</a:t>
            </a:r>
            <a:endParaRPr lang="en-US" sz="1100" dirty="0"/>
          </a:p>
        </p:txBody>
      </p:sp>
      <p:sp>
        <p:nvSpPr>
          <p:cNvPr id="11" name="Shape 9"/>
          <p:cNvSpPr/>
          <p:nvPr/>
        </p:nvSpPr>
        <p:spPr>
          <a:xfrm>
            <a:off x="731520" y="2221992"/>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12" name="Text 10"/>
          <p:cNvSpPr/>
          <p:nvPr/>
        </p:nvSpPr>
        <p:spPr>
          <a:xfrm>
            <a:off x="731520" y="2221992"/>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10:15</a:t>
            </a:r>
            <a:endParaRPr lang="en-US" sz="1000" dirty="0"/>
          </a:p>
        </p:txBody>
      </p:sp>
      <p:sp>
        <p:nvSpPr>
          <p:cNvPr id="13" name="Text 11"/>
          <p:cNvSpPr/>
          <p:nvPr/>
        </p:nvSpPr>
        <p:spPr>
          <a:xfrm>
            <a:off x="1737360" y="2221992"/>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Writes the query herself in Claude. Answer in five minutes.</a:t>
            </a:r>
            <a:endParaRPr lang="en-US" sz="1100" dirty="0"/>
          </a:p>
        </p:txBody>
      </p:sp>
      <p:sp>
        <p:nvSpPr>
          <p:cNvPr id="14" name="Shape 12"/>
          <p:cNvSpPr/>
          <p:nvPr/>
        </p:nvSpPr>
        <p:spPr>
          <a:xfrm>
            <a:off x="731520" y="2532888"/>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15" name="Text 13"/>
          <p:cNvSpPr/>
          <p:nvPr/>
        </p:nvSpPr>
        <p:spPr>
          <a:xfrm>
            <a:off x="731520" y="2532888"/>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11:30</a:t>
            </a:r>
            <a:endParaRPr lang="en-US" sz="1000" dirty="0"/>
          </a:p>
        </p:txBody>
      </p:sp>
      <p:sp>
        <p:nvSpPr>
          <p:cNvPr id="16" name="Text 14"/>
          <p:cNvSpPr/>
          <p:nvPr/>
        </p:nvSpPr>
        <p:spPr>
          <a:xfrm>
            <a:off x="1737360" y="2532888"/>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Ships a prototype of a pre-trade suitability check. Before lunch.</a:t>
            </a:r>
            <a:endParaRPr lang="en-US" sz="1100" dirty="0"/>
          </a:p>
        </p:txBody>
      </p:sp>
      <p:sp>
        <p:nvSpPr>
          <p:cNvPr id="17" name="Shape 15"/>
          <p:cNvSpPr/>
          <p:nvPr/>
        </p:nvSpPr>
        <p:spPr>
          <a:xfrm>
            <a:off x="731520" y="2843784"/>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18" name="Text 16"/>
          <p:cNvSpPr/>
          <p:nvPr/>
        </p:nvSpPr>
        <p:spPr>
          <a:xfrm>
            <a:off x="731520" y="2843784"/>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1:45 pm</a:t>
            </a:r>
            <a:endParaRPr lang="en-US" sz="1000" dirty="0"/>
          </a:p>
        </p:txBody>
      </p:sp>
      <p:sp>
        <p:nvSpPr>
          <p:cNvPr id="19" name="Text 17"/>
          <p:cNvSpPr/>
          <p:nvPr/>
        </p:nvSpPr>
        <p:spPr>
          <a:xfrm>
            <a:off x="1737360" y="2843784"/>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Kills a feature she shipped two weeks ago. Posts the kill note herself.</a:t>
            </a:r>
            <a:endParaRPr lang="en-US" sz="1100" dirty="0"/>
          </a:p>
        </p:txBody>
      </p:sp>
      <p:sp>
        <p:nvSpPr>
          <p:cNvPr id="20" name="Shape 18"/>
          <p:cNvSpPr/>
          <p:nvPr/>
        </p:nvSpPr>
        <p:spPr>
          <a:xfrm>
            <a:off x="731520" y="3154680"/>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21" name="Text 19"/>
          <p:cNvSpPr/>
          <p:nvPr/>
        </p:nvSpPr>
        <p:spPr>
          <a:xfrm>
            <a:off x="731520" y="3154680"/>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3:00</a:t>
            </a:r>
            <a:endParaRPr lang="en-US" sz="1000" dirty="0"/>
          </a:p>
        </p:txBody>
      </p:sp>
      <p:sp>
        <p:nvSpPr>
          <p:cNvPr id="22" name="Text 20"/>
          <p:cNvSpPr/>
          <p:nvPr/>
        </p:nvSpPr>
        <p:spPr>
          <a:xfrm>
            <a:off x="1737360" y="3154680"/>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Pushes back on a senior call with eval data and a one-page memo. He concedes.</a:t>
            </a:r>
            <a:endParaRPr lang="en-US" sz="1100" dirty="0"/>
          </a:p>
        </p:txBody>
      </p:sp>
      <p:sp>
        <p:nvSpPr>
          <p:cNvPr id="23" name="Shape 21"/>
          <p:cNvSpPr/>
          <p:nvPr/>
        </p:nvSpPr>
        <p:spPr>
          <a:xfrm>
            <a:off x="731520" y="3465576"/>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24" name="Text 22"/>
          <p:cNvSpPr/>
          <p:nvPr/>
        </p:nvSpPr>
        <p:spPr>
          <a:xfrm>
            <a:off x="731520" y="3465576"/>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4:15</a:t>
            </a:r>
            <a:endParaRPr lang="en-US" sz="1000" dirty="0"/>
          </a:p>
        </p:txBody>
      </p:sp>
      <p:sp>
        <p:nvSpPr>
          <p:cNvPr id="25" name="Text 23"/>
          <p:cNvSpPr/>
          <p:nvPr/>
        </p:nvSpPr>
        <p:spPr>
          <a:xfrm>
            <a:off x="1737360" y="3465576"/>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Pairs with an engineer on the morning regression. Eval reruns in twelve minutes.</a:t>
            </a:r>
            <a:endParaRPr lang="en-US" sz="1100" dirty="0"/>
          </a:p>
        </p:txBody>
      </p:sp>
      <p:sp>
        <p:nvSpPr>
          <p:cNvPr id="26" name="Shape 24"/>
          <p:cNvSpPr/>
          <p:nvPr/>
        </p:nvSpPr>
        <p:spPr>
          <a:xfrm>
            <a:off x="731520" y="3776472"/>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27" name="Text 25"/>
          <p:cNvSpPr/>
          <p:nvPr/>
        </p:nvSpPr>
        <p:spPr>
          <a:xfrm>
            <a:off x="731520" y="3776472"/>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5:30</a:t>
            </a:r>
            <a:endParaRPr lang="en-US" sz="1000" dirty="0"/>
          </a:p>
        </p:txBody>
      </p:sp>
      <p:sp>
        <p:nvSpPr>
          <p:cNvPr id="28" name="Text 26"/>
          <p:cNvSpPr/>
          <p:nvPr/>
        </p:nvSpPr>
        <p:spPr>
          <a:xfrm>
            <a:off x="1737360" y="3776472"/>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Ships the morning's prototype to a fifty-advisor pilot.</a:t>
            </a:r>
            <a:endParaRPr lang="en-US" sz="1100" dirty="0"/>
          </a:p>
        </p:txBody>
      </p:sp>
      <p:sp>
        <p:nvSpPr>
          <p:cNvPr id="29" name="Shape 27"/>
          <p:cNvSpPr/>
          <p:nvPr/>
        </p:nvSpPr>
        <p:spPr>
          <a:xfrm>
            <a:off x="731520" y="4087368"/>
            <a:ext cx="868680" cy="256032"/>
          </a:xfrm>
          <a:prstGeom prst="roundRect">
            <a:avLst>
              <a:gd name="adj" fmla="val 28571"/>
            </a:avLst>
          </a:prstGeom>
          <a:solidFill>
            <a:srgbClr val="A0824E"/>
          </a:solidFill>
          <a:ln/>
          <a:effectLst>
            <a:outerShdw sx="100000" sy="100000" kx="0" ky="0" algn="bl" rotWithShape="0" blurRad="38100" dist="12700" dir="8100000">
              <a:srgbClr val="000000">
                <a:alpha val="8000"/>
              </a:srgbClr>
            </a:outerShdw>
          </a:effectLst>
        </p:spPr>
      </p:sp>
      <p:sp>
        <p:nvSpPr>
          <p:cNvPr id="30" name="Text 28"/>
          <p:cNvSpPr/>
          <p:nvPr/>
        </p:nvSpPr>
        <p:spPr>
          <a:xfrm>
            <a:off x="731520" y="4087368"/>
            <a:ext cx="868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6:02</a:t>
            </a:r>
            <a:endParaRPr lang="en-US" sz="1000" dirty="0"/>
          </a:p>
        </p:txBody>
      </p:sp>
      <p:sp>
        <p:nvSpPr>
          <p:cNvPr id="31" name="Text 29"/>
          <p:cNvSpPr/>
          <p:nvPr/>
        </p:nvSpPr>
        <p:spPr>
          <a:xfrm>
            <a:off x="1737360" y="4087368"/>
            <a:ext cx="6675120" cy="25603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Slack from the head of product: "good call on the explorer." Three words.</a:t>
            </a:r>
            <a:endParaRPr lang="en-US" sz="1100" dirty="0"/>
          </a:p>
        </p:txBody>
      </p:sp>
      <p:sp>
        <p:nvSpPr>
          <p:cNvPr id="32" name="Text 30"/>
          <p:cNvSpPr/>
          <p:nvPr/>
        </p:nvSpPr>
        <p:spPr>
          <a:xfrm>
            <a:off x="731520" y="4526280"/>
            <a:ext cx="7680960" cy="365760"/>
          </a:xfrm>
          <a:prstGeom prst="rect">
            <a:avLst/>
          </a:prstGeom>
          <a:noFill/>
          <a:ln/>
        </p:spPr>
        <p:txBody>
          <a:bodyPr wrap="square" lIns="0" tIns="0" rIns="0" bIns="0" rtlCol="0" anchor="ctr"/>
          <a:lstStyle/>
          <a:p>
            <a:pPr algn="ctr" indent="0" marL="0">
              <a:buNone/>
            </a:pPr>
            <a:r>
              <a:rPr lang="en-US" sz="1400" i="1" dirty="0">
                <a:solidFill>
                  <a:srgbClr val="1B2A4A"/>
                </a:solidFill>
                <a:latin typeface="Georgia" pitchFamily="34" charset="0"/>
                <a:ea typeface="Georgia" pitchFamily="34" charset="-122"/>
                <a:cs typeface="Georgia" pitchFamily="34" charset="-120"/>
              </a:rPr>
              <a:t>The job is harder now. It is also entirely hers.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The bar has moved.</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234440"/>
            <a:ext cx="7680960" cy="329184"/>
          </a:xfrm>
          <a:prstGeom prst="rect">
            <a:avLst/>
          </a:prstGeom>
          <a:noFill/>
          <a:ln/>
        </p:spPr>
        <p:txBody>
          <a:bodyPr wrap="square" lIns="0" tIns="0" rIns="0" bIns="0" rtlCol="0" anchor="ctr"/>
          <a:lstStyle/>
          <a:p>
            <a:pPr indent="0" marL="0">
              <a:lnSpc>
                <a:spcPct val="115000"/>
              </a:lnSpc>
              <a:buNone/>
            </a:pPr>
            <a:r>
              <a:rPr lang="en-US" sz="1800" dirty="0">
                <a:solidFill>
                  <a:srgbClr val="6B6B6B"/>
                </a:solidFill>
                <a:latin typeface="Calibri" pitchFamily="34" charset="0"/>
                <a:ea typeface="Calibri" pitchFamily="34" charset="-122"/>
                <a:cs typeface="Calibri" pitchFamily="34" charset="-120"/>
              </a:rPr>
              <a:t>Mediocre decisions used to be absorbed by six-month cycles.</a:t>
            </a:r>
            <a:endParaRPr lang="en-US" sz="1800" dirty="0"/>
          </a:p>
        </p:txBody>
      </p:sp>
      <p:sp>
        <p:nvSpPr>
          <p:cNvPr id="5" name="Text 3"/>
          <p:cNvSpPr/>
          <p:nvPr/>
        </p:nvSpPr>
        <p:spPr>
          <a:xfrm>
            <a:off x="731520" y="1581912"/>
            <a:ext cx="7680960" cy="347472"/>
          </a:xfrm>
          <a:prstGeom prst="rect">
            <a:avLst/>
          </a:prstGeom>
          <a:noFill/>
          <a:ln/>
        </p:spPr>
        <p:txBody>
          <a:bodyPr wrap="square" lIns="0" tIns="0" rIns="0" bIns="0" rtlCol="0" anchor="ctr"/>
          <a:lstStyle/>
          <a:p>
            <a:pPr indent="0" marL="0">
              <a:lnSpc>
                <a:spcPct val="115000"/>
              </a:lnSpc>
              <a:buNone/>
            </a:pPr>
            <a:r>
              <a:rPr lang="en-US" sz="1900" b="1" dirty="0">
                <a:solidFill>
                  <a:srgbClr val="1B2A4A"/>
                </a:solidFill>
                <a:latin typeface="Calibri" pitchFamily="34" charset="0"/>
                <a:ea typeface="Calibri" pitchFamily="34" charset="-122"/>
                <a:cs typeface="Calibri" pitchFamily="34" charset="-120"/>
              </a:rPr>
              <a:t>Now they ship in a week — and the customer feels them on Friday.</a:t>
            </a:r>
            <a:endParaRPr lang="en-US" sz="1900" dirty="0"/>
          </a:p>
        </p:txBody>
      </p:sp>
      <p:sp>
        <p:nvSpPr>
          <p:cNvPr id="6" name="Text 4"/>
          <p:cNvSpPr/>
          <p:nvPr/>
        </p:nvSpPr>
        <p:spPr>
          <a:xfrm>
            <a:off x="731520" y="1947672"/>
            <a:ext cx="7680960" cy="329184"/>
          </a:xfrm>
          <a:prstGeom prst="rect">
            <a:avLst/>
          </a:prstGeom>
          <a:noFill/>
          <a:ln/>
        </p:spPr>
        <p:txBody>
          <a:bodyPr wrap="square" lIns="0" tIns="0" rIns="0" bIns="0" rtlCol="0" anchor="ctr"/>
          <a:lstStyle/>
          <a:p>
            <a:pPr indent="0" marL="0">
              <a:lnSpc>
                <a:spcPct val="115000"/>
              </a:lnSpc>
              <a:buNone/>
            </a:pPr>
            <a:r>
              <a:rPr lang="en-US" sz="1800" dirty="0">
                <a:solidFill>
                  <a:srgbClr val="6B6B6B"/>
                </a:solidFill>
                <a:latin typeface="Calibri" pitchFamily="34" charset="0"/>
                <a:ea typeface="Calibri" pitchFamily="34" charset="-122"/>
                <a:cs typeface="Calibri" pitchFamily="34" charset="-120"/>
              </a:rPr>
              <a:t>"Waiting on engineering" was once a real excuse.</a:t>
            </a:r>
            <a:endParaRPr lang="en-US" sz="1800" dirty="0"/>
          </a:p>
        </p:txBody>
      </p:sp>
      <p:sp>
        <p:nvSpPr>
          <p:cNvPr id="7" name="Text 5"/>
          <p:cNvSpPr/>
          <p:nvPr/>
        </p:nvSpPr>
        <p:spPr>
          <a:xfrm>
            <a:off x="731520" y="2295144"/>
            <a:ext cx="7680960" cy="347472"/>
          </a:xfrm>
          <a:prstGeom prst="rect">
            <a:avLst/>
          </a:prstGeom>
          <a:noFill/>
          <a:ln/>
        </p:spPr>
        <p:txBody>
          <a:bodyPr wrap="square" lIns="0" tIns="0" rIns="0" bIns="0" rtlCol="0" anchor="ctr"/>
          <a:lstStyle/>
          <a:p>
            <a:pPr indent="0" marL="0">
              <a:lnSpc>
                <a:spcPct val="115000"/>
              </a:lnSpc>
              <a:buNone/>
            </a:pPr>
            <a:r>
              <a:rPr lang="en-US" sz="1900" b="1" dirty="0">
                <a:solidFill>
                  <a:srgbClr val="1B2A4A"/>
                </a:solidFill>
                <a:latin typeface="Calibri" pitchFamily="34" charset="0"/>
                <a:ea typeface="Calibri" pitchFamily="34" charset="-122"/>
                <a:cs typeface="Calibri" pitchFamily="34" charset="-120"/>
              </a:rPr>
              <a:t>It isn't anymore.</a:t>
            </a:r>
            <a:endParaRPr lang="en-US" sz="1900" dirty="0"/>
          </a:p>
        </p:txBody>
      </p:sp>
      <p:sp>
        <p:nvSpPr>
          <p:cNvPr id="8" name="Text 6"/>
          <p:cNvSpPr/>
          <p:nvPr/>
        </p:nvSpPr>
        <p:spPr>
          <a:xfrm>
            <a:off x="731520" y="2660904"/>
            <a:ext cx="7680960" cy="329184"/>
          </a:xfrm>
          <a:prstGeom prst="rect">
            <a:avLst/>
          </a:prstGeom>
          <a:noFill/>
          <a:ln/>
        </p:spPr>
        <p:txBody>
          <a:bodyPr wrap="square" lIns="0" tIns="0" rIns="0" bIns="0" rtlCol="0" anchor="ctr"/>
          <a:lstStyle/>
          <a:p>
            <a:pPr indent="0" marL="0">
              <a:lnSpc>
                <a:spcPct val="115000"/>
              </a:lnSpc>
              <a:buNone/>
            </a:pPr>
            <a:r>
              <a:rPr lang="en-US" sz="1800" dirty="0">
                <a:solidFill>
                  <a:srgbClr val="6B6B6B"/>
                </a:solidFill>
                <a:latin typeface="Calibri" pitchFamily="34" charset="0"/>
                <a:ea typeface="Calibri" pitchFamily="34" charset="-122"/>
                <a:cs typeface="Calibri" pitchFamily="34" charset="-120"/>
              </a:rPr>
              <a:t>PMs used to be measured on roadmap delivery.</a:t>
            </a:r>
            <a:endParaRPr lang="en-US" sz="1800" dirty="0"/>
          </a:p>
        </p:txBody>
      </p:sp>
      <p:sp>
        <p:nvSpPr>
          <p:cNvPr id="9" name="Text 7"/>
          <p:cNvSpPr/>
          <p:nvPr/>
        </p:nvSpPr>
        <p:spPr>
          <a:xfrm>
            <a:off x="731520" y="3008376"/>
            <a:ext cx="7680960" cy="347472"/>
          </a:xfrm>
          <a:prstGeom prst="rect">
            <a:avLst/>
          </a:prstGeom>
          <a:noFill/>
          <a:ln/>
        </p:spPr>
        <p:txBody>
          <a:bodyPr wrap="square" lIns="0" tIns="0" rIns="0" bIns="0" rtlCol="0" anchor="ctr"/>
          <a:lstStyle/>
          <a:p>
            <a:pPr indent="0" marL="0">
              <a:lnSpc>
                <a:spcPct val="115000"/>
              </a:lnSpc>
              <a:buNone/>
            </a:pPr>
            <a:r>
              <a:rPr lang="en-US" sz="1900" b="1" dirty="0">
                <a:solidFill>
                  <a:srgbClr val="1B2A4A"/>
                </a:solidFill>
                <a:latin typeface="Calibri" pitchFamily="34" charset="0"/>
                <a:ea typeface="Calibri" pitchFamily="34" charset="-122"/>
                <a:cs typeface="Calibri" pitchFamily="34" charset="-120"/>
              </a:rPr>
              <a:t>Now they're measured on customer behavior change.</a:t>
            </a:r>
            <a:endParaRPr lang="en-US" sz="1900" dirty="0"/>
          </a:p>
        </p:txBody>
      </p:sp>
      <p:sp>
        <p:nvSpPr>
          <p:cNvPr id="10" name="Text 8"/>
          <p:cNvSpPr/>
          <p:nvPr/>
        </p:nvSpPr>
        <p:spPr>
          <a:xfrm>
            <a:off x="731520" y="3374136"/>
            <a:ext cx="7680960" cy="329184"/>
          </a:xfrm>
          <a:prstGeom prst="rect">
            <a:avLst/>
          </a:prstGeom>
          <a:noFill/>
          <a:ln/>
        </p:spPr>
        <p:txBody>
          <a:bodyPr wrap="square" lIns="0" tIns="0" rIns="0" bIns="0" rtlCol="0" anchor="ctr"/>
          <a:lstStyle/>
          <a:p>
            <a:pPr indent="0" marL="0">
              <a:lnSpc>
                <a:spcPct val="115000"/>
              </a:lnSpc>
              <a:buNone/>
            </a:pPr>
            <a:r>
              <a:rPr lang="en-US" sz="1800" dirty="0">
                <a:solidFill>
                  <a:srgbClr val="6B6B6B"/>
                </a:solidFill>
                <a:latin typeface="Calibri" pitchFamily="34" charset="0"/>
                <a:ea typeface="Calibri" pitchFamily="34" charset="-122"/>
                <a:cs typeface="Calibri" pitchFamily="34" charset="-120"/>
              </a:rPr>
              <a:t>Taste used to be a nice-to-have.</a:t>
            </a:r>
            <a:endParaRPr lang="en-US" sz="1800" dirty="0"/>
          </a:p>
        </p:txBody>
      </p:sp>
      <p:sp>
        <p:nvSpPr>
          <p:cNvPr id="11" name="Text 9"/>
          <p:cNvSpPr/>
          <p:nvPr/>
        </p:nvSpPr>
        <p:spPr>
          <a:xfrm>
            <a:off x="731520" y="3721608"/>
            <a:ext cx="7680960" cy="347472"/>
          </a:xfrm>
          <a:prstGeom prst="rect">
            <a:avLst/>
          </a:prstGeom>
          <a:noFill/>
          <a:ln/>
        </p:spPr>
        <p:txBody>
          <a:bodyPr wrap="square" lIns="0" tIns="0" rIns="0" bIns="0" rtlCol="0" anchor="ctr"/>
          <a:lstStyle/>
          <a:p>
            <a:pPr indent="0" marL="0">
              <a:lnSpc>
                <a:spcPct val="115000"/>
              </a:lnSpc>
              <a:buNone/>
            </a:pPr>
            <a:r>
              <a:rPr lang="en-US" sz="1900" b="1" dirty="0">
                <a:solidFill>
                  <a:srgbClr val="1B2A4A"/>
                </a:solidFill>
                <a:latin typeface="Calibri" pitchFamily="34" charset="0"/>
                <a:ea typeface="Calibri" pitchFamily="34" charset="-122"/>
                <a:cs typeface="Calibri" pitchFamily="34" charset="-120"/>
              </a:rPr>
              <a:t>Now it's the job.</a:t>
            </a:r>
            <a:endParaRPr lang="en-US" sz="1900" dirty="0"/>
          </a:p>
        </p:txBody>
      </p:sp>
      <p:sp>
        <p:nvSpPr>
          <p:cNvPr id="12" name="Shape 10"/>
          <p:cNvSpPr/>
          <p:nvPr/>
        </p:nvSpPr>
        <p:spPr>
          <a:xfrm>
            <a:off x="3200400" y="4133088"/>
            <a:ext cx="2743200" cy="0"/>
          </a:xfrm>
          <a:prstGeom prst="line">
            <a:avLst/>
          </a:prstGeom>
          <a:noFill/>
          <a:ln w="19050">
            <a:solidFill>
              <a:srgbClr val="A0824E"/>
            </a:solidFill>
            <a:prstDash val="solid"/>
          </a:ln>
        </p:spPr>
      </p:sp>
      <p:sp>
        <p:nvSpPr>
          <p:cNvPr id="13" name="Text 11"/>
          <p:cNvSpPr/>
          <p:nvPr/>
        </p:nvSpPr>
        <p:spPr>
          <a:xfrm>
            <a:off x="548640" y="4297680"/>
            <a:ext cx="8046720" cy="502920"/>
          </a:xfrm>
          <a:prstGeom prst="rect">
            <a:avLst/>
          </a:prstGeom>
          <a:noFill/>
          <a:ln/>
        </p:spPr>
        <p:txBody>
          <a:bodyPr wrap="square" lIns="0" tIns="0" rIns="0" bIns="0" rtlCol="0" anchor="ctr"/>
          <a:lstStyle/>
          <a:p>
            <a:pPr algn="ctr" indent="0" marL="0">
              <a:buNone/>
            </a:pPr>
            <a:r>
              <a:rPr lang="en-US" sz="2200" i="1" dirty="0">
                <a:solidFill>
                  <a:srgbClr val="2D2D2D"/>
                </a:solidFill>
                <a:latin typeface="Georgia" pitchFamily="34" charset="0"/>
                <a:ea typeface="Georgia" pitchFamily="34" charset="-122"/>
                <a:cs typeface="Georgia" pitchFamily="34" charset="-120"/>
              </a:rPr>
              <a:t>There used to be places to hide. There aren't anymore.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Old way. New way.</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2103120" y="1188720"/>
            <a:ext cx="2926080" cy="274320"/>
          </a:xfrm>
          <a:prstGeom prst="rect">
            <a:avLst/>
          </a:prstGeom>
          <a:noFill/>
          <a:ln/>
        </p:spPr>
        <p:txBody>
          <a:bodyPr wrap="square" lIns="0" tIns="0" rIns="0" bIns="0" rtlCol="0" anchor="ctr"/>
          <a:lstStyle/>
          <a:p>
            <a:pPr algn="l" indent="0" marL="0">
              <a:buNone/>
            </a:pPr>
            <a:r>
              <a:rPr lang="en-US" sz="1000" b="1" spc="200" kern="0" dirty="0">
                <a:solidFill>
                  <a:srgbClr val="999999"/>
                </a:solidFill>
                <a:latin typeface="Calibri" pitchFamily="34" charset="0"/>
                <a:ea typeface="Calibri" pitchFamily="34" charset="-122"/>
                <a:cs typeface="Calibri" pitchFamily="34" charset="-120"/>
              </a:rPr>
              <a:t>OLD WAY OF BUILDING</a:t>
            </a:r>
            <a:endParaRPr lang="en-US" sz="1000" dirty="0"/>
          </a:p>
        </p:txBody>
      </p:sp>
      <p:sp>
        <p:nvSpPr>
          <p:cNvPr id="5" name="Text 3"/>
          <p:cNvSpPr/>
          <p:nvPr/>
        </p:nvSpPr>
        <p:spPr>
          <a:xfrm>
            <a:off x="5440680" y="1188720"/>
            <a:ext cx="3108960" cy="274320"/>
          </a:xfrm>
          <a:prstGeom prst="rect">
            <a:avLst/>
          </a:prstGeom>
          <a:noFill/>
          <a:ln/>
        </p:spPr>
        <p:txBody>
          <a:bodyPr wrap="square" lIns="0" tIns="0" rIns="0" bIns="0" rtlCol="0" anchor="ctr"/>
          <a:lstStyle/>
          <a:p>
            <a:pPr algn="l" indent="0" marL="0">
              <a:buNone/>
            </a:pPr>
            <a:r>
              <a:rPr lang="en-US" sz="1000" b="1" spc="200" kern="0" dirty="0">
                <a:solidFill>
                  <a:srgbClr val="A0824E"/>
                </a:solidFill>
                <a:latin typeface="Calibri" pitchFamily="34" charset="0"/>
                <a:ea typeface="Calibri" pitchFamily="34" charset="-122"/>
                <a:cs typeface="Calibri" pitchFamily="34" charset="-120"/>
              </a:rPr>
              <a:t>NEW WAY OF BUILDING</a:t>
            </a:r>
            <a:endParaRPr lang="en-US" sz="1000" dirty="0"/>
          </a:p>
        </p:txBody>
      </p:sp>
      <p:sp>
        <p:nvSpPr>
          <p:cNvPr id="6" name="Shape 4"/>
          <p:cNvSpPr/>
          <p:nvPr/>
        </p:nvSpPr>
        <p:spPr>
          <a:xfrm>
            <a:off x="731520" y="1508760"/>
            <a:ext cx="7680960" cy="0"/>
          </a:xfrm>
          <a:prstGeom prst="line">
            <a:avLst/>
          </a:prstGeom>
          <a:noFill/>
          <a:ln w="6350">
            <a:solidFill>
              <a:srgbClr val="999999"/>
            </a:solidFill>
            <a:prstDash val="solid"/>
          </a:ln>
        </p:spPr>
      </p:sp>
      <p:sp>
        <p:nvSpPr>
          <p:cNvPr id="7" name="Text 5"/>
          <p:cNvSpPr/>
          <p:nvPr/>
        </p:nvSpPr>
        <p:spPr>
          <a:xfrm>
            <a:off x="731520" y="1691640"/>
            <a:ext cx="1325880" cy="502920"/>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Planning horizon</a:t>
            </a:r>
            <a:endParaRPr lang="en-US" sz="1100" dirty="0"/>
          </a:p>
        </p:txBody>
      </p:sp>
      <p:sp>
        <p:nvSpPr>
          <p:cNvPr id="8" name="Text 6"/>
          <p:cNvSpPr/>
          <p:nvPr/>
        </p:nvSpPr>
        <p:spPr>
          <a:xfrm>
            <a:off x="2103120" y="1691640"/>
            <a:ext cx="3200400" cy="502920"/>
          </a:xfrm>
          <a:prstGeom prst="rect">
            <a:avLst/>
          </a:prstGeom>
          <a:noFill/>
          <a:ln/>
        </p:spPr>
        <p:txBody>
          <a:bodyPr wrap="square" lIns="0" tIns="0" rIns="0" bIns="0" rtlCol="0" anchor="ctr"/>
          <a:lstStyle/>
          <a:p>
            <a:pPr indent="0" marL="0">
              <a:lnSpc>
                <a:spcPct val="130000"/>
              </a:lnSpc>
              <a:buNone/>
            </a:pPr>
            <a:r>
              <a:rPr lang="en-US" sz="1100" dirty="0">
                <a:solidFill>
                  <a:srgbClr val="6B6B6B"/>
                </a:solidFill>
                <a:latin typeface="Calibri" pitchFamily="34" charset="0"/>
                <a:ea typeface="Calibri" pitchFamily="34" charset="-122"/>
                <a:cs typeface="Calibri" pitchFamily="34" charset="-120"/>
              </a:rPr>
              <a:t>6-month roadmaps</a:t>
            </a:r>
            <a:endParaRPr lang="en-US" sz="1100" dirty="0"/>
          </a:p>
        </p:txBody>
      </p:sp>
      <p:sp>
        <p:nvSpPr>
          <p:cNvPr id="9" name="Text 7"/>
          <p:cNvSpPr/>
          <p:nvPr/>
        </p:nvSpPr>
        <p:spPr>
          <a:xfrm>
            <a:off x="5440680" y="1691640"/>
            <a:ext cx="3108960" cy="5029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Calibri" pitchFamily="34" charset="0"/>
                <a:ea typeface="Calibri" pitchFamily="34" charset="-122"/>
                <a:cs typeface="Calibri" pitchFamily="34" charset="-120"/>
              </a:rPr>
              <a:t>Days to weeks; afternoon experiments</a:t>
            </a:r>
            <a:endParaRPr lang="en-US" sz="1100" dirty="0"/>
          </a:p>
        </p:txBody>
      </p:sp>
      <p:sp>
        <p:nvSpPr>
          <p:cNvPr id="10" name="Shape 8"/>
          <p:cNvSpPr/>
          <p:nvPr/>
        </p:nvSpPr>
        <p:spPr>
          <a:xfrm>
            <a:off x="731520" y="2240280"/>
            <a:ext cx="7680960" cy="0"/>
          </a:xfrm>
          <a:prstGeom prst="line">
            <a:avLst/>
          </a:prstGeom>
          <a:noFill/>
          <a:ln w="6350">
            <a:solidFill>
              <a:srgbClr val="DDD5C9"/>
            </a:solidFill>
            <a:prstDash val="solid"/>
          </a:ln>
        </p:spPr>
      </p:sp>
      <p:sp>
        <p:nvSpPr>
          <p:cNvPr id="11" name="Text 9"/>
          <p:cNvSpPr/>
          <p:nvPr/>
        </p:nvSpPr>
        <p:spPr>
          <a:xfrm>
            <a:off x="731520" y="2258568"/>
            <a:ext cx="1325880" cy="502920"/>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PRDs and specs</a:t>
            </a:r>
            <a:endParaRPr lang="en-US" sz="1100" dirty="0"/>
          </a:p>
        </p:txBody>
      </p:sp>
      <p:sp>
        <p:nvSpPr>
          <p:cNvPr id="12" name="Text 10"/>
          <p:cNvSpPr/>
          <p:nvPr/>
        </p:nvSpPr>
        <p:spPr>
          <a:xfrm>
            <a:off x="2103120" y="2258568"/>
            <a:ext cx="3200400" cy="502920"/>
          </a:xfrm>
          <a:prstGeom prst="rect">
            <a:avLst/>
          </a:prstGeom>
          <a:noFill/>
          <a:ln/>
        </p:spPr>
        <p:txBody>
          <a:bodyPr wrap="square" lIns="0" tIns="0" rIns="0" bIns="0" rtlCol="0" anchor="ctr"/>
          <a:lstStyle/>
          <a:p>
            <a:pPr indent="0" marL="0">
              <a:lnSpc>
                <a:spcPct val="130000"/>
              </a:lnSpc>
              <a:buNone/>
            </a:pPr>
            <a:r>
              <a:rPr lang="en-US" sz="1100" dirty="0">
                <a:solidFill>
                  <a:srgbClr val="6B6B6B"/>
                </a:solidFill>
                <a:latin typeface="Calibri" pitchFamily="34" charset="0"/>
                <a:ea typeface="Calibri" pitchFamily="34" charset="-122"/>
                <a:cs typeface="Calibri" pitchFamily="34" charset="-120"/>
              </a:rPr>
              <a:t>Detailed blueprints, what to build</a:t>
            </a:r>
            <a:endParaRPr lang="en-US" sz="1100" dirty="0"/>
          </a:p>
        </p:txBody>
      </p:sp>
      <p:sp>
        <p:nvSpPr>
          <p:cNvPr id="13" name="Text 11"/>
          <p:cNvSpPr/>
          <p:nvPr/>
        </p:nvSpPr>
        <p:spPr>
          <a:xfrm>
            <a:off x="5440680" y="2258568"/>
            <a:ext cx="3108960" cy="5029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Calibri" pitchFamily="34" charset="0"/>
                <a:ea typeface="Calibri" pitchFamily="34" charset="-122"/>
                <a:cs typeface="Calibri" pitchFamily="34" charset="-120"/>
              </a:rPr>
              <a:t>Hypothesis + why, a vessel for thinking</a:t>
            </a:r>
            <a:endParaRPr lang="en-US" sz="1100" dirty="0"/>
          </a:p>
        </p:txBody>
      </p:sp>
      <p:sp>
        <p:nvSpPr>
          <p:cNvPr id="14" name="Shape 12"/>
          <p:cNvSpPr/>
          <p:nvPr/>
        </p:nvSpPr>
        <p:spPr>
          <a:xfrm>
            <a:off x="731520" y="2807208"/>
            <a:ext cx="7680960" cy="0"/>
          </a:xfrm>
          <a:prstGeom prst="line">
            <a:avLst/>
          </a:prstGeom>
          <a:noFill/>
          <a:ln w="6350">
            <a:solidFill>
              <a:srgbClr val="DDD5C9"/>
            </a:solidFill>
            <a:prstDash val="solid"/>
          </a:ln>
        </p:spPr>
      </p:sp>
      <p:sp>
        <p:nvSpPr>
          <p:cNvPr id="15" name="Text 13"/>
          <p:cNvSpPr/>
          <p:nvPr/>
        </p:nvSpPr>
        <p:spPr>
          <a:xfrm>
            <a:off x="731520" y="2825496"/>
            <a:ext cx="1325880" cy="502920"/>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What's scarce</a:t>
            </a:r>
            <a:endParaRPr lang="en-US" sz="1100" dirty="0"/>
          </a:p>
        </p:txBody>
      </p:sp>
      <p:sp>
        <p:nvSpPr>
          <p:cNvPr id="16" name="Text 14"/>
          <p:cNvSpPr/>
          <p:nvPr/>
        </p:nvSpPr>
        <p:spPr>
          <a:xfrm>
            <a:off x="2103120" y="2825496"/>
            <a:ext cx="3200400" cy="502920"/>
          </a:xfrm>
          <a:prstGeom prst="rect">
            <a:avLst/>
          </a:prstGeom>
          <a:noFill/>
          <a:ln/>
        </p:spPr>
        <p:txBody>
          <a:bodyPr wrap="square" lIns="0" tIns="0" rIns="0" bIns="0" rtlCol="0" anchor="ctr"/>
          <a:lstStyle/>
          <a:p>
            <a:pPr indent="0" marL="0">
              <a:lnSpc>
                <a:spcPct val="130000"/>
              </a:lnSpc>
              <a:buNone/>
            </a:pPr>
            <a:r>
              <a:rPr lang="en-US" sz="1100" dirty="0">
                <a:solidFill>
                  <a:srgbClr val="6B6B6B"/>
                </a:solidFill>
                <a:latin typeface="Calibri" pitchFamily="34" charset="0"/>
                <a:ea typeface="Calibri" pitchFamily="34" charset="-122"/>
                <a:cs typeface="Calibri" pitchFamily="34" charset="-120"/>
              </a:rPr>
              <a:t>Engineering capacity</a:t>
            </a:r>
            <a:endParaRPr lang="en-US" sz="1100" dirty="0"/>
          </a:p>
        </p:txBody>
      </p:sp>
      <p:sp>
        <p:nvSpPr>
          <p:cNvPr id="17" name="Text 15"/>
          <p:cNvSpPr/>
          <p:nvPr/>
        </p:nvSpPr>
        <p:spPr>
          <a:xfrm>
            <a:off x="5440680" y="2825496"/>
            <a:ext cx="3108960" cy="5029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Calibri" pitchFamily="34" charset="0"/>
                <a:ea typeface="Calibri" pitchFamily="34" charset="-122"/>
                <a:cs typeface="Calibri" pitchFamily="34" charset="-120"/>
              </a:rPr>
              <a:t>Taste, judgment, editing</a:t>
            </a:r>
            <a:endParaRPr lang="en-US" sz="1100" dirty="0"/>
          </a:p>
        </p:txBody>
      </p:sp>
      <p:sp>
        <p:nvSpPr>
          <p:cNvPr id="18" name="Shape 16"/>
          <p:cNvSpPr/>
          <p:nvPr/>
        </p:nvSpPr>
        <p:spPr>
          <a:xfrm>
            <a:off x="731520" y="3374136"/>
            <a:ext cx="7680960" cy="0"/>
          </a:xfrm>
          <a:prstGeom prst="line">
            <a:avLst/>
          </a:prstGeom>
          <a:noFill/>
          <a:ln w="6350">
            <a:solidFill>
              <a:srgbClr val="DDD5C9"/>
            </a:solidFill>
            <a:prstDash val="solid"/>
          </a:ln>
        </p:spPr>
      </p:sp>
      <p:sp>
        <p:nvSpPr>
          <p:cNvPr id="19" name="Text 17"/>
          <p:cNvSpPr/>
          <p:nvPr/>
        </p:nvSpPr>
        <p:spPr>
          <a:xfrm>
            <a:off x="731520" y="3392424"/>
            <a:ext cx="1325880" cy="502920"/>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What's abundant</a:t>
            </a:r>
            <a:endParaRPr lang="en-US" sz="1100" dirty="0"/>
          </a:p>
        </p:txBody>
      </p:sp>
      <p:sp>
        <p:nvSpPr>
          <p:cNvPr id="20" name="Text 18"/>
          <p:cNvSpPr/>
          <p:nvPr/>
        </p:nvSpPr>
        <p:spPr>
          <a:xfrm>
            <a:off x="2103120" y="3392424"/>
            <a:ext cx="3200400" cy="502920"/>
          </a:xfrm>
          <a:prstGeom prst="rect">
            <a:avLst/>
          </a:prstGeom>
          <a:noFill/>
          <a:ln/>
        </p:spPr>
        <p:txBody>
          <a:bodyPr wrap="square" lIns="0" tIns="0" rIns="0" bIns="0" rtlCol="0" anchor="ctr"/>
          <a:lstStyle/>
          <a:p>
            <a:pPr indent="0" marL="0">
              <a:lnSpc>
                <a:spcPct val="130000"/>
              </a:lnSpc>
              <a:buNone/>
            </a:pPr>
            <a:r>
              <a:rPr lang="en-US" sz="1100" dirty="0">
                <a:solidFill>
                  <a:srgbClr val="6B6B6B"/>
                </a:solidFill>
                <a:latin typeface="Calibri" pitchFamily="34" charset="0"/>
                <a:ea typeface="Calibri" pitchFamily="34" charset="-122"/>
                <a:cs typeface="Calibri" pitchFamily="34" charset="-120"/>
              </a:rPr>
              <a:t>Ideas, debate, slide decks</a:t>
            </a:r>
            <a:endParaRPr lang="en-US" sz="1100" dirty="0"/>
          </a:p>
        </p:txBody>
      </p:sp>
      <p:sp>
        <p:nvSpPr>
          <p:cNvPr id="21" name="Text 19"/>
          <p:cNvSpPr/>
          <p:nvPr/>
        </p:nvSpPr>
        <p:spPr>
          <a:xfrm>
            <a:off x="5440680" y="3392424"/>
            <a:ext cx="3108960" cy="5029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Calibri" pitchFamily="34" charset="0"/>
                <a:ea typeface="Calibri" pitchFamily="34" charset="-122"/>
                <a:cs typeface="Calibri" pitchFamily="34" charset="-120"/>
              </a:rPr>
              <a:t>Working prototypes</a:t>
            </a:r>
            <a:endParaRPr lang="en-US" sz="1100" dirty="0"/>
          </a:p>
        </p:txBody>
      </p:sp>
      <p:sp>
        <p:nvSpPr>
          <p:cNvPr id="22" name="Shape 20"/>
          <p:cNvSpPr/>
          <p:nvPr/>
        </p:nvSpPr>
        <p:spPr>
          <a:xfrm>
            <a:off x="731520" y="3941064"/>
            <a:ext cx="7680960" cy="0"/>
          </a:xfrm>
          <a:prstGeom prst="line">
            <a:avLst/>
          </a:prstGeom>
          <a:noFill/>
          <a:ln w="6350">
            <a:solidFill>
              <a:srgbClr val="DDD5C9"/>
            </a:solidFill>
            <a:prstDash val="solid"/>
          </a:ln>
        </p:spPr>
      </p:sp>
      <p:sp>
        <p:nvSpPr>
          <p:cNvPr id="23" name="Text 21"/>
          <p:cNvSpPr/>
          <p:nvPr/>
        </p:nvSpPr>
        <p:spPr>
          <a:xfrm>
            <a:off x="731520" y="3959352"/>
            <a:ext cx="1325880" cy="502920"/>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The PM's job</a:t>
            </a:r>
            <a:endParaRPr lang="en-US" sz="1100" dirty="0"/>
          </a:p>
        </p:txBody>
      </p:sp>
      <p:sp>
        <p:nvSpPr>
          <p:cNvPr id="24" name="Text 22"/>
          <p:cNvSpPr/>
          <p:nvPr/>
        </p:nvSpPr>
        <p:spPr>
          <a:xfrm>
            <a:off x="2103120" y="3959352"/>
            <a:ext cx="3200400" cy="502920"/>
          </a:xfrm>
          <a:prstGeom prst="rect">
            <a:avLst/>
          </a:prstGeom>
          <a:noFill/>
          <a:ln/>
        </p:spPr>
        <p:txBody>
          <a:bodyPr wrap="square" lIns="0" tIns="0" rIns="0" bIns="0" rtlCol="0" anchor="ctr"/>
          <a:lstStyle/>
          <a:p>
            <a:pPr indent="0" marL="0">
              <a:lnSpc>
                <a:spcPct val="130000"/>
              </a:lnSpc>
              <a:buNone/>
            </a:pPr>
            <a:r>
              <a:rPr lang="en-US" sz="1100" dirty="0">
                <a:solidFill>
                  <a:srgbClr val="6B6B6B"/>
                </a:solidFill>
                <a:latin typeface="Calibri" pitchFamily="34" charset="0"/>
                <a:ea typeface="Calibri" pitchFamily="34" charset="-122"/>
                <a:cs typeface="Calibri" pitchFamily="34" charset="-120"/>
              </a:rPr>
              <a:t>Coordinate the work</a:t>
            </a:r>
            <a:endParaRPr lang="en-US" sz="1100" dirty="0"/>
          </a:p>
        </p:txBody>
      </p:sp>
      <p:sp>
        <p:nvSpPr>
          <p:cNvPr id="25" name="Text 23"/>
          <p:cNvSpPr/>
          <p:nvPr/>
        </p:nvSpPr>
        <p:spPr>
          <a:xfrm>
            <a:off x="5440680" y="3959352"/>
            <a:ext cx="3108960" cy="502920"/>
          </a:xfrm>
          <a:prstGeom prst="rect">
            <a:avLst/>
          </a:prstGeom>
          <a:noFill/>
          <a:ln/>
        </p:spPr>
        <p:txBody>
          <a:bodyPr wrap="square" lIns="0" tIns="0" rIns="0" bIns="0" rtlCol="0" anchor="ctr"/>
          <a:lstStyle/>
          <a:p>
            <a:pPr indent="0" marL="0">
              <a:lnSpc>
                <a:spcPct val="130000"/>
              </a:lnSpc>
              <a:buNone/>
            </a:pPr>
            <a:r>
              <a:rPr lang="en-US" sz="1100" dirty="0">
                <a:solidFill>
                  <a:srgbClr val="2D2D2D"/>
                </a:solidFill>
                <a:latin typeface="Calibri" pitchFamily="34" charset="0"/>
                <a:ea typeface="Calibri" pitchFamily="34" charset="-122"/>
                <a:cs typeface="Calibri" pitchFamily="34" charset="-120"/>
              </a:rPr>
              <a:t>Be the keeper of the why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Near. Long. Never medium.</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274320"/>
          </a:xfrm>
          <a:prstGeom prst="rect">
            <a:avLst/>
          </a:prstGeom>
          <a:noFill/>
          <a:ln/>
        </p:spPr>
        <p:txBody>
          <a:bodyPr wrap="square" lIns="0" tIns="0" rIns="0" bIns="0" rtlCol="0" anchor="ctr"/>
          <a:lstStyle/>
          <a:p>
            <a:pPr indent="0" marL="0">
              <a:buNone/>
            </a:pPr>
            <a:r>
              <a:rPr lang="en-US" sz="1000" b="1" spc="200" kern="0" dirty="0">
                <a:solidFill>
                  <a:srgbClr val="999999"/>
                </a:solidFill>
                <a:latin typeface="Calibri" pitchFamily="34" charset="0"/>
                <a:ea typeface="Calibri" pitchFamily="34" charset="-122"/>
                <a:cs typeface="Calibri" pitchFamily="34" charset="-120"/>
              </a:rPr>
              <a:t>WHAT REPLACES THE ROADMAP.</a:t>
            </a:r>
            <a:endParaRPr lang="en-US" sz="1000" dirty="0"/>
          </a:p>
        </p:txBody>
      </p:sp>
      <p:sp>
        <p:nvSpPr>
          <p:cNvPr id="5" name="Text 3"/>
          <p:cNvSpPr/>
          <p:nvPr/>
        </p:nvSpPr>
        <p:spPr>
          <a:xfrm>
            <a:off x="457200" y="1554480"/>
            <a:ext cx="2560320" cy="292608"/>
          </a:xfrm>
          <a:prstGeom prst="rect">
            <a:avLst/>
          </a:prstGeom>
          <a:noFill/>
          <a:ln/>
        </p:spPr>
        <p:txBody>
          <a:bodyPr wrap="square" lIns="0" tIns="0" rIns="0" bIns="0" rtlCol="0" anchor="ctr"/>
          <a:lstStyle/>
          <a:p>
            <a:pPr algn="ctr" indent="0" marL="0">
              <a:buNone/>
            </a:pPr>
            <a:r>
              <a:rPr lang="en-US" sz="1500" i="1" dirty="0">
                <a:solidFill>
                  <a:srgbClr val="1B2A4A"/>
                </a:solidFill>
                <a:latin typeface="Georgia" pitchFamily="34" charset="0"/>
                <a:ea typeface="Georgia" pitchFamily="34" charset="-122"/>
                <a:cs typeface="Georgia" pitchFamily="34" charset="-120"/>
              </a:rPr>
              <a:t>Near-term</a:t>
            </a:r>
            <a:endParaRPr lang="en-US" sz="1500" dirty="0"/>
          </a:p>
        </p:txBody>
      </p:sp>
      <p:sp>
        <p:nvSpPr>
          <p:cNvPr id="6" name="Text 4"/>
          <p:cNvSpPr/>
          <p:nvPr/>
        </p:nvSpPr>
        <p:spPr>
          <a:xfrm>
            <a:off x="457200" y="1828800"/>
            <a:ext cx="2560320" cy="731520"/>
          </a:xfrm>
          <a:prstGeom prst="rect">
            <a:avLst/>
          </a:prstGeom>
          <a:noFill/>
          <a:ln/>
        </p:spPr>
        <p:txBody>
          <a:bodyPr wrap="square" lIns="0" tIns="0" rIns="0" bIns="0" rtlCol="0" anchor="ctr"/>
          <a:lstStyle/>
          <a:p>
            <a:pPr algn="ctr" indent="0" marL="0">
              <a:buNone/>
            </a:pPr>
            <a:r>
              <a:rPr lang="en-US" sz="3600" i="1" dirty="0">
                <a:solidFill>
                  <a:srgbClr val="2D2D2D"/>
                </a:solidFill>
                <a:latin typeface="Georgia" pitchFamily="34" charset="0"/>
                <a:ea typeface="Georgia" pitchFamily="34" charset="-122"/>
                <a:cs typeface="Georgia" pitchFamily="34" charset="-120"/>
              </a:rPr>
              <a:t>8 weeks</a:t>
            </a:r>
            <a:endParaRPr lang="en-US" sz="3600" dirty="0"/>
          </a:p>
        </p:txBody>
      </p:sp>
      <p:sp>
        <p:nvSpPr>
          <p:cNvPr id="7" name="Text 5"/>
          <p:cNvSpPr/>
          <p:nvPr/>
        </p:nvSpPr>
        <p:spPr>
          <a:xfrm>
            <a:off x="594360" y="2697480"/>
            <a:ext cx="2286000" cy="777240"/>
          </a:xfrm>
          <a:prstGeom prst="rect">
            <a:avLst/>
          </a:prstGeom>
          <a:noFill/>
          <a:ln/>
        </p:spPr>
        <p:txBody>
          <a:bodyPr wrap="square" lIns="0" tIns="0" rIns="0" bIns="0" rtlCol="0" anchor="ctr"/>
          <a:lstStyle/>
          <a:p>
            <a:pPr algn="ctr" indent="0" marL="0">
              <a:lnSpc>
                <a:spcPct val="135000"/>
              </a:lnSpc>
              <a:buNone/>
            </a:pPr>
            <a:r>
              <a:rPr lang="en-US" sz="1100" dirty="0">
                <a:solidFill>
                  <a:srgbClr val="6B6B6B"/>
                </a:solidFill>
                <a:latin typeface="Calibri" pitchFamily="34" charset="0"/>
                <a:ea typeface="Calibri" pitchFamily="34" charset="-122"/>
                <a:cs typeface="Calibri" pitchFamily="34" charset="-120"/>
              </a:rPr>
              <a:t>The concrete thing we can rally a team to ship.</a:t>
            </a:r>
            <a:endParaRPr lang="en-US" sz="1100" dirty="0"/>
          </a:p>
        </p:txBody>
      </p:sp>
      <p:sp>
        <p:nvSpPr>
          <p:cNvPr id="8" name="Text 6"/>
          <p:cNvSpPr/>
          <p:nvPr/>
        </p:nvSpPr>
        <p:spPr>
          <a:xfrm>
            <a:off x="3291840" y="1554480"/>
            <a:ext cx="2560320" cy="292608"/>
          </a:xfrm>
          <a:prstGeom prst="rect">
            <a:avLst/>
          </a:prstGeom>
          <a:noFill/>
          <a:ln/>
        </p:spPr>
        <p:txBody>
          <a:bodyPr wrap="square" lIns="0" tIns="0" rIns="0" bIns="0" rtlCol="0" anchor="ctr"/>
          <a:lstStyle/>
          <a:p>
            <a:pPr algn="ctr" indent="0" marL="0">
              <a:buNone/>
            </a:pPr>
            <a:r>
              <a:rPr lang="en-US" sz="1500" i="1" dirty="0">
                <a:solidFill>
                  <a:srgbClr val="1B2A4A"/>
                </a:solidFill>
                <a:latin typeface="Georgia" pitchFamily="34" charset="0"/>
                <a:ea typeface="Georgia" pitchFamily="34" charset="-122"/>
                <a:cs typeface="Georgia" pitchFamily="34" charset="-120"/>
              </a:rPr>
              <a:t>Long-term</a:t>
            </a:r>
            <a:endParaRPr lang="en-US" sz="1500" dirty="0"/>
          </a:p>
        </p:txBody>
      </p:sp>
      <p:sp>
        <p:nvSpPr>
          <p:cNvPr id="9" name="Text 7"/>
          <p:cNvSpPr/>
          <p:nvPr/>
        </p:nvSpPr>
        <p:spPr>
          <a:xfrm>
            <a:off x="3291840" y="1828800"/>
            <a:ext cx="2560320" cy="731520"/>
          </a:xfrm>
          <a:prstGeom prst="rect">
            <a:avLst/>
          </a:prstGeom>
          <a:noFill/>
          <a:ln/>
        </p:spPr>
        <p:txBody>
          <a:bodyPr wrap="square" lIns="0" tIns="0" rIns="0" bIns="0" rtlCol="0" anchor="ctr"/>
          <a:lstStyle/>
          <a:p>
            <a:pPr algn="ctr" indent="0" marL="0">
              <a:buNone/>
            </a:pPr>
            <a:r>
              <a:rPr lang="en-US" sz="3600" i="1" dirty="0">
                <a:solidFill>
                  <a:srgbClr val="2D2D2D"/>
                </a:solidFill>
                <a:latin typeface="Georgia" pitchFamily="34" charset="0"/>
                <a:ea typeface="Georgia" pitchFamily="34" charset="-122"/>
                <a:cs typeface="Georgia" pitchFamily="34" charset="-120"/>
              </a:rPr>
              <a:t>A year+</a:t>
            </a:r>
            <a:endParaRPr lang="en-US" sz="3600" dirty="0"/>
          </a:p>
        </p:txBody>
      </p:sp>
      <p:sp>
        <p:nvSpPr>
          <p:cNvPr id="10" name="Text 8"/>
          <p:cNvSpPr/>
          <p:nvPr/>
        </p:nvSpPr>
        <p:spPr>
          <a:xfrm>
            <a:off x="3429000" y="2697480"/>
            <a:ext cx="2286000" cy="777240"/>
          </a:xfrm>
          <a:prstGeom prst="rect">
            <a:avLst/>
          </a:prstGeom>
          <a:noFill/>
          <a:ln/>
        </p:spPr>
        <p:txBody>
          <a:bodyPr wrap="square" lIns="0" tIns="0" rIns="0" bIns="0" rtlCol="0" anchor="ctr"/>
          <a:lstStyle/>
          <a:p>
            <a:pPr algn="ctr" indent="0" marL="0">
              <a:lnSpc>
                <a:spcPct val="135000"/>
              </a:lnSpc>
              <a:buNone/>
            </a:pPr>
            <a:r>
              <a:rPr lang="en-US" sz="1100" dirty="0">
                <a:solidFill>
                  <a:srgbClr val="6B6B6B"/>
                </a:solidFill>
                <a:latin typeface="Calibri" pitchFamily="34" charset="0"/>
                <a:ea typeface="Calibri" pitchFamily="34" charset="-122"/>
                <a:cs typeface="Calibri" pitchFamily="34" charset="-120"/>
              </a:rPr>
              <a:t>Our conviction about where the world is going.</a:t>
            </a:r>
            <a:endParaRPr lang="en-US" sz="1100" dirty="0"/>
          </a:p>
        </p:txBody>
      </p:sp>
      <p:sp>
        <p:nvSpPr>
          <p:cNvPr id="11" name="Text 9"/>
          <p:cNvSpPr/>
          <p:nvPr/>
        </p:nvSpPr>
        <p:spPr>
          <a:xfrm>
            <a:off x="6126480" y="1554480"/>
            <a:ext cx="2560320" cy="292608"/>
          </a:xfrm>
          <a:prstGeom prst="rect">
            <a:avLst/>
          </a:prstGeom>
          <a:noFill/>
          <a:ln/>
        </p:spPr>
        <p:txBody>
          <a:bodyPr wrap="square" lIns="0" tIns="0" rIns="0" bIns="0" rtlCol="0" anchor="ctr"/>
          <a:lstStyle/>
          <a:p>
            <a:pPr algn="ctr" indent="0" marL="0">
              <a:buNone/>
            </a:pPr>
            <a:r>
              <a:rPr lang="en-US" sz="1500" i="1" dirty="0">
                <a:solidFill>
                  <a:srgbClr val="A0824E"/>
                </a:solidFill>
                <a:latin typeface="Georgia" pitchFamily="34" charset="0"/>
                <a:ea typeface="Georgia" pitchFamily="34" charset="-122"/>
                <a:cs typeface="Georgia" pitchFamily="34" charset="-120"/>
              </a:rPr>
              <a:t>Never the middle</a:t>
            </a:r>
            <a:endParaRPr lang="en-US" sz="1500" dirty="0"/>
          </a:p>
        </p:txBody>
      </p:sp>
      <p:sp>
        <p:nvSpPr>
          <p:cNvPr id="12" name="Shape 10"/>
          <p:cNvSpPr/>
          <p:nvPr/>
        </p:nvSpPr>
        <p:spPr>
          <a:xfrm>
            <a:off x="6995160" y="2194560"/>
            <a:ext cx="822960" cy="0"/>
          </a:xfrm>
          <a:prstGeom prst="line">
            <a:avLst/>
          </a:prstGeom>
          <a:noFill/>
          <a:ln w="31750">
            <a:solidFill>
              <a:srgbClr val="A0824E"/>
            </a:solidFill>
            <a:prstDash val="solid"/>
          </a:ln>
        </p:spPr>
      </p:sp>
      <p:sp>
        <p:nvSpPr>
          <p:cNvPr id="13" name="Text 11"/>
          <p:cNvSpPr/>
          <p:nvPr/>
        </p:nvSpPr>
        <p:spPr>
          <a:xfrm>
            <a:off x="6263640" y="2697480"/>
            <a:ext cx="2286000" cy="777240"/>
          </a:xfrm>
          <a:prstGeom prst="rect">
            <a:avLst/>
          </a:prstGeom>
          <a:noFill/>
          <a:ln/>
        </p:spPr>
        <p:txBody>
          <a:bodyPr wrap="square" lIns="0" tIns="0" rIns="0" bIns="0" rtlCol="0" anchor="ctr"/>
          <a:lstStyle/>
          <a:p>
            <a:pPr algn="ctr" indent="0" marL="0">
              <a:lnSpc>
                <a:spcPct val="135000"/>
              </a:lnSpc>
              <a:buNone/>
            </a:pPr>
            <a:r>
              <a:rPr lang="en-US" sz="1100" dirty="0">
                <a:solidFill>
                  <a:srgbClr val="6B6B6B"/>
                </a:solidFill>
                <a:latin typeface="Calibri" pitchFamily="34" charset="0"/>
                <a:ea typeface="Calibri" pitchFamily="34" charset="-122"/>
                <a:cs typeface="Calibri" pitchFamily="34" charset="-120"/>
              </a:rPr>
              <a:t>Too far to predict. Too close to ignore. The medium-term roadmap is the part that breaks.</a:t>
            </a:r>
            <a:endParaRPr lang="en-US" sz="1100" dirty="0"/>
          </a:p>
        </p:txBody>
      </p:sp>
      <p:sp>
        <p:nvSpPr>
          <p:cNvPr id="14" name="Text 12"/>
          <p:cNvSpPr/>
          <p:nvPr/>
        </p:nvSpPr>
        <p:spPr>
          <a:xfrm>
            <a:off x="640080" y="3657600"/>
            <a:ext cx="7863840" cy="960120"/>
          </a:xfrm>
          <a:prstGeom prst="rect">
            <a:avLst/>
          </a:prstGeom>
          <a:noFill/>
          <a:ln/>
        </p:spPr>
        <p:txBody>
          <a:bodyPr wrap="square" lIns="0" tIns="0" rIns="0" bIns="0" rtlCol="0" anchor="ctr"/>
          <a:lstStyle/>
          <a:p>
            <a:pPr algn="ctr" indent="0" marL="0">
              <a:lnSpc>
                <a:spcPct val="125000"/>
              </a:lnSpc>
              <a:buNone/>
            </a:pPr>
            <a:r>
              <a:rPr lang="en-US" sz="1150" i="1" dirty="0">
                <a:solidFill>
                  <a:srgbClr val="2D2D2D"/>
                </a:solidFill>
                <a:latin typeface="Georgia" pitchFamily="34" charset="0"/>
                <a:ea typeface="Georgia" pitchFamily="34" charset="-122"/>
                <a:cs typeface="Georgia" pitchFamily="34" charset="-120"/>
              </a:rPr>
              <a:t>"At OpenAI, you either plan near or long-term, but you never plan medium-term. The product roadmap is an in-between thing that's just kind of awkward. We basically don't have a roadmap. We have a combination of a long-term direction and short term bets that we think bring us in that direction."</a:t>
            </a:r>
            <a:endParaRPr lang="en-US" sz="1150" dirty="0"/>
          </a:p>
        </p:txBody>
      </p:sp>
      <p:sp>
        <p:nvSpPr>
          <p:cNvPr id="15" name="Text 13"/>
          <p:cNvSpPr/>
          <p:nvPr/>
        </p:nvSpPr>
        <p:spPr>
          <a:xfrm>
            <a:off x="731520" y="4645152"/>
            <a:ext cx="7680960" cy="22860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 Alex Embirico, Product Lead, OpenAI Codex</a:t>
            </a:r>
            <a:endParaRPr lang="en-US" sz="1000" dirty="0"/>
          </a:p>
        </p:txBody>
      </p:sp>
      <p:sp>
        <p:nvSpPr>
          <p:cNvPr id="16" name="Text 14"/>
          <p:cNvSpPr/>
          <p:nvPr/>
        </p:nvSpPr>
        <p:spPr>
          <a:xfrm>
            <a:off x="731520" y="4892040"/>
            <a:ext cx="7680960" cy="256032"/>
          </a:xfrm>
          <a:prstGeom prst="rect">
            <a:avLst/>
          </a:prstGeom>
          <a:noFill/>
          <a:ln/>
        </p:spPr>
        <p:txBody>
          <a:bodyPr wrap="square" lIns="0" tIns="0" rIns="0" bIns="0" rtlCol="0" anchor="ctr"/>
          <a:lstStyle/>
          <a:p>
            <a:pPr algn="ctr" indent="0" marL="0">
              <a:buNone/>
            </a:pPr>
            <a:r>
              <a:rPr lang="en-US" sz="1100" i="1" dirty="0">
                <a:solidFill>
                  <a:srgbClr val="6B6B6B"/>
                </a:solidFill>
                <a:latin typeface="Georgia" pitchFamily="34" charset="0"/>
                <a:ea typeface="Georgia" pitchFamily="34" charset="-122"/>
                <a:cs typeface="Georgia" pitchFamily="34" charset="-120"/>
              </a:rPr>
              <a:t>Our version: conviction in the direction, nimbleness in the bets.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400" i="1" dirty="0">
                <a:solidFill>
                  <a:srgbClr val="2D2D2D"/>
                </a:solidFill>
                <a:latin typeface="Georgia" pitchFamily="34" charset="0"/>
                <a:ea typeface="Georgia" pitchFamily="34" charset="-122"/>
                <a:cs typeface="Georgia" pitchFamily="34" charset="-120"/>
              </a:rPr>
              <a:t>What this means for client-facing solutions.</a:t>
            </a:r>
            <a:endParaRPr lang="en-US" sz="24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70432"/>
            <a:ext cx="7680960" cy="320040"/>
          </a:xfrm>
          <a:prstGeom prst="rect">
            <a:avLst/>
          </a:prstGeom>
          <a:noFill/>
          <a:ln/>
        </p:spPr>
        <p:txBody>
          <a:bodyPr wrap="square" lIns="0" tIns="0" rIns="0" bIns="0" rtlCol="0" anchor="ctr"/>
          <a:lstStyle/>
          <a:p>
            <a:pPr indent="0" marL="0">
              <a:buNone/>
            </a:pPr>
            <a:r>
              <a:rPr lang="en-US" sz="1100" i="1" dirty="0">
                <a:solidFill>
                  <a:srgbClr val="A0824E"/>
                </a:solidFill>
                <a:latin typeface="Calibri" pitchFamily="34" charset="0"/>
                <a:ea typeface="Calibri" pitchFamily="34" charset="-122"/>
                <a:cs typeface="Calibri" pitchFamily="34" charset="-120"/>
              </a:rPr>
              <a:t>Mortgages  ·  Lending  ·  Alternatives  ·  Insurance  ·  Brokerage</a:t>
            </a:r>
            <a:endParaRPr lang="en-US" sz="1100" dirty="0"/>
          </a:p>
        </p:txBody>
      </p:sp>
      <p:sp>
        <p:nvSpPr>
          <p:cNvPr id="5" name="Text 3"/>
          <p:cNvSpPr/>
          <p:nvPr/>
        </p:nvSpPr>
        <p:spPr>
          <a:xfrm>
            <a:off x="2103120" y="1554480"/>
            <a:ext cx="2926080" cy="274320"/>
          </a:xfrm>
          <a:prstGeom prst="rect">
            <a:avLst/>
          </a:prstGeom>
          <a:noFill/>
          <a:ln/>
        </p:spPr>
        <p:txBody>
          <a:bodyPr wrap="square" lIns="0" tIns="0" rIns="0" bIns="0" rtlCol="0" anchor="ctr"/>
          <a:lstStyle/>
          <a:p>
            <a:pPr algn="l" indent="0" marL="0">
              <a:buNone/>
            </a:pPr>
            <a:r>
              <a:rPr lang="en-US" sz="1000" b="1" spc="200" kern="0" dirty="0">
                <a:solidFill>
                  <a:srgbClr val="999999"/>
                </a:solidFill>
                <a:latin typeface="Calibri" pitchFamily="34" charset="0"/>
                <a:ea typeface="Calibri" pitchFamily="34" charset="-122"/>
                <a:cs typeface="Calibri" pitchFamily="34" charset="-120"/>
              </a:rPr>
              <a:t>OLD WAY</a:t>
            </a:r>
            <a:endParaRPr lang="en-US" sz="1000" dirty="0"/>
          </a:p>
        </p:txBody>
      </p:sp>
      <p:sp>
        <p:nvSpPr>
          <p:cNvPr id="6" name="Text 4"/>
          <p:cNvSpPr/>
          <p:nvPr/>
        </p:nvSpPr>
        <p:spPr>
          <a:xfrm>
            <a:off x="5440680" y="1554480"/>
            <a:ext cx="3108960" cy="274320"/>
          </a:xfrm>
          <a:prstGeom prst="rect">
            <a:avLst/>
          </a:prstGeom>
          <a:noFill/>
          <a:ln/>
        </p:spPr>
        <p:txBody>
          <a:bodyPr wrap="square" lIns="0" tIns="0" rIns="0" bIns="0" rtlCol="0" anchor="ctr"/>
          <a:lstStyle/>
          <a:p>
            <a:pPr algn="l" indent="0" marL="0">
              <a:buNone/>
            </a:pPr>
            <a:r>
              <a:rPr lang="en-US" sz="1000" b="1" spc="200" kern="0" dirty="0">
                <a:solidFill>
                  <a:srgbClr val="A0824E"/>
                </a:solidFill>
                <a:latin typeface="Calibri" pitchFamily="34" charset="0"/>
                <a:ea typeface="Calibri" pitchFamily="34" charset="-122"/>
                <a:cs typeface="Calibri" pitchFamily="34" charset="-120"/>
              </a:rPr>
              <a:t>NEW WAY</a:t>
            </a:r>
            <a:endParaRPr lang="en-US" sz="1000" dirty="0"/>
          </a:p>
        </p:txBody>
      </p:sp>
      <p:sp>
        <p:nvSpPr>
          <p:cNvPr id="7" name="Shape 5"/>
          <p:cNvSpPr/>
          <p:nvPr/>
        </p:nvSpPr>
        <p:spPr>
          <a:xfrm>
            <a:off x="731520" y="1828800"/>
            <a:ext cx="7680960" cy="0"/>
          </a:xfrm>
          <a:prstGeom prst="line">
            <a:avLst/>
          </a:prstGeom>
          <a:noFill/>
          <a:ln w="6350">
            <a:solidFill>
              <a:srgbClr val="999999"/>
            </a:solidFill>
            <a:prstDash val="solid"/>
          </a:ln>
        </p:spPr>
      </p:sp>
      <p:sp>
        <p:nvSpPr>
          <p:cNvPr id="8" name="Text 6"/>
          <p:cNvSpPr/>
          <p:nvPr/>
        </p:nvSpPr>
        <p:spPr>
          <a:xfrm>
            <a:off x="731520" y="2011680"/>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Product cycle</a:t>
            </a:r>
            <a:endParaRPr lang="en-US" sz="1100" dirty="0"/>
          </a:p>
        </p:txBody>
      </p:sp>
      <p:sp>
        <p:nvSpPr>
          <p:cNvPr id="9" name="Text 7"/>
          <p:cNvSpPr/>
          <p:nvPr/>
        </p:nvSpPr>
        <p:spPr>
          <a:xfrm>
            <a:off x="2103120" y="2011680"/>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12–18 month rollouts</a:t>
            </a:r>
            <a:endParaRPr lang="en-US" sz="1050" dirty="0"/>
          </a:p>
        </p:txBody>
      </p:sp>
      <p:sp>
        <p:nvSpPr>
          <p:cNvPr id="10" name="Text 8"/>
          <p:cNvSpPr/>
          <p:nvPr/>
        </p:nvSpPr>
        <p:spPr>
          <a:xfrm>
            <a:off x="5440680" y="2011680"/>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6-week pilots in one geography</a:t>
            </a:r>
            <a:endParaRPr lang="en-US" sz="1050" dirty="0"/>
          </a:p>
        </p:txBody>
      </p:sp>
      <p:sp>
        <p:nvSpPr>
          <p:cNvPr id="11" name="Shape 9"/>
          <p:cNvSpPr/>
          <p:nvPr/>
        </p:nvSpPr>
        <p:spPr>
          <a:xfrm>
            <a:off x="731520" y="2468880"/>
            <a:ext cx="7680960" cy="0"/>
          </a:xfrm>
          <a:prstGeom prst="line">
            <a:avLst/>
          </a:prstGeom>
          <a:noFill/>
          <a:ln w="6350">
            <a:solidFill>
              <a:srgbClr val="DDD5C9"/>
            </a:solidFill>
            <a:prstDash val="solid"/>
          </a:ln>
        </p:spPr>
      </p:sp>
      <p:sp>
        <p:nvSpPr>
          <p:cNvPr id="12" name="Text 10"/>
          <p:cNvSpPr/>
          <p:nvPr/>
        </p:nvSpPr>
        <p:spPr>
          <a:xfrm>
            <a:off x="731520" y="2487168"/>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Tech stack</a:t>
            </a:r>
            <a:endParaRPr lang="en-US" sz="1100" dirty="0"/>
          </a:p>
        </p:txBody>
      </p:sp>
      <p:sp>
        <p:nvSpPr>
          <p:cNvPr id="13" name="Text 11"/>
          <p:cNvSpPr/>
          <p:nvPr/>
        </p:nvSpPr>
        <p:spPr>
          <a:xfrm>
            <a:off x="2103120" y="2487168"/>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Vendor-heavy, rigid integrations</a:t>
            </a:r>
            <a:endParaRPr lang="en-US" sz="1050" dirty="0"/>
          </a:p>
        </p:txBody>
      </p:sp>
      <p:sp>
        <p:nvSpPr>
          <p:cNvPr id="14" name="Text 12"/>
          <p:cNvSpPr/>
          <p:nvPr/>
        </p:nvSpPr>
        <p:spPr>
          <a:xfrm>
            <a:off x="5440680" y="2487168"/>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AI agents glue the gaps; prototype before buying</a:t>
            </a:r>
            <a:endParaRPr lang="en-US" sz="1050" dirty="0"/>
          </a:p>
        </p:txBody>
      </p:sp>
      <p:sp>
        <p:nvSpPr>
          <p:cNvPr id="15" name="Shape 13"/>
          <p:cNvSpPr/>
          <p:nvPr/>
        </p:nvSpPr>
        <p:spPr>
          <a:xfrm>
            <a:off x="731520" y="2944368"/>
            <a:ext cx="7680960" cy="0"/>
          </a:xfrm>
          <a:prstGeom prst="line">
            <a:avLst/>
          </a:prstGeom>
          <a:noFill/>
          <a:ln w="6350">
            <a:solidFill>
              <a:srgbClr val="DDD5C9"/>
            </a:solidFill>
            <a:prstDash val="solid"/>
          </a:ln>
        </p:spPr>
      </p:sp>
      <p:sp>
        <p:nvSpPr>
          <p:cNvPr id="16" name="Text 14"/>
          <p:cNvSpPr/>
          <p:nvPr/>
        </p:nvSpPr>
        <p:spPr>
          <a:xfrm>
            <a:off x="731520" y="2962656"/>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Decisioning</a:t>
            </a:r>
            <a:endParaRPr lang="en-US" sz="1100" dirty="0"/>
          </a:p>
        </p:txBody>
      </p:sp>
      <p:sp>
        <p:nvSpPr>
          <p:cNvPr id="17" name="Text 15"/>
          <p:cNvSpPr/>
          <p:nvPr/>
        </p:nvSpPr>
        <p:spPr>
          <a:xfrm>
            <a:off x="2103120" y="2962656"/>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Change by committee, weeks per cycle</a:t>
            </a:r>
            <a:endParaRPr lang="en-US" sz="1050" dirty="0"/>
          </a:p>
        </p:txBody>
      </p:sp>
      <p:sp>
        <p:nvSpPr>
          <p:cNvPr id="18" name="Text 16"/>
          <p:cNvSpPr/>
          <p:nvPr/>
        </p:nvSpPr>
        <p:spPr>
          <a:xfrm>
            <a:off x="5440680" y="2962656"/>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AI-assisted underwriting; humans on edge cases</a:t>
            </a:r>
            <a:endParaRPr lang="en-US" sz="1050" dirty="0"/>
          </a:p>
        </p:txBody>
      </p:sp>
      <p:sp>
        <p:nvSpPr>
          <p:cNvPr id="19" name="Shape 17"/>
          <p:cNvSpPr/>
          <p:nvPr/>
        </p:nvSpPr>
        <p:spPr>
          <a:xfrm>
            <a:off x="731520" y="3419856"/>
            <a:ext cx="7680960" cy="0"/>
          </a:xfrm>
          <a:prstGeom prst="line">
            <a:avLst/>
          </a:prstGeom>
          <a:noFill/>
          <a:ln w="6350">
            <a:solidFill>
              <a:srgbClr val="DDD5C9"/>
            </a:solidFill>
            <a:prstDash val="solid"/>
          </a:ln>
        </p:spPr>
      </p:sp>
      <p:sp>
        <p:nvSpPr>
          <p:cNvPr id="20" name="Text 18"/>
          <p:cNvSpPr/>
          <p:nvPr/>
        </p:nvSpPr>
        <p:spPr>
          <a:xfrm>
            <a:off x="731520" y="3438144"/>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PM leverage</a:t>
            </a:r>
            <a:endParaRPr lang="en-US" sz="1100" dirty="0"/>
          </a:p>
        </p:txBody>
      </p:sp>
      <p:sp>
        <p:nvSpPr>
          <p:cNvPr id="21" name="Text 19"/>
          <p:cNvSpPr/>
          <p:nvPr/>
        </p:nvSpPr>
        <p:spPr>
          <a:xfrm>
            <a:off x="2103120" y="3438144"/>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Manage vendors, navigate committees</a:t>
            </a:r>
            <a:endParaRPr lang="en-US" sz="1050" dirty="0"/>
          </a:p>
        </p:txBody>
      </p:sp>
      <p:sp>
        <p:nvSpPr>
          <p:cNvPr id="22" name="Text 20"/>
          <p:cNvSpPr/>
          <p:nvPr/>
        </p:nvSpPr>
        <p:spPr>
          <a:xfrm>
            <a:off x="5440680" y="3438144"/>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Interrogate data; prototype workflows directly</a:t>
            </a:r>
            <a:endParaRPr lang="en-US" sz="1050" dirty="0"/>
          </a:p>
        </p:txBody>
      </p:sp>
      <p:sp>
        <p:nvSpPr>
          <p:cNvPr id="23" name="Shape 21"/>
          <p:cNvSpPr/>
          <p:nvPr/>
        </p:nvSpPr>
        <p:spPr>
          <a:xfrm>
            <a:off x="731520" y="3895344"/>
            <a:ext cx="7680960" cy="0"/>
          </a:xfrm>
          <a:prstGeom prst="line">
            <a:avLst/>
          </a:prstGeom>
          <a:noFill/>
          <a:ln w="6350">
            <a:solidFill>
              <a:srgbClr val="DDD5C9"/>
            </a:solidFill>
            <a:prstDash val="solid"/>
          </a:ln>
        </p:spPr>
      </p:sp>
      <p:sp>
        <p:nvSpPr>
          <p:cNvPr id="24" name="Text 22"/>
          <p:cNvSpPr/>
          <p:nvPr/>
        </p:nvSpPr>
        <p:spPr>
          <a:xfrm>
            <a:off x="731520" y="3913632"/>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What's now possible</a:t>
            </a:r>
            <a:endParaRPr lang="en-US" sz="1100" dirty="0"/>
          </a:p>
        </p:txBody>
      </p:sp>
      <p:sp>
        <p:nvSpPr>
          <p:cNvPr id="25" name="Text 23"/>
          <p:cNvSpPr/>
          <p:nvPr/>
        </p:nvSpPr>
        <p:spPr>
          <a:xfrm>
            <a:off x="2103120" y="3913632"/>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Standard products, slightly faster</a:t>
            </a:r>
            <a:endParaRPr lang="en-US" sz="1050" dirty="0"/>
          </a:p>
        </p:txBody>
      </p:sp>
      <p:sp>
        <p:nvSpPr>
          <p:cNvPr id="26" name="Text 24"/>
          <p:cNvSpPr/>
          <p:nvPr/>
        </p:nvSpPr>
        <p:spPr>
          <a:xfrm>
            <a:off x="5440680" y="3913632"/>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Bespoke at scale — Lombard, PPLI, alt subscriptions</a:t>
            </a:r>
            <a:endParaRPr lang="en-US" sz="1050" dirty="0"/>
          </a:p>
        </p:txBody>
      </p:sp>
      <p:sp>
        <p:nvSpPr>
          <p:cNvPr id="27" name="Text 25"/>
          <p:cNvSpPr/>
          <p:nvPr/>
        </p:nvSpPr>
        <p:spPr>
          <a:xfrm>
            <a:off x="731520" y="4526280"/>
            <a:ext cx="7680960" cy="548640"/>
          </a:xfrm>
          <a:prstGeom prst="rect">
            <a:avLst/>
          </a:prstGeom>
          <a:noFill/>
          <a:ln/>
        </p:spPr>
        <p:txBody>
          <a:bodyPr wrap="square" lIns="0" tIns="0" rIns="0" bIns="0" rtlCol="0" anchor="ctr"/>
          <a:lstStyle/>
          <a:p>
            <a:pPr algn="ctr" indent="0" marL="0">
              <a:lnSpc>
                <a:spcPct val="130000"/>
              </a:lnSpc>
              <a:buNone/>
            </a:pPr>
            <a:r>
              <a:rPr lang="en-US" sz="1200" i="1" dirty="0">
                <a:solidFill>
                  <a:srgbClr val="1B2A4A"/>
                </a:solidFill>
                <a:latin typeface="Georgia" pitchFamily="34" charset="0"/>
                <a:ea typeface="Georgia" pitchFamily="34" charset="-122"/>
                <a:cs typeface="Georgia" pitchFamily="34" charset="-120"/>
              </a:rPr>
              <a:t>The old leverage — vendor maps, committee navigation, term sheets — is table stakes.</a:t>
            </a:r>
            <a:endParaRPr lang="en-US" sz="1200" dirty="0"/>
          </a:p>
          <a:p>
            <a:pPr algn="ctr" indent="0" marL="0">
              <a:lnSpc>
                <a:spcPct val="130000"/>
              </a:lnSpc>
              <a:buNone/>
            </a:pPr>
            <a:r>
              <a:rPr lang="en-US" sz="1200" i="1" dirty="0">
                <a:solidFill>
                  <a:srgbClr val="1B2A4A"/>
                </a:solidFill>
                <a:latin typeface="Georgia" pitchFamily="34" charset="0"/>
                <a:ea typeface="Georgia" pitchFamily="34" charset="-122"/>
                <a:cs typeface="Georgia" pitchFamily="34" charset="-120"/>
              </a:rPr>
              <a:t>The new leverage is data, prototypes, and evals.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400" i="1" dirty="0">
                <a:solidFill>
                  <a:srgbClr val="2D2D2D"/>
                </a:solidFill>
                <a:latin typeface="Georgia" pitchFamily="34" charset="0"/>
                <a:ea typeface="Georgia" pitchFamily="34" charset="-122"/>
                <a:cs typeface="Georgia" pitchFamily="34" charset="-120"/>
              </a:rPr>
              <a:t>What this means for advisor platform tools.</a:t>
            </a:r>
            <a:endParaRPr lang="en-US" sz="24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70432"/>
            <a:ext cx="7680960" cy="320040"/>
          </a:xfrm>
          <a:prstGeom prst="rect">
            <a:avLst/>
          </a:prstGeom>
          <a:noFill/>
          <a:ln/>
        </p:spPr>
        <p:txBody>
          <a:bodyPr wrap="square" lIns="0" tIns="0" rIns="0" bIns="0" rtlCol="0" anchor="ctr"/>
          <a:lstStyle/>
          <a:p>
            <a:pPr indent="0" marL="0">
              <a:buNone/>
            </a:pPr>
            <a:r>
              <a:rPr lang="en-US" sz="1100" i="1" dirty="0">
                <a:solidFill>
                  <a:srgbClr val="A0824E"/>
                </a:solidFill>
                <a:latin typeface="Calibri" pitchFamily="34" charset="0"/>
                <a:ea typeface="Calibri" pitchFamily="34" charset="-122"/>
                <a:cs typeface="Calibri" pitchFamily="34" charset="-120"/>
              </a:rPr>
              <a:t>CRM  ·  Portfolio  ·  Planning  ·  Research  ·  Onboarding</a:t>
            </a:r>
            <a:endParaRPr lang="en-US" sz="1100" dirty="0"/>
          </a:p>
        </p:txBody>
      </p:sp>
      <p:sp>
        <p:nvSpPr>
          <p:cNvPr id="5" name="Text 3"/>
          <p:cNvSpPr/>
          <p:nvPr/>
        </p:nvSpPr>
        <p:spPr>
          <a:xfrm>
            <a:off x="2103120" y="1554480"/>
            <a:ext cx="2926080" cy="274320"/>
          </a:xfrm>
          <a:prstGeom prst="rect">
            <a:avLst/>
          </a:prstGeom>
          <a:noFill/>
          <a:ln/>
        </p:spPr>
        <p:txBody>
          <a:bodyPr wrap="square" lIns="0" tIns="0" rIns="0" bIns="0" rtlCol="0" anchor="ctr"/>
          <a:lstStyle/>
          <a:p>
            <a:pPr algn="l" indent="0" marL="0">
              <a:buNone/>
            </a:pPr>
            <a:r>
              <a:rPr lang="en-US" sz="1000" b="1" spc="200" kern="0" dirty="0">
                <a:solidFill>
                  <a:srgbClr val="999999"/>
                </a:solidFill>
                <a:latin typeface="Calibri" pitchFamily="34" charset="0"/>
                <a:ea typeface="Calibri" pitchFamily="34" charset="-122"/>
                <a:cs typeface="Calibri" pitchFamily="34" charset="-120"/>
              </a:rPr>
              <a:t>OLD WAY</a:t>
            </a:r>
            <a:endParaRPr lang="en-US" sz="1000" dirty="0"/>
          </a:p>
        </p:txBody>
      </p:sp>
      <p:sp>
        <p:nvSpPr>
          <p:cNvPr id="6" name="Text 4"/>
          <p:cNvSpPr/>
          <p:nvPr/>
        </p:nvSpPr>
        <p:spPr>
          <a:xfrm>
            <a:off x="5440680" y="1554480"/>
            <a:ext cx="3108960" cy="274320"/>
          </a:xfrm>
          <a:prstGeom prst="rect">
            <a:avLst/>
          </a:prstGeom>
          <a:noFill/>
          <a:ln/>
        </p:spPr>
        <p:txBody>
          <a:bodyPr wrap="square" lIns="0" tIns="0" rIns="0" bIns="0" rtlCol="0" anchor="ctr"/>
          <a:lstStyle/>
          <a:p>
            <a:pPr algn="l" indent="0" marL="0">
              <a:buNone/>
            </a:pPr>
            <a:r>
              <a:rPr lang="en-US" sz="1000" b="1" spc="200" kern="0" dirty="0">
                <a:solidFill>
                  <a:srgbClr val="A0824E"/>
                </a:solidFill>
                <a:latin typeface="Calibri" pitchFamily="34" charset="0"/>
                <a:ea typeface="Calibri" pitchFamily="34" charset="-122"/>
                <a:cs typeface="Calibri" pitchFamily="34" charset="-120"/>
              </a:rPr>
              <a:t>NEW WAY</a:t>
            </a:r>
            <a:endParaRPr lang="en-US" sz="1000" dirty="0"/>
          </a:p>
        </p:txBody>
      </p:sp>
      <p:sp>
        <p:nvSpPr>
          <p:cNvPr id="7" name="Shape 5"/>
          <p:cNvSpPr/>
          <p:nvPr/>
        </p:nvSpPr>
        <p:spPr>
          <a:xfrm>
            <a:off x="731520" y="1828800"/>
            <a:ext cx="7680960" cy="0"/>
          </a:xfrm>
          <a:prstGeom prst="line">
            <a:avLst/>
          </a:prstGeom>
          <a:noFill/>
          <a:ln w="6350">
            <a:solidFill>
              <a:srgbClr val="999999"/>
            </a:solidFill>
            <a:prstDash val="solid"/>
          </a:ln>
        </p:spPr>
      </p:sp>
      <p:sp>
        <p:nvSpPr>
          <p:cNvPr id="8" name="Text 6"/>
          <p:cNvSpPr/>
          <p:nvPr/>
        </p:nvSpPr>
        <p:spPr>
          <a:xfrm>
            <a:off x="731520" y="2011680"/>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Requirements</a:t>
            </a:r>
            <a:endParaRPr lang="en-US" sz="1100" dirty="0"/>
          </a:p>
        </p:txBody>
      </p:sp>
      <p:sp>
        <p:nvSpPr>
          <p:cNvPr id="9" name="Text 7"/>
          <p:cNvSpPr/>
          <p:nvPr/>
        </p:nvSpPr>
        <p:spPr>
          <a:xfrm>
            <a:off x="2103120" y="2011680"/>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Quarterly surveys, ticket queues</a:t>
            </a:r>
            <a:endParaRPr lang="en-US" sz="1050" dirty="0"/>
          </a:p>
        </p:txBody>
      </p:sp>
      <p:sp>
        <p:nvSpPr>
          <p:cNvPr id="10" name="Text 8"/>
          <p:cNvSpPr/>
          <p:nvPr/>
        </p:nvSpPr>
        <p:spPr>
          <a:xfrm>
            <a:off x="5440680" y="2011680"/>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Sit in the advisor's seat; ship a prototype Monday</a:t>
            </a:r>
            <a:endParaRPr lang="en-US" sz="1050" dirty="0"/>
          </a:p>
        </p:txBody>
      </p:sp>
      <p:sp>
        <p:nvSpPr>
          <p:cNvPr id="11" name="Shape 9"/>
          <p:cNvSpPr/>
          <p:nvPr/>
        </p:nvSpPr>
        <p:spPr>
          <a:xfrm>
            <a:off x="731520" y="2468880"/>
            <a:ext cx="7680960" cy="0"/>
          </a:xfrm>
          <a:prstGeom prst="line">
            <a:avLst/>
          </a:prstGeom>
          <a:noFill/>
          <a:ln w="6350">
            <a:solidFill>
              <a:srgbClr val="DDD5C9"/>
            </a:solidFill>
            <a:prstDash val="solid"/>
          </a:ln>
        </p:spPr>
      </p:sp>
      <p:sp>
        <p:nvSpPr>
          <p:cNvPr id="12" name="Text 10"/>
          <p:cNvSpPr/>
          <p:nvPr/>
        </p:nvSpPr>
        <p:spPr>
          <a:xfrm>
            <a:off x="731520" y="2487168"/>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Roadmaps</a:t>
            </a:r>
            <a:endParaRPr lang="en-US" sz="1100" dirty="0"/>
          </a:p>
        </p:txBody>
      </p:sp>
      <p:sp>
        <p:nvSpPr>
          <p:cNvPr id="13" name="Text 11"/>
          <p:cNvSpPr/>
          <p:nvPr/>
        </p:nvSpPr>
        <p:spPr>
          <a:xfrm>
            <a:off x="2103120" y="2487168"/>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Multi-quarter, negotiated with regions</a:t>
            </a:r>
            <a:endParaRPr lang="en-US" sz="1050" dirty="0"/>
          </a:p>
        </p:txBody>
      </p:sp>
      <p:sp>
        <p:nvSpPr>
          <p:cNvPr id="14" name="Text 12"/>
          <p:cNvSpPr/>
          <p:nvPr/>
        </p:nvSpPr>
        <p:spPr>
          <a:xfrm>
            <a:off x="5440680" y="2487168"/>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What survived contact with the field</a:t>
            </a:r>
            <a:endParaRPr lang="en-US" sz="1050" dirty="0"/>
          </a:p>
        </p:txBody>
      </p:sp>
      <p:sp>
        <p:nvSpPr>
          <p:cNvPr id="15" name="Shape 13"/>
          <p:cNvSpPr/>
          <p:nvPr/>
        </p:nvSpPr>
        <p:spPr>
          <a:xfrm>
            <a:off x="731520" y="2944368"/>
            <a:ext cx="7680960" cy="0"/>
          </a:xfrm>
          <a:prstGeom prst="line">
            <a:avLst/>
          </a:prstGeom>
          <a:noFill/>
          <a:ln w="6350">
            <a:solidFill>
              <a:srgbClr val="DDD5C9"/>
            </a:solidFill>
            <a:prstDash val="solid"/>
          </a:ln>
        </p:spPr>
      </p:sp>
      <p:sp>
        <p:nvSpPr>
          <p:cNvPr id="16" name="Text 14"/>
          <p:cNvSpPr/>
          <p:nvPr/>
        </p:nvSpPr>
        <p:spPr>
          <a:xfrm>
            <a:off x="731520" y="2962656"/>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CRM</a:t>
            </a:r>
            <a:endParaRPr lang="en-US" sz="1100" dirty="0"/>
          </a:p>
        </p:txBody>
      </p:sp>
      <p:sp>
        <p:nvSpPr>
          <p:cNvPr id="17" name="Text 15"/>
          <p:cNvSpPr/>
          <p:nvPr/>
        </p:nvSpPr>
        <p:spPr>
          <a:xfrm>
            <a:off x="2103120" y="2962656"/>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"Log the meeting" — a data-entry tax</a:t>
            </a:r>
            <a:endParaRPr lang="en-US" sz="1050" dirty="0"/>
          </a:p>
        </p:txBody>
      </p:sp>
      <p:sp>
        <p:nvSpPr>
          <p:cNvPr id="18" name="Text 16"/>
          <p:cNvSpPr/>
          <p:nvPr/>
        </p:nvSpPr>
        <p:spPr>
          <a:xfrm>
            <a:off x="5440680" y="2962656"/>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Agent listens, drafts; advisor confirms in 30 seconds</a:t>
            </a:r>
            <a:endParaRPr lang="en-US" sz="1050" dirty="0"/>
          </a:p>
        </p:txBody>
      </p:sp>
      <p:sp>
        <p:nvSpPr>
          <p:cNvPr id="19" name="Shape 17"/>
          <p:cNvSpPr/>
          <p:nvPr/>
        </p:nvSpPr>
        <p:spPr>
          <a:xfrm>
            <a:off x="731520" y="3419856"/>
            <a:ext cx="7680960" cy="0"/>
          </a:xfrm>
          <a:prstGeom prst="line">
            <a:avLst/>
          </a:prstGeom>
          <a:noFill/>
          <a:ln w="6350">
            <a:solidFill>
              <a:srgbClr val="DDD5C9"/>
            </a:solidFill>
            <a:prstDash val="solid"/>
          </a:ln>
        </p:spPr>
      </p:sp>
      <p:sp>
        <p:nvSpPr>
          <p:cNvPr id="20" name="Text 18"/>
          <p:cNvSpPr/>
          <p:nvPr/>
        </p:nvSpPr>
        <p:spPr>
          <a:xfrm>
            <a:off x="731520" y="3438144"/>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Analytics</a:t>
            </a:r>
            <a:endParaRPr lang="en-US" sz="1100" dirty="0"/>
          </a:p>
        </p:txBody>
      </p:sp>
      <p:sp>
        <p:nvSpPr>
          <p:cNvPr id="21" name="Text 19"/>
          <p:cNvSpPr/>
          <p:nvPr/>
        </p:nvSpPr>
        <p:spPr>
          <a:xfrm>
            <a:off x="2103120" y="3438144"/>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Static models; quants for what-ifs</a:t>
            </a:r>
            <a:endParaRPr lang="en-US" sz="1050" dirty="0"/>
          </a:p>
        </p:txBody>
      </p:sp>
      <p:sp>
        <p:nvSpPr>
          <p:cNvPr id="22" name="Text 20"/>
          <p:cNvSpPr/>
          <p:nvPr/>
        </p:nvSpPr>
        <p:spPr>
          <a:xfrm>
            <a:off x="5440680" y="3438144"/>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Conversational what-ifs in plain language</a:t>
            </a:r>
            <a:endParaRPr lang="en-US" sz="1050" dirty="0"/>
          </a:p>
        </p:txBody>
      </p:sp>
      <p:sp>
        <p:nvSpPr>
          <p:cNvPr id="23" name="Shape 21"/>
          <p:cNvSpPr/>
          <p:nvPr/>
        </p:nvSpPr>
        <p:spPr>
          <a:xfrm>
            <a:off x="731520" y="3895344"/>
            <a:ext cx="7680960" cy="0"/>
          </a:xfrm>
          <a:prstGeom prst="line">
            <a:avLst/>
          </a:prstGeom>
          <a:noFill/>
          <a:ln w="6350">
            <a:solidFill>
              <a:srgbClr val="DDD5C9"/>
            </a:solidFill>
            <a:prstDash val="solid"/>
          </a:ln>
        </p:spPr>
      </p:sp>
      <p:sp>
        <p:nvSpPr>
          <p:cNvPr id="24" name="Text 22"/>
          <p:cNvSpPr/>
          <p:nvPr/>
        </p:nvSpPr>
        <p:spPr>
          <a:xfrm>
            <a:off x="731520" y="3913632"/>
            <a:ext cx="1325880" cy="438912"/>
          </a:xfrm>
          <a:prstGeom prst="rect">
            <a:avLst/>
          </a:prstGeom>
          <a:noFill/>
          <a:ln/>
        </p:spPr>
        <p:txBody>
          <a:bodyPr wrap="square" lIns="0" tIns="0" rIns="0" bIns="0" rtlCol="0" anchor="ctr"/>
          <a:lstStyle/>
          <a:p>
            <a:pPr indent="0" marL="0">
              <a:buNone/>
            </a:pPr>
            <a:r>
              <a:rPr lang="en-US" sz="1100" i="1" dirty="0">
                <a:solidFill>
                  <a:srgbClr val="2D2D2D"/>
                </a:solidFill>
                <a:latin typeface="Georgia" pitchFamily="34" charset="0"/>
                <a:ea typeface="Georgia" pitchFamily="34" charset="-122"/>
                <a:cs typeface="Georgia" pitchFamily="34" charset="-120"/>
              </a:rPr>
              <a:t>Meeting prep</a:t>
            </a:r>
            <a:endParaRPr lang="en-US" sz="1100" dirty="0"/>
          </a:p>
        </p:txBody>
      </p:sp>
      <p:sp>
        <p:nvSpPr>
          <p:cNvPr id="25" name="Text 23"/>
          <p:cNvSpPr/>
          <p:nvPr/>
        </p:nvSpPr>
        <p:spPr>
          <a:xfrm>
            <a:off x="2103120" y="3913632"/>
            <a:ext cx="3200400" cy="438912"/>
          </a:xfrm>
          <a:prstGeom prst="rect">
            <a:avLst/>
          </a:prstGeom>
          <a:noFill/>
          <a:ln/>
        </p:spPr>
        <p:txBody>
          <a:bodyPr wrap="square" lIns="0" tIns="0" rIns="0" bIns="0" rtlCol="0" anchor="ctr"/>
          <a:lstStyle/>
          <a:p>
            <a:pPr indent="0" marL="0">
              <a:lnSpc>
                <a:spcPct val="125000"/>
              </a:lnSpc>
              <a:buNone/>
            </a:pPr>
            <a:r>
              <a:rPr lang="en-US" sz="1050" dirty="0">
                <a:solidFill>
                  <a:srgbClr val="6B6B6B"/>
                </a:solidFill>
                <a:latin typeface="Calibri" pitchFamily="34" charset="0"/>
                <a:ea typeface="Calibri" pitchFamily="34" charset="-122"/>
                <a:cs typeface="Calibri" pitchFamily="34" charset="-120"/>
              </a:rPr>
              <a:t>4-hour analyst decks per client</a:t>
            </a:r>
            <a:endParaRPr lang="en-US" sz="1050" dirty="0"/>
          </a:p>
        </p:txBody>
      </p:sp>
      <p:sp>
        <p:nvSpPr>
          <p:cNvPr id="26" name="Text 24"/>
          <p:cNvSpPr/>
          <p:nvPr/>
        </p:nvSpPr>
        <p:spPr>
          <a:xfrm>
            <a:off x="5440680" y="3913632"/>
            <a:ext cx="3108960" cy="438912"/>
          </a:xfrm>
          <a:prstGeom prst="rect">
            <a:avLst/>
          </a:prstGeom>
          <a:noFill/>
          <a:ln/>
        </p:spPr>
        <p:txBody>
          <a:bodyPr wrap="square" lIns="0" tIns="0" rIns="0" bIns="0" rtlCol="0" anchor="ctr"/>
          <a:lstStyle/>
          <a:p>
            <a:pPr indent="0" marL="0">
              <a:lnSpc>
                <a:spcPct val="125000"/>
              </a:lnSpc>
              <a:buNone/>
            </a:pPr>
            <a:r>
              <a:rPr lang="en-US" sz="1050" dirty="0">
                <a:solidFill>
                  <a:srgbClr val="2D2D2D"/>
                </a:solidFill>
                <a:latin typeface="Calibri" pitchFamily="34" charset="0"/>
                <a:ea typeface="Calibri" pitchFamily="34" charset="-122"/>
                <a:cs typeface="Calibri" pitchFamily="34" charset="-120"/>
              </a:rPr>
              <a:t>AI-generated; PM owns the eval that says it's right</a:t>
            </a:r>
            <a:endParaRPr lang="en-US" sz="1050" dirty="0"/>
          </a:p>
        </p:txBody>
      </p:sp>
      <p:sp>
        <p:nvSpPr>
          <p:cNvPr id="27" name="Text 25"/>
          <p:cNvSpPr/>
          <p:nvPr/>
        </p:nvSpPr>
        <p:spPr>
          <a:xfrm>
            <a:off x="731520" y="4526280"/>
            <a:ext cx="7680960" cy="548640"/>
          </a:xfrm>
          <a:prstGeom prst="rect">
            <a:avLst/>
          </a:prstGeom>
          <a:noFill/>
          <a:ln/>
        </p:spPr>
        <p:txBody>
          <a:bodyPr wrap="square" lIns="0" tIns="0" rIns="0" bIns="0" rtlCol="0" anchor="ctr"/>
          <a:lstStyle/>
          <a:p>
            <a:pPr algn="ctr" indent="0" marL="0">
              <a:lnSpc>
                <a:spcPct val="130000"/>
              </a:lnSpc>
              <a:buNone/>
            </a:pPr>
            <a:r>
              <a:rPr lang="en-US" sz="1200" i="1" dirty="0">
                <a:solidFill>
                  <a:srgbClr val="1B2A4A"/>
                </a:solidFill>
                <a:latin typeface="Georgia" pitchFamily="34" charset="0"/>
                <a:ea typeface="Georgia" pitchFamily="34" charset="-122"/>
                <a:cs typeface="Georgia" pitchFamily="34" charset="-120"/>
              </a:rPr>
              <a:t>The artifact is no longer the ticket. It's the working prototype.</a:t>
            </a:r>
            <a:endParaRPr lang="en-US" sz="1200" dirty="0"/>
          </a:p>
          <a:p>
            <a:pPr algn="ctr" indent="0" marL="0">
              <a:lnSpc>
                <a:spcPct val="130000"/>
              </a:lnSpc>
              <a:buNone/>
            </a:pPr>
            <a:r>
              <a:rPr lang="en-US" sz="1200" i="1" dirty="0">
                <a:solidFill>
                  <a:srgbClr val="1B2A4A"/>
                </a:solidFill>
                <a:latin typeface="Georgia" pitchFamily="34" charset="0"/>
                <a:ea typeface="Georgia" pitchFamily="34" charset="-122"/>
                <a:cs typeface="Georgia" pitchFamily="34" charset="-120"/>
              </a:rPr>
              <a:t>The PM wins by being closer to advisors than anyone else in the firm.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The trap.</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6576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When building is cheap, restraint is scarce.</a:t>
            </a:r>
            <a:endParaRPr lang="en-US" sz="1400" dirty="0"/>
          </a:p>
        </p:txBody>
      </p:sp>
      <p:sp>
        <p:nvSpPr>
          <p:cNvPr id="5" name="Shape 3"/>
          <p:cNvSpPr/>
          <p:nvPr/>
        </p:nvSpPr>
        <p:spPr>
          <a:xfrm>
            <a:off x="731520" y="1828800"/>
            <a:ext cx="3749040" cy="1691640"/>
          </a:xfrm>
          <a:prstGeom prst="roundRect">
            <a:avLst>
              <a:gd name="adj" fmla="val 5405"/>
            </a:avLst>
          </a:prstGeom>
          <a:solidFill>
            <a:srgbClr val="F9F5F0"/>
          </a:solidFill>
          <a:ln/>
          <a:effectLst>
            <a:outerShdw sx="100000" sy="100000" kx="0" ky="0" algn="bl" rotWithShape="0" blurRad="38100" dist="12700" dir="8100000">
              <a:srgbClr val="000000">
                <a:alpha val="8000"/>
              </a:srgbClr>
            </a:outerShdw>
          </a:effectLst>
        </p:spPr>
      </p:sp>
      <p:sp>
        <p:nvSpPr>
          <p:cNvPr id="6" name="Shape 4"/>
          <p:cNvSpPr/>
          <p:nvPr/>
        </p:nvSpPr>
        <p:spPr>
          <a:xfrm>
            <a:off x="731520" y="1828800"/>
            <a:ext cx="54864" cy="1691640"/>
          </a:xfrm>
          <a:prstGeom prst="rect">
            <a:avLst/>
          </a:prstGeom>
          <a:solidFill>
            <a:srgbClr val="A0824E"/>
          </a:solidFill>
          <a:ln/>
        </p:spPr>
      </p:sp>
      <p:sp>
        <p:nvSpPr>
          <p:cNvPr id="7" name="Text 5"/>
          <p:cNvSpPr/>
          <p:nvPr/>
        </p:nvSpPr>
        <p:spPr>
          <a:xfrm>
            <a:off x="960120" y="1965960"/>
            <a:ext cx="3383280" cy="914400"/>
          </a:xfrm>
          <a:prstGeom prst="rect">
            <a:avLst/>
          </a:prstGeom>
          <a:noFill/>
          <a:ln/>
        </p:spPr>
        <p:txBody>
          <a:bodyPr wrap="square" lIns="0" tIns="0" rIns="0" bIns="0" rtlCol="0" anchor="ctr"/>
          <a:lstStyle/>
          <a:p>
            <a:pPr indent="0" marL="0">
              <a:buNone/>
            </a:pPr>
            <a:r>
              <a:rPr lang="en-US" sz="1800" i="1" dirty="0">
                <a:solidFill>
                  <a:srgbClr val="2D2D2D"/>
                </a:solidFill>
                <a:latin typeface="Georgia" pitchFamily="34" charset="0"/>
                <a:ea typeface="Georgia" pitchFamily="34" charset="-122"/>
                <a:cs typeface="Georgia" pitchFamily="34" charset="-120"/>
              </a:rPr>
              <a:t>"I'm not a producer. I'm a reducer."</a:t>
            </a:r>
            <a:endParaRPr lang="en-US" sz="1800" dirty="0"/>
          </a:p>
        </p:txBody>
      </p:sp>
      <p:sp>
        <p:nvSpPr>
          <p:cNvPr id="8" name="Text 6"/>
          <p:cNvSpPr/>
          <p:nvPr/>
        </p:nvSpPr>
        <p:spPr>
          <a:xfrm>
            <a:off x="960120" y="3017520"/>
            <a:ext cx="3383280" cy="274320"/>
          </a:xfrm>
          <a:prstGeom prst="rect">
            <a:avLst/>
          </a:prstGeom>
          <a:noFill/>
          <a:ln/>
        </p:spPr>
        <p:txBody>
          <a:bodyPr wrap="square" lIns="0" tIns="0" rIns="0" bIns="0" rtlCol="0" anchor="ctr"/>
          <a:lstStyle/>
          <a:p>
            <a:pPr indent="0" marL="0">
              <a:buNone/>
            </a:pPr>
            <a:r>
              <a:rPr lang="en-US" sz="1100" b="1" spc="100" kern="0" dirty="0">
                <a:solidFill>
                  <a:srgbClr val="A0824E"/>
                </a:solidFill>
                <a:latin typeface="Calibri" pitchFamily="34" charset="0"/>
                <a:ea typeface="Calibri" pitchFamily="34" charset="-122"/>
                <a:cs typeface="Calibri" pitchFamily="34" charset="-120"/>
              </a:rPr>
              <a:t>Rick Rubin</a:t>
            </a:r>
            <a:endParaRPr lang="en-US" sz="1100" dirty="0"/>
          </a:p>
        </p:txBody>
      </p:sp>
      <p:sp>
        <p:nvSpPr>
          <p:cNvPr id="9" name="Shape 7"/>
          <p:cNvSpPr/>
          <p:nvPr/>
        </p:nvSpPr>
        <p:spPr>
          <a:xfrm>
            <a:off x="4663440" y="1828800"/>
            <a:ext cx="3749040" cy="1691640"/>
          </a:xfrm>
          <a:prstGeom prst="roundRect">
            <a:avLst>
              <a:gd name="adj" fmla="val 5405"/>
            </a:avLst>
          </a:prstGeom>
          <a:solidFill>
            <a:srgbClr val="F9F5F0"/>
          </a:solidFill>
          <a:ln/>
          <a:effectLst>
            <a:outerShdw sx="100000" sy="100000" kx="0" ky="0" algn="bl" rotWithShape="0" blurRad="38100" dist="12700" dir="8100000">
              <a:srgbClr val="000000">
                <a:alpha val="8000"/>
              </a:srgbClr>
            </a:outerShdw>
          </a:effectLst>
        </p:spPr>
      </p:sp>
      <p:sp>
        <p:nvSpPr>
          <p:cNvPr id="10" name="Shape 8"/>
          <p:cNvSpPr/>
          <p:nvPr/>
        </p:nvSpPr>
        <p:spPr>
          <a:xfrm>
            <a:off x="4663440" y="1828800"/>
            <a:ext cx="54864" cy="1691640"/>
          </a:xfrm>
          <a:prstGeom prst="rect">
            <a:avLst/>
          </a:prstGeom>
          <a:solidFill>
            <a:srgbClr val="A0824E"/>
          </a:solidFill>
          <a:ln/>
        </p:spPr>
      </p:sp>
      <p:sp>
        <p:nvSpPr>
          <p:cNvPr id="11" name="Text 9"/>
          <p:cNvSpPr/>
          <p:nvPr/>
        </p:nvSpPr>
        <p:spPr>
          <a:xfrm>
            <a:off x="4892040" y="1965960"/>
            <a:ext cx="3383280" cy="914400"/>
          </a:xfrm>
          <a:prstGeom prst="rect">
            <a:avLst/>
          </a:prstGeom>
          <a:noFill/>
          <a:ln/>
        </p:spPr>
        <p:txBody>
          <a:bodyPr wrap="square" lIns="0" tIns="0" rIns="0" bIns="0" rtlCol="0" anchor="ctr"/>
          <a:lstStyle/>
          <a:p>
            <a:pPr indent="0" marL="0">
              <a:buNone/>
            </a:pPr>
            <a:r>
              <a:rPr lang="en-US" sz="1800" i="1" dirty="0">
                <a:solidFill>
                  <a:srgbClr val="2D2D2D"/>
                </a:solidFill>
                <a:latin typeface="Georgia" pitchFamily="34" charset="0"/>
                <a:ea typeface="Georgia" pitchFamily="34" charset="-122"/>
                <a:cs typeface="Georgia" pitchFamily="34" charset="-120"/>
              </a:rPr>
              <a:t>"The PM role is product editor."</a:t>
            </a:r>
            <a:endParaRPr lang="en-US" sz="1800" dirty="0"/>
          </a:p>
        </p:txBody>
      </p:sp>
      <p:sp>
        <p:nvSpPr>
          <p:cNvPr id="12" name="Text 10"/>
          <p:cNvSpPr/>
          <p:nvPr/>
        </p:nvSpPr>
        <p:spPr>
          <a:xfrm>
            <a:off x="4892040" y="3017520"/>
            <a:ext cx="3383280" cy="274320"/>
          </a:xfrm>
          <a:prstGeom prst="rect">
            <a:avLst/>
          </a:prstGeom>
          <a:noFill/>
          <a:ln/>
        </p:spPr>
        <p:txBody>
          <a:bodyPr wrap="square" lIns="0" tIns="0" rIns="0" bIns="0" rtlCol="0" anchor="ctr"/>
          <a:lstStyle/>
          <a:p>
            <a:pPr indent="0" marL="0">
              <a:buNone/>
            </a:pPr>
            <a:r>
              <a:rPr lang="en-US" sz="1100" b="1" spc="100" kern="0" dirty="0">
                <a:solidFill>
                  <a:srgbClr val="A0824E"/>
                </a:solidFill>
                <a:latin typeface="Calibri" pitchFamily="34" charset="0"/>
                <a:ea typeface="Calibri" pitchFamily="34" charset="-122"/>
                <a:cs typeface="Calibri" pitchFamily="34" charset="-120"/>
              </a:rPr>
              <a:t>Jack Dorsey</a:t>
            </a:r>
            <a:endParaRPr lang="en-US" sz="1100" dirty="0"/>
          </a:p>
        </p:txBody>
      </p:sp>
      <p:sp>
        <p:nvSpPr>
          <p:cNvPr id="13" name="Text 11"/>
          <p:cNvSpPr/>
          <p:nvPr/>
        </p:nvSpPr>
        <p:spPr>
          <a:xfrm>
            <a:off x="731520" y="3794760"/>
            <a:ext cx="7680960" cy="457200"/>
          </a:xfrm>
          <a:prstGeom prst="rect">
            <a:avLst/>
          </a:prstGeom>
          <a:noFill/>
          <a:ln/>
        </p:spPr>
        <p:txBody>
          <a:bodyPr wrap="square" lIns="0" tIns="0" rIns="0" bIns="0" rtlCol="0" anchor="ctr"/>
          <a:lstStyle/>
          <a:p>
            <a:pPr algn="ctr" indent="0" marL="0">
              <a:buNone/>
            </a:pPr>
            <a:r>
              <a:rPr lang="en-US" sz="1400" dirty="0">
                <a:solidFill>
                  <a:srgbClr val="2D2D2D"/>
                </a:solidFill>
                <a:latin typeface="Calibri" pitchFamily="34" charset="0"/>
                <a:ea typeface="Calibri" pitchFamily="34" charset="-122"/>
                <a:cs typeface="Calibri" pitchFamily="34" charset="-120"/>
              </a:rPr>
              <a:t>Anyone can list ten things to build. The hard work is editing nine of them out.</a:t>
            </a:r>
            <a:endParaRPr lang="en-US" sz="1400" dirty="0"/>
          </a:p>
        </p:txBody>
      </p:sp>
      <p:sp>
        <p:nvSpPr>
          <p:cNvPr id="14" name="Text 12"/>
          <p:cNvSpPr/>
          <p:nvPr/>
        </p:nvSpPr>
        <p:spPr>
          <a:xfrm>
            <a:off x="731520" y="4343400"/>
            <a:ext cx="7680960" cy="640080"/>
          </a:xfrm>
          <a:prstGeom prst="rect">
            <a:avLst/>
          </a:prstGeom>
          <a:noFill/>
          <a:ln/>
        </p:spPr>
        <p:txBody>
          <a:bodyPr wrap="square" lIns="0" tIns="0" rIns="0" bIns="0" rtlCol="0" anchor="ctr"/>
          <a:lstStyle/>
          <a:p>
            <a:pPr algn="ctr" indent="0" marL="0">
              <a:lnSpc>
                <a:spcPct val="130000"/>
              </a:lnSpc>
              <a:buNone/>
            </a:pPr>
            <a:r>
              <a:rPr lang="en-US" sz="1200" i="1" dirty="0">
                <a:solidFill>
                  <a:srgbClr val="6B6B6B"/>
                </a:solidFill>
                <a:latin typeface="Calibri" pitchFamily="34" charset="0"/>
                <a:ea typeface="Calibri" pitchFamily="34" charset="-122"/>
                <a:cs typeface="Calibri" pitchFamily="34" charset="-120"/>
              </a:rPr>
              <a:t>In our category — advisors with fourteen tools open, clients with a thousand other things on their minds — the scarce act is choosing what not to build.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What's now scarce.</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Eight qualities AI cannot give us.</a:t>
            </a:r>
            <a:endParaRPr lang="en-US" sz="1200" dirty="0"/>
          </a:p>
        </p:txBody>
      </p:sp>
      <p:sp>
        <p:nvSpPr>
          <p:cNvPr id="5" name="Shape 3"/>
          <p:cNvSpPr/>
          <p:nvPr/>
        </p:nvSpPr>
        <p:spPr>
          <a:xfrm>
            <a:off x="731520"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6" name="Shape 4"/>
          <p:cNvSpPr/>
          <p:nvPr/>
        </p:nvSpPr>
        <p:spPr>
          <a:xfrm>
            <a:off x="731520" y="1691640"/>
            <a:ext cx="54864" cy="1417320"/>
          </a:xfrm>
          <a:prstGeom prst="rect">
            <a:avLst/>
          </a:prstGeom>
          <a:solidFill>
            <a:srgbClr val="1B2A4A"/>
          </a:solidFill>
          <a:ln/>
        </p:spPr>
      </p:sp>
      <p:sp>
        <p:nvSpPr>
          <p:cNvPr id="7" name="Text 5"/>
          <p:cNvSpPr/>
          <p:nvPr/>
        </p:nvSpPr>
        <p:spPr>
          <a:xfrm>
            <a:off x="896112" y="1856232"/>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Curiosity</a:t>
            </a:r>
            <a:endParaRPr lang="en-US" sz="1400" dirty="0"/>
          </a:p>
        </p:txBody>
      </p:sp>
      <p:sp>
        <p:nvSpPr>
          <p:cNvPr id="8" name="Text 6"/>
          <p:cNvSpPr/>
          <p:nvPr/>
        </p:nvSpPr>
        <p:spPr>
          <a:xfrm>
            <a:off x="896112" y="2286000"/>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A working habit, not a trait.</a:t>
            </a:r>
            <a:endParaRPr lang="en-US" sz="1000" dirty="0"/>
          </a:p>
        </p:txBody>
      </p:sp>
      <p:sp>
        <p:nvSpPr>
          <p:cNvPr id="9" name="Shape 7"/>
          <p:cNvSpPr/>
          <p:nvPr/>
        </p:nvSpPr>
        <p:spPr>
          <a:xfrm>
            <a:off x="2715768"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0" name="Shape 8"/>
          <p:cNvSpPr/>
          <p:nvPr/>
        </p:nvSpPr>
        <p:spPr>
          <a:xfrm>
            <a:off x="2715768" y="1691640"/>
            <a:ext cx="54864" cy="1417320"/>
          </a:xfrm>
          <a:prstGeom prst="rect">
            <a:avLst/>
          </a:prstGeom>
          <a:solidFill>
            <a:srgbClr val="1B2A4A"/>
          </a:solidFill>
          <a:ln/>
        </p:spPr>
      </p:sp>
      <p:sp>
        <p:nvSpPr>
          <p:cNvPr id="11" name="Text 9"/>
          <p:cNvSpPr/>
          <p:nvPr/>
        </p:nvSpPr>
        <p:spPr>
          <a:xfrm>
            <a:off x="2880360" y="1856232"/>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Taste</a:t>
            </a:r>
            <a:endParaRPr lang="en-US" sz="1400" dirty="0"/>
          </a:p>
        </p:txBody>
      </p:sp>
      <p:sp>
        <p:nvSpPr>
          <p:cNvPr id="12" name="Text 10"/>
          <p:cNvSpPr/>
          <p:nvPr/>
        </p:nvSpPr>
        <p:spPr>
          <a:xfrm>
            <a:off x="2880360" y="2286000"/>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Good before you can justify it.</a:t>
            </a:r>
            <a:endParaRPr lang="en-US" sz="1000" dirty="0"/>
          </a:p>
        </p:txBody>
      </p:sp>
      <p:sp>
        <p:nvSpPr>
          <p:cNvPr id="13" name="Shape 11"/>
          <p:cNvSpPr/>
          <p:nvPr/>
        </p:nvSpPr>
        <p:spPr>
          <a:xfrm>
            <a:off x="4700016"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4" name="Shape 12"/>
          <p:cNvSpPr/>
          <p:nvPr/>
        </p:nvSpPr>
        <p:spPr>
          <a:xfrm>
            <a:off x="4700016" y="1691640"/>
            <a:ext cx="54864" cy="1417320"/>
          </a:xfrm>
          <a:prstGeom prst="rect">
            <a:avLst/>
          </a:prstGeom>
          <a:solidFill>
            <a:srgbClr val="1B2A4A"/>
          </a:solidFill>
          <a:ln/>
        </p:spPr>
      </p:sp>
      <p:sp>
        <p:nvSpPr>
          <p:cNvPr id="15" name="Text 13"/>
          <p:cNvSpPr/>
          <p:nvPr/>
        </p:nvSpPr>
        <p:spPr>
          <a:xfrm>
            <a:off x="4864608" y="1856232"/>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Comfort w/ uncertainty</a:t>
            </a:r>
            <a:endParaRPr lang="en-US" sz="1400" dirty="0"/>
          </a:p>
        </p:txBody>
      </p:sp>
      <p:sp>
        <p:nvSpPr>
          <p:cNvPr id="16" name="Text 14"/>
          <p:cNvSpPr/>
          <p:nvPr/>
        </p:nvSpPr>
        <p:spPr>
          <a:xfrm>
            <a:off x="4864608" y="2286000"/>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Decide without the safety of a roadmap.</a:t>
            </a:r>
            <a:endParaRPr lang="en-US" sz="1000" dirty="0"/>
          </a:p>
        </p:txBody>
      </p:sp>
      <p:sp>
        <p:nvSpPr>
          <p:cNvPr id="17" name="Shape 15"/>
          <p:cNvSpPr/>
          <p:nvPr/>
        </p:nvSpPr>
        <p:spPr>
          <a:xfrm>
            <a:off x="6684264"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8" name="Shape 16"/>
          <p:cNvSpPr/>
          <p:nvPr/>
        </p:nvSpPr>
        <p:spPr>
          <a:xfrm>
            <a:off x="6684264" y="1691640"/>
            <a:ext cx="54864" cy="1417320"/>
          </a:xfrm>
          <a:prstGeom prst="rect">
            <a:avLst/>
          </a:prstGeom>
          <a:solidFill>
            <a:srgbClr val="1B2A4A"/>
          </a:solidFill>
          <a:ln/>
        </p:spPr>
      </p:sp>
      <p:sp>
        <p:nvSpPr>
          <p:cNvPr id="19" name="Text 17"/>
          <p:cNvSpPr/>
          <p:nvPr/>
        </p:nvSpPr>
        <p:spPr>
          <a:xfrm>
            <a:off x="6848856" y="1856232"/>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Guts</a:t>
            </a:r>
            <a:endParaRPr lang="en-US" sz="1400" dirty="0"/>
          </a:p>
        </p:txBody>
      </p:sp>
      <p:sp>
        <p:nvSpPr>
          <p:cNvPr id="20" name="Text 18"/>
          <p:cNvSpPr/>
          <p:nvPr/>
        </p:nvSpPr>
        <p:spPr>
          <a:xfrm>
            <a:off x="6848856" y="2286000"/>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Kill features. Push back. Commit.</a:t>
            </a:r>
            <a:endParaRPr lang="en-US" sz="1000" dirty="0"/>
          </a:p>
        </p:txBody>
      </p:sp>
      <p:sp>
        <p:nvSpPr>
          <p:cNvPr id="21" name="Shape 19"/>
          <p:cNvSpPr/>
          <p:nvPr/>
        </p:nvSpPr>
        <p:spPr>
          <a:xfrm>
            <a:off x="731520"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22" name="Shape 20"/>
          <p:cNvSpPr/>
          <p:nvPr/>
        </p:nvSpPr>
        <p:spPr>
          <a:xfrm>
            <a:off x="731520" y="3218688"/>
            <a:ext cx="54864" cy="1417320"/>
          </a:xfrm>
          <a:prstGeom prst="rect">
            <a:avLst/>
          </a:prstGeom>
          <a:solidFill>
            <a:srgbClr val="1B2A4A"/>
          </a:solidFill>
          <a:ln/>
        </p:spPr>
      </p:sp>
      <p:sp>
        <p:nvSpPr>
          <p:cNvPr id="23" name="Text 21"/>
          <p:cNvSpPr/>
          <p:nvPr/>
        </p:nvSpPr>
        <p:spPr>
          <a:xfrm>
            <a:off x="896112" y="3383280"/>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Hands-on instinct</a:t>
            </a:r>
            <a:endParaRPr lang="en-US" sz="1400" dirty="0"/>
          </a:p>
        </p:txBody>
      </p:sp>
      <p:sp>
        <p:nvSpPr>
          <p:cNvPr id="24" name="Text 22"/>
          <p:cNvSpPr/>
          <p:nvPr/>
        </p:nvSpPr>
        <p:spPr>
          <a:xfrm>
            <a:off x="896112" y="3813048"/>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Prototype. Query. Write evals.</a:t>
            </a:r>
            <a:endParaRPr lang="en-US" sz="1000" dirty="0"/>
          </a:p>
        </p:txBody>
      </p:sp>
      <p:sp>
        <p:nvSpPr>
          <p:cNvPr id="25" name="Shape 23"/>
          <p:cNvSpPr/>
          <p:nvPr/>
        </p:nvSpPr>
        <p:spPr>
          <a:xfrm>
            <a:off x="2715768"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26" name="Shape 24"/>
          <p:cNvSpPr/>
          <p:nvPr/>
        </p:nvSpPr>
        <p:spPr>
          <a:xfrm>
            <a:off x="2715768" y="3218688"/>
            <a:ext cx="54864" cy="1417320"/>
          </a:xfrm>
          <a:prstGeom prst="rect">
            <a:avLst/>
          </a:prstGeom>
          <a:solidFill>
            <a:srgbClr val="1B2A4A"/>
          </a:solidFill>
          <a:ln/>
        </p:spPr>
      </p:sp>
      <p:sp>
        <p:nvSpPr>
          <p:cNvPr id="27" name="Text 25"/>
          <p:cNvSpPr/>
          <p:nvPr/>
        </p:nvSpPr>
        <p:spPr>
          <a:xfrm>
            <a:off x="2880360" y="3383280"/>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Advisor obsession</a:t>
            </a:r>
            <a:endParaRPr lang="en-US" sz="1400" dirty="0"/>
          </a:p>
        </p:txBody>
      </p:sp>
      <p:sp>
        <p:nvSpPr>
          <p:cNvPr id="28" name="Text 26"/>
          <p:cNvSpPr/>
          <p:nvPr/>
        </p:nvSpPr>
        <p:spPr>
          <a:xfrm>
            <a:off x="2880360" y="3813048"/>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Time with the humans, not the proxy deck.</a:t>
            </a:r>
            <a:endParaRPr lang="en-US" sz="1000" dirty="0"/>
          </a:p>
        </p:txBody>
      </p:sp>
      <p:sp>
        <p:nvSpPr>
          <p:cNvPr id="29" name="Shape 27"/>
          <p:cNvSpPr/>
          <p:nvPr/>
        </p:nvSpPr>
        <p:spPr>
          <a:xfrm>
            <a:off x="4700016"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30" name="Shape 28"/>
          <p:cNvSpPr/>
          <p:nvPr/>
        </p:nvSpPr>
        <p:spPr>
          <a:xfrm>
            <a:off x="4700016" y="3218688"/>
            <a:ext cx="54864" cy="1417320"/>
          </a:xfrm>
          <a:prstGeom prst="rect">
            <a:avLst/>
          </a:prstGeom>
          <a:solidFill>
            <a:srgbClr val="1B2A4A"/>
          </a:solidFill>
          <a:ln/>
        </p:spPr>
      </p:sp>
      <p:sp>
        <p:nvSpPr>
          <p:cNvPr id="31" name="Text 29"/>
          <p:cNvSpPr/>
          <p:nvPr/>
        </p:nvSpPr>
        <p:spPr>
          <a:xfrm>
            <a:off x="4864608" y="3383280"/>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Intellectual honesty</a:t>
            </a:r>
            <a:endParaRPr lang="en-US" sz="1400" dirty="0"/>
          </a:p>
        </p:txBody>
      </p:sp>
      <p:sp>
        <p:nvSpPr>
          <p:cNvPr id="32" name="Text 30"/>
          <p:cNvSpPr/>
          <p:nvPr/>
        </p:nvSpPr>
        <p:spPr>
          <a:xfrm>
            <a:off x="4864608" y="3813048"/>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Wrong without ego.</a:t>
            </a:r>
            <a:endParaRPr lang="en-US" sz="1000" dirty="0"/>
          </a:p>
        </p:txBody>
      </p:sp>
      <p:sp>
        <p:nvSpPr>
          <p:cNvPr id="33" name="Shape 31"/>
          <p:cNvSpPr/>
          <p:nvPr/>
        </p:nvSpPr>
        <p:spPr>
          <a:xfrm>
            <a:off x="6684264"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34" name="Shape 32"/>
          <p:cNvSpPr/>
          <p:nvPr/>
        </p:nvSpPr>
        <p:spPr>
          <a:xfrm>
            <a:off x="6684264" y="3218688"/>
            <a:ext cx="54864" cy="1417320"/>
          </a:xfrm>
          <a:prstGeom prst="rect">
            <a:avLst/>
          </a:prstGeom>
          <a:solidFill>
            <a:srgbClr val="1B2A4A"/>
          </a:solidFill>
          <a:ln/>
        </p:spPr>
      </p:sp>
      <p:sp>
        <p:nvSpPr>
          <p:cNvPr id="35" name="Text 33"/>
          <p:cNvSpPr/>
          <p:nvPr/>
        </p:nvSpPr>
        <p:spPr>
          <a:xfrm>
            <a:off x="6848856" y="3383280"/>
            <a:ext cx="1600200" cy="411480"/>
          </a:xfrm>
          <a:prstGeom prst="rect">
            <a:avLst/>
          </a:prstGeom>
          <a:noFill/>
          <a:ln/>
        </p:spPr>
        <p:txBody>
          <a:bodyPr wrap="square" lIns="0" tIns="0" rIns="0" bIns="0" rtlCol="0" anchor="ctr"/>
          <a:lstStyle/>
          <a:p>
            <a:pPr indent="0" marL="0">
              <a:buNone/>
            </a:pPr>
            <a:r>
              <a:rPr lang="en-US" sz="1400" i="1" dirty="0">
                <a:solidFill>
                  <a:srgbClr val="1B2A4A"/>
                </a:solidFill>
                <a:latin typeface="Georgia" pitchFamily="34" charset="0"/>
                <a:ea typeface="Georgia" pitchFamily="34" charset="-122"/>
                <a:cs typeface="Georgia" pitchFamily="34" charset="-120"/>
              </a:rPr>
              <a:t>Storytelling</a:t>
            </a:r>
            <a:endParaRPr lang="en-US" sz="1400" dirty="0"/>
          </a:p>
        </p:txBody>
      </p:sp>
      <p:sp>
        <p:nvSpPr>
          <p:cNvPr id="36" name="Text 34"/>
          <p:cNvSpPr/>
          <p:nvPr/>
        </p:nvSpPr>
        <p:spPr>
          <a:xfrm>
            <a:off x="6848856" y="3813048"/>
            <a:ext cx="1600200" cy="731520"/>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Narrative as load-bearing, day one.</a:t>
            </a:r>
            <a:endParaRPr lang="en-US" sz="1000" dirty="0"/>
          </a:p>
        </p:txBody>
      </p:sp>
      <p:sp>
        <p:nvSpPr>
          <p:cNvPr id="37" name="Text 35"/>
          <p:cNvSpPr/>
          <p:nvPr/>
        </p:nvSpPr>
        <p:spPr>
          <a:xfrm>
            <a:off x="731520" y="4709160"/>
            <a:ext cx="7680960" cy="320040"/>
          </a:xfrm>
          <a:prstGeom prst="rect">
            <a:avLst/>
          </a:prstGeom>
          <a:noFill/>
          <a:ln/>
        </p:spPr>
        <p:txBody>
          <a:bodyPr wrap="square" lIns="0" tIns="0" rIns="0" bIns="0" rtlCol="0" anchor="ctr"/>
          <a:lstStyle/>
          <a:p>
            <a:pPr algn="ctr" indent="0" marL="0">
              <a:buNone/>
            </a:pPr>
            <a:r>
              <a:rPr lang="en-US" sz="1200" i="1" dirty="0">
                <a:solidFill>
                  <a:srgbClr val="A0824E"/>
                </a:solidFill>
                <a:latin typeface="Georgia" pitchFamily="34" charset="0"/>
                <a:ea typeface="Georgia" pitchFamily="34" charset="-122"/>
                <a:cs typeface="Georgia" pitchFamily="34" charset="-120"/>
              </a:rPr>
              <a:t>These are what we hire, develop, and promote against now.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600" i="1" dirty="0">
                <a:solidFill>
                  <a:srgbClr val="2D2D2D"/>
                </a:solidFill>
                <a:latin typeface="Georgia" pitchFamily="34" charset="0"/>
                <a:ea typeface="Georgia" pitchFamily="34" charset="-122"/>
                <a:cs typeface="Georgia" pitchFamily="34" charset="-120"/>
              </a:rPr>
              <a:t>What we hire, develop, promote.</a:t>
            </a:r>
            <a:endParaRPr lang="en-US" sz="26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Text 2"/>
          <p:cNvSpPr/>
          <p:nvPr/>
        </p:nvSpPr>
        <p:spPr>
          <a:xfrm>
            <a:off x="731520" y="1188720"/>
            <a:ext cx="7680960" cy="32004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Five commitments to our teams.</a:t>
            </a:r>
            <a:endParaRPr lang="en-US" sz="1200" dirty="0"/>
          </a:p>
        </p:txBody>
      </p:sp>
      <p:sp>
        <p:nvSpPr>
          <p:cNvPr id="5" name="Shape 3"/>
          <p:cNvSpPr/>
          <p:nvPr/>
        </p:nvSpPr>
        <p:spPr>
          <a:xfrm>
            <a:off x="1650492"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6" name="Shape 4"/>
          <p:cNvSpPr/>
          <p:nvPr/>
        </p:nvSpPr>
        <p:spPr>
          <a:xfrm>
            <a:off x="1650492" y="1691640"/>
            <a:ext cx="54864" cy="1417320"/>
          </a:xfrm>
          <a:prstGeom prst="rect">
            <a:avLst/>
          </a:prstGeom>
          <a:solidFill>
            <a:srgbClr val="1B2A4A"/>
          </a:solidFill>
          <a:ln/>
        </p:spPr>
      </p:sp>
      <p:sp>
        <p:nvSpPr>
          <p:cNvPr id="7" name="Text 5"/>
          <p:cNvSpPr/>
          <p:nvPr/>
        </p:nvSpPr>
        <p:spPr>
          <a:xfrm>
            <a:off x="1815084" y="1856232"/>
            <a:ext cx="1600200" cy="457200"/>
          </a:xfrm>
          <a:prstGeom prst="rect">
            <a:avLst/>
          </a:prstGeom>
          <a:noFill/>
          <a:ln/>
        </p:spPr>
        <p:txBody>
          <a:bodyPr wrap="square" lIns="0" tIns="0" rIns="0" bIns="0" rtlCol="0" anchor="ctr"/>
          <a:lstStyle/>
          <a:p>
            <a:pPr indent="0" marL="0">
              <a:lnSpc>
                <a:spcPct val="115000"/>
              </a:lnSpc>
              <a:buNone/>
            </a:pPr>
            <a:r>
              <a:rPr lang="en-US" sz="1400" i="1" dirty="0">
                <a:solidFill>
                  <a:srgbClr val="1B2A4A"/>
                </a:solidFill>
                <a:latin typeface="Georgia" pitchFamily="34" charset="0"/>
                <a:ea typeface="Georgia" pitchFamily="34" charset="-122"/>
                <a:cs typeface="Georgia" pitchFamily="34" charset="-120"/>
              </a:rPr>
              <a:t>Taste over title</a:t>
            </a:r>
            <a:endParaRPr lang="en-US" sz="1400" dirty="0"/>
          </a:p>
        </p:txBody>
      </p:sp>
      <p:sp>
        <p:nvSpPr>
          <p:cNvPr id="8" name="Text 6"/>
          <p:cNvSpPr/>
          <p:nvPr/>
        </p:nvSpPr>
        <p:spPr>
          <a:xfrm>
            <a:off x="1815084" y="2350008"/>
            <a:ext cx="1600200" cy="667512"/>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We hire for product taste, not job description.</a:t>
            </a:r>
            <a:endParaRPr lang="en-US" sz="1000" dirty="0"/>
          </a:p>
        </p:txBody>
      </p:sp>
      <p:sp>
        <p:nvSpPr>
          <p:cNvPr id="9" name="Shape 7"/>
          <p:cNvSpPr/>
          <p:nvPr/>
        </p:nvSpPr>
        <p:spPr>
          <a:xfrm>
            <a:off x="3634740"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0" name="Shape 8"/>
          <p:cNvSpPr/>
          <p:nvPr/>
        </p:nvSpPr>
        <p:spPr>
          <a:xfrm>
            <a:off x="3634740" y="1691640"/>
            <a:ext cx="54864" cy="1417320"/>
          </a:xfrm>
          <a:prstGeom prst="rect">
            <a:avLst/>
          </a:prstGeom>
          <a:solidFill>
            <a:srgbClr val="1B2A4A"/>
          </a:solidFill>
          <a:ln/>
        </p:spPr>
      </p:sp>
      <p:sp>
        <p:nvSpPr>
          <p:cNvPr id="11" name="Text 9"/>
          <p:cNvSpPr/>
          <p:nvPr/>
        </p:nvSpPr>
        <p:spPr>
          <a:xfrm>
            <a:off x="3799332" y="1856232"/>
            <a:ext cx="1600200" cy="457200"/>
          </a:xfrm>
          <a:prstGeom prst="rect">
            <a:avLst/>
          </a:prstGeom>
          <a:noFill/>
          <a:ln/>
        </p:spPr>
        <p:txBody>
          <a:bodyPr wrap="square" lIns="0" tIns="0" rIns="0" bIns="0" rtlCol="0" anchor="ctr"/>
          <a:lstStyle/>
          <a:p>
            <a:pPr indent="0" marL="0">
              <a:lnSpc>
                <a:spcPct val="115000"/>
              </a:lnSpc>
              <a:buNone/>
            </a:pPr>
            <a:r>
              <a:rPr lang="en-US" sz="1400" i="1" dirty="0">
                <a:solidFill>
                  <a:srgbClr val="1B2A4A"/>
                </a:solidFill>
                <a:latin typeface="Georgia" pitchFamily="34" charset="0"/>
                <a:ea typeface="Georgia" pitchFamily="34" charset="-122"/>
                <a:cs typeface="Georgia" pitchFamily="34" charset="-120"/>
              </a:rPr>
              <a:t>Curiosity as habit</a:t>
            </a:r>
            <a:endParaRPr lang="en-US" sz="1400" dirty="0"/>
          </a:p>
        </p:txBody>
      </p:sp>
      <p:sp>
        <p:nvSpPr>
          <p:cNvPr id="12" name="Text 10"/>
          <p:cNvSpPr/>
          <p:nvPr/>
        </p:nvSpPr>
        <p:spPr>
          <a:xfrm>
            <a:off x="3799332" y="2350008"/>
            <a:ext cx="1600200" cy="667512"/>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A working practice, not a personality trait.</a:t>
            </a:r>
            <a:endParaRPr lang="en-US" sz="1000" dirty="0"/>
          </a:p>
        </p:txBody>
      </p:sp>
      <p:sp>
        <p:nvSpPr>
          <p:cNvPr id="13" name="Shape 11"/>
          <p:cNvSpPr/>
          <p:nvPr/>
        </p:nvSpPr>
        <p:spPr>
          <a:xfrm>
            <a:off x="5618988" y="1691640"/>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4" name="Shape 12"/>
          <p:cNvSpPr/>
          <p:nvPr/>
        </p:nvSpPr>
        <p:spPr>
          <a:xfrm>
            <a:off x="5618988" y="1691640"/>
            <a:ext cx="54864" cy="1417320"/>
          </a:xfrm>
          <a:prstGeom prst="rect">
            <a:avLst/>
          </a:prstGeom>
          <a:solidFill>
            <a:srgbClr val="1B2A4A"/>
          </a:solidFill>
          <a:ln/>
        </p:spPr>
      </p:sp>
      <p:sp>
        <p:nvSpPr>
          <p:cNvPr id="15" name="Text 13"/>
          <p:cNvSpPr/>
          <p:nvPr/>
        </p:nvSpPr>
        <p:spPr>
          <a:xfrm>
            <a:off x="5783580" y="1856232"/>
            <a:ext cx="1600200" cy="457200"/>
          </a:xfrm>
          <a:prstGeom prst="rect">
            <a:avLst/>
          </a:prstGeom>
          <a:noFill/>
          <a:ln/>
        </p:spPr>
        <p:txBody>
          <a:bodyPr wrap="square" lIns="0" tIns="0" rIns="0" bIns="0" rtlCol="0" anchor="ctr"/>
          <a:lstStyle/>
          <a:p>
            <a:pPr indent="0" marL="0">
              <a:lnSpc>
                <a:spcPct val="115000"/>
              </a:lnSpc>
              <a:buNone/>
            </a:pPr>
            <a:r>
              <a:rPr lang="en-US" sz="1400" i="1" dirty="0">
                <a:solidFill>
                  <a:srgbClr val="1B2A4A"/>
                </a:solidFill>
                <a:latin typeface="Georgia" pitchFamily="34" charset="0"/>
                <a:ea typeface="Georgia" pitchFamily="34" charset="-122"/>
                <a:cs typeface="Georgia" pitchFamily="34" charset="-120"/>
              </a:rPr>
              <a:t>Editing equals creating</a:t>
            </a:r>
            <a:endParaRPr lang="en-US" sz="1400" dirty="0"/>
          </a:p>
        </p:txBody>
      </p:sp>
      <p:sp>
        <p:nvSpPr>
          <p:cNvPr id="16" name="Text 14"/>
          <p:cNvSpPr/>
          <p:nvPr/>
        </p:nvSpPr>
        <p:spPr>
          <a:xfrm>
            <a:off x="5783580" y="2350008"/>
            <a:ext cx="1600200" cy="667512"/>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Removing the wrong nine ranks with shipping the right one.</a:t>
            </a:r>
            <a:endParaRPr lang="en-US" sz="1000" dirty="0"/>
          </a:p>
        </p:txBody>
      </p:sp>
      <p:sp>
        <p:nvSpPr>
          <p:cNvPr id="17" name="Shape 15"/>
          <p:cNvSpPr/>
          <p:nvPr/>
        </p:nvSpPr>
        <p:spPr>
          <a:xfrm>
            <a:off x="2642616"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18" name="Shape 16"/>
          <p:cNvSpPr/>
          <p:nvPr/>
        </p:nvSpPr>
        <p:spPr>
          <a:xfrm>
            <a:off x="2642616" y="3218688"/>
            <a:ext cx="54864" cy="1417320"/>
          </a:xfrm>
          <a:prstGeom prst="rect">
            <a:avLst/>
          </a:prstGeom>
          <a:solidFill>
            <a:srgbClr val="1B2A4A"/>
          </a:solidFill>
          <a:ln/>
        </p:spPr>
      </p:sp>
      <p:sp>
        <p:nvSpPr>
          <p:cNvPr id="19" name="Text 17"/>
          <p:cNvSpPr/>
          <p:nvPr/>
        </p:nvSpPr>
        <p:spPr>
          <a:xfrm>
            <a:off x="2807208" y="3383280"/>
            <a:ext cx="1600200" cy="457200"/>
          </a:xfrm>
          <a:prstGeom prst="rect">
            <a:avLst/>
          </a:prstGeom>
          <a:noFill/>
          <a:ln/>
        </p:spPr>
        <p:txBody>
          <a:bodyPr wrap="square" lIns="0" tIns="0" rIns="0" bIns="0" rtlCol="0" anchor="ctr"/>
          <a:lstStyle/>
          <a:p>
            <a:pPr indent="0" marL="0">
              <a:lnSpc>
                <a:spcPct val="115000"/>
              </a:lnSpc>
              <a:buNone/>
            </a:pPr>
            <a:r>
              <a:rPr lang="en-US" sz="1400" i="1" dirty="0">
                <a:solidFill>
                  <a:srgbClr val="1B2A4A"/>
                </a:solidFill>
                <a:latin typeface="Georgia" pitchFamily="34" charset="0"/>
                <a:ea typeface="Georgia" pitchFamily="34" charset="-122"/>
                <a:cs typeface="Georgia" pitchFamily="34" charset="-120"/>
              </a:rPr>
              <a:t>Behavior, not features</a:t>
            </a:r>
            <a:endParaRPr lang="en-US" sz="1400" dirty="0"/>
          </a:p>
        </p:txBody>
      </p:sp>
      <p:sp>
        <p:nvSpPr>
          <p:cNvPr id="20" name="Text 18"/>
          <p:cNvSpPr/>
          <p:nvPr/>
        </p:nvSpPr>
        <p:spPr>
          <a:xfrm>
            <a:off x="2807208" y="3877056"/>
            <a:ext cx="1600200" cy="667512"/>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We measure on customer behavior change, not feature count.</a:t>
            </a:r>
            <a:endParaRPr lang="en-US" sz="1000" dirty="0"/>
          </a:p>
        </p:txBody>
      </p:sp>
      <p:sp>
        <p:nvSpPr>
          <p:cNvPr id="21" name="Shape 19"/>
          <p:cNvSpPr/>
          <p:nvPr/>
        </p:nvSpPr>
        <p:spPr>
          <a:xfrm>
            <a:off x="4626864" y="3218688"/>
            <a:ext cx="1874520" cy="1417320"/>
          </a:xfrm>
          <a:prstGeom prst="roundRect">
            <a:avLst>
              <a:gd name="adj" fmla="val 6452"/>
            </a:avLst>
          </a:prstGeom>
          <a:solidFill>
            <a:srgbClr val="F9F5F0"/>
          </a:solidFill>
          <a:ln/>
          <a:effectLst>
            <a:outerShdw sx="100000" sy="100000" kx="0" ky="0" algn="bl" rotWithShape="0" blurRad="38100" dist="12700" dir="8100000">
              <a:srgbClr val="000000">
                <a:alpha val="8000"/>
              </a:srgbClr>
            </a:outerShdw>
          </a:effectLst>
        </p:spPr>
      </p:sp>
      <p:sp>
        <p:nvSpPr>
          <p:cNvPr id="22" name="Shape 20"/>
          <p:cNvSpPr/>
          <p:nvPr/>
        </p:nvSpPr>
        <p:spPr>
          <a:xfrm>
            <a:off x="4626864" y="3218688"/>
            <a:ext cx="54864" cy="1417320"/>
          </a:xfrm>
          <a:prstGeom prst="rect">
            <a:avLst/>
          </a:prstGeom>
          <a:solidFill>
            <a:srgbClr val="1B2A4A"/>
          </a:solidFill>
          <a:ln/>
        </p:spPr>
      </p:sp>
      <p:sp>
        <p:nvSpPr>
          <p:cNvPr id="23" name="Text 21"/>
          <p:cNvSpPr/>
          <p:nvPr/>
        </p:nvSpPr>
        <p:spPr>
          <a:xfrm>
            <a:off x="4791456" y="3383280"/>
            <a:ext cx="1600200" cy="457200"/>
          </a:xfrm>
          <a:prstGeom prst="rect">
            <a:avLst/>
          </a:prstGeom>
          <a:noFill/>
          <a:ln/>
        </p:spPr>
        <p:txBody>
          <a:bodyPr wrap="square" lIns="0" tIns="0" rIns="0" bIns="0" rtlCol="0" anchor="ctr"/>
          <a:lstStyle/>
          <a:p>
            <a:pPr indent="0" marL="0">
              <a:lnSpc>
                <a:spcPct val="115000"/>
              </a:lnSpc>
              <a:buNone/>
            </a:pPr>
            <a:r>
              <a:rPr lang="en-US" sz="1400" i="1" dirty="0">
                <a:solidFill>
                  <a:srgbClr val="1B2A4A"/>
                </a:solidFill>
                <a:latin typeface="Georgia" pitchFamily="34" charset="0"/>
                <a:ea typeface="Georgia" pitchFamily="34" charset="-122"/>
                <a:cs typeface="Georgia" pitchFamily="34" charset="-120"/>
              </a:rPr>
              <a:t>Data-backed pushback</a:t>
            </a:r>
            <a:endParaRPr lang="en-US" sz="1400" dirty="0"/>
          </a:p>
        </p:txBody>
      </p:sp>
      <p:sp>
        <p:nvSpPr>
          <p:cNvPr id="24" name="Text 22"/>
          <p:cNvSpPr/>
          <p:nvPr/>
        </p:nvSpPr>
        <p:spPr>
          <a:xfrm>
            <a:off x="4791456" y="3877056"/>
            <a:ext cx="1600200" cy="667512"/>
          </a:xfrm>
          <a:prstGeom prst="rect">
            <a:avLst/>
          </a:prstGeom>
          <a:noFill/>
          <a:ln/>
        </p:spPr>
        <p:txBody>
          <a:bodyPr wrap="square" lIns="0" tIns="0" rIns="0" bIns="0" rtlCol="0" anchor="ctr"/>
          <a:lstStyle/>
          <a:p>
            <a:pPr indent="0" marL="0">
              <a:lnSpc>
                <a:spcPct val="130000"/>
              </a:lnSpc>
              <a:buNone/>
            </a:pPr>
            <a:r>
              <a:rPr lang="en-US" sz="1000" dirty="0">
                <a:solidFill>
                  <a:srgbClr val="2D2D2D"/>
                </a:solidFill>
                <a:latin typeface="Calibri" pitchFamily="34" charset="0"/>
                <a:ea typeface="Calibri" pitchFamily="34" charset="-122"/>
                <a:cs typeface="Calibri" pitchFamily="34" charset="-120"/>
              </a:rPr>
              <a:t>The highest-status act in a meeting is "here's why I disagree, and here's the evidence."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31520" y="411480"/>
            <a:ext cx="7680960" cy="640080"/>
          </a:xfrm>
          <a:prstGeom prst="rect">
            <a:avLst/>
          </a:prstGeom>
          <a:noFill/>
          <a:ln/>
        </p:spPr>
        <p:txBody>
          <a:bodyPr wrap="square" lIns="0" tIns="0" rIns="0" bIns="0" rtlCol="0" anchor="ctr"/>
          <a:lstStyle/>
          <a:p>
            <a:pPr indent="0" marL="0">
              <a:buNone/>
            </a:pPr>
            <a:r>
              <a:rPr lang="en-US" sz="2800" i="1" dirty="0">
                <a:solidFill>
                  <a:srgbClr val="2D2D2D"/>
                </a:solidFill>
                <a:latin typeface="Georgia" pitchFamily="34" charset="0"/>
                <a:ea typeface="Georgia" pitchFamily="34" charset="-122"/>
                <a:cs typeface="Georgia" pitchFamily="34" charset="-120"/>
              </a:rPr>
              <a:t>What we're optimizing for now.</a:t>
            </a:r>
            <a:endParaRPr lang="en-US" sz="2800" dirty="0"/>
          </a:p>
        </p:txBody>
      </p:sp>
      <p:sp>
        <p:nvSpPr>
          <p:cNvPr id="3" name="Shape 1"/>
          <p:cNvSpPr/>
          <p:nvPr/>
        </p:nvSpPr>
        <p:spPr>
          <a:xfrm>
            <a:off x="731520" y="1051560"/>
            <a:ext cx="7680960" cy="0"/>
          </a:xfrm>
          <a:prstGeom prst="line">
            <a:avLst/>
          </a:prstGeom>
          <a:noFill/>
          <a:ln w="6350">
            <a:solidFill>
              <a:srgbClr val="999999"/>
            </a:solidFill>
            <a:prstDash val="solid"/>
          </a:ln>
        </p:spPr>
      </p:sp>
      <p:sp>
        <p:nvSpPr>
          <p:cNvPr id="4" name="Shape 2"/>
          <p:cNvSpPr/>
          <p:nvPr/>
        </p:nvSpPr>
        <p:spPr>
          <a:xfrm>
            <a:off x="731520" y="1371600"/>
            <a:ext cx="777240" cy="457200"/>
          </a:xfrm>
          <a:prstGeom prst="roundRect">
            <a:avLst>
              <a:gd name="adj" fmla="val 16000"/>
            </a:avLst>
          </a:prstGeom>
          <a:solidFill>
            <a:srgbClr val="6B6B6B"/>
          </a:solidFill>
          <a:ln/>
          <a:effectLst>
            <a:outerShdw sx="100000" sy="100000" kx="0" ky="0" algn="bl" rotWithShape="0" blurRad="38100" dist="12700" dir="8100000">
              <a:srgbClr val="000000">
                <a:alpha val="8000"/>
              </a:srgbClr>
            </a:outerShdw>
          </a:effectLst>
        </p:spPr>
      </p:sp>
      <p:sp>
        <p:nvSpPr>
          <p:cNvPr id="5" name="Text 3"/>
          <p:cNvSpPr/>
          <p:nvPr/>
        </p:nvSpPr>
        <p:spPr>
          <a:xfrm>
            <a:off x="731520" y="137160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a:t>
            </a:r>
            <a:endParaRPr lang="en-US" sz="1000" dirty="0"/>
          </a:p>
        </p:txBody>
      </p:sp>
      <p:sp>
        <p:nvSpPr>
          <p:cNvPr id="6" name="Text 4"/>
          <p:cNvSpPr/>
          <p:nvPr/>
        </p:nvSpPr>
        <p:spPr>
          <a:xfrm>
            <a:off x="1691640" y="1371600"/>
            <a:ext cx="2606040" cy="457200"/>
          </a:xfrm>
          <a:prstGeom prst="rect">
            <a:avLst/>
          </a:prstGeom>
          <a:noFill/>
          <a:ln/>
        </p:spPr>
        <p:txBody>
          <a:bodyPr wrap="square" lIns="0" tIns="0" rIns="0" bIns="0" rtlCol="0" anchor="ctr"/>
          <a:lstStyle/>
          <a:p>
            <a:pPr indent="0" marL="0">
              <a:buNone/>
            </a:pPr>
            <a:r>
              <a:rPr lang="en-US" sz="1600" i="1" dirty="0">
                <a:solidFill>
                  <a:srgbClr val="6B6B6B"/>
                </a:solidFill>
                <a:latin typeface="Georgia" pitchFamily="34" charset="0"/>
                <a:ea typeface="Georgia" pitchFamily="34" charset="-122"/>
                <a:cs typeface="Georgia" pitchFamily="34" charset="-120"/>
              </a:rPr>
              <a:t>roadmap defense</a:t>
            </a:r>
            <a:endParaRPr lang="en-US" sz="1600" dirty="0"/>
          </a:p>
        </p:txBody>
      </p:sp>
      <p:sp>
        <p:nvSpPr>
          <p:cNvPr id="7" name="Shape 5"/>
          <p:cNvSpPr/>
          <p:nvPr/>
        </p:nvSpPr>
        <p:spPr>
          <a:xfrm>
            <a:off x="4480560" y="1371600"/>
            <a:ext cx="777240" cy="457200"/>
          </a:xfrm>
          <a:prstGeom prst="roundRect">
            <a:avLst>
              <a:gd name="adj" fmla="val 16000"/>
            </a:avLst>
          </a:prstGeom>
          <a:solidFill>
            <a:srgbClr val="A0824E"/>
          </a:solidFill>
          <a:ln/>
          <a:effectLst>
            <a:outerShdw sx="100000" sy="100000" kx="0" ky="0" algn="bl" rotWithShape="0" blurRad="38100" dist="12700" dir="8100000">
              <a:srgbClr val="000000">
                <a:alpha val="8000"/>
              </a:srgbClr>
            </a:outerShdw>
          </a:effectLst>
        </p:spPr>
      </p:sp>
      <p:sp>
        <p:nvSpPr>
          <p:cNvPr id="8" name="Text 6"/>
          <p:cNvSpPr/>
          <p:nvPr/>
        </p:nvSpPr>
        <p:spPr>
          <a:xfrm>
            <a:off x="4480560" y="137160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MORE</a:t>
            </a:r>
            <a:endParaRPr lang="en-US" sz="1000" dirty="0"/>
          </a:p>
        </p:txBody>
      </p:sp>
      <p:sp>
        <p:nvSpPr>
          <p:cNvPr id="9" name="Text 7"/>
          <p:cNvSpPr/>
          <p:nvPr/>
        </p:nvSpPr>
        <p:spPr>
          <a:xfrm>
            <a:off x="5440680" y="1371600"/>
            <a:ext cx="2926080" cy="457200"/>
          </a:xfrm>
          <a:prstGeom prst="rect">
            <a:avLst/>
          </a:prstGeom>
          <a:noFill/>
          <a:ln/>
        </p:spPr>
        <p:txBody>
          <a:bodyPr wrap="square" lIns="0" tIns="0" rIns="0" bIns="0" rtlCol="0" anchor="ctr"/>
          <a:lstStyle/>
          <a:p>
            <a:pPr indent="0" marL="0">
              <a:buNone/>
            </a:pPr>
            <a:r>
              <a:rPr lang="en-US" sz="1600" b="1" i="1" dirty="0">
                <a:solidFill>
                  <a:srgbClr val="2D2D2D"/>
                </a:solidFill>
                <a:latin typeface="Georgia" pitchFamily="34" charset="0"/>
                <a:ea typeface="Georgia" pitchFamily="34" charset="-122"/>
                <a:cs typeface="Georgia" pitchFamily="34" charset="-120"/>
              </a:rPr>
              <a:t>prototype velocity</a:t>
            </a:r>
            <a:endParaRPr lang="en-US" sz="1600" dirty="0"/>
          </a:p>
        </p:txBody>
      </p:sp>
      <p:sp>
        <p:nvSpPr>
          <p:cNvPr id="10" name="Shape 8"/>
          <p:cNvSpPr/>
          <p:nvPr/>
        </p:nvSpPr>
        <p:spPr>
          <a:xfrm>
            <a:off x="731520" y="1965960"/>
            <a:ext cx="777240" cy="457200"/>
          </a:xfrm>
          <a:prstGeom prst="roundRect">
            <a:avLst>
              <a:gd name="adj" fmla="val 16000"/>
            </a:avLst>
          </a:prstGeom>
          <a:solidFill>
            <a:srgbClr val="6B6B6B"/>
          </a:solidFill>
          <a:ln/>
          <a:effectLst>
            <a:outerShdw sx="100000" sy="100000" kx="0" ky="0" algn="bl" rotWithShape="0" blurRad="38100" dist="12700" dir="8100000">
              <a:srgbClr val="000000">
                <a:alpha val="8000"/>
              </a:srgbClr>
            </a:outerShdw>
          </a:effectLst>
        </p:spPr>
      </p:sp>
      <p:sp>
        <p:nvSpPr>
          <p:cNvPr id="11" name="Text 9"/>
          <p:cNvSpPr/>
          <p:nvPr/>
        </p:nvSpPr>
        <p:spPr>
          <a:xfrm>
            <a:off x="731520" y="196596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a:t>
            </a:r>
            <a:endParaRPr lang="en-US" sz="1000" dirty="0"/>
          </a:p>
        </p:txBody>
      </p:sp>
      <p:sp>
        <p:nvSpPr>
          <p:cNvPr id="12" name="Text 10"/>
          <p:cNvSpPr/>
          <p:nvPr/>
        </p:nvSpPr>
        <p:spPr>
          <a:xfrm>
            <a:off x="1691640" y="1965960"/>
            <a:ext cx="2606040" cy="457200"/>
          </a:xfrm>
          <a:prstGeom prst="rect">
            <a:avLst/>
          </a:prstGeom>
          <a:noFill/>
          <a:ln/>
        </p:spPr>
        <p:txBody>
          <a:bodyPr wrap="square" lIns="0" tIns="0" rIns="0" bIns="0" rtlCol="0" anchor="ctr"/>
          <a:lstStyle/>
          <a:p>
            <a:pPr indent="0" marL="0">
              <a:buNone/>
            </a:pPr>
            <a:r>
              <a:rPr lang="en-US" sz="1600" i="1" dirty="0">
                <a:solidFill>
                  <a:srgbClr val="6B6B6B"/>
                </a:solidFill>
                <a:latin typeface="Georgia" pitchFamily="34" charset="0"/>
                <a:ea typeface="Georgia" pitchFamily="34" charset="-122"/>
                <a:cs typeface="Georgia" pitchFamily="34" charset="-120"/>
              </a:rPr>
              <a:t>spec writing</a:t>
            </a:r>
            <a:endParaRPr lang="en-US" sz="1600" dirty="0"/>
          </a:p>
        </p:txBody>
      </p:sp>
      <p:sp>
        <p:nvSpPr>
          <p:cNvPr id="13" name="Shape 11"/>
          <p:cNvSpPr/>
          <p:nvPr/>
        </p:nvSpPr>
        <p:spPr>
          <a:xfrm>
            <a:off x="4480560" y="1965960"/>
            <a:ext cx="777240" cy="457200"/>
          </a:xfrm>
          <a:prstGeom prst="roundRect">
            <a:avLst>
              <a:gd name="adj" fmla="val 16000"/>
            </a:avLst>
          </a:prstGeom>
          <a:solidFill>
            <a:srgbClr val="A0824E"/>
          </a:solidFill>
          <a:ln/>
          <a:effectLst>
            <a:outerShdw sx="100000" sy="100000" kx="0" ky="0" algn="bl" rotWithShape="0" blurRad="38100" dist="12700" dir="8100000">
              <a:srgbClr val="000000">
                <a:alpha val="8000"/>
              </a:srgbClr>
            </a:outerShdw>
          </a:effectLst>
        </p:spPr>
      </p:sp>
      <p:sp>
        <p:nvSpPr>
          <p:cNvPr id="14" name="Text 12"/>
          <p:cNvSpPr/>
          <p:nvPr/>
        </p:nvSpPr>
        <p:spPr>
          <a:xfrm>
            <a:off x="4480560" y="196596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MORE</a:t>
            </a:r>
            <a:endParaRPr lang="en-US" sz="1000" dirty="0"/>
          </a:p>
        </p:txBody>
      </p:sp>
      <p:sp>
        <p:nvSpPr>
          <p:cNvPr id="15" name="Text 13"/>
          <p:cNvSpPr/>
          <p:nvPr/>
        </p:nvSpPr>
        <p:spPr>
          <a:xfrm>
            <a:off x="5440680" y="1965960"/>
            <a:ext cx="2926080" cy="457200"/>
          </a:xfrm>
          <a:prstGeom prst="rect">
            <a:avLst/>
          </a:prstGeom>
          <a:noFill/>
          <a:ln/>
        </p:spPr>
        <p:txBody>
          <a:bodyPr wrap="square" lIns="0" tIns="0" rIns="0" bIns="0" rtlCol="0" anchor="ctr"/>
          <a:lstStyle/>
          <a:p>
            <a:pPr indent="0" marL="0">
              <a:buNone/>
            </a:pPr>
            <a:r>
              <a:rPr lang="en-US" sz="1600" b="1" i="1" dirty="0">
                <a:solidFill>
                  <a:srgbClr val="2D2D2D"/>
                </a:solidFill>
                <a:latin typeface="Georgia" pitchFamily="34" charset="0"/>
                <a:ea typeface="Georgia" pitchFamily="34" charset="-122"/>
                <a:cs typeface="Georgia" pitchFamily="34" charset="-120"/>
              </a:rPr>
              <a:t>eval writing</a:t>
            </a:r>
            <a:endParaRPr lang="en-US" sz="1600" dirty="0"/>
          </a:p>
        </p:txBody>
      </p:sp>
      <p:sp>
        <p:nvSpPr>
          <p:cNvPr id="16" name="Shape 14"/>
          <p:cNvSpPr/>
          <p:nvPr/>
        </p:nvSpPr>
        <p:spPr>
          <a:xfrm>
            <a:off x="731520" y="2560320"/>
            <a:ext cx="777240" cy="457200"/>
          </a:xfrm>
          <a:prstGeom prst="roundRect">
            <a:avLst>
              <a:gd name="adj" fmla="val 16000"/>
            </a:avLst>
          </a:prstGeom>
          <a:solidFill>
            <a:srgbClr val="6B6B6B"/>
          </a:solidFill>
          <a:ln/>
          <a:effectLst>
            <a:outerShdw sx="100000" sy="100000" kx="0" ky="0" algn="bl" rotWithShape="0" blurRad="38100" dist="12700" dir="8100000">
              <a:srgbClr val="000000">
                <a:alpha val="8000"/>
              </a:srgbClr>
            </a:outerShdw>
          </a:effectLst>
        </p:spPr>
      </p:sp>
      <p:sp>
        <p:nvSpPr>
          <p:cNvPr id="17" name="Text 15"/>
          <p:cNvSpPr/>
          <p:nvPr/>
        </p:nvSpPr>
        <p:spPr>
          <a:xfrm>
            <a:off x="731520" y="256032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a:t>
            </a:r>
            <a:endParaRPr lang="en-US" sz="1000" dirty="0"/>
          </a:p>
        </p:txBody>
      </p:sp>
      <p:sp>
        <p:nvSpPr>
          <p:cNvPr id="18" name="Text 16"/>
          <p:cNvSpPr/>
          <p:nvPr/>
        </p:nvSpPr>
        <p:spPr>
          <a:xfrm>
            <a:off x="1691640" y="2560320"/>
            <a:ext cx="2606040" cy="457200"/>
          </a:xfrm>
          <a:prstGeom prst="rect">
            <a:avLst/>
          </a:prstGeom>
          <a:noFill/>
          <a:ln/>
        </p:spPr>
        <p:txBody>
          <a:bodyPr wrap="square" lIns="0" tIns="0" rIns="0" bIns="0" rtlCol="0" anchor="ctr"/>
          <a:lstStyle/>
          <a:p>
            <a:pPr indent="0" marL="0">
              <a:buNone/>
            </a:pPr>
            <a:r>
              <a:rPr lang="en-US" sz="1600" i="1" dirty="0">
                <a:solidFill>
                  <a:srgbClr val="6B6B6B"/>
                </a:solidFill>
                <a:latin typeface="Georgia" pitchFamily="34" charset="0"/>
                <a:ea typeface="Georgia" pitchFamily="34" charset="-122"/>
                <a:cs typeface="Georgia" pitchFamily="34" charset="-120"/>
              </a:rPr>
              <a:t>feature counting</a:t>
            </a:r>
            <a:endParaRPr lang="en-US" sz="1600" dirty="0"/>
          </a:p>
        </p:txBody>
      </p:sp>
      <p:sp>
        <p:nvSpPr>
          <p:cNvPr id="19" name="Shape 17"/>
          <p:cNvSpPr/>
          <p:nvPr/>
        </p:nvSpPr>
        <p:spPr>
          <a:xfrm>
            <a:off x="4480560" y="2560320"/>
            <a:ext cx="777240" cy="457200"/>
          </a:xfrm>
          <a:prstGeom prst="roundRect">
            <a:avLst>
              <a:gd name="adj" fmla="val 16000"/>
            </a:avLst>
          </a:prstGeom>
          <a:solidFill>
            <a:srgbClr val="A0824E"/>
          </a:solidFill>
          <a:ln/>
          <a:effectLst>
            <a:outerShdw sx="100000" sy="100000" kx="0" ky="0" algn="bl" rotWithShape="0" blurRad="38100" dist="12700" dir="8100000">
              <a:srgbClr val="000000">
                <a:alpha val="8000"/>
              </a:srgbClr>
            </a:outerShdw>
          </a:effectLst>
        </p:spPr>
      </p:sp>
      <p:sp>
        <p:nvSpPr>
          <p:cNvPr id="20" name="Text 18"/>
          <p:cNvSpPr/>
          <p:nvPr/>
        </p:nvSpPr>
        <p:spPr>
          <a:xfrm>
            <a:off x="4480560" y="256032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MORE</a:t>
            </a:r>
            <a:endParaRPr lang="en-US" sz="1000" dirty="0"/>
          </a:p>
        </p:txBody>
      </p:sp>
      <p:sp>
        <p:nvSpPr>
          <p:cNvPr id="21" name="Text 19"/>
          <p:cNvSpPr/>
          <p:nvPr/>
        </p:nvSpPr>
        <p:spPr>
          <a:xfrm>
            <a:off x="5440680" y="2560320"/>
            <a:ext cx="2926080" cy="457200"/>
          </a:xfrm>
          <a:prstGeom prst="rect">
            <a:avLst/>
          </a:prstGeom>
          <a:noFill/>
          <a:ln/>
        </p:spPr>
        <p:txBody>
          <a:bodyPr wrap="square" lIns="0" tIns="0" rIns="0" bIns="0" rtlCol="0" anchor="ctr"/>
          <a:lstStyle/>
          <a:p>
            <a:pPr indent="0" marL="0">
              <a:buNone/>
            </a:pPr>
            <a:r>
              <a:rPr lang="en-US" sz="1600" b="1" i="1" dirty="0">
                <a:solidFill>
                  <a:srgbClr val="2D2D2D"/>
                </a:solidFill>
                <a:latin typeface="Georgia" pitchFamily="34" charset="0"/>
                <a:ea typeface="Georgia" pitchFamily="34" charset="-122"/>
                <a:cs typeface="Georgia" pitchFamily="34" charset="-120"/>
              </a:rPr>
              <a:t>behavior change</a:t>
            </a:r>
            <a:endParaRPr lang="en-US" sz="1600" dirty="0"/>
          </a:p>
        </p:txBody>
      </p:sp>
      <p:sp>
        <p:nvSpPr>
          <p:cNvPr id="22" name="Shape 20"/>
          <p:cNvSpPr/>
          <p:nvPr/>
        </p:nvSpPr>
        <p:spPr>
          <a:xfrm>
            <a:off x="731520" y="3154680"/>
            <a:ext cx="777240" cy="457200"/>
          </a:xfrm>
          <a:prstGeom prst="roundRect">
            <a:avLst>
              <a:gd name="adj" fmla="val 16000"/>
            </a:avLst>
          </a:prstGeom>
          <a:solidFill>
            <a:srgbClr val="6B6B6B"/>
          </a:solidFill>
          <a:ln/>
          <a:effectLst>
            <a:outerShdw sx="100000" sy="100000" kx="0" ky="0" algn="bl" rotWithShape="0" blurRad="38100" dist="12700" dir="8100000">
              <a:srgbClr val="000000">
                <a:alpha val="8000"/>
              </a:srgbClr>
            </a:outerShdw>
          </a:effectLst>
        </p:spPr>
      </p:sp>
      <p:sp>
        <p:nvSpPr>
          <p:cNvPr id="23" name="Text 21"/>
          <p:cNvSpPr/>
          <p:nvPr/>
        </p:nvSpPr>
        <p:spPr>
          <a:xfrm>
            <a:off x="731520" y="315468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a:t>
            </a:r>
            <a:endParaRPr lang="en-US" sz="1000" dirty="0"/>
          </a:p>
        </p:txBody>
      </p:sp>
      <p:sp>
        <p:nvSpPr>
          <p:cNvPr id="24" name="Text 22"/>
          <p:cNvSpPr/>
          <p:nvPr/>
        </p:nvSpPr>
        <p:spPr>
          <a:xfrm>
            <a:off x="1691640" y="3154680"/>
            <a:ext cx="2606040" cy="457200"/>
          </a:xfrm>
          <a:prstGeom prst="rect">
            <a:avLst/>
          </a:prstGeom>
          <a:noFill/>
          <a:ln/>
        </p:spPr>
        <p:txBody>
          <a:bodyPr wrap="square" lIns="0" tIns="0" rIns="0" bIns="0" rtlCol="0" anchor="ctr"/>
          <a:lstStyle/>
          <a:p>
            <a:pPr indent="0" marL="0">
              <a:buNone/>
            </a:pPr>
            <a:r>
              <a:rPr lang="en-US" sz="1600" i="1" dirty="0">
                <a:solidFill>
                  <a:srgbClr val="6B6B6B"/>
                </a:solidFill>
                <a:latin typeface="Georgia" pitchFamily="34" charset="0"/>
                <a:ea typeface="Georgia" pitchFamily="34" charset="-122"/>
                <a:cs typeface="Georgia" pitchFamily="34" charset="-120"/>
              </a:rPr>
              <a:t>consensus</a:t>
            </a:r>
            <a:endParaRPr lang="en-US" sz="1600" dirty="0"/>
          </a:p>
        </p:txBody>
      </p:sp>
      <p:sp>
        <p:nvSpPr>
          <p:cNvPr id="25" name="Shape 23"/>
          <p:cNvSpPr/>
          <p:nvPr/>
        </p:nvSpPr>
        <p:spPr>
          <a:xfrm>
            <a:off x="4480560" y="3154680"/>
            <a:ext cx="777240" cy="457200"/>
          </a:xfrm>
          <a:prstGeom prst="roundRect">
            <a:avLst>
              <a:gd name="adj" fmla="val 16000"/>
            </a:avLst>
          </a:prstGeom>
          <a:solidFill>
            <a:srgbClr val="A0824E"/>
          </a:solidFill>
          <a:ln/>
          <a:effectLst>
            <a:outerShdw sx="100000" sy="100000" kx="0" ky="0" algn="bl" rotWithShape="0" blurRad="38100" dist="12700" dir="8100000">
              <a:srgbClr val="000000">
                <a:alpha val="8000"/>
              </a:srgbClr>
            </a:outerShdw>
          </a:effectLst>
        </p:spPr>
      </p:sp>
      <p:sp>
        <p:nvSpPr>
          <p:cNvPr id="26" name="Text 24"/>
          <p:cNvSpPr/>
          <p:nvPr/>
        </p:nvSpPr>
        <p:spPr>
          <a:xfrm>
            <a:off x="4480560" y="315468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MORE</a:t>
            </a:r>
            <a:endParaRPr lang="en-US" sz="1000" dirty="0"/>
          </a:p>
        </p:txBody>
      </p:sp>
      <p:sp>
        <p:nvSpPr>
          <p:cNvPr id="27" name="Text 25"/>
          <p:cNvSpPr/>
          <p:nvPr/>
        </p:nvSpPr>
        <p:spPr>
          <a:xfrm>
            <a:off x="5440680" y="3154680"/>
            <a:ext cx="2926080" cy="457200"/>
          </a:xfrm>
          <a:prstGeom prst="rect">
            <a:avLst/>
          </a:prstGeom>
          <a:noFill/>
          <a:ln/>
        </p:spPr>
        <p:txBody>
          <a:bodyPr wrap="square" lIns="0" tIns="0" rIns="0" bIns="0" rtlCol="0" anchor="ctr"/>
          <a:lstStyle/>
          <a:p>
            <a:pPr indent="0" marL="0">
              <a:buNone/>
            </a:pPr>
            <a:r>
              <a:rPr lang="en-US" sz="1600" b="1" i="1" dirty="0">
                <a:solidFill>
                  <a:srgbClr val="2D2D2D"/>
                </a:solidFill>
                <a:latin typeface="Georgia" pitchFamily="34" charset="0"/>
                <a:ea typeface="Georgia" pitchFamily="34" charset="-122"/>
                <a:cs typeface="Georgia" pitchFamily="34" charset="-120"/>
              </a:rPr>
              <a:t>conviction</a:t>
            </a:r>
            <a:endParaRPr lang="en-US" sz="1600" dirty="0"/>
          </a:p>
        </p:txBody>
      </p:sp>
      <p:sp>
        <p:nvSpPr>
          <p:cNvPr id="28" name="Shape 26"/>
          <p:cNvSpPr/>
          <p:nvPr/>
        </p:nvSpPr>
        <p:spPr>
          <a:xfrm>
            <a:off x="731520" y="3749040"/>
            <a:ext cx="777240" cy="457200"/>
          </a:xfrm>
          <a:prstGeom prst="roundRect">
            <a:avLst>
              <a:gd name="adj" fmla="val 16000"/>
            </a:avLst>
          </a:prstGeom>
          <a:solidFill>
            <a:srgbClr val="6B6B6B"/>
          </a:solidFill>
          <a:ln/>
          <a:effectLst>
            <a:outerShdw sx="100000" sy="100000" kx="0" ky="0" algn="bl" rotWithShape="0" blurRad="38100" dist="12700" dir="8100000">
              <a:srgbClr val="000000">
                <a:alpha val="8000"/>
              </a:srgbClr>
            </a:outerShdw>
          </a:effectLst>
        </p:spPr>
      </p:sp>
      <p:sp>
        <p:nvSpPr>
          <p:cNvPr id="29" name="Text 27"/>
          <p:cNvSpPr/>
          <p:nvPr/>
        </p:nvSpPr>
        <p:spPr>
          <a:xfrm>
            <a:off x="731520" y="374904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a:t>
            </a:r>
            <a:endParaRPr lang="en-US" sz="1000" dirty="0"/>
          </a:p>
        </p:txBody>
      </p:sp>
      <p:sp>
        <p:nvSpPr>
          <p:cNvPr id="30" name="Text 28"/>
          <p:cNvSpPr/>
          <p:nvPr/>
        </p:nvSpPr>
        <p:spPr>
          <a:xfrm>
            <a:off x="1691640" y="3749040"/>
            <a:ext cx="2606040" cy="457200"/>
          </a:xfrm>
          <a:prstGeom prst="rect">
            <a:avLst/>
          </a:prstGeom>
          <a:noFill/>
          <a:ln/>
        </p:spPr>
        <p:txBody>
          <a:bodyPr wrap="square" lIns="0" tIns="0" rIns="0" bIns="0" rtlCol="0" anchor="ctr"/>
          <a:lstStyle/>
          <a:p>
            <a:pPr indent="0" marL="0">
              <a:buNone/>
            </a:pPr>
            <a:r>
              <a:rPr lang="en-US" sz="1600" i="1" dirty="0">
                <a:solidFill>
                  <a:srgbClr val="6B6B6B"/>
                </a:solidFill>
                <a:latin typeface="Georgia" pitchFamily="34" charset="0"/>
                <a:ea typeface="Georgia" pitchFamily="34" charset="-122"/>
                <a:cs typeface="Georgia" pitchFamily="34" charset="-120"/>
              </a:rPr>
              <a:t>proxy research</a:t>
            </a:r>
            <a:endParaRPr lang="en-US" sz="1600" dirty="0"/>
          </a:p>
        </p:txBody>
      </p:sp>
      <p:sp>
        <p:nvSpPr>
          <p:cNvPr id="31" name="Shape 29"/>
          <p:cNvSpPr/>
          <p:nvPr/>
        </p:nvSpPr>
        <p:spPr>
          <a:xfrm>
            <a:off x="4480560" y="3749040"/>
            <a:ext cx="777240" cy="457200"/>
          </a:xfrm>
          <a:prstGeom prst="roundRect">
            <a:avLst>
              <a:gd name="adj" fmla="val 16000"/>
            </a:avLst>
          </a:prstGeom>
          <a:solidFill>
            <a:srgbClr val="A0824E"/>
          </a:solidFill>
          <a:ln/>
          <a:effectLst>
            <a:outerShdw sx="100000" sy="100000" kx="0" ky="0" algn="bl" rotWithShape="0" blurRad="38100" dist="12700" dir="8100000">
              <a:srgbClr val="000000">
                <a:alpha val="8000"/>
              </a:srgbClr>
            </a:outerShdw>
          </a:effectLst>
        </p:spPr>
      </p:sp>
      <p:sp>
        <p:nvSpPr>
          <p:cNvPr id="32" name="Text 30"/>
          <p:cNvSpPr/>
          <p:nvPr/>
        </p:nvSpPr>
        <p:spPr>
          <a:xfrm>
            <a:off x="4480560" y="3749040"/>
            <a:ext cx="777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MORE</a:t>
            </a:r>
            <a:endParaRPr lang="en-US" sz="1000" dirty="0"/>
          </a:p>
        </p:txBody>
      </p:sp>
      <p:sp>
        <p:nvSpPr>
          <p:cNvPr id="33" name="Text 31"/>
          <p:cNvSpPr/>
          <p:nvPr/>
        </p:nvSpPr>
        <p:spPr>
          <a:xfrm>
            <a:off x="5440680" y="3749040"/>
            <a:ext cx="2926080" cy="457200"/>
          </a:xfrm>
          <a:prstGeom prst="rect">
            <a:avLst/>
          </a:prstGeom>
          <a:noFill/>
          <a:ln/>
        </p:spPr>
        <p:txBody>
          <a:bodyPr wrap="square" lIns="0" tIns="0" rIns="0" bIns="0" rtlCol="0" anchor="ctr"/>
          <a:lstStyle/>
          <a:p>
            <a:pPr indent="0" marL="0">
              <a:buNone/>
            </a:pPr>
            <a:r>
              <a:rPr lang="en-US" sz="1600" b="1" i="1" dirty="0">
                <a:solidFill>
                  <a:srgbClr val="2D2D2D"/>
                </a:solidFill>
                <a:latin typeface="Georgia" pitchFamily="34" charset="0"/>
                <a:ea typeface="Georgia" pitchFamily="34" charset="-122"/>
                <a:cs typeface="Georgia" pitchFamily="34" charset="-120"/>
              </a:rPr>
              <a:t>advisor seat-time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548640" y="1874520"/>
            <a:ext cx="8046720" cy="822960"/>
          </a:xfrm>
          <a:prstGeom prst="rect">
            <a:avLst/>
          </a:prstGeom>
          <a:noFill/>
          <a:ln/>
        </p:spPr>
        <p:txBody>
          <a:bodyPr wrap="square" lIns="0" tIns="0" rIns="0" bIns="0" rtlCol="0" anchor="ctr"/>
          <a:lstStyle/>
          <a:p>
            <a:pPr algn="ctr" indent="0" marL="0">
              <a:buNone/>
            </a:pPr>
            <a:r>
              <a:rPr lang="en-US" sz="3800" i="1" dirty="0">
                <a:solidFill>
                  <a:srgbClr val="2D2D2D"/>
                </a:solidFill>
                <a:latin typeface="Georgia" pitchFamily="34" charset="0"/>
                <a:ea typeface="Georgia" pitchFamily="34" charset="-122"/>
                <a:cs typeface="Georgia" pitchFamily="34" charset="-120"/>
              </a:rPr>
              <a:t>Building is no longer hard.</a:t>
            </a:r>
            <a:endParaRPr lang="en-US" sz="3800" dirty="0"/>
          </a:p>
        </p:txBody>
      </p:sp>
      <p:sp>
        <p:nvSpPr>
          <p:cNvPr id="3" name="Text 1"/>
          <p:cNvSpPr/>
          <p:nvPr/>
        </p:nvSpPr>
        <p:spPr>
          <a:xfrm>
            <a:off x="548640" y="2697480"/>
            <a:ext cx="8046720" cy="822960"/>
          </a:xfrm>
          <a:prstGeom prst="rect">
            <a:avLst/>
          </a:prstGeom>
          <a:noFill/>
          <a:ln/>
        </p:spPr>
        <p:txBody>
          <a:bodyPr wrap="square" lIns="0" tIns="0" rIns="0" bIns="0" rtlCol="0" anchor="ctr"/>
          <a:lstStyle/>
          <a:p>
            <a:pPr algn="ctr" indent="0" marL="0">
              <a:buNone/>
            </a:pPr>
            <a:r>
              <a:rPr lang="en-US" sz="3800" i="1" dirty="0">
                <a:solidFill>
                  <a:srgbClr val="2D2D2D"/>
                </a:solidFill>
                <a:latin typeface="Georgia" pitchFamily="34" charset="0"/>
                <a:ea typeface="Georgia" pitchFamily="34" charset="-122"/>
                <a:cs typeface="Georgia" pitchFamily="34" charset="-120"/>
              </a:rPr>
              <a:t>Choosing is.</a:t>
            </a:r>
            <a:endParaRPr lang="en-US" sz="3800" dirty="0"/>
          </a:p>
        </p:txBody>
      </p:sp>
      <p:sp>
        <p:nvSpPr>
          <p:cNvPr id="4" name="Shape 2"/>
          <p:cNvSpPr/>
          <p:nvPr/>
        </p:nvSpPr>
        <p:spPr>
          <a:xfrm>
            <a:off x="4114800" y="3794760"/>
            <a:ext cx="914400" cy="0"/>
          </a:xfrm>
          <a:prstGeom prst="line">
            <a:avLst/>
          </a:prstGeom>
          <a:noFill/>
          <a:ln w="19050">
            <a:solidFill>
              <a:srgbClr val="A0824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the Future of Product</dc:title>
  <dc:subject>PptxGenJS Presentation</dc:subject>
  <dc:creator>Mo</dc:creator>
  <cp:lastModifiedBy>Mo</cp:lastModifiedBy>
  <cp:revision>1</cp:revision>
  <dcterms:created xsi:type="dcterms:W3CDTF">2026-05-13T15:57:52Z</dcterms:created>
  <dcterms:modified xsi:type="dcterms:W3CDTF">2026-05-13T15:57:52Z</dcterms:modified>
</cp:coreProperties>
</file>