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the Impact of 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 &amp; Scale Framework for the Solutions Portfolio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1828800" cy="0"/>
          </a:xfrm>
          <a:prstGeom prst="line">
            <a:avLst/>
          </a:prstGeom>
          <a:noFill/>
          <a:ln w="19050">
            <a:solidFill>
              <a:srgbClr val="A082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00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Off-Site  ·  Managing Director Briefing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Leadership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 now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Solutions team has AI ideas in flight. We need one lens to prioritize them — and one way to measure what worked.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65960"/>
            <a:ext cx="54864" cy="11887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75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very different P&amp;Ls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423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teams earn by processing volume reliably. Insight teams earn by surfacing better ideas. One ROI number flattens both.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96596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965960"/>
            <a:ext cx="54864" cy="11887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2075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is a budget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2423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frees an FTE, the business head decides what to do with it. That choice should be deliberate — not made by inertia.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291840"/>
            <a:ext cx="54864" cy="11887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401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Adoption is the bottleneck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3749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Grow ideas fail at the Advisor channel, not the model. Adoption has to be scored, not assumed.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329184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291840"/>
            <a:ext cx="54864" cy="11887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401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Discipline beats novelty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83480" y="3749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is interesting only if it moves a Grow or Scale metric. "We used an LLM" is not a value proposition.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  ·  AI Impact Framework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68096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thesis: Grow, Scale, or both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evaluate every initiative on two axes. Each declares its dominant face — and where the two interact.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28800"/>
            <a:ext cx="54864" cy="237744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revenue &amp; relationship axis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initiative…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generate incremental revenue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deepen the client relationship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raise share of wallet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surface ideas we'd otherwise miss?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828800"/>
            <a:ext cx="54864" cy="23774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capacity &amp; unit-economics axis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26060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initiative…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unlock FTE-equivalent capacity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compress cycle time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lift straight-through processing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reduce errors and unit cost?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wins fund Grow bets. Capacity unlocked is optionality.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  ·  AI Impact Framework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68096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framework on one page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3444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34440"/>
            <a:ext cx="54864" cy="164592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 more, deepen, surface ideas.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9659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(30) · Deepening (20) · Hit rate (15)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adoption (20) · Client experience (15)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34440"/>
            <a:ext cx="54864" cy="1645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Capacity, cycle time, unit economics.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9659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(30) · Cycle time (20) · STP (20)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(15) · Unit cost (15)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F4EDE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017520"/>
            <a:ext cx="54864" cy="77724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09067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wins fund Grow bets.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3832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Mortgage compresses 60 days to near-zero, the freed capacity is the budget for next-gen deepening, the Lending Insight platform, or absorbing growth. The business head chooses — deliberately.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3657600" cy="777240"/>
          </a:xfrm>
          <a:prstGeom prst="roundRect">
            <a:avLst>
              <a:gd name="adj" fmla="val 11765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931920"/>
            <a:ext cx="54864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9867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8680" y="4206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Productive Yield per FTE  ·  PY/FTE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3931920"/>
            <a:ext cx="3657600" cy="777240"/>
          </a:xfrm>
          <a:prstGeom prst="roundRect">
            <a:avLst>
              <a:gd name="adj" fmla="val 11765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931920"/>
            <a:ext cx="54864" cy="77724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9867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 of the 2x2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92040" y="4206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 Wins — both axes light up. Fund first.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  ·  AI Impact Framework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68096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 — what we mean, and what counts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value flows through the Advisor channel. It is realized in fee revenue, NII, AUM growth, and multi-generational retention.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28800"/>
            <a:ext cx="54864" cy="50292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901952"/>
            <a:ext cx="640080" cy="365760"/>
          </a:xfrm>
          <a:prstGeom prst="roundRect">
            <a:avLst>
              <a:gd name="adj" fmla="val 30000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9019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8928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Incremental revenue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23360" y="18928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or attributable uplift — fees, NII, transaction revenue, new AUM.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395728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395728"/>
            <a:ext cx="54864" cy="50292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2468880"/>
            <a:ext cx="640080" cy="365760"/>
          </a:xfrm>
          <a:prstGeom prst="roundRect">
            <a:avLst>
              <a:gd name="adj" fmla="val 30000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2468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24597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Deepening rate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23360" y="24597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in products-per-client, balances, or measured wallet share.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2962656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2962656"/>
            <a:ext cx="54864" cy="50292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3035808"/>
            <a:ext cx="640080" cy="365760"/>
          </a:xfrm>
          <a:prstGeom prst="roundRect">
            <a:avLst>
              <a:gd name="adj" fmla="val 30000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30358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91640" y="30266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 adoption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23360" y="30266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eligible Advisors using the capability monthly within 6 months. Adoption is gating.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3529584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3529584"/>
            <a:ext cx="54864" cy="50292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" y="3602736"/>
            <a:ext cx="640080" cy="365760"/>
          </a:xfrm>
          <a:prstGeom prst="roundRect">
            <a:avLst>
              <a:gd name="adj" fmla="val 30000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36027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91640" y="3593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 rate / precision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023360" y="35935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surfaced ideas that convert or are accepted by Advisors.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1520" y="4096512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" y="4096512"/>
            <a:ext cx="54864" cy="50292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31" name="Shape 29"/>
          <p:cNvSpPr/>
          <p:nvPr/>
        </p:nvSpPr>
        <p:spPr>
          <a:xfrm>
            <a:off x="868680" y="4169664"/>
            <a:ext cx="640080" cy="365760"/>
          </a:xfrm>
          <a:prstGeom prst="roundRect">
            <a:avLst>
              <a:gd name="adj" fmla="val 30000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68680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69164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experience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023360" y="4160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improvement in speed, accuracy, personalization, or referenceable wins.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152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  ·  AI Impact Framework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68096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— what we mean, and what counts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value is realized three ways. The business head must choose between them — deliberately, not by inertia.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28800"/>
            <a:ext cx="54864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901952"/>
            <a:ext cx="640080" cy="365760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9019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8928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FTE-equivalent capacity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23360" y="18928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 at full deployment, translated into FTE-equivalents in the workflow.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395728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395728"/>
            <a:ext cx="54864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2468880"/>
            <a:ext cx="640080" cy="365760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2468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24597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Cycle-time reduction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23360" y="24597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Elapsed time from client request to completion on the affected workflow.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2962656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2962656"/>
            <a:ext cx="54864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3035808"/>
            <a:ext cx="640080" cy="365760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30358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91640" y="30266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STP 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23360" y="30266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cases completed end-to-end without human touch, post-deployment.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3529584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3529584"/>
            <a:ext cx="54864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" y="3602736"/>
            <a:ext cx="640080" cy="365760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36027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91640" y="3593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/ exception drop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023360" y="35935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rework, breaks, supervisory escalations, audit findings.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1520" y="4096512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" y="4096512"/>
            <a:ext cx="54864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Shape 29"/>
          <p:cNvSpPr/>
          <p:nvPr/>
        </p:nvSpPr>
        <p:spPr>
          <a:xfrm>
            <a:off x="868680" y="4169664"/>
            <a:ext cx="640080" cy="365760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68680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69164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cost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023360" y="4160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 cost per completed unit — loan, trust review, KYC refresh, fund DD.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152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  ·  AI Impact Framework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68096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Productive Yield per FTE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productivity metric. Value-creating output per FTE, measured pre and post on a vintage clock.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640080"/>
          </a:xfrm>
          <a:prstGeom prst="roundRect">
            <a:avLst>
              <a:gd name="adj" fmla="val 14286"/>
            </a:avLst>
          </a:prstGeom>
          <a:solidFill>
            <a:srgbClr val="F4EDE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28800"/>
            <a:ext cx="54864" cy="64008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745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PY/FTE  =  value-creating output  ÷  average FTE deployed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7680960" cy="438912"/>
          </a:xfrm>
          <a:prstGeom prst="roundRect">
            <a:avLst>
              <a:gd name="adj" fmla="val 2083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697480"/>
            <a:ext cx="54864" cy="43891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340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&amp; Estates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27340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 weighted accounts / officer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32120" y="27340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52160" y="27340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 with agentic admin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7680960" cy="438912"/>
          </a:xfrm>
          <a:prstGeom prst="roundRect">
            <a:avLst>
              <a:gd name="adj" fmla="val 2083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200400"/>
            <a:ext cx="54864" cy="43891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Mortgage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32369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loans / underwriter; 60-day close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32120" y="323697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52160" y="32369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/ underwriter; &lt;3 days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703320"/>
            <a:ext cx="7680960" cy="438912"/>
          </a:xfrm>
          <a:prstGeom prst="roundRect">
            <a:avLst>
              <a:gd name="adj" fmla="val 2083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703320"/>
            <a:ext cx="54864" cy="43891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7398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08960" y="37398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custom facilities / officer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32120" y="37398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52160" y="37398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40–50 with memo &amp; precedent automation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4206240"/>
            <a:ext cx="7680960" cy="438912"/>
          </a:xfrm>
          <a:prstGeom prst="roundRect">
            <a:avLst>
              <a:gd name="adj" fmla="val 2083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4206240"/>
            <a:ext cx="54864" cy="43891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2428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Strategy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108960" y="42428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publications / strategist / week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32120" y="424281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852160" y="42428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3–5× personalized variants / strategist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457200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[ASSUMPTION] Targets to be validated with each business head pre-pilot.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3152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  ·  AI Impact Framework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68096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Mortgage AI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Scale-dominant with a strong Grow tailwind. The canonical Dual-Win.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3840480" cy="2788920"/>
          </a:xfrm>
          <a:prstGeom prst="roundRect">
            <a:avLst>
              <a:gd name="adj" fmla="val 327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91640"/>
            <a:ext cx="54864" cy="2788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COMPOSITE  ·  4.65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unlocked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0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0" y="2240280"/>
            <a:ext cx="502920" cy="292608"/>
          </a:xfrm>
          <a:prstGeom prst="roundRect">
            <a:avLst>
              <a:gd name="adj" fmla="val 375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22402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 (60d → &lt;3d)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26080" y="2606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0" y="2651760"/>
            <a:ext cx="502920" cy="292608"/>
          </a:xfrm>
          <a:prstGeom prst="roundRect">
            <a:avLst>
              <a:gd name="adj" fmla="val 375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0" y="26517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rate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26080" y="3017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0" y="3063240"/>
            <a:ext cx="502920" cy="292608"/>
          </a:xfrm>
          <a:prstGeom prst="roundRect">
            <a:avLst>
              <a:gd name="adj" fmla="val 375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0" y="30632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/ exceptions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26080" y="3429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0" y="3474720"/>
            <a:ext cx="502920" cy="292608"/>
          </a:xfrm>
          <a:prstGeom prst="roundRect">
            <a:avLst>
              <a:gd name="adj" fmla="val 375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0" y="34747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 per loan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926080" y="3840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0" y="3886200"/>
            <a:ext cx="502920" cy="292608"/>
          </a:xfrm>
          <a:prstGeom prst="roundRect">
            <a:avLst>
              <a:gd name="adj" fmla="val 375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0" y="38862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0" y="1691640"/>
            <a:ext cx="3840480" cy="2788920"/>
          </a:xfrm>
          <a:prstGeom prst="roundRect">
            <a:avLst>
              <a:gd name="adj" fmla="val 327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1691640"/>
            <a:ext cx="54864" cy="278892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COMPOSITE  ·  3.35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revenue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766560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98080" y="2240280"/>
            <a:ext cx="502920" cy="292608"/>
          </a:xfrm>
          <a:prstGeom prst="roundRect">
            <a:avLst>
              <a:gd name="adj" fmla="val 37500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498080" y="22402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5488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66560" y="2606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98080" y="2651760"/>
            <a:ext cx="502920" cy="292608"/>
          </a:xfrm>
          <a:prstGeom prst="roundRect">
            <a:avLst>
              <a:gd name="adj" fmla="val 37500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498080" y="26517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5488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adoption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766560" y="3017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98080" y="3063240"/>
            <a:ext cx="502920" cy="292608"/>
          </a:xfrm>
          <a:prstGeom prst="roundRect">
            <a:avLst>
              <a:gd name="adj" fmla="val 37500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498080" y="30632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754880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766560" y="3429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98080" y="3474720"/>
            <a:ext cx="502920" cy="292608"/>
          </a:xfrm>
          <a:prstGeom prst="roundRect">
            <a:avLst>
              <a:gd name="adj" fmla="val 37500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498080" y="34747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75488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experience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766560" y="3840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498080" y="3886200"/>
            <a:ext cx="502920" cy="292608"/>
          </a:xfrm>
          <a:prstGeom prst="roundRect">
            <a:avLst>
              <a:gd name="adj" fmla="val 37500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498080" y="38862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31520" y="4526280"/>
            <a:ext cx="7680960" cy="274320"/>
          </a:xfrm>
          <a:prstGeom prst="roundRect">
            <a:avLst>
              <a:gd name="adj" fmla="val 26667"/>
            </a:avLst>
          </a:prstGeom>
          <a:solidFill>
            <a:srgbClr val="1B2A4A"/>
          </a:solidFill>
          <a:ln/>
        </p:spPr>
      </p:sp>
      <p:sp>
        <p:nvSpPr>
          <p:cNvPr id="52" name="Text 50"/>
          <p:cNvSpPr/>
          <p:nvPr/>
        </p:nvSpPr>
        <p:spPr>
          <a:xfrm>
            <a:off x="731520" y="4526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 Dual Wins quadrant  ·  Scale carries the case, Grow makes it un-deferrable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3152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  ·  AI Impact Framework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68096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2x2: Grow × Scale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initiative on both axes. Plot. Resource the top-right first. Effort overlays as bubble size.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0" y="1783080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FCF5E8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0" y="1783080"/>
            <a:ext cx="54864" cy="128016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7" name="Text 5"/>
          <p:cNvSpPr/>
          <p:nvPr/>
        </p:nvSpPr>
        <p:spPr>
          <a:xfrm>
            <a:off x="1783080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GROW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216712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deepening wins.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Advisor adoption like a hawk.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92040" y="1783080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WINS — fund first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216712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axes light up.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anchors. Concentrate resourcing here.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645920" y="3200400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45920" y="3200400"/>
            <a:ext cx="54864" cy="128016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4" name="Text 12"/>
          <p:cNvSpPr/>
          <p:nvPr/>
        </p:nvSpPr>
        <p:spPr>
          <a:xfrm>
            <a:off x="1783080" y="3291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DEPRIORITIZE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358444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on both axes.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only with a stated reason on the page.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92040" y="3200400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3200400"/>
            <a:ext cx="54864" cy="12801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291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SCALE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358444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Capacity, cycle time, STP.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cash machine — funds Grow bets.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 rot="16200000">
            <a:off x="365760" y="1783080"/>
            <a:ext cx="1097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IMPACT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4572000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IMPACT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  ·  AI Impact Framework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68096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initiatives — scored and placed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1371600"/>
            <a:ext cx="4937760" cy="3200400"/>
          </a:xfrm>
          <a:prstGeom prst="rect">
            <a:avLst/>
          </a:prstGeom>
          <a:solidFill>
            <a:srgbClr val="F9F5F0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2971800"/>
            <a:ext cx="49377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3749040" y="1371600"/>
            <a:ext cx="0" cy="3200400"/>
          </a:xfrm>
          <a:prstGeom prst="line">
            <a:avLst/>
          </a:prstGeom>
          <a:noFill/>
          <a:ln w="6350">
            <a:solidFill>
              <a:srgbClr val="999999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371600" y="1463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GROW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846320" y="14630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WINS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71600" y="4297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DEPRIORITIZE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46320" y="42976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SCALE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80160" y="46177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 →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 rot="16200000">
            <a:off x="411480" y="1371600"/>
            <a:ext cx="731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 →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27218" y="2889504"/>
            <a:ext cx="292608" cy="292608"/>
          </a:xfrm>
          <a:prstGeom prst="ellipse">
            <a:avLst/>
          </a:prstGeom>
          <a:solidFill>
            <a:srgbClr val="1B2A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7218" y="2889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92778" y="1609344"/>
            <a:ext cx="292608" cy="292608"/>
          </a:xfrm>
          <a:prstGeom prst="ellipse">
            <a:avLst/>
          </a:prstGeom>
          <a:solidFill>
            <a:srgbClr val="A0824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92778" y="1609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25973" y="2281428"/>
            <a:ext cx="292608" cy="292608"/>
          </a:xfrm>
          <a:prstGeom prst="ellipse">
            <a:avLst/>
          </a:prstGeom>
          <a:solidFill>
            <a:srgbClr val="A0824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25973" y="22814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03981" y="1673352"/>
            <a:ext cx="292608" cy="292608"/>
          </a:xfrm>
          <a:prstGeom prst="ellipse">
            <a:avLst/>
          </a:prstGeom>
          <a:solidFill>
            <a:srgbClr val="1B2A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03981" y="1673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34686" y="3081528"/>
            <a:ext cx="292608" cy="292608"/>
          </a:xfrm>
          <a:prstGeom prst="ellipse">
            <a:avLst/>
          </a:prstGeom>
          <a:solidFill>
            <a:srgbClr val="1B2A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34686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1417320"/>
            <a:ext cx="274320" cy="2743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12280" y="13807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Trust Admin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12280" y="15819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2.3 · S 4.4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446520" y="2011680"/>
            <a:ext cx="274320" cy="274320"/>
          </a:xfrm>
          <a:prstGeom prst="ellipse">
            <a:avLst/>
          </a:prstGeom>
          <a:solidFill>
            <a:srgbClr val="A082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12280" y="1975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Lending Insight Platform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12280" y="21762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4.4 · S 3.3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46520" y="2606040"/>
            <a:ext cx="274320" cy="274320"/>
          </a:xfrm>
          <a:prstGeom prst="ellipse">
            <a:avLst/>
          </a:prstGeom>
          <a:solidFill>
            <a:srgbClr val="A082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12280" y="2569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Mortgage Underwriting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12280" y="2770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3.4 · S 4.7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46520" y="3200400"/>
            <a:ext cx="274320" cy="2743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12280" y="3163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Idea Matching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12280" y="3364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4.3 · S 2.4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46520" y="3794760"/>
            <a:ext cx="274320" cy="2743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12280" y="3758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Alts Automated DD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12280" y="3959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2.2 · S 4.1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3152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  ·  AI Impact Framework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68096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 inventory — by sub-business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business head sees their own slate. Bold = High-impact anchor. Asterisk = dual-face (also scores on Scale).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7680960" cy="338328"/>
          </a:xfrm>
          <a:prstGeom prst="roundRect">
            <a:avLst>
              <a:gd name="adj" fmla="val 2702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91640"/>
            <a:ext cx="54864" cy="338328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282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Strategy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17520" y="172821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Client-to-idea matching* · Personalized commentary at scale · Next-best-conversation prompts* · Thematic baskets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2084832"/>
            <a:ext cx="7680960" cy="338328"/>
          </a:xfrm>
          <a:prstGeom prst="roundRect">
            <a:avLst>
              <a:gd name="adj" fmla="val 2702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084832"/>
            <a:ext cx="54864" cy="338328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121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Alternatives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0" y="21214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 &amp; matching engine · Personalized alts decks · Capital-call &amp; re-up prediction · Secondary-market surfacing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2478024"/>
            <a:ext cx="7680960" cy="338328"/>
          </a:xfrm>
          <a:prstGeom prst="roundRect">
            <a:avLst>
              <a:gd name="adj" fmla="val 2702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478024"/>
            <a:ext cx="54864" cy="338328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Brokerage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17520" y="2514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idea engine (TLH, concentration, structured notes) · Structured products matching · Rebalancing nudges · Block-trade detection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2871216"/>
            <a:ext cx="7680960" cy="338328"/>
          </a:xfrm>
          <a:prstGeom prst="roundRect">
            <a:avLst>
              <a:gd name="adj" fmla="val 2702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2871216"/>
            <a:ext cx="54864" cy="338328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2907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Lending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17520" y="29077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Insight platform — custom-loan precedent* · Untapped borrowing capacity detector · Refi engine · Cross-sell to alts/brokerage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264408"/>
            <a:ext cx="7680960" cy="338328"/>
          </a:xfrm>
          <a:prstGeom prst="roundRect">
            <a:avLst>
              <a:gd name="adj" fmla="val 2702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264408"/>
            <a:ext cx="54864" cy="338328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300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Mortgage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17520" y="330098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Pre-approval prospecting · Jumbo/specialty idea generation · External-mortgage rate-watch agent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" y="3657600"/>
            <a:ext cx="7680960" cy="338328"/>
          </a:xfrm>
          <a:prstGeom prst="roundRect">
            <a:avLst>
              <a:gd name="adj" fmla="val 2702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3657600"/>
            <a:ext cx="54864" cy="338328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36941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&amp; Estates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017520" y="369417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planning opportunity surfacing · Trust-funding detection · Next-gen family deepening engine (anchor)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1520" y="4050792"/>
            <a:ext cx="7680960" cy="338328"/>
          </a:xfrm>
          <a:prstGeom prst="roundRect">
            <a:avLst>
              <a:gd name="adj" fmla="val 2702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" y="4050792"/>
            <a:ext cx="54864" cy="338328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4087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Deposits &amp; Cash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017520" y="40873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campaign targeting · Sweep optimization · Treasury-style UHNW cash ideas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31520" y="4443984"/>
            <a:ext cx="7680960" cy="338328"/>
          </a:xfrm>
          <a:prstGeom prst="roundRect">
            <a:avLst>
              <a:gd name="adj" fmla="val 2702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4443984"/>
            <a:ext cx="54864" cy="338328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4480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 productivity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017520" y="4480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morning brief* · Prospect intelligence briefing books · Win/loss analysis engine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3152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  ·  AI Impact Framework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68096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inventory — by sub-business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Asterisk = dual-face. The Scale slate is where capacity gets unlocked — these fund the Grow bets.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7680960" cy="301752"/>
          </a:xfrm>
          <a:prstGeom prst="roundRect">
            <a:avLst>
              <a:gd name="adj" fmla="val 3030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91640"/>
            <a:ext cx="54864" cy="3017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09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&amp; Estates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17520" y="17099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trust admin (anchor) · Trust doc review &amp; clause extraction · Annual review automation · Beneficiary correspondence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039112"/>
            <a:ext cx="7680960" cy="301752"/>
          </a:xfrm>
          <a:prstGeom prst="roundRect">
            <a:avLst>
              <a:gd name="adj" fmla="val 3030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039112"/>
            <a:ext cx="54864" cy="3017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Mortgage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0" y="2057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underwriting 60→0 days* · Automated appraisal review · Doc intake &amp; missing-doc chase · Closing-package QC · Servicing inquiry agent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2386584"/>
            <a:ext cx="7680960" cy="301752"/>
          </a:xfrm>
          <a:prstGeom prst="roundRect">
            <a:avLst>
              <a:gd name="adj" fmla="val 3030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386584"/>
            <a:ext cx="54864" cy="3017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404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Lending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17520" y="24048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memo auto-drafting · Covenant monitoring · Collateral revaluation · Annual review automation · Exception precedent retrieval*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2734056"/>
            <a:ext cx="7680960" cy="301752"/>
          </a:xfrm>
          <a:prstGeom prst="roundRect">
            <a:avLst>
              <a:gd name="adj" fmla="val 3030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2734056"/>
            <a:ext cx="54864" cy="3017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27523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Alternatives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17520" y="27523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DD with IC memo first draft · Sub-doc processing · K-1 / capital account processing · Quarterly letter summarization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3081528"/>
            <a:ext cx="7680960" cy="301752"/>
          </a:xfrm>
          <a:prstGeom prst="roundRect">
            <a:avLst>
              <a:gd name="adj" fmla="val 3030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081528"/>
            <a:ext cx="54864" cy="3017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0998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Brokerage &amp; Ops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17520" y="309981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reconciliation &amp; breaks · Best-execution review · First-pass suitability/supervision · Corporate actions processing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3429000"/>
            <a:ext cx="7680960" cy="301752"/>
          </a:xfrm>
          <a:prstGeom prst="roundRect">
            <a:avLst>
              <a:gd name="adj" fmla="val 3030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3429000"/>
            <a:ext cx="54864" cy="3017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3447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Strategy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017520" y="34472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Auto-drafted publications* · Chart &amp; exhibit generation · Translation &amp; localization · Advisor FAQ drafting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" y="3776472"/>
            <a:ext cx="7680960" cy="301752"/>
          </a:xfrm>
          <a:prstGeom prst="roundRect">
            <a:avLst>
              <a:gd name="adj" fmla="val 3030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" y="3776472"/>
            <a:ext cx="54864" cy="3017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3794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Due Diligence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017520" y="3794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DDQ ingestion · Background &amp; news monitoring · Performance &amp; exposure analysis · Annual re-up memo drafting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1520" y="4123944"/>
            <a:ext cx="7680960" cy="301752"/>
          </a:xfrm>
          <a:prstGeom prst="roundRect">
            <a:avLst>
              <a:gd name="adj" fmla="val 3030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4123944"/>
            <a:ext cx="54864" cy="3017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4142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KYC / Service / Risk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017520" y="41422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refresh · New account opening agent* · Service inquiry triage · Comms surveillance · Policy Q&amp;A copilot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1520" y="4471416"/>
            <a:ext cx="7680960" cy="301752"/>
          </a:xfrm>
          <a:prstGeom prst="roundRect">
            <a:avLst>
              <a:gd name="adj" fmla="val 30303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31520" y="4471416"/>
            <a:ext cx="54864" cy="3017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9" name="Text 37"/>
          <p:cNvSpPr/>
          <p:nvPr/>
        </p:nvSpPr>
        <p:spPr>
          <a:xfrm>
            <a:off x="868680" y="4489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 productivity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017520" y="44897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prep packs · Call notes &amp; CRM auto-update · Pitchbook assembly · Internal approvals routing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152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  ·  AI Impact Framework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68096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unlocked: three doors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frees X FTE-equivalent, the business head chooses — deliberately, in writing, with a 12-month review.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2468880" cy="2606040"/>
          </a:xfrm>
          <a:prstGeom prst="roundRect">
            <a:avLst>
              <a:gd name="adj" fmla="val 3704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54864" cy="2606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37360"/>
            <a:ext cx="2414016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3736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Absorb growth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WHEN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Demand-constrained today; forward pipeline &gt; run-rate; high marginal revenue on absorbed volume.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numbers re-inflate. Recapture-the-gain discipline at 12 months.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737360"/>
            <a:ext cx="2468880" cy="2606040"/>
          </a:xfrm>
          <a:prstGeom prst="roundRect">
            <a:avLst>
              <a:gd name="adj" fmla="val 3704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737360"/>
            <a:ext cx="54864" cy="260604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15" name="Shape 13"/>
          <p:cNvSpPr/>
          <p:nvPr/>
        </p:nvSpPr>
        <p:spPr>
          <a:xfrm>
            <a:off x="3392424" y="1737360"/>
            <a:ext cx="2414016" cy="384048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16" name="Text 14"/>
          <p:cNvSpPr/>
          <p:nvPr/>
        </p:nvSpPr>
        <p:spPr>
          <a:xfrm>
            <a:off x="3392424" y="173736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Redeploy to Grow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2194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WHEN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20440" y="24231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Named, scored Grow initiative queued. Skill match plausible. Reskilling cost acceptable.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3474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2044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Reskilling is harder than it looks. Sponsor owns the ramp.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1737360"/>
            <a:ext cx="2468880" cy="2606040"/>
          </a:xfrm>
          <a:prstGeom prst="roundRect">
            <a:avLst>
              <a:gd name="adj" fmla="val 3704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0" y="1737360"/>
            <a:ext cx="54864" cy="2606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5998464" y="1737360"/>
            <a:ext cx="2414016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5998464" y="173736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Cost-out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2194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WHEN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26480" y="24231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queued Grow case clears the bar. Demand stable. No talent-feeder concerns.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3474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2648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cost in institutional memory. Default-by-inertia is the failure mode.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the reason. Re-read it in 12 months. The only mechanism that prevents cost-out drift.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  ·  AI Impact Framework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68096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use this every quarter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drives a repeating four-step sequencing exercise.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7680960" cy="640080"/>
          </a:xfrm>
          <a:prstGeom prst="roundRect">
            <a:avLst>
              <a:gd name="adj" fmla="val 14286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83080"/>
            <a:ext cx="54864" cy="64008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901952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901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856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top-right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13055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Wins fund themselves and compound. Anything top-right unstaffed by Q+1 needs an explicit reason.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496312"/>
            <a:ext cx="7680960" cy="640080"/>
          </a:xfrm>
          <a:prstGeom prst="roundRect">
            <a:avLst>
              <a:gd name="adj" fmla="val 14286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496312"/>
            <a:ext cx="54864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2615184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2615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25694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the Scale anchor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84378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bottom-right per quarter — the most capacity unlocked. This is the budget.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209544"/>
            <a:ext cx="7680960" cy="640080"/>
          </a:xfrm>
          <a:prstGeom prst="roundRect">
            <a:avLst>
              <a:gd name="adj" fmla="val 14286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209544"/>
            <a:ext cx="54864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3328416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3328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32826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the Grow anchor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355701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top-left per quarter. Pair it with the named Advisor cohort that will adopt it.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3922776"/>
            <a:ext cx="7680960" cy="640080"/>
          </a:xfrm>
          <a:prstGeom prst="roundRect">
            <a:avLst>
              <a:gd name="adj" fmla="val 14286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3922776"/>
            <a:ext cx="54864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" y="4041648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4041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3995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Bottom-left needs a reason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427024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Gating-criteria fixes (controls, regulatory) or stepping stones — written down.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152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  ·  AI Impact Framework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68096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asking — next 90 days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Ratify the framework, name owners, lock baselines. Get from frameworks to deployments.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7680960" cy="640080"/>
          </a:xfrm>
          <a:prstGeom prst="roundRect">
            <a:avLst>
              <a:gd name="adj" fmla="val 14286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54864" cy="64008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901952"/>
            <a:ext cx="1188720" cy="310896"/>
          </a:xfrm>
          <a:prstGeom prst="roundRect">
            <a:avLst>
              <a:gd name="adj" fmla="val 20588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019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0–14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1810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Ratify framework &amp; rubric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208483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leadership signs off on Grow/Scale definitions, weights, and gating criteria.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450592"/>
            <a:ext cx="7680960" cy="640080"/>
          </a:xfrm>
          <a:prstGeom prst="roundRect">
            <a:avLst>
              <a:gd name="adj" fmla="val 14286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450592"/>
            <a:ext cx="54864" cy="64008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2615184"/>
            <a:ext cx="1188720" cy="310896"/>
          </a:xfrm>
          <a:prstGeom prst="roundRect">
            <a:avLst>
              <a:gd name="adj" fmla="val 20588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61518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14–30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2523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initiative owners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94560" y="279806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Dual Win and each Pure Scale anchor gets a named MD owner and a sponsoring business head.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163824"/>
            <a:ext cx="7680960" cy="640080"/>
          </a:xfrm>
          <a:prstGeom prst="roundRect">
            <a:avLst>
              <a:gd name="adj" fmla="val 14286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163824"/>
            <a:ext cx="54864" cy="64008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3328416"/>
            <a:ext cx="1188720" cy="310896"/>
          </a:xfrm>
          <a:prstGeom prst="roundRect">
            <a:avLst>
              <a:gd name="adj" fmla="val 20588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3284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30–60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94560" y="32369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 PY/FTE baselines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94560" y="351129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trailing baseline for Trust, Mortgage, Lending, Investment Strategy. Signed by business heads.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3877056"/>
            <a:ext cx="7680960" cy="640080"/>
          </a:xfrm>
          <a:prstGeom prst="roundRect">
            <a:avLst>
              <a:gd name="adj" fmla="val 14286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3877056"/>
            <a:ext cx="54864" cy="64008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" y="4041648"/>
            <a:ext cx="1188720" cy="310896"/>
          </a:xfrm>
          <a:prstGeom prst="roundRect">
            <a:avLst>
              <a:gd name="adj" fmla="val 20588"/>
            </a:avLst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0416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60–90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94560" y="3950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Greenlight Q+1 slate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194560" y="422452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queued initiative. Plot. Sequence using the four-step exercise. Publish the slate.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152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  ·  AI Impact Framework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68096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Score. Sequence. Deploy. Redeploy with intent.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0" y="2743200"/>
            <a:ext cx="1828800" cy="0"/>
          </a:xfrm>
          <a:prstGeom prst="line">
            <a:avLst/>
          </a:prstGeom>
          <a:noFill/>
          <a:ln w="19050">
            <a:solidFill>
              <a:srgbClr val="A082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017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business. Scale the business. Choose, deliberately, what to do with what AI gives back.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Measuring AI Impact in Solutions</dc:title>
  <dc:subject>PptxGenJS Presentation</dc:subject>
  <dc:creator>Claude</dc:creator>
  <cp:lastModifiedBy>Claude</cp:lastModifiedBy>
  <cp:revision>1</cp:revision>
  <dcterms:created xsi:type="dcterms:W3CDTF">2026-05-12T14:56:02Z</dcterms:created>
  <dcterms:modified xsi:type="dcterms:W3CDTF">2026-05-12T14:56:02Z</dcterms:modified>
</cp:coreProperties>
</file>