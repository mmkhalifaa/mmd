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9" r:id="rId41"/>
    <p:sldId id="300" r:id="rId42"/>
    <p:sldId id="301" r:id="rId43"/>
    <p:sldId id="302" r:id="rId44"/>
    <p:sldId id="303" r:id="rId45"/>
    <p:sldId id="305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 snapToObjects="1">
      <p:cViewPr varScale="1">
        <p:scale>
          <a:sx n="107" d="100"/>
          <a:sy n="107" d="100"/>
        </p:scale>
        <p:origin x="64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3317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 i="0">
                <a:solidFill>
                  <a:srgbClr val="2C2C2A"/>
                </a:solidFill>
                <a:latin typeface="Helvetica Neue Medium"/>
              </a:rPr>
              <a:t>The printing press </a:t>
            </a:r>
            <a:r>
              <a:rPr sz="6000" b="0" i="0">
                <a:solidFill>
                  <a:srgbClr val="D85A30"/>
                </a:solidFill>
                <a:latin typeface="Helvetica Neue Medium"/>
              </a:rPr>
              <a:t>moment.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77639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5F5E5A"/>
                </a:solidFill>
                <a:latin typeface="Helvetica Neue"/>
              </a:rPr>
              <a:t>And why it belongs to you.  ·  Intern class, summer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40983" y="1271016"/>
            <a:ext cx="109728" cy="109728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971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0997B"/>
                </a:solidFill>
                <a:latin typeface="Helvetica Neue Medium"/>
              </a:rPr>
              <a:t>ACT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99713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0" b="0" i="0">
                <a:solidFill>
                  <a:srgbClr val="F1EFE8"/>
                </a:solidFill>
                <a:latin typeface="Helvetica Neue Medium"/>
              </a:rPr>
              <a:t>The collapse.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34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b="0" i="0">
                <a:solidFill>
                  <a:srgbClr val="D9D7CF"/>
                </a:solidFill>
                <a:latin typeface="Helvetica Neue"/>
              </a:rPr>
              <a:t>It happened three times before. </a:t>
            </a:r>
            <a:r>
              <a:rPr sz="2100" b="0" i="0">
                <a:solidFill>
                  <a:srgbClr val="F0997B"/>
                </a:solidFill>
                <a:latin typeface="Helvetica Neue Medium"/>
              </a:rPr>
              <a:t>You're standing on the fourth.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7810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BBB9B2"/>
                </a:solidFill>
                <a:latin typeface="Helvetica Neue Medium"/>
              </a:rPr>
              <a:t>2</a:t>
            </a:fld>
            <a:r>
              <a:rPr lang="en-US" sz="1000" b="0" dirty="0">
                <a:solidFill>
                  <a:srgbClr val="77767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01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Mainz, Germany — 1450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0" i="0">
                <a:solidFill>
                  <a:srgbClr val="2C2C2A"/>
                </a:solidFill>
                <a:latin typeface="Helvetica Neue Medium"/>
              </a:rPr>
              <a:t>One book took one person </a:t>
            </a:r>
            <a:r>
              <a:rPr sz="4400" b="0" i="0">
                <a:solidFill>
                  <a:srgbClr val="D85A30"/>
                </a:solidFill>
                <a:latin typeface="Helvetica Neue Medium"/>
              </a:rPr>
              <a:t>one whole year.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Every book in Europe — copied out by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17158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02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Then came the 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 i="0">
                <a:solidFill>
                  <a:srgbClr val="2C2C2A"/>
                </a:solidFill>
                <a:latin typeface="Helvetica Neue Medium"/>
              </a:rPr>
              <a:t>Fifty years later: more new books than the previous </a:t>
            </a:r>
            <a:r>
              <a:rPr sz="3800" b="0" i="0">
                <a:solidFill>
                  <a:srgbClr val="D85A30"/>
                </a:solidFill>
                <a:latin typeface="Helvetica Neue Medium"/>
              </a:rPr>
              <a:t>1,000 years combined.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When something important suddenly gets cheap, the world changes — around the people who notice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56211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4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234440"/>
            <a:ext cx="999713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0" i="0">
                <a:solidFill>
                  <a:srgbClr val="D85A30"/>
                </a:solidFill>
                <a:latin typeface="Helvetica Neue Medium"/>
              </a:rPr>
              <a:t>1450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154680"/>
            <a:ext cx="98142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 i="0">
                <a:solidFill>
                  <a:srgbClr val="2C2C2A"/>
                </a:solidFill>
                <a:latin typeface="Helvetica Neue Medium"/>
              </a:rPr>
              <a:t>Printing made </a:t>
            </a:r>
            <a:r>
              <a:rPr sz="3800" b="0" i="0">
                <a:solidFill>
                  <a:srgbClr val="993C1D"/>
                </a:solidFill>
                <a:latin typeface="Helvetica Neue Medium"/>
              </a:rPr>
              <a:t>knowledge</a:t>
            </a:r>
            <a:r>
              <a:rPr sz="3800" b="0" i="0">
                <a:solidFill>
                  <a:srgbClr val="2C2C2A"/>
                </a:solidFill>
                <a:latin typeface="Helvetica Neue Medium"/>
              </a:rPr>
              <a:t> cheap.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526280"/>
            <a:ext cx="81683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5F5E5A"/>
                </a:solidFill>
                <a:latin typeface="Helvetica Neue"/>
              </a:rPr>
              <a:t>What followed: modern science. Newspapers. A new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95264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5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234440"/>
            <a:ext cx="999713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0" i="0">
                <a:solidFill>
                  <a:srgbClr val="D85A30"/>
                </a:solidFill>
                <a:latin typeface="Helvetica Neue Medium"/>
              </a:rPr>
              <a:t>1780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154680"/>
            <a:ext cx="98142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 i="0">
                <a:solidFill>
                  <a:srgbClr val="2C2C2A"/>
                </a:solidFill>
                <a:latin typeface="Helvetica Neue Medium"/>
              </a:rPr>
              <a:t>Steam made </a:t>
            </a:r>
            <a:r>
              <a:rPr sz="3800" b="0" i="0">
                <a:solidFill>
                  <a:srgbClr val="993C1D"/>
                </a:solidFill>
                <a:latin typeface="Helvetica Neue Medium"/>
              </a:rPr>
              <a:t>muscle</a:t>
            </a:r>
            <a:r>
              <a:rPr sz="3800" b="0" i="0">
                <a:solidFill>
                  <a:srgbClr val="2C2C2A"/>
                </a:solidFill>
                <a:latin typeface="Helvetica Neue Medium"/>
              </a:rPr>
              <a:t> cheap.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526280"/>
            <a:ext cx="81683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5F5E5A"/>
                </a:solidFill>
                <a:latin typeface="Helvetica Neue"/>
              </a:rPr>
              <a:t>What followed: factories. Railways. Cities of millions.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34317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6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234440"/>
            <a:ext cx="999713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0" i="0">
                <a:solidFill>
                  <a:srgbClr val="D85A30"/>
                </a:solidFill>
                <a:latin typeface="Helvetica Neue Medium"/>
              </a:rPr>
              <a:t>1995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154680"/>
            <a:ext cx="98142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 i="0">
                <a:solidFill>
                  <a:srgbClr val="2C2C2A"/>
                </a:solidFill>
                <a:latin typeface="Helvetica Neue Medium"/>
              </a:rPr>
              <a:t>The internet made </a:t>
            </a:r>
            <a:r>
              <a:rPr sz="3800" b="0" i="0">
                <a:solidFill>
                  <a:srgbClr val="993C1D"/>
                </a:solidFill>
                <a:latin typeface="Helvetica Neue Medium"/>
              </a:rPr>
              <a:t>distance</a:t>
            </a:r>
            <a:r>
              <a:rPr sz="3800" b="0" i="0">
                <a:solidFill>
                  <a:srgbClr val="2C2C2A"/>
                </a:solidFill>
                <a:latin typeface="Helvetica Neue Medium"/>
              </a:rPr>
              <a:t> cheap.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526280"/>
            <a:ext cx="81683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5F5E5A"/>
                </a:solidFill>
                <a:latin typeface="Helvetica Neue"/>
              </a:rPr>
              <a:t>What followed: the world you grew up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73369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7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03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And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0" i="0">
                <a:solidFill>
                  <a:srgbClr val="2C2C2A"/>
                </a:solidFill>
                <a:latin typeface="Helvetica Neue Medium"/>
              </a:rPr>
              <a:t>AI is collapse number four. </a:t>
            </a:r>
            <a:r>
              <a:rPr sz="4200" b="0" i="0">
                <a:solidFill>
                  <a:srgbClr val="D85A30"/>
                </a:solidFill>
                <a:latin typeface="Helvetica Neue Medium"/>
              </a:rPr>
              <a:t>It makes thinking cheap.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Not a metaphor. Here's the actual price.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912422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8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04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Five centuries, one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Every collapse looks the same: a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The price of the thing, before and after. Four times in history — same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25780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651760"/>
          </a:xfrm>
          <a:custGeom>
            <a:avLst/>
            <a:gdLst/>
            <a:ahLst/>
            <a:cxnLst/>
            <a:rect l="l" t="t" r="r" b="b"/>
            <a:pathLst>
              <a:path h="2651760">
                <a:moveTo>
                  <a:pt x="0" y="0"/>
                </a:moveTo>
                <a:lnTo>
                  <a:pt x="0" y="265176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330952"/>
            <a:ext cx="91741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F5E5A"/>
                </a:solidFill>
                <a:latin typeface="Helvetica Neue Medium"/>
              </a:rPr>
              <a:t>Five centuries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94360" y="37947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>
                <a:solidFill>
                  <a:srgbClr val="5F5E5A"/>
                </a:solidFill>
                <a:latin typeface="Helvetica Neue Medium"/>
              </a:rPr>
              <a:t>Price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Press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15147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9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04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Five centuries, one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Every collapse looks the same: a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The price of the thing, before and after. Four times in history — same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25780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651760"/>
          </a:xfrm>
          <a:custGeom>
            <a:avLst/>
            <a:gdLst/>
            <a:ahLst/>
            <a:cxnLst/>
            <a:rect l="l" t="t" r="r" b="b"/>
            <a:pathLst>
              <a:path h="2651760">
                <a:moveTo>
                  <a:pt x="0" y="0"/>
                </a:moveTo>
                <a:lnTo>
                  <a:pt x="0" y="265176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330952"/>
            <a:ext cx="91741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F5E5A"/>
                </a:solidFill>
                <a:latin typeface="Helvetica Neue Medium"/>
              </a:rPr>
              <a:t>Five centuries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94360" y="37947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>
                <a:solidFill>
                  <a:srgbClr val="5F5E5A"/>
                </a:solidFill>
                <a:latin typeface="Helvetica Neue Medium"/>
              </a:rPr>
              <a:t>Price</a:t>
            </a:r>
          </a:p>
        </p:txBody>
      </p:sp>
      <p:sp>
        <p:nvSpPr>
          <p:cNvPr id="10" name="Freeform 9"/>
          <p:cNvSpPr/>
          <p:nvPr/>
        </p:nvSpPr>
        <p:spPr>
          <a:xfrm>
            <a:off x="1812723" y="3011604"/>
            <a:ext cx="2001638" cy="2020017"/>
          </a:xfrm>
          <a:custGeom>
            <a:avLst/>
            <a:gdLst/>
            <a:ahLst/>
            <a:cxnLst/>
            <a:rect l="l" t="t" r="r" b="b"/>
            <a:pathLst>
              <a:path w="2001638" h="2020017">
                <a:moveTo>
                  <a:pt x="0" y="0"/>
                </a:moveTo>
                <a:lnTo>
                  <a:pt x="583811" y="15598"/>
                </a:lnTo>
                <a:lnTo>
                  <a:pt x="792315" y="77993"/>
                </a:lnTo>
                <a:lnTo>
                  <a:pt x="917417" y="233979"/>
                </a:lnTo>
                <a:lnTo>
                  <a:pt x="1084220" y="569348"/>
                </a:lnTo>
                <a:lnTo>
                  <a:pt x="1209323" y="1193292"/>
                </a:lnTo>
                <a:lnTo>
                  <a:pt x="1334425" y="1739242"/>
                </a:lnTo>
                <a:lnTo>
                  <a:pt x="1459528" y="1934225"/>
                </a:lnTo>
                <a:lnTo>
                  <a:pt x="1709732" y="1996619"/>
                </a:lnTo>
                <a:lnTo>
                  <a:pt x="20016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68040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1450 ·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8040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printing press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1450 — printing makes knowledge cheap.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2390528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10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04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Five centuries, one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Every collapse looks the same: a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The price of the thing, before and after. Four times in history — same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25780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651760"/>
          </a:xfrm>
          <a:custGeom>
            <a:avLst/>
            <a:gdLst/>
            <a:ahLst/>
            <a:cxnLst/>
            <a:rect l="l" t="t" r="r" b="b"/>
            <a:pathLst>
              <a:path h="2651760">
                <a:moveTo>
                  <a:pt x="0" y="0"/>
                </a:moveTo>
                <a:lnTo>
                  <a:pt x="0" y="265176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330952"/>
            <a:ext cx="91741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F5E5A"/>
                </a:solidFill>
                <a:latin typeface="Helvetica Neue Medium"/>
              </a:rPr>
              <a:t>Five centuries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94360" y="37947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>
                <a:solidFill>
                  <a:srgbClr val="5F5E5A"/>
                </a:solidFill>
                <a:latin typeface="Helvetica Neue Medium"/>
              </a:rPr>
              <a:t>Price</a:t>
            </a:r>
          </a:p>
        </p:txBody>
      </p:sp>
      <p:sp>
        <p:nvSpPr>
          <p:cNvPr id="10" name="Freeform 9"/>
          <p:cNvSpPr/>
          <p:nvPr/>
        </p:nvSpPr>
        <p:spPr>
          <a:xfrm>
            <a:off x="1812723" y="3011604"/>
            <a:ext cx="2001638" cy="2020017"/>
          </a:xfrm>
          <a:custGeom>
            <a:avLst/>
            <a:gdLst/>
            <a:ahLst/>
            <a:cxnLst/>
            <a:rect l="l" t="t" r="r" b="b"/>
            <a:pathLst>
              <a:path w="2001638" h="2020017">
                <a:moveTo>
                  <a:pt x="0" y="0"/>
                </a:moveTo>
                <a:lnTo>
                  <a:pt x="583811" y="15598"/>
                </a:lnTo>
                <a:lnTo>
                  <a:pt x="792315" y="77993"/>
                </a:lnTo>
                <a:lnTo>
                  <a:pt x="917417" y="233979"/>
                </a:lnTo>
                <a:lnTo>
                  <a:pt x="1084220" y="569348"/>
                </a:lnTo>
                <a:lnTo>
                  <a:pt x="1209323" y="1193292"/>
                </a:lnTo>
                <a:lnTo>
                  <a:pt x="1334425" y="1739242"/>
                </a:lnTo>
                <a:lnTo>
                  <a:pt x="1459528" y="1934225"/>
                </a:lnTo>
                <a:lnTo>
                  <a:pt x="1709732" y="1996619"/>
                </a:lnTo>
                <a:lnTo>
                  <a:pt x="20016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68040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1450 ·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8040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printing press</a:t>
            </a:r>
          </a:p>
        </p:txBody>
      </p:sp>
      <p:sp>
        <p:nvSpPr>
          <p:cNvPr id="13" name="Freeform 12"/>
          <p:cNvSpPr/>
          <p:nvPr/>
        </p:nvSpPr>
        <p:spPr>
          <a:xfrm>
            <a:off x="3897762" y="3011604"/>
            <a:ext cx="1959938" cy="2020017"/>
          </a:xfrm>
          <a:custGeom>
            <a:avLst/>
            <a:gdLst/>
            <a:ahLst/>
            <a:cxnLst/>
            <a:rect l="l" t="t" r="r" b="b"/>
            <a:pathLst>
              <a:path w="1959938" h="2020017">
                <a:moveTo>
                  <a:pt x="0" y="0"/>
                </a:moveTo>
                <a:lnTo>
                  <a:pt x="583812" y="15598"/>
                </a:lnTo>
                <a:lnTo>
                  <a:pt x="792316" y="77993"/>
                </a:lnTo>
                <a:lnTo>
                  <a:pt x="917418" y="233979"/>
                </a:lnTo>
                <a:lnTo>
                  <a:pt x="1084221" y="569348"/>
                </a:lnTo>
                <a:lnTo>
                  <a:pt x="1209324" y="1193292"/>
                </a:lnTo>
                <a:lnTo>
                  <a:pt x="1334426" y="1739242"/>
                </a:lnTo>
                <a:lnTo>
                  <a:pt x="1459528" y="1934225"/>
                </a:lnTo>
                <a:lnTo>
                  <a:pt x="1709733" y="1996619"/>
                </a:lnTo>
                <a:lnTo>
                  <a:pt x="19599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59752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1780 · Muscle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9752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steam engine</a:t>
            </a:r>
          </a:p>
        </p:txBody>
      </p:sp>
      <p:sp>
        <p:nvSpPr>
          <p:cNvPr id="16" name="Freeform 15"/>
          <p:cNvSpPr/>
          <p:nvPr/>
        </p:nvSpPr>
        <p:spPr>
          <a:xfrm>
            <a:off x="5941101" y="3011604"/>
            <a:ext cx="1959938" cy="2020017"/>
          </a:xfrm>
          <a:custGeom>
            <a:avLst/>
            <a:gdLst/>
            <a:ahLst/>
            <a:cxnLst/>
            <a:rect l="l" t="t" r="r" b="b"/>
            <a:pathLst>
              <a:path w="1959938" h="2020017">
                <a:moveTo>
                  <a:pt x="0" y="0"/>
                </a:moveTo>
                <a:lnTo>
                  <a:pt x="583812" y="15598"/>
                </a:lnTo>
                <a:lnTo>
                  <a:pt x="792316" y="77993"/>
                </a:lnTo>
                <a:lnTo>
                  <a:pt x="917418" y="233979"/>
                </a:lnTo>
                <a:lnTo>
                  <a:pt x="1084221" y="569348"/>
                </a:lnTo>
                <a:lnTo>
                  <a:pt x="1209324" y="1193292"/>
                </a:lnTo>
                <a:lnTo>
                  <a:pt x="1334426" y="1739242"/>
                </a:lnTo>
                <a:lnTo>
                  <a:pt x="1459528" y="1934225"/>
                </a:lnTo>
                <a:lnTo>
                  <a:pt x="1709733" y="1996619"/>
                </a:lnTo>
                <a:lnTo>
                  <a:pt x="19599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96418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1995 ·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6418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internet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1780 — steam makes muscle cheap. 1995 — the internet makes distance cheap.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629581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11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04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Five centuries, one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Every collapse looks the same: a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The price of the thing, before and after. Four times in history — same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25780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651760"/>
          </a:xfrm>
          <a:custGeom>
            <a:avLst/>
            <a:gdLst/>
            <a:ahLst/>
            <a:cxnLst/>
            <a:rect l="l" t="t" r="r" b="b"/>
            <a:pathLst>
              <a:path h="2651760">
                <a:moveTo>
                  <a:pt x="0" y="0"/>
                </a:moveTo>
                <a:lnTo>
                  <a:pt x="0" y="265176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330952"/>
            <a:ext cx="91741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F5E5A"/>
                </a:solidFill>
                <a:latin typeface="Helvetica Neue Medium"/>
              </a:rPr>
              <a:t>Five centuries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94360" y="37947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>
                <a:solidFill>
                  <a:srgbClr val="5F5E5A"/>
                </a:solidFill>
                <a:latin typeface="Helvetica Neue Medium"/>
              </a:rPr>
              <a:t>Price</a:t>
            </a:r>
          </a:p>
        </p:txBody>
      </p:sp>
      <p:sp>
        <p:nvSpPr>
          <p:cNvPr id="10" name="Freeform 9"/>
          <p:cNvSpPr/>
          <p:nvPr/>
        </p:nvSpPr>
        <p:spPr>
          <a:xfrm>
            <a:off x="1812723" y="3011604"/>
            <a:ext cx="2001638" cy="2020017"/>
          </a:xfrm>
          <a:custGeom>
            <a:avLst/>
            <a:gdLst/>
            <a:ahLst/>
            <a:cxnLst/>
            <a:rect l="l" t="t" r="r" b="b"/>
            <a:pathLst>
              <a:path w="2001638" h="2020017">
                <a:moveTo>
                  <a:pt x="0" y="0"/>
                </a:moveTo>
                <a:lnTo>
                  <a:pt x="583811" y="15598"/>
                </a:lnTo>
                <a:lnTo>
                  <a:pt x="792315" y="77993"/>
                </a:lnTo>
                <a:lnTo>
                  <a:pt x="917417" y="233979"/>
                </a:lnTo>
                <a:lnTo>
                  <a:pt x="1084220" y="569348"/>
                </a:lnTo>
                <a:lnTo>
                  <a:pt x="1209323" y="1193292"/>
                </a:lnTo>
                <a:lnTo>
                  <a:pt x="1334425" y="1739242"/>
                </a:lnTo>
                <a:lnTo>
                  <a:pt x="1459528" y="1934225"/>
                </a:lnTo>
                <a:lnTo>
                  <a:pt x="1709732" y="1996619"/>
                </a:lnTo>
                <a:lnTo>
                  <a:pt x="20016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68040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1450 ·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8040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printing press</a:t>
            </a:r>
          </a:p>
        </p:txBody>
      </p:sp>
      <p:sp>
        <p:nvSpPr>
          <p:cNvPr id="13" name="Freeform 12"/>
          <p:cNvSpPr/>
          <p:nvPr/>
        </p:nvSpPr>
        <p:spPr>
          <a:xfrm>
            <a:off x="3897762" y="3011604"/>
            <a:ext cx="1959938" cy="2020017"/>
          </a:xfrm>
          <a:custGeom>
            <a:avLst/>
            <a:gdLst/>
            <a:ahLst/>
            <a:cxnLst/>
            <a:rect l="l" t="t" r="r" b="b"/>
            <a:pathLst>
              <a:path w="1959938" h="2020017">
                <a:moveTo>
                  <a:pt x="0" y="0"/>
                </a:moveTo>
                <a:lnTo>
                  <a:pt x="583812" y="15598"/>
                </a:lnTo>
                <a:lnTo>
                  <a:pt x="792316" y="77993"/>
                </a:lnTo>
                <a:lnTo>
                  <a:pt x="917418" y="233979"/>
                </a:lnTo>
                <a:lnTo>
                  <a:pt x="1084221" y="569348"/>
                </a:lnTo>
                <a:lnTo>
                  <a:pt x="1209324" y="1193292"/>
                </a:lnTo>
                <a:lnTo>
                  <a:pt x="1334426" y="1739242"/>
                </a:lnTo>
                <a:lnTo>
                  <a:pt x="1459528" y="1934225"/>
                </a:lnTo>
                <a:lnTo>
                  <a:pt x="1709733" y="1996619"/>
                </a:lnTo>
                <a:lnTo>
                  <a:pt x="19599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59752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1780 · Muscle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9752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steam engine</a:t>
            </a:r>
          </a:p>
        </p:txBody>
      </p:sp>
      <p:sp>
        <p:nvSpPr>
          <p:cNvPr id="16" name="Freeform 15"/>
          <p:cNvSpPr/>
          <p:nvPr/>
        </p:nvSpPr>
        <p:spPr>
          <a:xfrm>
            <a:off x="5941101" y="3011604"/>
            <a:ext cx="1959938" cy="2020017"/>
          </a:xfrm>
          <a:custGeom>
            <a:avLst/>
            <a:gdLst/>
            <a:ahLst/>
            <a:cxnLst/>
            <a:rect l="l" t="t" r="r" b="b"/>
            <a:pathLst>
              <a:path w="1959938" h="2020017">
                <a:moveTo>
                  <a:pt x="0" y="0"/>
                </a:moveTo>
                <a:lnTo>
                  <a:pt x="583812" y="15598"/>
                </a:lnTo>
                <a:lnTo>
                  <a:pt x="792316" y="77993"/>
                </a:lnTo>
                <a:lnTo>
                  <a:pt x="917418" y="233979"/>
                </a:lnTo>
                <a:lnTo>
                  <a:pt x="1084221" y="569348"/>
                </a:lnTo>
                <a:lnTo>
                  <a:pt x="1209324" y="1193292"/>
                </a:lnTo>
                <a:lnTo>
                  <a:pt x="1334426" y="1739242"/>
                </a:lnTo>
                <a:lnTo>
                  <a:pt x="1459528" y="1934225"/>
                </a:lnTo>
                <a:lnTo>
                  <a:pt x="1709733" y="1996619"/>
                </a:lnTo>
                <a:lnTo>
                  <a:pt x="1959938" y="2020017"/>
                </a:lnTo>
              </a:path>
            </a:pathLst>
          </a:custGeom>
          <a:noFill/>
          <a:ln w="2794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96418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C2C2A"/>
                </a:solidFill>
                <a:latin typeface="Helvetica Neue Medium"/>
              </a:rPr>
              <a:t>1995 ·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6418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the internet</a:t>
            </a:r>
          </a:p>
        </p:txBody>
      </p:sp>
      <p:sp>
        <p:nvSpPr>
          <p:cNvPr id="19" name="Freeform 18"/>
          <p:cNvSpPr/>
          <p:nvPr/>
        </p:nvSpPr>
        <p:spPr>
          <a:xfrm>
            <a:off x="7984440" y="2996005"/>
            <a:ext cx="2335245" cy="2043415"/>
          </a:xfrm>
          <a:custGeom>
            <a:avLst/>
            <a:gdLst/>
            <a:ahLst/>
            <a:cxnLst/>
            <a:rect l="l" t="t" r="r" b="b"/>
            <a:pathLst>
              <a:path w="2335245" h="2043415">
                <a:moveTo>
                  <a:pt x="0" y="0"/>
                </a:moveTo>
                <a:lnTo>
                  <a:pt x="583812" y="15599"/>
                </a:lnTo>
                <a:lnTo>
                  <a:pt x="792316" y="77993"/>
                </a:lnTo>
                <a:lnTo>
                  <a:pt x="917418" y="233979"/>
                </a:lnTo>
                <a:lnTo>
                  <a:pt x="1084221" y="569349"/>
                </a:lnTo>
                <a:lnTo>
                  <a:pt x="1209323" y="1193292"/>
                </a:lnTo>
                <a:lnTo>
                  <a:pt x="1334426" y="1739243"/>
                </a:lnTo>
                <a:lnTo>
                  <a:pt x="1459528" y="1934225"/>
                </a:lnTo>
                <a:lnTo>
                  <a:pt x="1751434" y="2004419"/>
                </a:lnTo>
                <a:lnTo>
                  <a:pt x="2335245" y="2043415"/>
                </a:lnTo>
              </a:path>
            </a:pathLst>
          </a:custGeom>
          <a:noFill/>
          <a:ln w="3556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42260" y="22585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2023 · Thinking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2260" y="24780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artificial intelligence</a:t>
            </a:r>
          </a:p>
        </p:txBody>
      </p:sp>
      <p:sp>
        <p:nvSpPr>
          <p:cNvPr id="22" name="Oval 21"/>
          <p:cNvSpPr/>
          <p:nvPr/>
        </p:nvSpPr>
        <p:spPr>
          <a:xfrm>
            <a:off x="9188137" y="4491856"/>
            <a:ext cx="128016" cy="128016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6737" y="442784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You are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6737" y="4647304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mid-cliff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2023 — AI makes thinking cheap. You are standing on this cliff.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2868634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12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05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fourth cliff, in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What thinking costs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2490139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" y="2514600"/>
            <a:ext cx="208780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2C2C2A"/>
                </a:solidFill>
                <a:latin typeface="Helvetica Neue Medium"/>
              </a:rPr>
              <a:t>$30 </a:t>
            </a:r>
            <a:r>
              <a:rPr sz="2600" b="0" i="0">
                <a:solidFill>
                  <a:srgbClr val="D85A30"/>
                </a:solidFill>
                <a:latin typeface="Helvetica Neue Medium"/>
              </a:rPr>
              <a:t>→ </a:t>
            </a:r>
            <a:r>
              <a:rPr sz="2600" b="0" i="0">
                <a:solidFill>
                  <a:srgbClr val="2C2C2A"/>
                </a:solidFill>
                <a:latin typeface="Helvetica Neue Medium"/>
              </a:rPr>
              <a:t>10¢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3474720"/>
            <a:ext cx="208780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Price of AI intelligence, 2023 → 2026. Down 99.7%.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3411" y="2103120"/>
            <a:ext cx="2490139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24579" y="2514600"/>
            <a:ext cx="208780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 i="0">
                <a:solidFill>
                  <a:srgbClr val="2C2C2A"/>
                </a:solidFill>
                <a:latin typeface="Helvetica Neue Medium"/>
              </a:rPr>
              <a:t>2 wks </a:t>
            </a:r>
            <a:r>
              <a:rPr sz="2300" b="0" i="0">
                <a:solidFill>
                  <a:srgbClr val="D85A30"/>
                </a:solidFill>
                <a:latin typeface="Helvetica Neue Medium"/>
              </a:rPr>
              <a:t>→ </a:t>
            </a:r>
            <a:r>
              <a:rPr sz="2300" b="0" i="0">
                <a:solidFill>
                  <a:srgbClr val="2C2C2A"/>
                </a:solidFill>
                <a:latin typeface="Helvetica Neue Medium"/>
              </a:rPr>
              <a:t>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4579" y="3474720"/>
            <a:ext cx="208780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A full market report. Used to take an analyst two weeks.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2103120"/>
            <a:ext cx="2490139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9311" y="2514600"/>
            <a:ext cx="208780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$50K </a:t>
            </a:r>
            <a:r>
              <a:rPr sz="2400" b="0" i="0">
                <a:solidFill>
                  <a:srgbClr val="D85A30"/>
                </a:solidFill>
                <a:latin typeface="Helvetica Neue Medium"/>
              </a:rPr>
              <a:t>→ </a:t>
            </a:r>
            <a:r>
              <a:rPr sz="2400" b="0" i="0">
                <a:solidFill>
                  <a:srgbClr val="2C2C2A"/>
                </a:solidFill>
                <a:latin typeface="Helvetica Neue Medium"/>
              </a:rPr>
              <a:t>$30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11" y="3474720"/>
            <a:ext cx="208780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A working app. Used to need a whole dev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2875" y="2103120"/>
            <a:ext cx="2490139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34043" y="2514600"/>
            <a:ext cx="208780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900M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043" y="3474720"/>
            <a:ext cx="208780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People use ChatGPT every week. This is already normal.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Cheap is half the story. </a:t>
            </a:r>
            <a:r>
              <a:rPr sz="1700" b="0" i="0">
                <a:solidFill>
                  <a:srgbClr val="993C1D"/>
                </a:solidFill>
                <a:latin typeface="Helvetica Neue Medium"/>
              </a:rPr>
              <a:t>It's also getting smarter. Fast.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107686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13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06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Cheap, and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It beats every test we give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Scores on hard exams. Each test was meant to last ten years. None made it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16636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560320"/>
          </a:xfrm>
          <a:custGeom>
            <a:avLst/>
            <a:gdLst/>
            <a:ahLst/>
            <a:cxnLst/>
            <a:rect l="l" t="t" r="r" b="b"/>
            <a:pathLst>
              <a:path h="2560320">
                <a:moveTo>
                  <a:pt x="0" y="0"/>
                </a:moveTo>
                <a:lnTo>
                  <a:pt x="0" y="256032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196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279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389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98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58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178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84064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2950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74951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100%</a:t>
            </a:r>
          </a:p>
        </p:txBody>
      </p:sp>
      <p:sp>
        <p:nvSpPr>
          <p:cNvPr id="19" name="Freeform 18"/>
          <p:cNvSpPr/>
          <p:nvPr/>
        </p:nvSpPr>
        <p:spPr>
          <a:xfrm>
            <a:off x="1645920" y="2977287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15240">
            <a:solidFill>
              <a:srgbClr val="88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270296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≈ human experts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The dashed line = human experts. Press space.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3346739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14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06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Cheap, and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It beats every test we give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Scores on hard exams. Each test was meant to last ten years. None made it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16636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560320"/>
          </a:xfrm>
          <a:custGeom>
            <a:avLst/>
            <a:gdLst/>
            <a:ahLst/>
            <a:cxnLst/>
            <a:rect l="l" t="t" r="r" b="b"/>
            <a:pathLst>
              <a:path h="2560320">
                <a:moveTo>
                  <a:pt x="0" y="0"/>
                </a:moveTo>
                <a:lnTo>
                  <a:pt x="0" y="256032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196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279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389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98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58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178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84064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2950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74951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100%</a:t>
            </a:r>
          </a:p>
        </p:txBody>
      </p:sp>
      <p:sp>
        <p:nvSpPr>
          <p:cNvPr id="19" name="Freeform 18"/>
          <p:cNvSpPr/>
          <p:nvPr/>
        </p:nvSpPr>
        <p:spPr>
          <a:xfrm>
            <a:off x="1645920" y="2977287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15240">
            <a:solidFill>
              <a:srgbClr val="88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270296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≈ human experts</a:t>
            </a:r>
          </a:p>
        </p:txBody>
      </p:sp>
      <p:sp>
        <p:nvSpPr>
          <p:cNvPr id="21" name="Freeform 20"/>
          <p:cNvSpPr/>
          <p:nvPr/>
        </p:nvSpPr>
        <p:spPr>
          <a:xfrm>
            <a:off x="1645920" y="2862072"/>
            <a:ext cx="6547024" cy="1483480"/>
          </a:xfrm>
          <a:custGeom>
            <a:avLst/>
            <a:gdLst/>
            <a:ahLst/>
            <a:cxnLst/>
            <a:rect l="l" t="t" r="r" b="b"/>
            <a:pathLst>
              <a:path w="6547024" h="1483480">
                <a:moveTo>
                  <a:pt x="0" y="1483480"/>
                </a:moveTo>
                <a:lnTo>
                  <a:pt x="834015" y="1310282"/>
                </a:lnTo>
                <a:lnTo>
                  <a:pt x="1309404" y="1174736"/>
                </a:lnTo>
                <a:lnTo>
                  <a:pt x="2001638" y="971416"/>
                </a:lnTo>
                <a:lnTo>
                  <a:pt x="2618809" y="768096"/>
                </a:lnTo>
                <a:lnTo>
                  <a:pt x="3336063" y="609959"/>
                </a:lnTo>
                <a:lnTo>
                  <a:pt x="3928214" y="512064"/>
                </a:lnTo>
                <a:lnTo>
                  <a:pt x="4587087" y="293684"/>
                </a:lnTo>
                <a:lnTo>
                  <a:pt x="5237619" y="105425"/>
                </a:lnTo>
                <a:lnTo>
                  <a:pt x="5921512" y="30122"/>
                </a:lnTo>
                <a:lnTo>
                  <a:pt x="6547024" y="0"/>
                </a:lnTo>
              </a:path>
            </a:pathLst>
          </a:custGeom>
          <a:noFill/>
          <a:ln w="2794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172" y="3886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College 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172" y="4078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MMLU · beaten by 2023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College exams — beaten by 2023.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3585792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15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06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Cheap, and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It beats every test we give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Scores on hard exams. Each test was meant to last ten years. None made it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16636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560320"/>
          </a:xfrm>
          <a:custGeom>
            <a:avLst/>
            <a:gdLst/>
            <a:ahLst/>
            <a:cxnLst/>
            <a:rect l="l" t="t" r="r" b="b"/>
            <a:pathLst>
              <a:path h="2560320">
                <a:moveTo>
                  <a:pt x="0" y="0"/>
                </a:moveTo>
                <a:lnTo>
                  <a:pt x="0" y="256032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196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279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389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98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58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178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84064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2950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74951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100%</a:t>
            </a:r>
          </a:p>
        </p:txBody>
      </p:sp>
      <p:sp>
        <p:nvSpPr>
          <p:cNvPr id="19" name="Freeform 18"/>
          <p:cNvSpPr/>
          <p:nvPr/>
        </p:nvSpPr>
        <p:spPr>
          <a:xfrm>
            <a:off x="1645920" y="2977287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15240">
            <a:solidFill>
              <a:srgbClr val="88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270296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≈ human experts</a:t>
            </a:r>
          </a:p>
        </p:txBody>
      </p:sp>
      <p:sp>
        <p:nvSpPr>
          <p:cNvPr id="21" name="Freeform 20"/>
          <p:cNvSpPr/>
          <p:nvPr/>
        </p:nvSpPr>
        <p:spPr>
          <a:xfrm>
            <a:off x="1645920" y="2862072"/>
            <a:ext cx="6547024" cy="1483480"/>
          </a:xfrm>
          <a:custGeom>
            <a:avLst/>
            <a:gdLst/>
            <a:ahLst/>
            <a:cxnLst/>
            <a:rect l="l" t="t" r="r" b="b"/>
            <a:pathLst>
              <a:path w="6547024" h="1483480">
                <a:moveTo>
                  <a:pt x="0" y="1483480"/>
                </a:moveTo>
                <a:lnTo>
                  <a:pt x="834015" y="1310282"/>
                </a:lnTo>
                <a:lnTo>
                  <a:pt x="1309404" y="1174736"/>
                </a:lnTo>
                <a:lnTo>
                  <a:pt x="2001638" y="971416"/>
                </a:lnTo>
                <a:lnTo>
                  <a:pt x="2618809" y="768096"/>
                </a:lnTo>
                <a:lnTo>
                  <a:pt x="3336063" y="609959"/>
                </a:lnTo>
                <a:lnTo>
                  <a:pt x="3928214" y="512064"/>
                </a:lnTo>
                <a:lnTo>
                  <a:pt x="4587087" y="293684"/>
                </a:lnTo>
                <a:lnTo>
                  <a:pt x="5237619" y="105425"/>
                </a:lnTo>
                <a:lnTo>
                  <a:pt x="5921512" y="30122"/>
                </a:lnTo>
                <a:lnTo>
                  <a:pt x="6547024" y="0"/>
                </a:lnTo>
              </a:path>
            </a:pathLst>
          </a:custGeom>
          <a:noFill/>
          <a:ln w="2794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172" y="3886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College 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172" y="4078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MMLU · beaten by 2023</a:t>
            </a:r>
          </a:p>
        </p:txBody>
      </p:sp>
      <p:sp>
        <p:nvSpPr>
          <p:cNvPr id="24" name="Freeform 23"/>
          <p:cNvSpPr/>
          <p:nvPr/>
        </p:nvSpPr>
        <p:spPr>
          <a:xfrm>
            <a:off x="6883539" y="2809360"/>
            <a:ext cx="3928215" cy="1438297"/>
          </a:xfrm>
          <a:custGeom>
            <a:avLst/>
            <a:gdLst/>
            <a:ahLst/>
            <a:cxnLst/>
            <a:rect l="l" t="t" r="r" b="b"/>
            <a:pathLst>
              <a:path w="3928215" h="1438297">
                <a:moveTo>
                  <a:pt x="0" y="1438297"/>
                </a:moveTo>
                <a:lnTo>
                  <a:pt x="683893" y="1137083"/>
                </a:lnTo>
                <a:lnTo>
                  <a:pt x="1309405" y="820808"/>
                </a:lnTo>
                <a:lnTo>
                  <a:pt x="2018319" y="474412"/>
                </a:lnTo>
                <a:lnTo>
                  <a:pt x="2618810" y="180728"/>
                </a:lnTo>
                <a:lnTo>
                  <a:pt x="3269343" y="37652"/>
                </a:lnTo>
                <a:lnTo>
                  <a:pt x="3928215" y="0"/>
                </a:lnTo>
              </a:path>
            </a:pathLst>
          </a:custGeom>
          <a:noFill/>
          <a:ln w="30480">
            <a:solidFill>
              <a:srgbClr val="444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50425" y="447507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44441"/>
                </a:solidFill>
                <a:latin typeface="Helvetica Neue Medium"/>
              </a:rPr>
              <a:t>PhD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425" y="466709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GPQA · beaten by 2026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PhD-level science — beaten by 2026.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382484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16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06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Cheap, and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C2C2A"/>
                </a:solidFill>
                <a:latin typeface="Helvetica Neue Medium"/>
              </a:rPr>
              <a:t>It beats every test we give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F5E5A"/>
                </a:solidFill>
                <a:latin typeface="Helvetica Neue"/>
              </a:rPr>
              <a:t>Scores on hard exams. Each test was meant to last ten years. None made it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10454335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45920" y="5166360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645920" y="2606040"/>
            <a:ext cx="0" cy="2560320"/>
          </a:xfrm>
          <a:custGeom>
            <a:avLst/>
            <a:gdLst/>
            <a:ahLst/>
            <a:cxnLst/>
            <a:rect l="l" t="t" r="r" b="b"/>
            <a:pathLst>
              <a:path h="2560320">
                <a:moveTo>
                  <a:pt x="0" y="0"/>
                </a:moveTo>
                <a:lnTo>
                  <a:pt x="0" y="2560320"/>
                </a:lnTo>
              </a:path>
            </a:pathLst>
          </a:custGeom>
          <a:noFill/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2196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279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389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98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582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178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522122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84064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29508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74951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100%</a:t>
            </a:r>
          </a:p>
        </p:txBody>
      </p:sp>
      <p:sp>
        <p:nvSpPr>
          <p:cNvPr id="19" name="Freeform 18"/>
          <p:cNvSpPr/>
          <p:nvPr/>
        </p:nvSpPr>
        <p:spPr>
          <a:xfrm>
            <a:off x="1645920" y="2977287"/>
            <a:ext cx="9174175" cy="0"/>
          </a:xfrm>
          <a:custGeom>
            <a:avLst/>
            <a:gdLst/>
            <a:ahLst/>
            <a:cxnLst/>
            <a:rect l="l" t="t" r="r" b="b"/>
            <a:pathLst>
              <a:path w="9174175">
                <a:moveTo>
                  <a:pt x="0" y="0"/>
                </a:moveTo>
                <a:lnTo>
                  <a:pt x="9174175" y="0"/>
                </a:lnTo>
              </a:path>
            </a:pathLst>
          </a:custGeom>
          <a:noFill/>
          <a:ln w="15240">
            <a:solidFill>
              <a:srgbClr val="88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2702967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≈ human experts</a:t>
            </a:r>
          </a:p>
        </p:txBody>
      </p:sp>
      <p:sp>
        <p:nvSpPr>
          <p:cNvPr id="21" name="Freeform 20"/>
          <p:cNvSpPr/>
          <p:nvPr/>
        </p:nvSpPr>
        <p:spPr>
          <a:xfrm>
            <a:off x="1645920" y="2862072"/>
            <a:ext cx="6547024" cy="1483480"/>
          </a:xfrm>
          <a:custGeom>
            <a:avLst/>
            <a:gdLst/>
            <a:ahLst/>
            <a:cxnLst/>
            <a:rect l="l" t="t" r="r" b="b"/>
            <a:pathLst>
              <a:path w="6547024" h="1483480">
                <a:moveTo>
                  <a:pt x="0" y="1483480"/>
                </a:moveTo>
                <a:lnTo>
                  <a:pt x="834015" y="1310282"/>
                </a:lnTo>
                <a:lnTo>
                  <a:pt x="1309404" y="1174736"/>
                </a:lnTo>
                <a:lnTo>
                  <a:pt x="2001638" y="971416"/>
                </a:lnTo>
                <a:lnTo>
                  <a:pt x="2618809" y="768096"/>
                </a:lnTo>
                <a:lnTo>
                  <a:pt x="3336063" y="609959"/>
                </a:lnTo>
                <a:lnTo>
                  <a:pt x="3928214" y="512064"/>
                </a:lnTo>
                <a:lnTo>
                  <a:pt x="4587087" y="293684"/>
                </a:lnTo>
                <a:lnTo>
                  <a:pt x="5237619" y="105425"/>
                </a:lnTo>
                <a:lnTo>
                  <a:pt x="5921512" y="30122"/>
                </a:lnTo>
                <a:lnTo>
                  <a:pt x="6547024" y="0"/>
                </a:lnTo>
              </a:path>
            </a:pathLst>
          </a:custGeom>
          <a:noFill/>
          <a:ln w="2794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172" y="3886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College 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172" y="4078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88780"/>
                </a:solidFill>
                <a:latin typeface="Helvetica Neue"/>
              </a:rPr>
              <a:t>MMLU · beaten by 2023</a:t>
            </a:r>
          </a:p>
        </p:txBody>
      </p:sp>
      <p:sp>
        <p:nvSpPr>
          <p:cNvPr id="24" name="Freeform 23"/>
          <p:cNvSpPr/>
          <p:nvPr/>
        </p:nvSpPr>
        <p:spPr>
          <a:xfrm>
            <a:off x="6883539" y="2809360"/>
            <a:ext cx="3928215" cy="1438297"/>
          </a:xfrm>
          <a:custGeom>
            <a:avLst/>
            <a:gdLst/>
            <a:ahLst/>
            <a:cxnLst/>
            <a:rect l="l" t="t" r="r" b="b"/>
            <a:pathLst>
              <a:path w="3928215" h="1438297">
                <a:moveTo>
                  <a:pt x="0" y="1438297"/>
                </a:moveTo>
                <a:lnTo>
                  <a:pt x="683893" y="1137083"/>
                </a:lnTo>
                <a:lnTo>
                  <a:pt x="1309405" y="820808"/>
                </a:lnTo>
                <a:lnTo>
                  <a:pt x="2018319" y="474412"/>
                </a:lnTo>
                <a:lnTo>
                  <a:pt x="2618810" y="180728"/>
                </a:lnTo>
                <a:lnTo>
                  <a:pt x="3269343" y="37652"/>
                </a:lnTo>
                <a:lnTo>
                  <a:pt x="3928215" y="0"/>
                </a:lnTo>
              </a:path>
            </a:pathLst>
          </a:custGeom>
          <a:noFill/>
          <a:ln w="30480">
            <a:solidFill>
              <a:srgbClr val="444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50425" y="447507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44441"/>
                </a:solidFill>
                <a:latin typeface="Helvetica Neue Medium"/>
              </a:rPr>
              <a:t>PhD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425" y="4667098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GPQA · beaten by 2026</a:t>
            </a:r>
          </a:p>
        </p:txBody>
      </p:sp>
      <p:sp>
        <p:nvSpPr>
          <p:cNvPr id="27" name="Freeform 26"/>
          <p:cNvSpPr/>
          <p:nvPr/>
        </p:nvSpPr>
        <p:spPr>
          <a:xfrm>
            <a:off x="10469808" y="2658753"/>
            <a:ext cx="375307" cy="1152144"/>
          </a:xfrm>
          <a:custGeom>
            <a:avLst/>
            <a:gdLst/>
            <a:ahLst/>
            <a:cxnLst/>
            <a:rect l="l" t="t" r="r" b="b"/>
            <a:pathLst>
              <a:path w="375307" h="1152144">
                <a:moveTo>
                  <a:pt x="0" y="1152144"/>
                </a:moveTo>
                <a:lnTo>
                  <a:pt x="141783" y="850930"/>
                </a:lnTo>
                <a:lnTo>
                  <a:pt x="266885" y="361457"/>
                </a:lnTo>
                <a:lnTo>
                  <a:pt x="375307" y="0"/>
                </a:lnTo>
              </a:path>
            </a:pathLst>
          </a:custGeom>
          <a:noFill/>
          <a:ln w="3556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24088" y="3765177"/>
            <a:ext cx="91440" cy="91440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99395" y="2613033"/>
            <a:ext cx="91440" cy="91440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7429" y="409102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Built to stop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7429" y="4283050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"/>
              </a:rPr>
              <a:t>ARC-AGI-2 · lasted 4 months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9848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71016" y="5897880"/>
            <a:ext cx="118872" cy="118872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63624" y="5861304"/>
            <a:ext cx="9759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F5E5A"/>
                </a:solidFill>
                <a:latin typeface="Helvetica Neue Medium"/>
              </a:rPr>
              <a:t>A test built to stop AI — lasted four months.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4063898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17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08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complaints never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What they said then. What they say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1492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“Printed books are full of mistakes.”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“Too many books will make people lazy.”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— real complaints from the 1490s.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“AI makes things up.”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“AI will make you lazy.”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— sound familiar?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57784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All partly true.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The press won anyway.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42004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18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40983" y="1271016"/>
            <a:ext cx="109728" cy="109728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971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0997B"/>
                </a:solidFill>
                <a:latin typeface="Helvetica Neue Medium"/>
              </a:rPr>
              <a:t>ACT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99713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0" b="0" i="0">
                <a:solidFill>
                  <a:srgbClr val="F1EFE8"/>
                </a:solidFill>
                <a:latin typeface="Helvetica Neue Medium"/>
              </a:rPr>
              <a:t>The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34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b="0" i="0">
                <a:solidFill>
                  <a:srgbClr val="D9D7CF"/>
                </a:solidFill>
                <a:latin typeface="Helvetica Neue"/>
              </a:rPr>
              <a:t>One afternoon. Five things. </a:t>
            </a:r>
            <a:r>
              <a:rPr sz="2100" b="0" i="0">
                <a:solidFill>
                  <a:srgbClr val="F0997B"/>
                </a:solidFill>
                <a:latin typeface="Helvetica Neue Medium"/>
              </a:rPr>
              <a:t>Zero employees.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020109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BBB9B2"/>
                </a:solidFill>
                <a:latin typeface="Helvetica Neue Medium"/>
              </a:rPr>
              <a:t>19</a:t>
            </a:fld>
            <a:r>
              <a:rPr lang="en-US" sz="1000" b="0" dirty="0">
                <a:solidFill>
                  <a:srgbClr val="77767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10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Live, on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Let's start a company. Right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1973823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2450592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880360"/>
            <a:ext cx="1644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3703320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Is this idea any good?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8807" y="2103120"/>
            <a:ext cx="1973823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3399" y="2450592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399" y="2880360"/>
            <a:ext cx="1644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3399" y="3703320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A name, a logo, a vibe.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8935" y="2103120"/>
            <a:ext cx="1973823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3527" y="2450592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3527" y="2880360"/>
            <a:ext cx="1644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3527" y="3703320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A deck investors will read.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9063" y="2103120"/>
            <a:ext cx="1973823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93655" y="2450592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3655" y="2880360"/>
            <a:ext cx="1644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3655" y="3703320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A working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49191" y="2103120"/>
            <a:ext cx="1973823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3783" y="2450592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3783" y="2880360"/>
            <a:ext cx="1644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3783" y="3703320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A video, ads, a website.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63440"/>
            <a:ext cx="10454335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Ins="256032" bIns="91440" rtlCol="0" anchor="ctr"/>
          <a:lstStyle/>
          <a:p>
            <a:pPr algn="ctr"/>
            <a:r>
              <a:rPr sz="1600" b="0">
                <a:solidFill>
                  <a:srgbClr val="993C1D"/>
                </a:solidFill>
                <a:latin typeface="Helvetica Neue Medium"/>
              </a:rPr>
              <a:t>The old way: a whole team.</a:t>
            </a:r>
            <a:r>
              <a:rPr sz="1600" b="0">
                <a:solidFill>
                  <a:srgbClr val="2C2C2A"/>
                </a:solidFill>
                <a:latin typeface="Helvetica Neue Medium"/>
              </a:rPr>
              <a:t>   Today: you, one afternoon.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259162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20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i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Step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Is this idea any good?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Pay a research firm $100K. Wait three months.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Most ideas died right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This 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Get 50 ideas. Make the AI attack your favorite.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A research agent checks the whole market while you get coffee.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On stage</a:t>
            </a:r>
            <a:r>
              <a:rPr sz="1300" b="0" i="0">
                <a:solidFill>
                  <a:srgbClr val="5F5E5A"/>
                </a:solidFill>
                <a:latin typeface="Helvetica Neue"/>
              </a:rPr>
              <a:t> — Claude, Perplexity.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549821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21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ii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Step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The name and the look.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A design agency. Six weeks. Five logo options.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Cost: $20,000 and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This 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200 names and logos before lunch.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You pick. Taste is your job, not the machine's.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On stage</a:t>
            </a:r>
            <a:r>
              <a:rPr sz="1300" b="0" i="0">
                <a:solidFill>
                  <a:srgbClr val="5F5E5A"/>
                </a:solidFill>
                <a:latin typeface="Helvetica Neue"/>
              </a:rPr>
              <a:t> — Midjourney, Canva.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5737268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22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iii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Step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The pitch.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A week of PowerPoint pain.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Slides written by committee.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This 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The deck builds itself from your research.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You fix the story. Investors read clarity.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On stage</a:t>
            </a:r>
            <a:r>
              <a:rPr sz="1300" b="0" i="0">
                <a:solidFill>
                  <a:srgbClr val="5F5E5A"/>
                </a:solidFill>
                <a:latin typeface="Helvetica Neue"/>
              </a:rPr>
              <a:t> — Gamma, Claude.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5976321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23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iv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Step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The app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$50,000 and a dev team — or a technical cofounder you don't have.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This step killed the most ideas.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This 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Describe it. Look at it. Fix it. Repeat.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Real working apps from people who can't code.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On stage</a:t>
            </a:r>
            <a:r>
              <a:rPr sz="1300" b="0" i="0">
                <a:solidFill>
                  <a:srgbClr val="5F5E5A"/>
                </a:solidFill>
                <a:latin typeface="Helvetica Neue"/>
              </a:rPr>
              <a:t> — Lovable, Claude Code, Cursor.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6215373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24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v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Step five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The launch.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A video crew. An ad agency. Months of waiting.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This 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A launch video before lunch. Fifty ads by dinner.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Spreading it still takes hustle. Making it is free.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On stage</a:t>
            </a:r>
            <a:r>
              <a:rPr sz="1300" b="0" i="0">
                <a:solidFill>
                  <a:srgbClr val="5F5E5A"/>
                </a:solidFill>
                <a:latin typeface="Helvetica Neue"/>
              </a:rPr>
              <a:t> — Veo, Sora, Canva.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6454426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25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11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2588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0" i="0">
                <a:solidFill>
                  <a:srgbClr val="2C2C2A"/>
                </a:solidFill>
                <a:latin typeface="Helvetica Neue Medium"/>
              </a:rPr>
              <a:t>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90007" y="278892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888780"/>
                </a:solidFill>
                <a:latin typeface="Helvetica Neue Medium"/>
              </a:rPr>
              <a:t>QR code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9971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Scan to follow along on your own laptop.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693479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26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40983" y="1271016"/>
            <a:ext cx="109728" cy="109728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971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0997B"/>
                </a:solidFill>
                <a:latin typeface="Helvetica Neue Medium"/>
              </a:rPr>
              <a:t>ACT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99713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0" b="0" i="0">
                <a:solidFill>
                  <a:srgbClr val="F1EFE8"/>
                </a:solidFill>
                <a:latin typeface="Helvetica Neue Medium"/>
              </a:rPr>
              <a:t>The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34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b="0" i="0">
                <a:solidFill>
                  <a:srgbClr val="D9D7CF"/>
                </a:solidFill>
                <a:latin typeface="Helvetica Neue"/>
              </a:rPr>
              <a:t>Some became printers. Most stayed spectators. </a:t>
            </a:r>
            <a:r>
              <a:rPr sz="2100" b="0" i="0">
                <a:solidFill>
                  <a:srgbClr val="F0997B"/>
                </a:solidFill>
                <a:latin typeface="Helvetica Neue Medium"/>
              </a:rPr>
              <a:t>The difference was never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17158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BBB9B2"/>
                </a:solidFill>
                <a:latin typeface="Helvetica Neue Medium"/>
              </a:rPr>
              <a:t>27</a:t>
            </a:fld>
            <a:r>
              <a:rPr lang="en-US" sz="1000" b="0" dirty="0">
                <a:solidFill>
                  <a:srgbClr val="77767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13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honest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 i="0">
                <a:solidFill>
                  <a:srgbClr val="2C2C2A"/>
                </a:solidFill>
                <a:latin typeface="Helvetica Neue Medium"/>
              </a:rPr>
              <a:t>The press didn't make everyone a publisher. </a:t>
            </a:r>
            <a:r>
              <a:rPr sz="3800" b="0" i="0">
                <a:solidFill>
                  <a:srgbClr val="D85A30"/>
                </a:solidFill>
                <a:latin typeface="Helvetica Neue Medium"/>
              </a:rPr>
              <a:t>AI won't make everyone a builder.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Everyone had access. The difference was habits.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410638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28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14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intern's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503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 dirty="0">
                <a:solidFill>
                  <a:srgbClr val="2C2C2A"/>
                </a:solidFill>
                <a:latin typeface="Helvetica Neue Medium"/>
              </a:rPr>
              <a:t>AI now does the work </a:t>
            </a:r>
            <a:r>
              <a:rPr lang="en-US" sz="3200" b="0" i="0" dirty="0">
                <a:solidFill>
                  <a:srgbClr val="2C2C2A"/>
                </a:solidFill>
                <a:latin typeface="Helvetica Neue Medium"/>
              </a:rPr>
              <a:t>that we </a:t>
            </a:r>
            <a:r>
              <a:rPr sz="3200" b="0" i="0" dirty="0">
                <a:solidFill>
                  <a:srgbClr val="2C2C2A"/>
                </a:solidFill>
                <a:latin typeface="Helvetica Neue Medium"/>
              </a:rPr>
              <a:t>used to learn from.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The old 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1243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 dirty="0">
                <a:solidFill>
                  <a:srgbClr val="2C2C2A"/>
                </a:solidFill>
                <a:latin typeface="Helvetica Neue"/>
              </a:rPr>
              <a:t>Do the boring work for years.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 dirty="0">
                <a:solidFill>
                  <a:srgbClr val="2C2C2A"/>
                </a:solidFill>
                <a:latin typeface="Helvetica Neue"/>
              </a:rPr>
              <a:t>Slowly learn judgment from your </a:t>
            </a:r>
            <a:r>
              <a:rPr lang="en-US" sz="1700" b="0" i="0" dirty="0">
                <a:solidFill>
                  <a:srgbClr val="2C2C2A"/>
                </a:solidFill>
                <a:latin typeface="Helvetica Neue"/>
              </a:rPr>
              <a:t>manager</a:t>
            </a:r>
            <a:r>
              <a:rPr sz="1700" b="0" i="0" dirty="0">
                <a:solidFill>
                  <a:srgbClr val="2C2C2A"/>
                </a:solidFill>
                <a:latin typeface="Helvetica Neue"/>
              </a:rPr>
              <a:t>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 dirty="0">
                <a:solidFill>
                  <a:srgbClr val="5F5E5A"/>
                </a:solidFill>
                <a:latin typeface="Helvetica Neue"/>
              </a:rPr>
              <a:t>The boring work was the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The new 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 dirty="0">
                <a:solidFill>
                  <a:srgbClr val="2C2C2A"/>
                </a:solidFill>
                <a:latin typeface="Helvetica Neue"/>
              </a:rPr>
              <a:t>AI does the boring work now.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 dirty="0">
                <a:solidFill>
                  <a:srgbClr val="2C2C2A"/>
                </a:solidFill>
                <a:latin typeface="Helvetica Neue"/>
              </a:rPr>
              <a:t>So go get judgment on purpose: review work, make calls, own results.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 dirty="0">
                <a:solidFill>
                  <a:srgbClr val="993C1D"/>
                </a:solidFill>
                <a:latin typeface="Helvetica Neue Medium"/>
              </a:rPr>
              <a:t>Nobody hands you this.</a:t>
            </a:r>
            <a:r>
              <a:rPr sz="1300" b="0" i="0" dirty="0">
                <a:solidFill>
                  <a:srgbClr val="5F5E5A"/>
                </a:solidFill>
                <a:latin typeface="Helvetica Neue"/>
              </a:rPr>
              <a:t> You take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57784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The ladder lost its bottom rungs.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Climb differently.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64969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29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15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 i="0">
                <a:solidFill>
                  <a:srgbClr val="2C2C2A"/>
                </a:solidFill>
                <a:latin typeface="Helvetica Neue Medium"/>
              </a:rPr>
              <a:t>Good questions in, good answers out. </a:t>
            </a:r>
            <a:r>
              <a:rPr sz="4000" b="0" i="0">
                <a:solidFill>
                  <a:srgbClr val="D85A30"/>
                </a:solidFill>
                <a:latin typeface="Helvetica Neue Medium"/>
              </a:rPr>
              <a:t>Curiosity is the whole game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Curious people get better answers from the exact same machine.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888743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30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16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Train it like a muscle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The curiosity workout.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REP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Ask the question behind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Before any task, ask: what is this </a:t>
            </a:r>
            <a:r>
              <a:rPr sz="1500" b="0" i="0">
                <a:solidFill>
                  <a:srgbClr val="993C1D"/>
                </a:solidFill>
                <a:latin typeface="Helvetica Neue Medium"/>
              </a:rPr>
              <a:t>really</a:t>
            </a:r>
            <a:r>
              <a:rPr sz="1500" b="0" i="0">
                <a:solidFill>
                  <a:srgbClr val="5F5E5A"/>
                </a:solidFill>
                <a:latin typeface="Helvetica Neue"/>
              </a:rPr>
              <a:t> for?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0751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REP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7911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Demand the counterargument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3631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Never take the first answer. Say: </a:t>
            </a:r>
            <a:r>
              <a:rPr sz="1500" b="0" i="0">
                <a:solidFill>
                  <a:srgbClr val="993C1D"/>
                </a:solidFill>
                <a:latin typeface="Helvetica Neue Medium"/>
              </a:rPr>
              <a:t>“now argue against yourself.”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127796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31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17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Two more reps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Every single 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REP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Follow one annoyance a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Whatever made you sigh today is an idea worth chasing.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0751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REP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7911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Keep a question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3631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Write down 3 questions a day. Feed one to AI every evening.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366849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32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18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Learned from the winners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Habits of the first printers.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HABIT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Play before it's respectable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Use AI for everything, for one month. Even where it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0751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HABIT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7911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Solve the right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3631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AI answers any question. It can't tell you if it's the </a:t>
            </a:r>
            <a:r>
              <a:rPr sz="1500" b="0" i="0">
                <a:solidFill>
                  <a:srgbClr val="993C1D"/>
                </a:solidFill>
                <a:latin typeface="Helvetica Neue Medium"/>
              </a:rPr>
              <a:t>right</a:t>
            </a:r>
            <a:r>
              <a:rPr sz="1500" b="0" i="0">
                <a:solidFill>
                  <a:srgbClr val="5F5E5A"/>
                </a:solidFill>
                <a:latin typeface="Helvetica Neue"/>
              </a:rPr>
              <a:t>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605902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33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19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And the two that matter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Ship small. Decide yourself.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HABIT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Ship small things weekly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Pamphlets, not encyclopedias. Finish things. Show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240280"/>
            <a:ext cx="5126583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0751" y="2743200"/>
            <a:ext cx="45779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HABIT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7911" y="3200400"/>
            <a:ext cx="430362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0" i="0">
                <a:solidFill>
                  <a:srgbClr val="2C2C2A"/>
                </a:solidFill>
                <a:latin typeface="Helvetica Neue Medium"/>
              </a:rPr>
              <a:t>Keep the editor's 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3631" y="4297680"/>
            <a:ext cx="4212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5F5E5A"/>
                </a:solidFill>
                <a:latin typeface="Helvetica Neue"/>
              </a:rPr>
              <a:t>Let AI draft everything. </a:t>
            </a:r>
            <a:r>
              <a:rPr sz="1500" b="0" i="0">
                <a:solidFill>
                  <a:srgbClr val="993C1D"/>
                </a:solidFill>
                <a:latin typeface="Helvetica Neue Medium"/>
              </a:rPr>
              <a:t>Never let it decide.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84495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34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20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Your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585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0" i="0" dirty="0">
                <a:solidFill>
                  <a:srgbClr val="2C2C2A"/>
                </a:solidFill>
                <a:latin typeface="Helvetica Neue Medium"/>
              </a:rPr>
              <a:t>Your three tools</a:t>
            </a:r>
            <a:endParaRPr sz="3400" b="0" i="0" dirty="0">
              <a:solidFill>
                <a:srgbClr val="2C2C2A"/>
              </a:solidFill>
              <a:latin typeface="Helvetica Neue Medium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869930" y="2075688"/>
            <a:ext cx="1973823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34522" y="2395728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522" y="2852928"/>
            <a:ext cx="1644639" cy="275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550" dirty="0">
                <a:solidFill>
                  <a:srgbClr val="2C2C2A"/>
                </a:solidFill>
                <a:latin typeface="Helvetica Neue Medium"/>
              </a:rPr>
              <a:t>Coach</a:t>
            </a:r>
            <a:r>
              <a:rPr sz="1550" b="0" i="0" dirty="0">
                <a:solidFill>
                  <a:srgbClr val="2C2C2A"/>
                </a:solidFill>
                <a:latin typeface="Helvetica Neue Medium"/>
              </a:rPr>
              <a:t> · </a:t>
            </a:r>
            <a:r>
              <a:rPr lang="en-US" sz="1550" b="0" i="0" dirty="0">
                <a:solidFill>
                  <a:srgbClr val="2C2C2A"/>
                </a:solidFill>
                <a:latin typeface="Helvetica Neue Medium"/>
              </a:rPr>
              <a:t>LLM</a:t>
            </a:r>
            <a:r>
              <a:rPr sz="1550" b="0" i="0" dirty="0">
                <a:solidFill>
                  <a:srgbClr val="2C2C2A"/>
                </a:solidFill>
                <a:latin typeface="Helvetica Neue Medium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4522" y="3858768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Your daily thinking partner.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0057" y="2075688"/>
            <a:ext cx="1973823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54649" y="2395728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4649" y="2852928"/>
            <a:ext cx="1644639" cy="586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 dirty="0">
                <a:solidFill>
                  <a:srgbClr val="2C2C2A"/>
                </a:solidFill>
                <a:latin typeface="Helvetica Neue Medium"/>
              </a:rPr>
              <a:t>Perplexity </a:t>
            </a:r>
            <a:r>
              <a:rPr lang="en-US" sz="1550" dirty="0">
                <a:solidFill>
                  <a:srgbClr val="2C2C2A"/>
                </a:solidFill>
                <a:latin typeface="Helvetica Neue Medium"/>
              </a:rPr>
              <a:t>D</a:t>
            </a:r>
            <a:r>
              <a:rPr sz="1550" b="0" i="0" dirty="0">
                <a:solidFill>
                  <a:srgbClr val="2C2C2A"/>
                </a:solidFill>
                <a:latin typeface="Helvetica Neue Medium"/>
              </a:rPr>
              <a:t>eep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4649" y="3858768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A 20-minute analyst.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0185" y="2075688"/>
            <a:ext cx="1973823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74777" y="2395728"/>
            <a:ext cx="164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93C1D"/>
                </a:solidFill>
                <a:latin typeface="Helvetica Neue Medium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777" y="2852928"/>
            <a:ext cx="1644639" cy="275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550" b="0" i="0" dirty="0" err="1">
                <a:solidFill>
                  <a:srgbClr val="2C2C2A"/>
                </a:solidFill>
                <a:latin typeface="Helvetica Neue Medium"/>
              </a:rPr>
              <a:t>DevGPT</a:t>
            </a:r>
            <a:endParaRPr sz="1550" b="0" i="0" dirty="0">
              <a:solidFill>
                <a:srgbClr val="2C2C2A"/>
              </a:solidFill>
              <a:latin typeface="Helvetica Neue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74777" y="3858768"/>
            <a:ext cx="164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5F5E5A"/>
                </a:solidFill>
                <a:latin typeface="Helvetica Neue"/>
              </a:rPr>
              <a:t>Apps from plain English.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7784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Go deep for a month.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Calluses, not bookmarks.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084008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35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6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21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Every week you're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0" i="0">
                <a:solidFill>
                  <a:srgbClr val="2C2C2A"/>
                </a:solidFill>
                <a:latin typeface="Helvetica Neue Medium"/>
              </a:rPr>
              <a:t>The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3362858" cy="2423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D85A30"/>
                </a:solidFill>
                <a:latin typeface="Helvetica Neue Medium"/>
              </a:rPr>
              <a:t>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337560"/>
            <a:ext cx="263133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One task everyone here quietly hates.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4418" y="2103120"/>
            <a:ext cx="3362858" cy="2423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8738" y="260604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D85A30"/>
                </a:solidFill>
                <a:latin typeface="Helvetica Neue Medium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0178" y="3337560"/>
            <a:ext cx="263133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A rough fix, with AI, in one afternoon.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0156" y="2103120"/>
            <a:ext cx="3362858" cy="2423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4476" y="260604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D85A30"/>
                </a:solidFill>
                <a:latin typeface="Helvetica Neue Medium"/>
              </a:rPr>
              <a:t>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3337560"/>
            <a:ext cx="263133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One person who can say yes.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57784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Twelve weeks. Twelve loops.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That's how printers were made.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32306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36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40983" y="1271016"/>
            <a:ext cx="109728" cy="109728"/>
          </a:xfrm>
          <a:prstGeom prst="ellipse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971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0997B"/>
                </a:solidFill>
                <a:latin typeface="Helvetica Neue Medium"/>
              </a:rPr>
              <a:t>ONE MORE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99713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0" b="0" i="0">
                <a:solidFill>
                  <a:srgbClr val="F1EFE8"/>
                </a:solidFill>
                <a:latin typeface="Helvetica Neue Medium"/>
              </a:rPr>
              <a:t>The 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34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b="0" i="0">
                <a:solidFill>
                  <a:srgbClr val="D9D7CF"/>
                </a:solidFill>
                <a:latin typeface="Helvetica Neue"/>
              </a:rPr>
              <a:t>You're not doing this alone. </a:t>
            </a:r>
            <a:r>
              <a:rPr sz="2100" b="0" i="0">
                <a:solidFill>
                  <a:srgbClr val="F0997B"/>
                </a:solidFill>
                <a:latin typeface="Helvetica Neue Medium"/>
              </a:rPr>
              <a:t>Here's our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562113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BBB9B2"/>
                </a:solidFill>
                <a:latin typeface="Helvetica Neue Medium"/>
              </a:rPr>
              <a:t>37</a:t>
            </a:fld>
            <a:r>
              <a:rPr lang="en-US" sz="1000" b="0" dirty="0">
                <a:solidFill>
                  <a:srgbClr val="77767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22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Our AI strategy, in one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Four moves. One thread.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Empower our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The firm's full intelligence at every banker's and advisor's elbow.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3411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4579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4579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Automate the machinery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579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Mortgage, KYC, documents, reporting — friction out, at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9311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311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Change how we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Prototypes in days. Decisions measured in outcomes, not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2875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043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043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Scale as the 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043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200+ years of patterns. $3.9T of relationships. Our models learn from it. Others can't.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17720"/>
            <a:ext cx="10454335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Ins="256032" bIns="91440" rtlCol="0" anchor="ctr"/>
          <a:lstStyle/>
          <a:p>
            <a:pPr algn="ctr"/>
            <a:r>
              <a:rPr sz="1600" b="0">
                <a:solidFill>
                  <a:srgbClr val="993C1D"/>
                </a:solidFill>
                <a:latin typeface="Helvetica Neue Medium"/>
              </a:rPr>
              <a:t>Agentic</a:t>
            </a:r>
            <a:r>
              <a:rPr sz="1600" b="0">
                <a:solidFill>
                  <a:srgbClr val="2C2C2A"/>
                </a:solidFill>
                <a:latin typeface="Helvetica Neue Medium"/>
              </a:rPr>
              <a:t> — systems that act, not just answer. Always with a human gate.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801166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38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23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thread,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How an agent works 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A client question. A market move. An event.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3411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4579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4579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579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Plans the work, calls the tools, drafts the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9311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311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The human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A banker or advisor reviews, edits, approves.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2875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043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043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043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Shipped — and logged. Every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1772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Nothing client-facing ships without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a human signature.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0040219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39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25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Our flagship: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Coach is the AI operating layer for the advisor. </a:t>
            </a:r>
            <a:r>
              <a:rPr sz="3400" b="0" i="0">
                <a:solidFill>
                  <a:srgbClr val="D85A30"/>
                </a:solidFill>
                <a:latin typeface="Helvetica Neue Medium"/>
              </a:rPr>
              <a:t>Its goal: help every advisor operate like our best advisor.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Not a chatbot. Not a search box. One surface for the firm's research, the client's full context, the day's workflow, and a bench of agents.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518325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40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26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Coach's road, in one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Four phases. Each builds on the last.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 · Organize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All the firm's knowledge behind one question box. Ask, don't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3411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4579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ii ·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4579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579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Every question becomes a signal. Coach starts surfacing ideas before you 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9311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iii ·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311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Coach 4.0 drafts the email, preps the meeting, does the clicks. You approve and send.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2875" y="2057400"/>
            <a:ext cx="24901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043" y="2377440"/>
            <a:ext cx="208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iv · 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043" y="2788920"/>
            <a:ext cx="20878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2C2C2A"/>
                </a:solidFill>
                <a:latin typeface="Helvetica Neue Medium"/>
              </a:rPr>
              <a:t>Optimized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043" y="3630168"/>
            <a:ext cx="20878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The destination: a decision engine behind every advisor, as the facts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17720"/>
            <a:ext cx="10454335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Ins="256032" bIns="91440" rtlCol="0" anchor="ctr"/>
          <a:lstStyle/>
          <a:p>
            <a:pPr algn="ctr"/>
            <a:r>
              <a:rPr sz="1600" b="0">
                <a:solidFill>
                  <a:srgbClr val="2C2C2A"/>
                </a:solidFill>
                <a:latin typeface="Helvetica Neue Medium"/>
              </a:rPr>
              <a:t>The value doesn't add up. </a:t>
            </a:r>
            <a:r>
              <a:rPr sz="1600" b="0">
                <a:solidFill>
                  <a:srgbClr val="993C1D"/>
                </a:solidFill>
                <a:latin typeface="Helvetica Neue Medium"/>
              </a:rPr>
              <a:t>It compounds.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0757377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41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27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shift inside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0" i="0">
                <a:solidFill>
                  <a:srgbClr val="2C2C2A"/>
                </a:solidFill>
                <a:latin typeface="Helvetica Neue Medium"/>
              </a:rPr>
              <a:t>From a tool you visit to a system that runs your 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12658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F5E5A"/>
                </a:solidFill>
                <a:latin typeface="Helvetica Neue Medium"/>
              </a:rPr>
              <a:t>Today · Pull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926080"/>
            <a:ext cx="454136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The advisor asks. They must know what to ask, and where.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5F5E5A"/>
                </a:solidFill>
                <a:latin typeface="Helvetica Neue"/>
              </a:rPr>
              <a:t>Friction at every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12658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9039" y="2377440"/>
            <a:ext cx="4541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Next ·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039" y="2926080"/>
            <a:ext cx="454136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Coach brings the day: who to call, why now, what to say.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700" b="0" i="0">
                <a:solidFill>
                  <a:srgbClr val="2C2C2A"/>
                </a:solidFill>
                <a:latin typeface="Helvetica Neue"/>
              </a:rPr>
              <a:t>Every idea arrives with the draft already attached.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300" b="0" i="0">
                <a:solidFill>
                  <a:srgbClr val="993C1D"/>
                </a:solidFill>
                <a:latin typeface="Helvetica Neue Medium"/>
              </a:rPr>
              <a:t>“Don't tell me — help me.”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57784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Coach never hands you more work. It closes the loop.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You approve and send.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99643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42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28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The long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0" i="0">
                <a:solidFill>
                  <a:srgbClr val="2C2C2A"/>
                </a:solidFill>
                <a:latin typeface="Helvetica Neue Medium"/>
              </a:rPr>
              <a:t>The moat isn't the model. </a:t>
            </a:r>
            <a:r>
              <a:rPr sz="4200" b="0" i="0">
                <a:solidFill>
                  <a:srgbClr val="D85A30"/>
                </a:solidFill>
                <a:latin typeface="Helvetica Neue Medium"/>
              </a:rPr>
              <a:t>It's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7492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F5E5A"/>
                </a:solidFill>
                <a:latin typeface="Helvetica Neue Medium"/>
              </a:rPr>
              <a:t>Every call, question, and trade feeds the data hive. The more Coach is used, the smarter it gets — and about half the world's billionaires bank here. That signal cannot be copied.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235483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43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29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And what does not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 i="0">
                <a:solidFill>
                  <a:srgbClr val="2C2C2A"/>
                </a:solidFill>
                <a:latin typeface="Helvetica Neue Medium"/>
              </a:rPr>
              <a:t>The work of being this firm.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2490139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0">
                <a:solidFill>
                  <a:srgbClr val="2C2C2A"/>
                </a:solidFill>
                <a:latin typeface="Helvetica Neue Medium"/>
              </a:rPr>
              <a:t>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3411" y="2331720"/>
            <a:ext cx="2490139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0">
                <a:solidFill>
                  <a:srgbClr val="2C2C2A"/>
                </a:solidFill>
                <a:latin typeface="Helvetica Neue Medium"/>
              </a:rPr>
              <a:t>Discretion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8143" y="2331720"/>
            <a:ext cx="2490139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0">
                <a:solidFill>
                  <a:srgbClr val="2C2C2A"/>
                </a:solidFill>
                <a:latin typeface="Helvetica Neue Medium"/>
              </a:rPr>
              <a:t>Judgment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2875" y="2331720"/>
            <a:ext cx="2490139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0">
                <a:solidFill>
                  <a:srgbClr val="2C2C2A"/>
                </a:solidFill>
                <a:latin typeface="Helvetica Neue Medium"/>
              </a:rPr>
              <a:t>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343400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ctr"/>
            <a:r>
              <a:rPr sz="1800" b="0">
                <a:solidFill>
                  <a:srgbClr val="2C2C2A"/>
                </a:solidFill>
                <a:latin typeface="Helvetica Neue Medium"/>
              </a:rPr>
              <a:t>The tools under the work change. </a:t>
            </a:r>
            <a:r>
              <a:rPr sz="1800" b="0">
                <a:solidFill>
                  <a:srgbClr val="993C1D"/>
                </a:solidFill>
                <a:latin typeface="Helvetica Neue Medium"/>
              </a:rPr>
              <a:t>The work — earning trust — does 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1474536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62895" y="6492240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1023E2E8-AA53-4FEA-8F5C-1FABD68F61AB}" type="slidenum">
              <a:rPr lang="en-US" sz="1000" b="0" dirty="0">
                <a:solidFill>
                  <a:srgbClr val="5F5E5A"/>
                </a:solidFill>
                <a:latin typeface="Helvetica Neue Medium"/>
              </a:rPr>
              <a:t>44</a:t>
            </a:fld>
            <a:r>
              <a:rPr lang="en-US" sz="1000" b="0" dirty="0">
                <a:solidFill>
                  <a:srgbClr val="888780"/>
                </a:solidFill>
                <a:latin typeface="Helvetica Neue Medium"/>
              </a:rPr>
              <a:t>  /  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88780"/>
                </a:solidFill>
                <a:latin typeface="Helvetica Neue Medium"/>
              </a:rPr>
              <a:t>31   </a:t>
            </a:r>
            <a:r>
              <a:rPr sz="1200" b="0" i="0">
                <a:solidFill>
                  <a:srgbClr val="993C1D"/>
                </a:solidFill>
                <a:latin typeface="Helvetica Neue Medium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814255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 i="0">
                <a:solidFill>
                  <a:srgbClr val="2C2C2A"/>
                </a:solidFill>
                <a:latin typeface="Helvetica Neue Medium"/>
              </a:rPr>
              <a:t>History doesn't remember the scribes' complaints. It remembers what the printers made. </a:t>
            </a:r>
            <a:r>
              <a:rPr sz="3800" b="0" i="1">
                <a:solidFill>
                  <a:srgbClr val="D85A30"/>
                </a:solidFill>
                <a:latin typeface="Helvetica Neue Medium"/>
              </a:rPr>
              <a:t>Go print something.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2351</Words>
  <Application>Microsoft Macintosh PowerPoint</Application>
  <PresentationFormat>Widescreen</PresentationFormat>
  <Paragraphs>421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Helvetica Neue</vt:lpstr>
      <vt:lpstr>Helvetica Neue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Khalifa</cp:lastModifiedBy>
  <cp:revision>2</cp:revision>
  <dcterms:created xsi:type="dcterms:W3CDTF">2013-01-27T09:14:16Z</dcterms:created>
  <dcterms:modified xsi:type="dcterms:W3CDTF">2026-06-10T14:07:08Z</dcterms:modified>
  <cp:category/>
</cp:coreProperties>
</file>