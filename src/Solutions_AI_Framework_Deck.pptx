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•  SOLUTIONS OFF-SITE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the Impact of AI in Solutions.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46304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9718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 + Scale framework for prioritizing AI initiatives across Mortgages, Lending, Trust &amp; Estates, Alternatives, Brokerage, Investment Strategy, and Due Diligence.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materials  •  For Solutions MD audience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WHERE WE ARE TODAY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now, we have a list of use cases — not a way to choose.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across Solutions has an AI roadmap. They are not comparable. A pilot in Trust Administration and a pilot in Investment Strategy are scored on different axes, justified in different language, and stack-ranked by whoever shouts loudest.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697480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697480"/>
            <a:ext cx="54864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761488"/>
            <a:ext cx="777240" cy="384048"/>
          </a:xfrm>
          <a:prstGeom prst="roundRect">
            <a:avLst>
              <a:gd name="adj" fmla="val 28571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76148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83080" y="276148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initiatives in flight or proposed across Solutions [ASSUMPTION]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291840"/>
            <a:ext cx="54864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" y="3355848"/>
            <a:ext cx="777240" cy="384048"/>
          </a:xfrm>
          <a:prstGeom prst="roundRect">
            <a:avLst>
              <a:gd name="adj" fmla="val 28571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35584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3080" y="335584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metric for comparing them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886200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86200"/>
            <a:ext cx="54864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" y="3950208"/>
            <a:ext cx="777240" cy="384048"/>
          </a:xfrm>
          <a:prstGeom prst="roundRect">
            <a:avLst>
              <a:gd name="adj" fmla="val 28571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" y="39502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83080" y="395020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those make the franchise materially better in three years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 •  SOLUTIONS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AI initiative answers one of two questions — sometimes both.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3703320" cy="3200400"/>
          </a:xfrm>
          <a:prstGeom prst="roundRect">
            <a:avLst>
              <a:gd name="adj" fmla="val 285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320040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371600"/>
            <a:ext cx="3703320" cy="54864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57276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AI initiative help us generate more revenue, deepen relationships, and surface ideas we would otherwise have missed?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24612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49300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revenue • deepening rate • hit rate on surfaced ideas • advisor adoption • client experience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3703320" cy="3200400"/>
          </a:xfrm>
          <a:prstGeom prst="roundRect">
            <a:avLst>
              <a:gd name="adj" fmla="val 285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371600"/>
            <a:ext cx="54864" cy="3200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9160" y="1371600"/>
            <a:ext cx="370332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57276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0" y="21031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AI initiative unlock capacity, compress cycle time, or raise output-per-person in operational workflows?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24612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49300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FTE-equivalent capacity unlocked • cycle time • STP rate • exception rate • unit cost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 •  SOLUTIONS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ONE  /  GROW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Grow: expand the revenue surface area of the franchise.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wins mandates, deepens share of wallet, raises hit rates on bespoke opportunities, and personalizes at a scale humans can't.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3703320" cy="1280160"/>
          </a:xfrm>
          <a:prstGeom prst="roundRect">
            <a:avLst>
              <a:gd name="adj" fmla="val 714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83080"/>
            <a:ext cx="54864" cy="128016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892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Client-to-Idea Matching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22402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IS idea inventory to client portfolios, life events, and stated preferences — at the scale of the book.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783080"/>
            <a:ext cx="3703320" cy="1280160"/>
          </a:xfrm>
          <a:prstGeom prst="roundRect">
            <a:avLst>
              <a:gd name="adj" fmla="val 714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783080"/>
            <a:ext cx="54864" cy="128016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2" name="Text 10"/>
          <p:cNvSpPr/>
          <p:nvPr/>
        </p:nvSpPr>
        <p:spPr>
          <a:xfrm>
            <a:off x="4910328" y="1892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Lending Insight Platform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22402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 historical loans and credit exceptions so lenders can structure and win more custom loans.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246120"/>
            <a:ext cx="3703320" cy="1280160"/>
          </a:xfrm>
          <a:prstGeom prst="roundRect">
            <a:avLst>
              <a:gd name="adj" fmla="val 714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246120"/>
            <a:ext cx="54864" cy="128016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3558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AI-Driven Prospecting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3703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households and entities where the Private Bank is under-penetrated relative to addressable wealth.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246120"/>
            <a:ext cx="3703320" cy="1280160"/>
          </a:xfrm>
          <a:prstGeom prst="roundRect">
            <a:avLst>
              <a:gd name="adj" fmla="val 714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246120"/>
            <a:ext cx="54864" cy="128016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20" name="Text 18"/>
          <p:cNvSpPr/>
          <p:nvPr/>
        </p:nvSpPr>
        <p:spPr>
          <a:xfrm>
            <a:off x="4910328" y="33558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Personalized Content Engine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0328" y="3703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tailored, on-brand client deliverables at strategist-grade quality, at portfolio scale.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 •  SOLUTIONS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TWO  /  SCALE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Scale: compress the cost-to-serve and the time-to-deliver.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removes manual steps, automates judgment-light decisions, raises throughput per FTE, and collapses cycle time in operational workflows.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3703320" cy="1280160"/>
          </a:xfrm>
          <a:prstGeom prst="roundRect">
            <a:avLst>
              <a:gd name="adj" fmla="val 714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83080"/>
            <a:ext cx="54864" cy="1280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892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Trust Administration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22402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 of distributions, beneficiary correspondence, statements, and fee billing — freeing Trust Officer 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783080"/>
            <a:ext cx="3703320" cy="1280160"/>
          </a:xfrm>
          <a:prstGeom prst="roundRect">
            <a:avLst>
              <a:gd name="adj" fmla="val 714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783080"/>
            <a:ext cx="54864" cy="1280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910328" y="1892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Mortgage Underwriting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22402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time-to-close from ~60 days toward zero. Higher STP, lower unit cost, fewer exceptions.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246120"/>
            <a:ext cx="3703320" cy="1280160"/>
          </a:xfrm>
          <a:prstGeom prst="roundRect">
            <a:avLst>
              <a:gd name="adj" fmla="val 714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246120"/>
            <a:ext cx="54864" cy="1280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3558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Due Diligence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3703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Alternatives managers — analyst hours per manager fall sharply; the bench widens and onboards faster.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246120"/>
            <a:ext cx="3703320" cy="1280160"/>
          </a:xfrm>
          <a:prstGeom prst="roundRect">
            <a:avLst>
              <a:gd name="adj" fmla="val 714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246120"/>
            <a:ext cx="54864" cy="1280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4910328" y="33558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KYC + Onboarding Automation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0328" y="3703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onboarding cycle time and reduces re-work across the platform's intake funnel.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 •  SOLUTIONS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TWO PILLARS COMPOUND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and Scale fund each other. Treat them as one portfolio.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3108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627632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6276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32688" y="2057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wins fund Grow bets.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9718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savings create P&amp;L room to invest in Grow tooling, data, and talent — without new budget.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463040"/>
            <a:ext cx="54864" cy="3108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3538728" y="1627632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3538728" y="16276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38728" y="2057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converts into revenue.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38728" y="29718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unlocked in Trust, Mortgage, KYC, and DD can be redeployed into client-facing work — turning a Scale win into a Grow outcome.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146304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1463040"/>
            <a:ext cx="54864" cy="310896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9" name="Shape 17"/>
          <p:cNvSpPr/>
          <p:nvPr/>
        </p:nvSpPr>
        <p:spPr>
          <a:xfrm>
            <a:off x="6144768" y="1627632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A0824E"/>
          </a:solidFill>
          <a:ln/>
        </p:spPr>
      </p:sp>
      <p:sp>
        <p:nvSpPr>
          <p:cNvPr id="20" name="Text 18"/>
          <p:cNvSpPr/>
          <p:nvPr/>
        </p:nvSpPr>
        <p:spPr>
          <a:xfrm>
            <a:off x="6144768" y="16276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44768" y="2057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Dual-impact wins define the franchise.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44768" y="29718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mortgage underwriting compresses cycle time AND drives share of wallet via experience. These are the bets we want more of.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 •  SOLUTIONS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ANCHOR METRIC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 per Person — the productivity metric Solutions has been missing.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7680960" cy="1508760"/>
          </a:xfrm>
          <a:prstGeom prst="roundRect">
            <a:avLst>
              <a:gd name="adj" fmla="val 6061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17320"/>
            <a:ext cx="54864" cy="150876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 per Person  (APP)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 value-creating output  ÷  FTE delivering 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 and post-deployment. Reported quarterly. Tied to every funded AI initiative's business case.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154680"/>
            <a:ext cx="7680960" cy="438912"/>
          </a:xfrm>
          <a:prstGeom prst="roundRect">
            <a:avLst>
              <a:gd name="adj" fmla="val 2083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154680"/>
            <a:ext cx="54864" cy="4389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278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every operational team to define its own value-creating output, not its activity level.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7680960" cy="438912"/>
          </a:xfrm>
          <a:prstGeom prst="roundRect">
            <a:avLst>
              <a:gd name="adj" fmla="val 2083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657600"/>
            <a:ext cx="54864" cy="4389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307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the AI transition — pre- and post-deployment APP is the cleanest test of whether the technology moved the business.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160520"/>
            <a:ext cx="7680960" cy="438912"/>
          </a:xfrm>
          <a:prstGeom prst="roundRect">
            <a:avLst>
              <a:gd name="adj" fmla="val 2083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160520"/>
            <a:ext cx="54864" cy="4389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23367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Travels across pillars: a Scale win that doesn't lift APP wasn't really a Scale win.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 •  SOLUTIONS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PER PERSON  /  BY SUB-BUSINESS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Defined business by business. Baselines flagged [ASSUMPTION].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3703320" cy="1627632"/>
          </a:xfrm>
          <a:prstGeom prst="roundRect">
            <a:avLst>
              <a:gd name="adj" fmla="val 5618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54864" cy="16276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3898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32688" y="16642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(AUM serviced + Net new mandates closed) ÷ Trust Officer FTE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32688" y="2148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[ASSUMPTION]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23408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~$250M AUM / officer; ~1.5 new mandates / officer / yr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25786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target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32688" y="27432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+35–50% AUM/officer; 2–3x new mandates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280160"/>
            <a:ext cx="3703320" cy="1627632"/>
          </a:xfrm>
          <a:prstGeom prst="roundRect">
            <a:avLst>
              <a:gd name="adj" fmla="val 5618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280160"/>
            <a:ext cx="54864" cy="16276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910328" y="13898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16642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(Loans funded $ + Loans closed #) ÷ Underwriter + Processor FTE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10328" y="2148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[ASSUMPTION]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10328" y="23408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~$120M funded / FTE / yr; ~60-day avg time-to-close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10328" y="25786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target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10328" y="27432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funded $/FTE; time-to-close &lt;10 days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063240"/>
            <a:ext cx="3703320" cy="1627632"/>
          </a:xfrm>
          <a:prstGeom prst="roundRect">
            <a:avLst>
              <a:gd name="adj" fmla="val 5618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063240"/>
            <a:ext cx="54864" cy="16276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" y="31729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(Custom)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" y="34472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(Custom loans booked $ + Structured exceptions closed #) ÷ Lender FTE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32688" y="39319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[ASSUMPTION]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32688" y="41239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~$80M booked / lender / yr; win rate ~35% on complex asks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2688" y="43616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target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32688" y="45262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+25–40% booked / lender; win rate &gt;50%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063240"/>
            <a:ext cx="3703320" cy="1627632"/>
          </a:xfrm>
          <a:prstGeom prst="roundRect">
            <a:avLst>
              <a:gd name="adj" fmla="val 5618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063240"/>
            <a:ext cx="54864" cy="1627632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31" name="Text 29"/>
          <p:cNvSpPr/>
          <p:nvPr/>
        </p:nvSpPr>
        <p:spPr>
          <a:xfrm>
            <a:off x="4910328" y="31729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STRATEGY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10328" y="34472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(Personalized deliverables × Activation rate) ÷ IS Strategist FTE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10328" y="39319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[ASSUMPTION]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10328" y="41239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personalized pieces / strategist / yr; ~30% activation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10328" y="43616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target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10328" y="45262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5–10x output; activation &gt;50%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 •  SOLUTIONS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SCORE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criteria per pillar. Each rated 1–5. Weighted.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3703320" cy="3383280"/>
          </a:xfrm>
          <a:prstGeom prst="roundRect">
            <a:avLst>
              <a:gd name="adj" fmla="val 270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54864" cy="338328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1783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revenue potential (3-yr)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167128"/>
            <a:ext cx="3383280" cy="0"/>
          </a:xfrm>
          <a:prstGeom prst="line">
            <a:avLst/>
          </a:prstGeom>
          <a:noFill/>
          <a:ln w="508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40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2240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Deepening / share of wallet lift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624328"/>
            <a:ext cx="3383280" cy="0"/>
          </a:xfrm>
          <a:prstGeom prst="line">
            <a:avLst/>
          </a:prstGeom>
          <a:noFill/>
          <a:ln w="5080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697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on AI-surfaced opportunities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081528"/>
            <a:ext cx="3383280" cy="0"/>
          </a:xfrm>
          <a:prstGeom prst="line">
            <a:avLst/>
          </a:prstGeom>
          <a:noFill/>
          <a:ln w="508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154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3154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/ banker / officer adoption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538728"/>
            <a:ext cx="3383280" cy="0"/>
          </a:xfrm>
          <a:prstGeom prst="line">
            <a:avLst/>
          </a:prstGeom>
          <a:noFill/>
          <a:ln w="5080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611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3611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experience lift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3995928"/>
            <a:ext cx="3383280" cy="0"/>
          </a:xfrm>
          <a:prstGeom prst="line">
            <a:avLst/>
          </a:prstGeom>
          <a:noFill/>
          <a:ln w="508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69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4069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 / competitive moat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1280160"/>
            <a:ext cx="3703320" cy="3383280"/>
          </a:xfrm>
          <a:prstGeom prst="roundRect">
            <a:avLst>
              <a:gd name="adj" fmla="val 270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280160"/>
            <a:ext cx="54864" cy="3383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SCORE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1783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FTE-equivalent capacity unlocked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2167128"/>
            <a:ext cx="3383280" cy="0"/>
          </a:xfrm>
          <a:prstGeom prst="line">
            <a:avLst/>
          </a:prstGeom>
          <a:noFill/>
          <a:ln w="5080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240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32120" y="2240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Cycle-time reduction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2624328"/>
            <a:ext cx="3383280" cy="0"/>
          </a:xfrm>
          <a:prstGeom prst="line">
            <a:avLst/>
          </a:prstGeom>
          <a:noFill/>
          <a:ln w="5080">
            <a:solidFill>
              <a:srgbClr val="9999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697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3212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Straight-through-processing rate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3081528"/>
            <a:ext cx="3383280" cy="0"/>
          </a:xfrm>
          <a:prstGeom prst="line">
            <a:avLst/>
          </a:prstGeom>
          <a:noFill/>
          <a:ln w="5080">
            <a:solidFill>
              <a:srgbClr val="9999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154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32120" y="3154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/ exception rate reduction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92040" y="3538728"/>
            <a:ext cx="3383280" cy="0"/>
          </a:xfrm>
          <a:prstGeom prst="line">
            <a:avLst/>
          </a:prstGeom>
          <a:noFill/>
          <a:ln w="5080">
            <a:solidFill>
              <a:srgbClr val="9999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611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32120" y="3611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 per transaction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92040" y="3995928"/>
            <a:ext cx="3383280" cy="0"/>
          </a:xfrm>
          <a:prstGeom prst="line">
            <a:avLst/>
          </a:prstGeom>
          <a:noFill/>
          <a:ln w="5080">
            <a:solidFill>
              <a:srgbClr val="9999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069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532120" y="4069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/ regulatory risk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 •  SOLUTIONS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 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Plot every initiative. Fund the multipliers first.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9875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SCALE  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4920" y="9875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HIGH SCALE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12801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BF7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27632" y="1371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PLAYS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27632" y="1664208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Grow value. Justify on revenue and deepening alone. Demand adoption commitments before funding.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12801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EFEAD5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56632" y="1371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STRATEGIC MULTIPLIERS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56632" y="1664208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first. Compounds capacity and revenue at once. Franchise-defining bets.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63040" y="26974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27632" y="2788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OR KILL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27632" y="3081528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pass the bar. Revisit only with new data or a material change in cost.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26974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0EFE9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56632" y="2788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PLAYS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56632" y="3081528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only with an explicit redeployment plan. Otherwise capacity unlocked becomes slack.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4074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view: Impact × Feasibility — used for sequencing.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 •  SOLUTIONS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Solutions initiatives, scored and placed.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3657600" cy="3291840"/>
          </a:xfrm>
          <a:prstGeom prst="rect">
            <a:avLst/>
          </a:prstGeom>
          <a:solidFill>
            <a:srgbClr val="F9F5F0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926080"/>
            <a:ext cx="365760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560320" y="1280160"/>
            <a:ext cx="0" cy="3291840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13716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51760" y="13716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51760" y="4297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4617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Scale 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 rot="16200000">
            <a:off x="182880" y="25603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Grow →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58768" y="3584448"/>
            <a:ext cx="329184" cy="329184"/>
          </a:xfrm>
          <a:prstGeom prst="ellipse">
            <a:avLst/>
          </a:prstGeom>
          <a:solidFill>
            <a:srgbClr val="1B2A4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58768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29968" y="1609344"/>
            <a:ext cx="329184" cy="329184"/>
          </a:xfrm>
          <a:prstGeom prst="ellipse">
            <a:avLst/>
          </a:prstGeom>
          <a:solidFill>
            <a:srgbClr val="A0824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29968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67328" y="2267712"/>
            <a:ext cx="329184" cy="329184"/>
          </a:xfrm>
          <a:prstGeom prst="ellipse">
            <a:avLst/>
          </a:prstGeom>
          <a:solidFill>
            <a:srgbClr val="A0824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67328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29968" y="1773936"/>
            <a:ext cx="329184" cy="329184"/>
          </a:xfrm>
          <a:prstGeom prst="ellipse">
            <a:avLst/>
          </a:prstGeom>
          <a:solidFill>
            <a:srgbClr val="A0824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029968" y="1773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10128" y="3090672"/>
            <a:ext cx="329184" cy="329184"/>
          </a:xfrm>
          <a:prstGeom prst="ellipse">
            <a:avLst/>
          </a:prstGeom>
          <a:solidFill>
            <a:srgbClr val="1B2A4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10128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280160"/>
            <a:ext cx="384048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280160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4681728" y="1380744"/>
            <a:ext cx="384048" cy="36576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81728" y="138074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66360" y="1325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Trust Administration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66360" y="1572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2.0  •  S 4.6   /   Efficiency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1938528"/>
            <a:ext cx="384048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1938528"/>
            <a:ext cx="54864" cy="566928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32" name="Shape 30"/>
          <p:cNvSpPr/>
          <p:nvPr/>
        </p:nvSpPr>
        <p:spPr>
          <a:xfrm>
            <a:off x="4681728" y="2039112"/>
            <a:ext cx="384048" cy="365760"/>
          </a:xfrm>
          <a:prstGeom prst="roundRect">
            <a:avLst>
              <a:gd name="adj" fmla="val 300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81728" y="20391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66360" y="19842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Lending Insight (custom-loan win engine)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66360" y="22311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4.4  •  S 2.6   /   Revenue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2596896"/>
            <a:ext cx="384048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2596896"/>
            <a:ext cx="54864" cy="566928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38" name="Shape 36"/>
          <p:cNvSpPr/>
          <p:nvPr/>
        </p:nvSpPr>
        <p:spPr>
          <a:xfrm>
            <a:off x="4681728" y="2697480"/>
            <a:ext cx="384048" cy="365760"/>
          </a:xfrm>
          <a:prstGeom prst="roundRect">
            <a:avLst>
              <a:gd name="adj" fmla="val 300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681728" y="2697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66360" y="26426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Mortgage Underwriting (60d → ~0)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166360" y="28895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3.6  •  S 4.5   /   Multiplier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0" y="3255264"/>
            <a:ext cx="384048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0" y="3255264"/>
            <a:ext cx="54864" cy="566928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44" name="Shape 42"/>
          <p:cNvSpPr/>
          <p:nvPr/>
        </p:nvSpPr>
        <p:spPr>
          <a:xfrm>
            <a:off x="4681728" y="3355848"/>
            <a:ext cx="384048" cy="365760"/>
          </a:xfrm>
          <a:prstGeom prst="roundRect">
            <a:avLst>
              <a:gd name="adj" fmla="val 300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681728" y="33558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166360" y="33009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Client-to-Idea Matching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166360" y="3547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4.2  •  S 2.6   /   Revenue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0" y="3913632"/>
            <a:ext cx="384048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572000" y="3913632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0" name="Shape 48"/>
          <p:cNvSpPr/>
          <p:nvPr/>
        </p:nvSpPr>
        <p:spPr>
          <a:xfrm>
            <a:off x="4681728" y="4014216"/>
            <a:ext cx="384048" cy="36576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681728" y="401421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166360" y="39593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DD on Alternatives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166360" y="4206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2.6  •  S 4.0   /   Efficiency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 •  SOLUTIONS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 /  THE SHAPE WE WANT MORE OF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Mortgage Underwriting — a Strategic Multiplier.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cycle time (Scale) and drives share of wallet via experience (Grow). The cross-pillar profile the framework is designed to identify.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3703320" cy="1188720"/>
          </a:xfrm>
          <a:prstGeom prst="roundRect">
            <a:avLst>
              <a:gd name="adj" fmla="val 7692"/>
            </a:avLst>
          </a:prstGeom>
          <a:solidFill>
            <a:srgbClr val="FBEDED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74520"/>
            <a:ext cx="54864" cy="1188720"/>
          </a:xfrm>
          <a:prstGeom prst="rect">
            <a:avLst/>
          </a:prstGeom>
          <a:solidFill>
            <a:srgbClr val="9B2C2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2585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9B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~60 days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27706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close, manual underwriting, exception-heavy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2468880"/>
            <a:ext cx="274320" cy="0"/>
          </a:xfrm>
          <a:prstGeom prst="line">
            <a:avLst/>
          </a:prstGeom>
          <a:noFill/>
          <a:ln w="25400">
            <a:solidFill>
              <a:srgbClr val="A0824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09160" y="1874520"/>
            <a:ext cx="3703320" cy="1188720"/>
          </a:xfrm>
          <a:prstGeom prst="roundRect">
            <a:avLst>
              <a:gd name="adj" fmla="val 7692"/>
            </a:avLst>
          </a:prstGeom>
          <a:solidFill>
            <a:srgbClr val="EAF3E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874520"/>
            <a:ext cx="54864" cy="118872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UNDERWRITING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2585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2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10 days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92040" y="27706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STP, lower unit cost, fewer exceptions, NPS lift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246120"/>
            <a:ext cx="7680960" cy="384048"/>
          </a:xfrm>
          <a:prstGeom prst="roundRect">
            <a:avLst>
              <a:gd name="adj" fmla="val 2381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246120"/>
            <a:ext cx="54864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310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4.5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57400" y="32826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2x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063240" y="3310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$ per underwriter / processor FTE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703320"/>
            <a:ext cx="7680960" cy="384048"/>
          </a:xfrm>
          <a:prstGeom prst="roundRect">
            <a:avLst>
              <a:gd name="adj" fmla="val 2381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703320"/>
            <a:ext cx="54864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7673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4.5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57400" y="37398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75%+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063240" y="37673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cycle time and unit cost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160520"/>
            <a:ext cx="7680960" cy="384048"/>
          </a:xfrm>
          <a:prstGeom prst="roundRect">
            <a:avLst>
              <a:gd name="adj" fmla="val 2381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4160520"/>
            <a:ext cx="54864" cy="384048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224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3.6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57400" y="41970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+10pp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3063240" y="42245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pull-through and share-of-wallet lift via CX [ASSUMPTION]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 •  SOLUTIONS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WE HAVE TO AVOID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wins are capacity wins. They are not headcount wins.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7680960" cy="1463040"/>
          </a:xfrm>
          <a:prstGeom prst="roundRect">
            <a:avLst>
              <a:gd name="adj" fmla="val 7500"/>
            </a:avLst>
          </a:prstGeom>
          <a:solidFill>
            <a:srgbClr val="F9F5F0"/>
          </a:solidFill>
          <a:ln w="25400">
            <a:solidFill>
              <a:srgbClr val="A0824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55448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"Hours saved that don't convert into absorbed growth, redeployed activity, or cost-out are not Scale wins — they are slack."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3108960"/>
            <a:ext cx="54864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00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funded Scale initiative names a redeployment owner — typically the sub-business head — at the moment of funding, not after go-live.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886200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886200"/>
            <a:ext cx="54864" cy="68580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776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DOESN'T MEAN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cost-out. Cost-out is the third answer, not the first. In Solutions, capacity is usually more valuable absorbed by growth or redeployed than removed.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 •  SOLUTIONS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REDEPLOYMENT 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do with unlocked capacity — in order.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2468880" cy="2743200"/>
          </a:xfrm>
          <a:prstGeom prst="roundRect">
            <a:avLst>
              <a:gd name="adj" fmla="val 3704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54864" cy="274320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1417320"/>
            <a:ext cx="548640" cy="548640"/>
          </a:xfrm>
          <a:prstGeom prst="ellipse">
            <a:avLst/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002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468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04672" y="26700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there a binding capacity constraint on growth today?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32735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04672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 volume without adding heads. Highest NPV path when growth is real.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36392" y="2651760"/>
            <a:ext cx="173736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37560" y="1280160"/>
            <a:ext cx="2468880" cy="2743200"/>
          </a:xfrm>
          <a:prstGeom prst="roundRect">
            <a:avLst>
              <a:gd name="adj" fmla="val 3704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280160"/>
            <a:ext cx="54864" cy="2743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7680" y="1417320"/>
            <a:ext cx="548640" cy="548640"/>
          </a:xfrm>
          <a:prstGeom prst="ellipse">
            <a:avLst/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976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37560" y="2057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02152" y="2468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502152" y="26700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hours convert into client-facing or revenue-generating activity?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02152" y="32735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502152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capacity into prospecting, deepening, structuring, content. Owner named at funding.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33872" y="2651760"/>
            <a:ext cx="173736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35040" y="1280160"/>
            <a:ext cx="2468880" cy="2743200"/>
          </a:xfrm>
          <a:prstGeom prst="roundRect">
            <a:avLst>
              <a:gd name="adj" fmla="val 3704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1280160"/>
            <a:ext cx="54864" cy="274320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27" name="Shape 25"/>
          <p:cNvSpPr/>
          <p:nvPr/>
        </p:nvSpPr>
        <p:spPr>
          <a:xfrm>
            <a:off x="6995160" y="1417320"/>
            <a:ext cx="548640" cy="548640"/>
          </a:xfrm>
          <a:prstGeom prst="ellipse">
            <a:avLst/>
          </a:prstGeom>
          <a:solidFill>
            <a:srgbClr val="6B6B6B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51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035040" y="2057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COST-OUT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199632" y="2468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99632" y="26700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growth lane and no redeployment lane?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99632" y="32735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99632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attrition without backfill. Last answer, not first.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rule: every redeployment plan names the APP, revenue, or volume metric it expects to move — and the date by which it should move.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 •  SOLUTIONS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LEAVE THIS OFF-SITE WITH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commitments.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54864" cy="5486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371600"/>
            <a:ext cx="384048" cy="365760"/>
          </a:xfrm>
          <a:prstGeom prst="roundRect">
            <a:avLst>
              <a:gd name="adj" fmla="val 300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3716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3258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Grow + Scale as the common scoring language across Solutions, this quarter.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92024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920240"/>
            <a:ext cx="54864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011680"/>
            <a:ext cx="384048" cy="36576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0116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19659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sub-business head publishes their Alpha per Person definition and baseline within 30 days.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560320"/>
            <a:ext cx="54864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2651760"/>
            <a:ext cx="384048" cy="36576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26517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6060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in-flight AI initiatives are re-scored on the rubric and plotted on the 2x2 within 60 days. Below 3.0 on both pillars is paused.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20040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200400"/>
            <a:ext cx="54864" cy="5486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3291840"/>
            <a:ext cx="384048" cy="365760"/>
          </a:xfrm>
          <a:prstGeom prst="roundRect">
            <a:avLst>
              <a:gd name="adj" fmla="val 300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32918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32461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funded Scale initiative names a redeployment owner and a measurement window at the point of funding.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38404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840480"/>
            <a:ext cx="54864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868680" y="3931920"/>
            <a:ext cx="384048" cy="36576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39319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38862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 Grow / Scale score deltas join the quarterly Solutions operating review pack.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 •  SOLUTIONS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isn't whether AI matters in Solutions.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240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whether we can tell which initiatives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deserve our best bets.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spc="1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+ Scale gives us that answer.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•  SOLUTIONS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the Impact of AI in Solutions</dc:title>
  <dc:subject>PptxGenJS Presentation</dc:subject>
  <dc:creator>J.P. Morgan Private Bank — Solutions</dc:creator>
  <cp:lastModifiedBy>J.P. Morgan Private Bank — Solutions</cp:lastModifiedBy>
  <cp:revision>1</cp:revision>
  <dcterms:created xsi:type="dcterms:W3CDTF">2026-05-12T13:14:59Z</dcterms:created>
  <dcterms:modified xsi:type="dcterms:W3CDTF">2026-05-12T13:14:59Z</dcterms:modified>
</cp:coreProperties>
</file>