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0" r:id="rId3"/>
    <p:sldId id="261" r:id="rId4"/>
    <p:sldId id="262" r:id="rId5"/>
    <p:sldId id="263" r:id="rId6"/>
    <p:sldId id="264" r:id="rId7"/>
    <p:sldId id="265" r:id="rId8"/>
    <p:sldId id="266" r:id="rId9"/>
    <p:sldId id="267" r:id="rId10"/>
    <p:sldId id="274" r:id="rId11"/>
    <p:sldId id="277" r:id="rId12"/>
    <p:sldId id="278" r:id="rId13"/>
    <p:sldId id="279" r:id="rId14"/>
    <p:sldId id="28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65"/>
  </p:normalViewPr>
  <p:slideViewPr>
    <p:cSldViewPr snapToGrid="0" snapToObjects="1">
      <p:cViewPr varScale="1">
        <p:scale>
          <a:sx n="107" d="100"/>
          <a:sy n="107" d="100"/>
        </p:scale>
        <p:origin x="64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551F28-8D31-A44C-965A-CC8CC2B322FA}" type="datetimeFigureOut">
              <a:rPr lang="en-US" smtClean="0"/>
              <a:t>5/17/26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168FA-070E-6343-9843-6A7B63E857D7}" type="slidenum">
              <a:rPr lang="en-US" smtClean="0"/>
              <a:t>‹#›</a:t>
            </a:fld>
            <a:endParaRPr lang="en-US"/>
          </a:p>
        </p:txBody>
      </p:sp>
    </p:spTree>
    <p:extLst>
      <p:ext uri="{BB962C8B-B14F-4D97-AF65-F5344CB8AC3E}">
        <p14:creationId xmlns:p14="http://schemas.microsoft.com/office/powerpoint/2010/main" val="608501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1168FA-070E-6343-9843-6A7B63E857D7}" type="slidenum">
              <a:rPr lang="en-US" smtClean="0"/>
              <a:t>6</a:t>
            </a:fld>
            <a:endParaRPr lang="en-US"/>
          </a:p>
        </p:txBody>
      </p:sp>
    </p:spTree>
    <p:extLst>
      <p:ext uri="{BB962C8B-B14F-4D97-AF65-F5344CB8AC3E}">
        <p14:creationId xmlns:p14="http://schemas.microsoft.com/office/powerpoint/2010/main" val="1803924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1920240"/>
            <a:ext cx="10972800" cy="2527872"/>
          </a:xfrm>
          <a:prstGeom prst="rect">
            <a:avLst/>
          </a:prstGeom>
          <a:noFill/>
        </p:spPr>
        <p:txBody>
          <a:bodyPr wrap="square" lIns="0" tIns="0" rIns="0" bIns="0" anchor="t">
            <a:spAutoFit/>
          </a:bodyPr>
          <a:lstStyle/>
          <a:p>
            <a:pPr>
              <a:lnSpc>
                <a:spcPct val="104000"/>
              </a:lnSpc>
            </a:pPr>
            <a:r>
              <a:rPr sz="5400" b="0" i="0" dirty="0">
                <a:solidFill>
                  <a:srgbClr val="2C2C2A"/>
                </a:solidFill>
                <a:latin typeface="Helvetica Neue Medium"/>
              </a:rPr>
              <a:t>Solutions </a:t>
            </a:r>
            <a:r>
              <a:rPr sz="5400" b="0" i="0" dirty="0">
                <a:solidFill>
                  <a:srgbClr val="D85A30"/>
                </a:solidFill>
                <a:latin typeface="Helvetica Neue Medium"/>
              </a:rPr>
              <a:t>/</a:t>
            </a:r>
            <a:r>
              <a:rPr lang="en-US" sz="5400" b="0" i="0" dirty="0">
                <a:solidFill>
                  <a:srgbClr val="D85A30"/>
                </a:solidFill>
                <a:latin typeface="Helvetica Neue Medium"/>
              </a:rPr>
              <a:t> </a:t>
            </a:r>
            <a:r>
              <a:rPr lang="en-US" sz="5400" dirty="0">
                <a:solidFill>
                  <a:srgbClr val="2C2C2A"/>
                </a:solidFill>
                <a:latin typeface="Helvetica Neue Medium"/>
              </a:rPr>
              <a:t>in the next twenty-four months.</a:t>
            </a:r>
          </a:p>
          <a:p>
            <a:pPr algn="l">
              <a:lnSpc>
                <a:spcPct val="104000"/>
              </a:lnSpc>
            </a:pPr>
            <a:endParaRPr sz="5400" b="0" i="0" dirty="0">
              <a:solidFill>
                <a:srgbClr val="D85A30"/>
              </a:solidFill>
              <a:latin typeface="Helvetica Neue Medium"/>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189475"/>
          </a:xfrm>
          <a:prstGeom prst="rect">
            <a:avLst/>
          </a:prstGeom>
          <a:noFill/>
        </p:spPr>
        <p:txBody>
          <a:bodyPr wrap="square" lIns="0" tIns="0" rIns="0" bIns="0" anchor="t">
            <a:spAutoFit/>
          </a:bodyPr>
          <a:lstStyle/>
          <a:p>
            <a:pPr algn="l">
              <a:lnSpc>
                <a:spcPct val="125000"/>
              </a:lnSpc>
            </a:pPr>
            <a:r>
              <a:rPr sz="1100" b="0" i="0" dirty="0">
                <a:solidFill>
                  <a:srgbClr val="993C1D"/>
                </a:solidFill>
                <a:latin typeface="Helvetica Neue Medium"/>
              </a:rPr>
              <a:t>The strategy in one frame</a:t>
            </a:r>
          </a:p>
        </p:txBody>
      </p:sp>
      <p:sp>
        <p:nvSpPr>
          <p:cNvPr id="3" name="TextBox 2"/>
          <p:cNvSpPr txBox="1"/>
          <p:nvPr/>
        </p:nvSpPr>
        <p:spPr>
          <a:xfrm>
            <a:off x="868680" y="1005840"/>
            <a:ext cx="10454335" cy="450060"/>
          </a:xfrm>
          <a:prstGeom prst="rect">
            <a:avLst/>
          </a:prstGeom>
          <a:noFill/>
        </p:spPr>
        <p:txBody>
          <a:bodyPr wrap="square" lIns="0" tIns="0" rIns="0" bIns="0" anchor="t">
            <a:spAutoFit/>
          </a:bodyPr>
          <a:lstStyle/>
          <a:p>
            <a:pPr algn="l">
              <a:lnSpc>
                <a:spcPct val="115000"/>
              </a:lnSpc>
            </a:pPr>
            <a:r>
              <a:rPr sz="2800" b="0" i="0" dirty="0">
                <a:solidFill>
                  <a:srgbClr val="2C2C2A"/>
                </a:solidFill>
                <a:latin typeface="Helvetica Neue Medium"/>
              </a:rPr>
              <a:t>Four pillars.</a:t>
            </a:r>
          </a:p>
        </p:txBody>
      </p:sp>
      <p:sp>
        <p:nvSpPr>
          <p:cNvPr id="4" name="Rounded Rectangle 3"/>
          <p:cNvSpPr/>
          <p:nvPr/>
        </p:nvSpPr>
        <p:spPr>
          <a:xfrm>
            <a:off x="868680" y="2144686"/>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9848" y="2400718"/>
            <a:ext cx="2101519" cy="365760"/>
          </a:xfrm>
          <a:prstGeom prst="rect">
            <a:avLst/>
          </a:prstGeom>
          <a:noFill/>
        </p:spPr>
        <p:txBody>
          <a:bodyPr wrap="square" lIns="0" tIns="0" rIns="0" bIns="0" anchor="t">
            <a:spAutoFit/>
          </a:bodyPr>
          <a:lstStyle/>
          <a:p>
            <a:pPr algn="l">
              <a:lnSpc>
                <a:spcPct val="125000"/>
              </a:lnSpc>
            </a:pPr>
            <a:r>
              <a:rPr sz="1200" b="0" i="0">
                <a:solidFill>
                  <a:srgbClr val="993C1D"/>
                </a:solidFill>
                <a:latin typeface="Helvetica Neue Medium"/>
              </a:rPr>
              <a:t>i</a:t>
            </a:r>
          </a:p>
        </p:txBody>
      </p:sp>
      <p:sp>
        <p:nvSpPr>
          <p:cNvPr id="6" name="TextBox 5"/>
          <p:cNvSpPr txBox="1"/>
          <p:nvPr/>
        </p:nvSpPr>
        <p:spPr>
          <a:xfrm>
            <a:off x="1069848" y="2921926"/>
            <a:ext cx="2101519" cy="1005840"/>
          </a:xfrm>
          <a:prstGeom prst="rect">
            <a:avLst/>
          </a:prstGeom>
          <a:noFill/>
        </p:spPr>
        <p:txBody>
          <a:bodyPr wrap="square" lIns="0" tIns="0" rIns="0" bIns="0" anchor="t">
            <a:spAutoFit/>
          </a:bodyPr>
          <a:lstStyle/>
          <a:p>
            <a:pPr algn="l">
              <a:lnSpc>
                <a:spcPct val="118000"/>
              </a:lnSpc>
            </a:pPr>
            <a:r>
              <a:rPr sz="1700" b="0" i="0">
                <a:solidFill>
                  <a:srgbClr val="2C2C2A"/>
                </a:solidFill>
                <a:latin typeface="Helvetica Neue Medium"/>
              </a:rPr>
              <a:t>Empower our specialists</a:t>
            </a:r>
          </a:p>
        </p:txBody>
      </p:sp>
      <p:sp>
        <p:nvSpPr>
          <p:cNvPr id="7" name="TextBox 6"/>
          <p:cNvSpPr txBox="1"/>
          <p:nvPr/>
        </p:nvSpPr>
        <p:spPr>
          <a:xfrm>
            <a:off x="1069848" y="3882046"/>
            <a:ext cx="2101519" cy="822960"/>
          </a:xfrm>
          <a:prstGeom prst="rect">
            <a:avLst/>
          </a:prstGeom>
          <a:noFill/>
        </p:spPr>
        <p:txBody>
          <a:bodyPr wrap="square" lIns="0" tIns="0" rIns="0" bIns="0" anchor="t">
            <a:spAutoFit/>
          </a:bodyPr>
          <a:lstStyle/>
          <a:p>
            <a:pPr algn="l">
              <a:lnSpc>
                <a:spcPct val="145000"/>
              </a:lnSpc>
            </a:pPr>
            <a:r>
              <a:rPr sz="1200" b="0" i="0">
                <a:solidFill>
                  <a:srgbClr val="5F5E5A"/>
                </a:solidFill>
                <a:latin typeface="Helvetica Neue"/>
              </a:rPr>
              <a:t>The team's full intelligence at every elbow.</a:t>
            </a:r>
          </a:p>
        </p:txBody>
      </p:sp>
      <p:sp>
        <p:nvSpPr>
          <p:cNvPr id="8" name="Rounded Rectangle 7"/>
          <p:cNvSpPr/>
          <p:nvPr/>
        </p:nvSpPr>
        <p:spPr>
          <a:xfrm>
            <a:off x="3518839" y="2144686"/>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20007" y="2400718"/>
            <a:ext cx="2101519" cy="365760"/>
          </a:xfrm>
          <a:prstGeom prst="rect">
            <a:avLst/>
          </a:prstGeom>
          <a:noFill/>
        </p:spPr>
        <p:txBody>
          <a:bodyPr wrap="square" lIns="0" tIns="0" rIns="0" bIns="0" anchor="t">
            <a:spAutoFit/>
          </a:bodyPr>
          <a:lstStyle/>
          <a:p>
            <a:pPr algn="l">
              <a:lnSpc>
                <a:spcPct val="125000"/>
              </a:lnSpc>
            </a:pPr>
            <a:r>
              <a:rPr sz="1200" b="0" i="0">
                <a:solidFill>
                  <a:srgbClr val="993C1D"/>
                </a:solidFill>
                <a:latin typeface="Helvetica Neue Medium"/>
              </a:rPr>
              <a:t>ii</a:t>
            </a:r>
          </a:p>
        </p:txBody>
      </p:sp>
      <p:sp>
        <p:nvSpPr>
          <p:cNvPr id="10" name="TextBox 9"/>
          <p:cNvSpPr txBox="1"/>
          <p:nvPr/>
        </p:nvSpPr>
        <p:spPr>
          <a:xfrm>
            <a:off x="3720007" y="2921926"/>
            <a:ext cx="2101519" cy="1005840"/>
          </a:xfrm>
          <a:prstGeom prst="rect">
            <a:avLst/>
          </a:prstGeom>
          <a:noFill/>
        </p:spPr>
        <p:txBody>
          <a:bodyPr wrap="square" lIns="0" tIns="0" rIns="0" bIns="0" anchor="t">
            <a:spAutoFit/>
          </a:bodyPr>
          <a:lstStyle/>
          <a:p>
            <a:pPr algn="l">
              <a:lnSpc>
                <a:spcPct val="118000"/>
              </a:lnSpc>
            </a:pPr>
            <a:r>
              <a:rPr sz="1700" b="0" i="0">
                <a:solidFill>
                  <a:srgbClr val="2C2C2A"/>
                </a:solidFill>
                <a:latin typeface="Helvetica Neue Medium"/>
              </a:rPr>
              <a:t>Automate the machinery</a:t>
            </a:r>
          </a:p>
        </p:txBody>
      </p:sp>
      <p:sp>
        <p:nvSpPr>
          <p:cNvPr id="11" name="TextBox 10"/>
          <p:cNvSpPr txBox="1"/>
          <p:nvPr/>
        </p:nvSpPr>
        <p:spPr>
          <a:xfrm>
            <a:off x="3720007" y="3882046"/>
            <a:ext cx="2101519" cy="822960"/>
          </a:xfrm>
          <a:prstGeom prst="rect">
            <a:avLst/>
          </a:prstGeom>
          <a:noFill/>
        </p:spPr>
        <p:txBody>
          <a:bodyPr wrap="square" lIns="0" tIns="0" rIns="0" bIns="0" anchor="t">
            <a:spAutoFit/>
          </a:bodyPr>
          <a:lstStyle/>
          <a:p>
            <a:pPr algn="l">
              <a:lnSpc>
                <a:spcPct val="145000"/>
              </a:lnSpc>
            </a:pPr>
            <a:r>
              <a:rPr sz="1200" b="0" i="0" dirty="0">
                <a:solidFill>
                  <a:srgbClr val="5F5E5A"/>
                </a:solidFill>
                <a:latin typeface="Helvetica Neue"/>
              </a:rPr>
              <a:t>Friction out of mortgage, trust, document work, handoffs.</a:t>
            </a:r>
          </a:p>
        </p:txBody>
      </p:sp>
      <p:sp>
        <p:nvSpPr>
          <p:cNvPr id="12" name="Rounded Rectangle 11"/>
          <p:cNvSpPr/>
          <p:nvPr/>
        </p:nvSpPr>
        <p:spPr>
          <a:xfrm>
            <a:off x="6168999" y="2144686"/>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0167" y="2400718"/>
            <a:ext cx="2101519" cy="365760"/>
          </a:xfrm>
          <a:prstGeom prst="rect">
            <a:avLst/>
          </a:prstGeom>
          <a:noFill/>
        </p:spPr>
        <p:txBody>
          <a:bodyPr wrap="square" lIns="0" tIns="0" rIns="0" bIns="0" anchor="t">
            <a:spAutoFit/>
          </a:bodyPr>
          <a:lstStyle/>
          <a:p>
            <a:pPr algn="l">
              <a:lnSpc>
                <a:spcPct val="125000"/>
              </a:lnSpc>
            </a:pPr>
            <a:r>
              <a:rPr sz="1200" b="0" i="0">
                <a:solidFill>
                  <a:srgbClr val="993C1D"/>
                </a:solidFill>
                <a:latin typeface="Helvetica Neue Medium"/>
              </a:rPr>
              <a:t>iii</a:t>
            </a:r>
          </a:p>
        </p:txBody>
      </p:sp>
      <p:sp>
        <p:nvSpPr>
          <p:cNvPr id="14" name="TextBox 13"/>
          <p:cNvSpPr txBox="1"/>
          <p:nvPr/>
        </p:nvSpPr>
        <p:spPr>
          <a:xfrm>
            <a:off x="6370167" y="2921926"/>
            <a:ext cx="2101519" cy="1005840"/>
          </a:xfrm>
          <a:prstGeom prst="rect">
            <a:avLst/>
          </a:prstGeom>
          <a:noFill/>
        </p:spPr>
        <p:txBody>
          <a:bodyPr wrap="square" lIns="0" tIns="0" rIns="0" bIns="0" anchor="t">
            <a:spAutoFit/>
          </a:bodyPr>
          <a:lstStyle/>
          <a:p>
            <a:pPr algn="l">
              <a:lnSpc>
                <a:spcPct val="118000"/>
              </a:lnSpc>
            </a:pPr>
            <a:r>
              <a:rPr sz="1700" b="0" i="0">
                <a:solidFill>
                  <a:srgbClr val="2C2C2A"/>
                </a:solidFill>
                <a:latin typeface="Helvetica Neue Medium"/>
              </a:rPr>
              <a:t>Change how we build</a:t>
            </a:r>
          </a:p>
        </p:txBody>
      </p:sp>
      <p:sp>
        <p:nvSpPr>
          <p:cNvPr id="15" name="TextBox 14"/>
          <p:cNvSpPr txBox="1"/>
          <p:nvPr/>
        </p:nvSpPr>
        <p:spPr>
          <a:xfrm>
            <a:off x="6370167" y="3882046"/>
            <a:ext cx="2101519" cy="822960"/>
          </a:xfrm>
          <a:prstGeom prst="rect">
            <a:avLst/>
          </a:prstGeom>
          <a:noFill/>
        </p:spPr>
        <p:txBody>
          <a:bodyPr wrap="square" lIns="0" tIns="0" rIns="0" bIns="0" anchor="t">
            <a:spAutoFit/>
          </a:bodyPr>
          <a:lstStyle/>
          <a:p>
            <a:pPr algn="l">
              <a:lnSpc>
                <a:spcPct val="145000"/>
              </a:lnSpc>
            </a:pPr>
            <a:r>
              <a:rPr sz="1200" b="0" i="0">
                <a:solidFill>
                  <a:srgbClr val="5F5E5A"/>
                </a:solidFill>
                <a:latin typeface="Helvetica Neue"/>
              </a:rPr>
              <a:t>A different stack, a different cadence.</a:t>
            </a:r>
          </a:p>
        </p:txBody>
      </p:sp>
      <p:sp>
        <p:nvSpPr>
          <p:cNvPr id="16" name="Rounded Rectangle 15"/>
          <p:cNvSpPr/>
          <p:nvPr/>
        </p:nvSpPr>
        <p:spPr>
          <a:xfrm>
            <a:off x="8819159" y="2144686"/>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20327" y="2400718"/>
            <a:ext cx="2101519" cy="365760"/>
          </a:xfrm>
          <a:prstGeom prst="rect">
            <a:avLst/>
          </a:prstGeom>
          <a:noFill/>
        </p:spPr>
        <p:txBody>
          <a:bodyPr wrap="square" lIns="0" tIns="0" rIns="0" bIns="0" anchor="t">
            <a:spAutoFit/>
          </a:bodyPr>
          <a:lstStyle/>
          <a:p>
            <a:pPr algn="l">
              <a:lnSpc>
                <a:spcPct val="125000"/>
              </a:lnSpc>
            </a:pPr>
            <a:r>
              <a:rPr sz="1200" b="0" i="0">
                <a:solidFill>
                  <a:srgbClr val="993C1D"/>
                </a:solidFill>
                <a:latin typeface="Helvetica Neue Medium"/>
              </a:rPr>
              <a:t>iv</a:t>
            </a:r>
          </a:p>
        </p:txBody>
      </p:sp>
      <p:sp>
        <p:nvSpPr>
          <p:cNvPr id="18" name="TextBox 17"/>
          <p:cNvSpPr txBox="1"/>
          <p:nvPr/>
        </p:nvSpPr>
        <p:spPr>
          <a:xfrm>
            <a:off x="9020327" y="2921926"/>
            <a:ext cx="2101519" cy="1005840"/>
          </a:xfrm>
          <a:prstGeom prst="rect">
            <a:avLst/>
          </a:prstGeom>
          <a:noFill/>
        </p:spPr>
        <p:txBody>
          <a:bodyPr wrap="square" lIns="0" tIns="0" rIns="0" bIns="0" anchor="t">
            <a:spAutoFit/>
          </a:bodyPr>
          <a:lstStyle/>
          <a:p>
            <a:pPr algn="l">
              <a:lnSpc>
                <a:spcPct val="118000"/>
              </a:lnSpc>
            </a:pPr>
            <a:r>
              <a:rPr sz="1700" b="0" i="0">
                <a:solidFill>
                  <a:srgbClr val="2C2C2A"/>
                </a:solidFill>
                <a:latin typeface="Helvetica Neue Medium"/>
              </a:rPr>
              <a:t>Our data is what we get to build on</a:t>
            </a:r>
          </a:p>
        </p:txBody>
      </p:sp>
      <p:sp>
        <p:nvSpPr>
          <p:cNvPr id="19" name="TextBox 18"/>
          <p:cNvSpPr txBox="1"/>
          <p:nvPr/>
        </p:nvSpPr>
        <p:spPr>
          <a:xfrm>
            <a:off x="9020327" y="3882046"/>
            <a:ext cx="2101519" cy="822960"/>
          </a:xfrm>
          <a:prstGeom prst="rect">
            <a:avLst/>
          </a:prstGeom>
          <a:noFill/>
        </p:spPr>
        <p:txBody>
          <a:bodyPr wrap="square" lIns="0" tIns="0" rIns="0" bIns="0" anchor="t">
            <a:spAutoFit/>
          </a:bodyPr>
          <a:lstStyle/>
          <a:p>
            <a:pPr algn="l">
              <a:lnSpc>
                <a:spcPct val="145000"/>
              </a:lnSpc>
            </a:pPr>
            <a:r>
              <a:rPr sz="1200" b="0" i="0">
                <a:solidFill>
                  <a:srgbClr val="5F5E5A"/>
                </a:solidFill>
                <a:latin typeface="Helvetica Neue"/>
              </a:rPr>
              <a:t>No competitor sits on what we sit on.</a:t>
            </a:r>
          </a:p>
        </p:txBody>
      </p:sp>
      <p:sp>
        <p:nvSpPr>
          <p:cNvPr id="20" name="Rounded Rectangle 19"/>
          <p:cNvSpPr/>
          <p:nvPr/>
        </p:nvSpPr>
        <p:spPr>
          <a:xfrm>
            <a:off x="868680" y="5034190"/>
            <a:ext cx="10454335" cy="685800"/>
          </a:xfrm>
          <a:prstGeom prst="roundRect">
            <a:avLst>
              <a:gd name="adj" fmla="val 18000"/>
            </a:avLst>
          </a:prstGeom>
          <a:solidFill>
            <a:srgbClr val="FFFFFF"/>
          </a:solidFill>
          <a:ln w="9525">
            <a:solidFill>
              <a:srgbClr val="D85A30"/>
            </a:solidFill>
          </a:ln>
          <a:effectLst/>
        </p:spPr>
        <p:style>
          <a:lnRef idx="1">
            <a:schemeClr val="accent1"/>
          </a:lnRef>
          <a:fillRef idx="3">
            <a:schemeClr val="accent1"/>
          </a:fillRef>
          <a:effectRef idx="2">
            <a:schemeClr val="accent1"/>
          </a:effectRef>
          <a:fontRef idx="minor">
            <a:schemeClr val="lt1"/>
          </a:fontRef>
        </p:style>
        <p:txBody>
          <a:bodyPr wrap="square" lIns="256032" tIns="91440" rIns="256032" bIns="91440" rtlCol="0" anchor="ctr"/>
          <a:lstStyle/>
          <a:p>
            <a:pPr algn="l"/>
            <a:r>
              <a:rPr sz="1400" b="0">
                <a:solidFill>
                  <a:srgbClr val="993C1D"/>
                </a:solidFill>
                <a:latin typeface="Helvetica Neue Medium"/>
              </a:rPr>
              <a:t>Agentic</a:t>
            </a:r>
            <a:r>
              <a:rPr sz="1400" b="0">
                <a:solidFill>
                  <a:srgbClr val="2C2C2A"/>
                </a:solidFill>
                <a:latin typeface="Helvetica Neue Medium"/>
              </a:rPr>
              <a:t> — the systems take action, not just answer.</a:t>
            </a:r>
          </a:p>
        </p:txBody>
      </p:sp>
      <p:sp>
        <p:nvSpPr>
          <p:cNvPr id="21" name="TextBox 20"/>
          <p:cNvSpPr txBox="1"/>
          <p:nvPr/>
        </p:nvSpPr>
        <p:spPr>
          <a:xfrm>
            <a:off x="8579815" y="5253646"/>
            <a:ext cx="2651760" cy="274320"/>
          </a:xfrm>
          <a:prstGeom prst="rect">
            <a:avLst/>
          </a:prstGeom>
          <a:noFill/>
        </p:spPr>
        <p:txBody>
          <a:bodyPr wrap="square" lIns="0" tIns="0" rIns="0" bIns="0" anchor="t">
            <a:spAutoFit/>
          </a:bodyPr>
          <a:lstStyle/>
          <a:p>
            <a:pPr algn="r">
              <a:lnSpc>
                <a:spcPct val="125000"/>
              </a:lnSpc>
            </a:pPr>
            <a:r>
              <a:rPr sz="1000" b="0" i="0" dirty="0">
                <a:solidFill>
                  <a:srgbClr val="993C1D"/>
                </a:solidFill>
                <a:latin typeface="Helvetica Neue Medium"/>
              </a:rPr>
              <a:t>The thread across all four</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2011680"/>
            <a:ext cx="2743200" cy="1828800"/>
          </a:xfrm>
          <a:prstGeom prst="rect">
            <a:avLst/>
          </a:prstGeom>
          <a:noFill/>
        </p:spPr>
        <p:txBody>
          <a:bodyPr wrap="square" lIns="0" tIns="0" rIns="0" bIns="0" anchor="t">
            <a:spAutoFit/>
          </a:bodyPr>
          <a:lstStyle/>
          <a:p>
            <a:pPr algn="l">
              <a:lnSpc>
                <a:spcPct val="100000"/>
              </a:lnSpc>
            </a:pPr>
            <a:r>
              <a:rPr sz="11000" b="0" i="0">
                <a:solidFill>
                  <a:srgbClr val="D85A30"/>
                </a:solidFill>
                <a:latin typeface="Helvetica Neue Medium"/>
              </a:rPr>
              <a:t>i</a:t>
            </a:r>
          </a:p>
        </p:txBody>
      </p:sp>
      <p:sp>
        <p:nvSpPr>
          <p:cNvPr id="3" name="TextBox 2"/>
          <p:cNvSpPr txBox="1"/>
          <p:nvPr/>
        </p:nvSpPr>
        <p:spPr>
          <a:xfrm>
            <a:off x="868680" y="3703320"/>
            <a:ext cx="2743200" cy="365760"/>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Medium"/>
              </a:rPr>
              <a:t>Pillar one</a:t>
            </a:r>
          </a:p>
        </p:txBody>
      </p:sp>
      <p:sp>
        <p:nvSpPr>
          <p:cNvPr id="4" name="TextBox 3"/>
          <p:cNvSpPr txBox="1"/>
          <p:nvPr/>
        </p:nvSpPr>
        <p:spPr>
          <a:xfrm>
            <a:off x="4251960" y="1874519"/>
            <a:ext cx="7071055" cy="1097280"/>
          </a:xfrm>
          <a:prstGeom prst="rect">
            <a:avLst/>
          </a:prstGeom>
          <a:noFill/>
        </p:spPr>
        <p:txBody>
          <a:bodyPr wrap="square" lIns="0" tIns="0" rIns="0" bIns="0" anchor="t">
            <a:spAutoFit/>
          </a:bodyPr>
          <a:lstStyle/>
          <a:p>
            <a:pPr algn="l">
              <a:lnSpc>
                <a:spcPct val="110000"/>
              </a:lnSpc>
            </a:pPr>
            <a:r>
              <a:rPr sz="3600" b="0" i="0">
                <a:solidFill>
                  <a:srgbClr val="2C2C2A"/>
                </a:solidFill>
                <a:latin typeface="Helvetica Neue Medium"/>
              </a:rPr>
              <a:t>Empower our specialists.</a:t>
            </a:r>
          </a:p>
        </p:txBody>
      </p:sp>
      <p:sp>
        <p:nvSpPr>
          <p:cNvPr id="5" name="TextBox 4"/>
          <p:cNvSpPr txBox="1"/>
          <p:nvPr/>
        </p:nvSpPr>
        <p:spPr>
          <a:xfrm>
            <a:off x="4251960" y="3108960"/>
            <a:ext cx="7071055" cy="1251240"/>
          </a:xfrm>
          <a:prstGeom prst="rect">
            <a:avLst/>
          </a:prstGeom>
          <a:noFill/>
        </p:spPr>
        <p:txBody>
          <a:bodyPr wrap="square" lIns="0" tIns="0" rIns="0" bIns="0" anchor="t">
            <a:spAutoFit/>
          </a:bodyPr>
          <a:lstStyle/>
          <a:p>
            <a:pPr algn="l">
              <a:lnSpc>
                <a:spcPct val="150000"/>
              </a:lnSpc>
            </a:pPr>
            <a:r>
              <a:rPr sz="1400" b="0" i="0" dirty="0">
                <a:solidFill>
                  <a:srgbClr val="444441"/>
                </a:solidFill>
                <a:latin typeface="Helvetica Neue"/>
              </a:rPr>
              <a:t>Every mortgage banker, every alternatives expert, every portfolio strategist, every </a:t>
            </a:r>
            <a:r>
              <a:rPr lang="en-US" sz="1400" dirty="0">
                <a:solidFill>
                  <a:srgbClr val="444441"/>
                </a:solidFill>
                <a:latin typeface="Helvetica Neue"/>
              </a:rPr>
              <a:t>employee</a:t>
            </a:r>
            <a:r>
              <a:rPr sz="1400" b="0" i="0" dirty="0">
                <a:solidFill>
                  <a:srgbClr val="444441"/>
                </a:solidFill>
                <a:latin typeface="Helvetica Neue"/>
              </a:rPr>
              <a:t> gets access to the team's full intelligence and the firm's full institutional memory. The senior expert moves faster. The newer team member performs closer to the senior. The bench gets deeper without growing headcount linearly.</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292608"/>
          </a:xfrm>
          <a:prstGeom prst="rect">
            <a:avLst/>
          </a:prstGeom>
          <a:noFill/>
        </p:spPr>
        <p:txBody>
          <a:bodyPr wrap="square" lIns="0" tIns="0" rIns="0" bIns="0" anchor="t">
            <a:spAutoFit/>
          </a:bodyPr>
          <a:lstStyle/>
          <a:p>
            <a:pPr algn="l">
              <a:lnSpc>
                <a:spcPct val="125000"/>
              </a:lnSpc>
            </a:pPr>
            <a:r>
              <a:rPr sz="1100" b="0" i="0">
                <a:solidFill>
                  <a:srgbClr val="888780"/>
                </a:solidFill>
                <a:latin typeface="Helvetica Neue Medium"/>
              </a:rPr>
              <a:t>i   </a:t>
            </a:r>
            <a:r>
              <a:rPr sz="1100" b="0" i="0">
                <a:solidFill>
                  <a:srgbClr val="993C1D"/>
                </a:solidFill>
                <a:latin typeface="Helvetica Neue Medium"/>
              </a:rPr>
              <a:t>Pillar one  ·  What this looks like</a:t>
            </a:r>
          </a:p>
        </p:txBody>
      </p:sp>
      <p:sp>
        <p:nvSpPr>
          <p:cNvPr id="3" name="TextBox 2"/>
          <p:cNvSpPr txBox="1"/>
          <p:nvPr/>
        </p:nvSpPr>
        <p:spPr>
          <a:xfrm>
            <a:off x="868680" y="960120"/>
            <a:ext cx="10454335" cy="914400"/>
          </a:xfrm>
          <a:prstGeom prst="rect">
            <a:avLst/>
          </a:prstGeom>
          <a:noFill/>
        </p:spPr>
        <p:txBody>
          <a:bodyPr wrap="square" lIns="0" tIns="0" rIns="0" bIns="0" anchor="t">
            <a:spAutoFit/>
          </a:bodyPr>
          <a:lstStyle/>
          <a:p>
            <a:pPr algn="l">
              <a:lnSpc>
                <a:spcPct val="120000"/>
              </a:lnSpc>
            </a:pPr>
            <a:r>
              <a:rPr sz="2400" b="0" i="0" dirty="0">
                <a:solidFill>
                  <a:srgbClr val="2C2C2A"/>
                </a:solidFill>
                <a:latin typeface="Helvetica Neue Medium"/>
              </a:rPr>
              <a:t>Specialists doing more of what only specialists can do.</a:t>
            </a:r>
          </a:p>
        </p:txBody>
      </p:sp>
      <p:sp>
        <p:nvSpPr>
          <p:cNvPr id="4" name="Rounded Rectangle 3"/>
          <p:cNvSpPr/>
          <p:nvPr/>
        </p:nvSpPr>
        <p:spPr>
          <a:xfrm>
            <a:off x="868680" y="1965960"/>
            <a:ext cx="5163159" cy="13258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9848" y="2167128"/>
            <a:ext cx="36576" cy="923544"/>
          </a:xfrm>
          <a:prstGeom prst="roundRect">
            <a:avLst>
              <a:gd name="adj" fmla="val 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34440" y="2167128"/>
            <a:ext cx="4596231" cy="923544"/>
          </a:xfrm>
          <a:prstGeom prst="rect">
            <a:avLst/>
          </a:prstGeom>
          <a:noFill/>
        </p:spPr>
        <p:txBody>
          <a:bodyPr wrap="square" lIns="0" tIns="0" rIns="0" bIns="0" anchor="t">
            <a:spAutoFit/>
          </a:bodyPr>
          <a:lstStyle/>
          <a:p>
            <a:pPr algn="l">
              <a:lnSpc>
                <a:spcPct val="145000"/>
              </a:lnSpc>
            </a:pPr>
            <a:r>
              <a:rPr sz="1200" b="0" i="0">
                <a:solidFill>
                  <a:srgbClr val="2C2C2A"/>
                </a:solidFill>
                <a:latin typeface="Helvetica Neue"/>
              </a:rPr>
              <a:t>A portfolio strategist preparing the morning brief now has every market move, every internal view, every relevant client position, synthesized before the call starts.</a:t>
            </a:r>
          </a:p>
        </p:txBody>
      </p:sp>
      <p:sp>
        <p:nvSpPr>
          <p:cNvPr id="7" name="Rounded Rectangle 6"/>
          <p:cNvSpPr/>
          <p:nvPr/>
        </p:nvSpPr>
        <p:spPr>
          <a:xfrm>
            <a:off x="6159855" y="1965960"/>
            <a:ext cx="5163159" cy="13258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61023" y="2167128"/>
            <a:ext cx="36576" cy="923544"/>
          </a:xfrm>
          <a:prstGeom prst="roundRect">
            <a:avLst>
              <a:gd name="adj" fmla="val 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25615" y="2167128"/>
            <a:ext cx="4596231" cy="923544"/>
          </a:xfrm>
          <a:prstGeom prst="rect">
            <a:avLst/>
          </a:prstGeom>
          <a:noFill/>
        </p:spPr>
        <p:txBody>
          <a:bodyPr wrap="square" lIns="0" tIns="0" rIns="0" bIns="0" anchor="t">
            <a:spAutoFit/>
          </a:bodyPr>
          <a:lstStyle/>
          <a:p>
            <a:pPr algn="l">
              <a:lnSpc>
                <a:spcPct val="145000"/>
              </a:lnSpc>
            </a:pPr>
            <a:r>
              <a:rPr sz="1200" b="0" i="0">
                <a:solidFill>
                  <a:srgbClr val="2C2C2A"/>
                </a:solidFill>
                <a:latin typeface="Helvetica Neue"/>
              </a:rPr>
              <a:t>A lender structuring a custom loan for a client with a complex collateral position pulls every relevant precedent, every prior structure the team has done, every credit-policy update — drafted before the call.</a:t>
            </a:r>
          </a:p>
        </p:txBody>
      </p:sp>
      <p:sp>
        <p:nvSpPr>
          <p:cNvPr id="10" name="Rounded Rectangle 9"/>
          <p:cNvSpPr/>
          <p:nvPr/>
        </p:nvSpPr>
        <p:spPr>
          <a:xfrm>
            <a:off x="868680" y="3419856"/>
            <a:ext cx="5163159" cy="13258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69848" y="3621024"/>
            <a:ext cx="36576" cy="923544"/>
          </a:xfrm>
          <a:prstGeom prst="roundRect">
            <a:avLst>
              <a:gd name="adj" fmla="val 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34440" y="3621024"/>
            <a:ext cx="4596231" cy="923544"/>
          </a:xfrm>
          <a:prstGeom prst="rect">
            <a:avLst/>
          </a:prstGeom>
          <a:noFill/>
        </p:spPr>
        <p:txBody>
          <a:bodyPr wrap="square" lIns="0" tIns="0" rIns="0" bIns="0" anchor="t">
            <a:spAutoFit/>
          </a:bodyPr>
          <a:lstStyle/>
          <a:p>
            <a:pPr algn="l">
              <a:lnSpc>
                <a:spcPct val="145000"/>
              </a:lnSpc>
            </a:pPr>
            <a:r>
              <a:rPr sz="1200" b="0" i="0">
                <a:solidFill>
                  <a:srgbClr val="2C2C2A"/>
                </a:solidFill>
                <a:latin typeface="Helvetica Neue"/>
              </a:rPr>
              <a:t>An alternatives specialist evaluating a fund draws on every prior due-diligence file the team has ever produced, in the same hour the request arrives.</a:t>
            </a:r>
          </a:p>
        </p:txBody>
      </p:sp>
      <p:sp>
        <p:nvSpPr>
          <p:cNvPr id="13" name="Rounded Rectangle 12"/>
          <p:cNvSpPr/>
          <p:nvPr/>
        </p:nvSpPr>
        <p:spPr>
          <a:xfrm>
            <a:off x="6159855" y="3419856"/>
            <a:ext cx="5163159" cy="13258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61023" y="3621024"/>
            <a:ext cx="36576" cy="923544"/>
          </a:xfrm>
          <a:prstGeom prst="roundRect">
            <a:avLst>
              <a:gd name="adj" fmla="val 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5615" y="3621024"/>
            <a:ext cx="4596231" cy="923544"/>
          </a:xfrm>
          <a:prstGeom prst="rect">
            <a:avLst/>
          </a:prstGeom>
          <a:noFill/>
        </p:spPr>
        <p:txBody>
          <a:bodyPr wrap="square" lIns="0" tIns="0" rIns="0" bIns="0" anchor="t">
            <a:spAutoFit/>
          </a:bodyPr>
          <a:lstStyle/>
          <a:p>
            <a:pPr algn="l">
              <a:lnSpc>
                <a:spcPct val="145000"/>
              </a:lnSpc>
            </a:pPr>
            <a:r>
              <a:rPr sz="1200" b="0" i="0">
                <a:solidFill>
                  <a:srgbClr val="2C2C2A"/>
                </a:solidFill>
                <a:latin typeface="Helvetica Neue"/>
              </a:rPr>
              <a:t>A Global Investment Strategist writing a new piece has every market move, every internal view, every back-test, every prior publication at hand. The draft starts already informed by the firm's full track record.</a:t>
            </a:r>
          </a:p>
        </p:txBody>
      </p:sp>
      <p:sp>
        <p:nvSpPr>
          <p:cNvPr id="16" name="Rounded Rectangle 15"/>
          <p:cNvSpPr/>
          <p:nvPr/>
        </p:nvSpPr>
        <p:spPr>
          <a:xfrm>
            <a:off x="868680" y="4864608"/>
            <a:ext cx="10454335" cy="1417320"/>
          </a:xfrm>
          <a:prstGeom prst="roundRect">
            <a:avLst>
              <a:gd name="adj" fmla="val 5000"/>
            </a:avLst>
          </a:prstGeom>
          <a:solidFill>
            <a:srgbClr val="FFFFFF"/>
          </a:solidFill>
          <a:ln w="9525">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24712" y="5029200"/>
            <a:ext cx="9942271"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Coming next</a:t>
            </a:r>
          </a:p>
        </p:txBody>
      </p:sp>
      <p:sp>
        <p:nvSpPr>
          <p:cNvPr id="18" name="TextBox 17"/>
          <p:cNvSpPr txBox="1"/>
          <p:nvPr/>
        </p:nvSpPr>
        <p:spPr>
          <a:xfrm>
            <a:off x="1124712" y="5367528"/>
            <a:ext cx="9942271" cy="822960"/>
          </a:xfrm>
          <a:prstGeom prst="rect">
            <a:avLst/>
          </a:prstGeom>
          <a:noFill/>
        </p:spPr>
        <p:txBody>
          <a:bodyPr wrap="square" lIns="0" tIns="0" rIns="0" bIns="0" anchor="t">
            <a:spAutoFit/>
          </a:bodyPr>
          <a:lstStyle/>
          <a:p>
            <a:pPr algn="l">
              <a:lnSpc>
                <a:spcPct val="140000"/>
              </a:lnSpc>
            </a:pPr>
            <a:r>
              <a:rPr sz="1300" b="0" i="0">
                <a:solidFill>
                  <a:srgbClr val="993C1D"/>
                </a:solidFill>
                <a:latin typeface="Helvetica Neue Medium"/>
              </a:rPr>
              <a:t>Coach agents</a:t>
            </a:r>
            <a:r>
              <a:rPr sz="1300" b="0" i="0">
                <a:solidFill>
                  <a:srgbClr val="2C2C2A"/>
                </a:solidFill>
                <a:latin typeface="Helvetica Neue"/>
              </a:rPr>
              <a:t> for every Solutions group — deep research agents, skills libraries, internal-knowledge agents that learn the team's own playbook. Not just for advisors. For us. And </a:t>
            </a:r>
            <a:r>
              <a:rPr sz="1300" b="0" i="0">
                <a:solidFill>
                  <a:srgbClr val="993C1D"/>
                </a:solidFill>
                <a:latin typeface="Helvetica Neue Medium"/>
              </a:rPr>
              <a:t>Claude Code</a:t>
            </a:r>
            <a:r>
              <a:rPr sz="1300" b="0" i="0">
                <a:solidFill>
                  <a:srgbClr val="2C2C2A"/>
                </a:solidFill>
                <a:latin typeface="Helvetica Neue"/>
              </a:rPr>
              <a:t> in the hands of our most curious specialists, so the people closest to the work can build the tools their own day demands.</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2011680"/>
            <a:ext cx="2743200" cy="1828800"/>
          </a:xfrm>
          <a:prstGeom prst="rect">
            <a:avLst/>
          </a:prstGeom>
          <a:noFill/>
        </p:spPr>
        <p:txBody>
          <a:bodyPr wrap="square" lIns="0" tIns="0" rIns="0" bIns="0" anchor="t">
            <a:spAutoFit/>
          </a:bodyPr>
          <a:lstStyle/>
          <a:p>
            <a:pPr algn="l">
              <a:lnSpc>
                <a:spcPct val="100000"/>
              </a:lnSpc>
            </a:pPr>
            <a:r>
              <a:rPr sz="11000" b="0" i="0">
                <a:solidFill>
                  <a:srgbClr val="D85A30"/>
                </a:solidFill>
                <a:latin typeface="Helvetica Neue Medium"/>
              </a:rPr>
              <a:t>ii</a:t>
            </a:r>
          </a:p>
        </p:txBody>
      </p:sp>
      <p:sp>
        <p:nvSpPr>
          <p:cNvPr id="3" name="TextBox 2"/>
          <p:cNvSpPr txBox="1"/>
          <p:nvPr/>
        </p:nvSpPr>
        <p:spPr>
          <a:xfrm>
            <a:off x="868680" y="3703320"/>
            <a:ext cx="2743200" cy="365760"/>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Medium"/>
              </a:rPr>
              <a:t>Pillar two</a:t>
            </a:r>
          </a:p>
        </p:txBody>
      </p:sp>
      <p:sp>
        <p:nvSpPr>
          <p:cNvPr id="4" name="TextBox 3"/>
          <p:cNvSpPr txBox="1"/>
          <p:nvPr/>
        </p:nvSpPr>
        <p:spPr>
          <a:xfrm>
            <a:off x="4251960" y="1874519"/>
            <a:ext cx="7071055" cy="1097280"/>
          </a:xfrm>
          <a:prstGeom prst="rect">
            <a:avLst/>
          </a:prstGeom>
          <a:noFill/>
        </p:spPr>
        <p:txBody>
          <a:bodyPr wrap="square" lIns="0" tIns="0" rIns="0" bIns="0" anchor="t">
            <a:spAutoFit/>
          </a:bodyPr>
          <a:lstStyle/>
          <a:p>
            <a:pPr algn="l">
              <a:lnSpc>
                <a:spcPct val="110000"/>
              </a:lnSpc>
            </a:pPr>
            <a:r>
              <a:rPr sz="3600" b="0" i="0">
                <a:solidFill>
                  <a:srgbClr val="2C2C2A"/>
                </a:solidFill>
                <a:latin typeface="Helvetica Neue Medium"/>
              </a:rPr>
              <a:t>Automate the machinery.</a:t>
            </a:r>
          </a:p>
        </p:txBody>
      </p:sp>
      <p:sp>
        <p:nvSpPr>
          <p:cNvPr id="5" name="TextBox 4"/>
          <p:cNvSpPr txBox="1"/>
          <p:nvPr/>
        </p:nvSpPr>
        <p:spPr>
          <a:xfrm>
            <a:off x="4251960" y="3108960"/>
            <a:ext cx="7071055" cy="928075"/>
          </a:xfrm>
          <a:prstGeom prst="rect">
            <a:avLst/>
          </a:prstGeom>
          <a:noFill/>
        </p:spPr>
        <p:txBody>
          <a:bodyPr wrap="square" lIns="0" tIns="0" rIns="0" bIns="0" anchor="t">
            <a:spAutoFit/>
          </a:bodyPr>
          <a:lstStyle/>
          <a:p>
            <a:pPr algn="l">
              <a:lnSpc>
                <a:spcPct val="150000"/>
              </a:lnSpc>
            </a:pPr>
            <a:r>
              <a:rPr sz="1400" b="0" i="0" dirty="0">
                <a:solidFill>
                  <a:srgbClr val="444441"/>
                </a:solidFill>
                <a:latin typeface="Helvetica Neue"/>
              </a:rPr>
              <a:t>Mortgages. Trust administration.</a:t>
            </a:r>
            <a:r>
              <a:rPr lang="en-US" sz="1400" b="0" i="0" dirty="0">
                <a:solidFill>
                  <a:srgbClr val="444441"/>
                </a:solidFill>
                <a:latin typeface="Helvetica Neue"/>
              </a:rPr>
              <a:t> Lending.</a:t>
            </a:r>
            <a:r>
              <a:rPr sz="1400" b="0" i="0" dirty="0">
                <a:solidFill>
                  <a:srgbClr val="444441"/>
                </a:solidFill>
                <a:latin typeface="Helvetica Neue"/>
              </a:rPr>
              <a:t> Document processing. Workflow handoffs. The unglamorous middle- and back-office work that consumes specialist time and creates client friction. The systems run it. The specialists do the work only they can do.</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292608"/>
          </a:xfrm>
          <a:prstGeom prst="rect">
            <a:avLst/>
          </a:prstGeom>
          <a:noFill/>
        </p:spPr>
        <p:txBody>
          <a:bodyPr wrap="square" lIns="0" tIns="0" rIns="0" bIns="0" anchor="t">
            <a:spAutoFit/>
          </a:bodyPr>
          <a:lstStyle/>
          <a:p>
            <a:pPr algn="l">
              <a:lnSpc>
                <a:spcPct val="125000"/>
              </a:lnSpc>
            </a:pPr>
            <a:r>
              <a:rPr sz="1100" b="0" i="0">
                <a:solidFill>
                  <a:srgbClr val="888780"/>
                </a:solidFill>
                <a:latin typeface="Helvetica Neue Medium"/>
              </a:rPr>
              <a:t>ii   </a:t>
            </a:r>
            <a:r>
              <a:rPr sz="1100" b="0" i="0">
                <a:solidFill>
                  <a:srgbClr val="993C1D"/>
                </a:solidFill>
                <a:latin typeface="Helvetica Neue Medium"/>
              </a:rPr>
              <a:t>Pillar two  ·  Three examples</a:t>
            </a:r>
          </a:p>
        </p:txBody>
      </p:sp>
      <p:sp>
        <p:nvSpPr>
          <p:cNvPr id="3" name="TextBox 2"/>
          <p:cNvSpPr txBox="1"/>
          <p:nvPr/>
        </p:nvSpPr>
        <p:spPr>
          <a:xfrm>
            <a:off x="868680" y="960120"/>
            <a:ext cx="10454335" cy="914400"/>
          </a:xfrm>
          <a:prstGeom prst="rect">
            <a:avLst/>
          </a:prstGeom>
          <a:noFill/>
        </p:spPr>
        <p:txBody>
          <a:bodyPr wrap="square" lIns="0" tIns="0" rIns="0" bIns="0" anchor="t">
            <a:spAutoFit/>
          </a:bodyPr>
          <a:lstStyle/>
          <a:p>
            <a:pPr algn="l">
              <a:lnSpc>
                <a:spcPct val="120000"/>
              </a:lnSpc>
            </a:pPr>
            <a:r>
              <a:rPr sz="2400" b="0" i="0">
                <a:solidFill>
                  <a:srgbClr val="2C2C2A"/>
                </a:solidFill>
                <a:latin typeface="Helvetica Neue Medium"/>
              </a:rPr>
              <a:t>Drawn from the work we do every day.</a:t>
            </a:r>
          </a:p>
        </p:txBody>
      </p:sp>
      <p:sp>
        <p:nvSpPr>
          <p:cNvPr id="4" name="Rounded Rectangle 3"/>
          <p:cNvSpPr/>
          <p:nvPr/>
        </p:nvSpPr>
        <p:spPr>
          <a:xfrm>
            <a:off x="868680" y="2103120"/>
            <a:ext cx="3375050" cy="420624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 y="2331720"/>
            <a:ext cx="2862986"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Mortgage underwriting</a:t>
            </a:r>
          </a:p>
        </p:txBody>
      </p:sp>
      <p:sp>
        <p:nvSpPr>
          <p:cNvPr id="6" name="TextBox 5"/>
          <p:cNvSpPr txBox="1"/>
          <p:nvPr/>
        </p:nvSpPr>
        <p:spPr>
          <a:xfrm>
            <a:off x="1124712" y="2743200"/>
            <a:ext cx="2862986" cy="1691640"/>
          </a:xfrm>
          <a:prstGeom prst="rect">
            <a:avLst/>
          </a:prstGeom>
          <a:noFill/>
        </p:spPr>
        <p:txBody>
          <a:bodyPr wrap="square" lIns="0" tIns="0" rIns="0" bIns="0" anchor="t">
            <a:spAutoFit/>
          </a:bodyPr>
          <a:lstStyle/>
          <a:p>
            <a:pPr algn="l">
              <a:lnSpc>
                <a:spcPct val="150000"/>
              </a:lnSpc>
            </a:pPr>
            <a:r>
              <a:rPr sz="1300" b="0" i="0">
                <a:solidFill>
                  <a:srgbClr val="2C2C2A"/>
                </a:solidFill>
                <a:latin typeface="Helvetica Neue"/>
              </a:rPr>
              <a:t>The agent assembles the underwriting end-to-end. The underwriter shifts from building the file to reviewing the agent's work — at first, every file. As the system earns trust, that becomes spot-check, then exceptions only.</a:t>
            </a:r>
          </a:p>
        </p:txBody>
      </p:sp>
      <p:cxnSp>
        <p:nvCxnSpPr>
          <p:cNvPr id="7" name="Connector 6"/>
          <p:cNvCxnSpPr/>
          <p:nvPr/>
        </p:nvCxnSpPr>
        <p:spPr>
          <a:xfrm>
            <a:off x="1124712" y="5120640"/>
            <a:ext cx="0"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 y="5285232"/>
            <a:ext cx="2862986" cy="502920"/>
          </a:xfrm>
          <a:prstGeom prst="rect">
            <a:avLst/>
          </a:prstGeom>
          <a:noFill/>
        </p:spPr>
        <p:txBody>
          <a:bodyPr wrap="square" lIns="0" tIns="0" rIns="0" bIns="0" anchor="t">
            <a:spAutoFit/>
          </a:bodyPr>
          <a:lstStyle/>
          <a:p>
            <a:pPr algn="l">
              <a:lnSpc>
                <a:spcPct val="125000"/>
              </a:lnSpc>
            </a:pPr>
            <a:r>
              <a:rPr sz="1800" b="0" i="0">
                <a:solidFill>
                  <a:srgbClr val="2C2C2A"/>
                </a:solidFill>
                <a:latin typeface="Helvetica Neue Medium"/>
              </a:rPr>
              <a:t>Review, not assemble</a:t>
            </a:r>
          </a:p>
        </p:txBody>
      </p:sp>
      <p:sp>
        <p:nvSpPr>
          <p:cNvPr id="9" name="TextBox 8"/>
          <p:cNvSpPr txBox="1"/>
          <p:nvPr/>
        </p:nvSpPr>
        <p:spPr>
          <a:xfrm>
            <a:off x="1124712" y="5833872"/>
            <a:ext cx="2862986" cy="457200"/>
          </a:xfrm>
          <a:prstGeom prst="rect">
            <a:avLst/>
          </a:prstGeom>
          <a:noFill/>
        </p:spPr>
        <p:txBody>
          <a:bodyPr wrap="square" lIns="0" tIns="0" rIns="0" bIns="0" anchor="t">
            <a:spAutoFit/>
          </a:bodyPr>
          <a:lstStyle/>
          <a:p>
            <a:pPr algn="l">
              <a:lnSpc>
                <a:spcPct val="140000"/>
              </a:lnSpc>
            </a:pPr>
            <a:r>
              <a:rPr sz="1000" b="0" i="0">
                <a:solidFill>
                  <a:srgbClr val="5F5E5A"/>
                </a:solidFill>
                <a:latin typeface="Helvetica Neue"/>
              </a:rPr>
              <a:t>The path to straight-through, taken in stages</a:t>
            </a:r>
          </a:p>
        </p:txBody>
      </p:sp>
      <p:sp>
        <p:nvSpPr>
          <p:cNvPr id="10" name="Rounded Rectangle 9"/>
          <p:cNvSpPr/>
          <p:nvPr/>
        </p:nvSpPr>
        <p:spPr>
          <a:xfrm>
            <a:off x="4408322" y="2103120"/>
            <a:ext cx="3375050" cy="420624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4354" y="2331720"/>
            <a:ext cx="2862986"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Trust distribution</a:t>
            </a:r>
          </a:p>
        </p:txBody>
      </p:sp>
      <p:sp>
        <p:nvSpPr>
          <p:cNvPr id="12" name="TextBox 11"/>
          <p:cNvSpPr txBox="1"/>
          <p:nvPr/>
        </p:nvSpPr>
        <p:spPr>
          <a:xfrm>
            <a:off x="4664354" y="2743200"/>
            <a:ext cx="2862986" cy="1762085"/>
          </a:xfrm>
          <a:prstGeom prst="rect">
            <a:avLst/>
          </a:prstGeom>
          <a:noFill/>
        </p:spPr>
        <p:txBody>
          <a:bodyPr wrap="square" lIns="0" tIns="0" rIns="0" bIns="0" anchor="t">
            <a:spAutoFit/>
          </a:bodyPr>
          <a:lstStyle/>
          <a:p>
            <a:pPr algn="l">
              <a:lnSpc>
                <a:spcPct val="150000"/>
              </a:lnSpc>
            </a:pPr>
            <a:r>
              <a:rPr sz="1300" b="0" i="0" dirty="0">
                <a:solidFill>
                  <a:srgbClr val="2C2C2A"/>
                </a:solidFill>
                <a:latin typeface="Helvetica Neue"/>
              </a:rPr>
              <a:t>A beneficiary requests a distribution. The agent assembles the packet, checks the powers, drafts the paperwork, routes </a:t>
            </a:r>
            <a:r>
              <a:rPr lang="en-US" sz="1300" b="0" i="0" dirty="0">
                <a:solidFill>
                  <a:srgbClr val="2C2C2A"/>
                </a:solidFill>
                <a:latin typeface="Helvetica Neue"/>
              </a:rPr>
              <a:t>to the right agent</a:t>
            </a:r>
            <a:r>
              <a:rPr sz="1300" b="0" i="0" dirty="0">
                <a:solidFill>
                  <a:srgbClr val="2C2C2A"/>
                </a:solidFill>
                <a:latin typeface="Helvetica Neue"/>
              </a:rPr>
              <a:t>. The </a:t>
            </a:r>
            <a:r>
              <a:rPr lang="en-US" sz="1300" b="0" i="0" dirty="0">
                <a:solidFill>
                  <a:srgbClr val="2C2C2A"/>
                </a:solidFill>
                <a:latin typeface="Helvetica Neue"/>
              </a:rPr>
              <a:t>human</a:t>
            </a:r>
            <a:r>
              <a:rPr sz="1300" b="0" i="0" dirty="0">
                <a:solidFill>
                  <a:srgbClr val="2C2C2A"/>
                </a:solidFill>
                <a:latin typeface="Helvetica Neue"/>
              </a:rPr>
              <a:t> approves — nothing else moves through human hands.</a:t>
            </a:r>
          </a:p>
        </p:txBody>
      </p:sp>
      <p:cxnSp>
        <p:nvCxnSpPr>
          <p:cNvPr id="13" name="Connector 12"/>
          <p:cNvCxnSpPr/>
          <p:nvPr/>
        </p:nvCxnSpPr>
        <p:spPr>
          <a:xfrm>
            <a:off x="0" y="5120640"/>
            <a:ext cx="0"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64354" y="5285232"/>
            <a:ext cx="2862986" cy="381066"/>
          </a:xfrm>
          <a:prstGeom prst="rect">
            <a:avLst/>
          </a:prstGeom>
          <a:noFill/>
        </p:spPr>
        <p:txBody>
          <a:bodyPr wrap="square" lIns="0" tIns="0" rIns="0" bIns="0" anchor="t">
            <a:spAutoFit/>
          </a:bodyPr>
          <a:lstStyle/>
          <a:p>
            <a:pPr algn="l">
              <a:lnSpc>
                <a:spcPct val="125000"/>
              </a:lnSpc>
            </a:pPr>
            <a:r>
              <a:rPr sz="2200" b="0" i="0" dirty="0">
                <a:solidFill>
                  <a:srgbClr val="2C2C2A"/>
                </a:solidFill>
                <a:latin typeface="Helvetica Neue Medium"/>
              </a:rPr>
              <a:t>Days </a:t>
            </a:r>
            <a:r>
              <a:rPr sz="2200" b="0" i="0" dirty="0">
                <a:solidFill>
                  <a:srgbClr val="D85A30"/>
                </a:solidFill>
                <a:latin typeface="Helvetica Neue Medium"/>
              </a:rPr>
              <a:t>→ </a:t>
            </a:r>
            <a:r>
              <a:rPr lang="en-US" sz="2200" b="0" i="0" dirty="0">
                <a:solidFill>
                  <a:srgbClr val="2C2C2A"/>
                </a:solidFill>
                <a:latin typeface="Helvetica Neue Medium"/>
              </a:rPr>
              <a:t>minutes</a:t>
            </a:r>
            <a:endParaRPr sz="2200" b="0" i="0" dirty="0">
              <a:solidFill>
                <a:srgbClr val="2C2C2A"/>
              </a:solidFill>
              <a:latin typeface="Helvetica Neue Medium"/>
            </a:endParaRPr>
          </a:p>
        </p:txBody>
      </p:sp>
      <p:sp>
        <p:nvSpPr>
          <p:cNvPr id="15" name="TextBox 14"/>
          <p:cNvSpPr txBox="1"/>
          <p:nvPr/>
        </p:nvSpPr>
        <p:spPr>
          <a:xfrm>
            <a:off x="4664354" y="5833872"/>
            <a:ext cx="2862986" cy="189732"/>
          </a:xfrm>
          <a:prstGeom prst="rect">
            <a:avLst/>
          </a:prstGeom>
          <a:noFill/>
        </p:spPr>
        <p:txBody>
          <a:bodyPr wrap="square" lIns="0" tIns="0" rIns="0" bIns="0" anchor="t">
            <a:spAutoFit/>
          </a:bodyPr>
          <a:lstStyle/>
          <a:p>
            <a:pPr algn="l">
              <a:lnSpc>
                <a:spcPct val="140000"/>
              </a:lnSpc>
            </a:pPr>
            <a:r>
              <a:rPr sz="1000" b="0" i="0" dirty="0">
                <a:solidFill>
                  <a:srgbClr val="5F5E5A"/>
                </a:solidFill>
                <a:latin typeface="Helvetica Neue"/>
              </a:rPr>
              <a:t>From request received to </a:t>
            </a:r>
            <a:r>
              <a:rPr lang="en-US" sz="1000" b="0" i="0" dirty="0">
                <a:solidFill>
                  <a:srgbClr val="5F5E5A"/>
                </a:solidFill>
                <a:latin typeface="Helvetica Neue"/>
              </a:rPr>
              <a:t>distribution</a:t>
            </a:r>
            <a:endParaRPr sz="1000" b="0" i="0" dirty="0">
              <a:solidFill>
                <a:srgbClr val="5F5E5A"/>
              </a:solidFill>
              <a:latin typeface="Helvetica Neue"/>
            </a:endParaRPr>
          </a:p>
        </p:txBody>
      </p:sp>
      <p:sp>
        <p:nvSpPr>
          <p:cNvPr id="16" name="Rounded Rectangle 15"/>
          <p:cNvSpPr/>
          <p:nvPr/>
        </p:nvSpPr>
        <p:spPr>
          <a:xfrm>
            <a:off x="7947964" y="2103120"/>
            <a:ext cx="3375050" cy="420624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03996" y="2331720"/>
            <a:ext cx="2862986"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Document processing</a:t>
            </a:r>
          </a:p>
        </p:txBody>
      </p:sp>
      <p:sp>
        <p:nvSpPr>
          <p:cNvPr id="18" name="TextBox 17"/>
          <p:cNvSpPr txBox="1"/>
          <p:nvPr/>
        </p:nvSpPr>
        <p:spPr>
          <a:xfrm>
            <a:off x="8203996" y="2743200"/>
            <a:ext cx="2862986" cy="1691640"/>
          </a:xfrm>
          <a:prstGeom prst="rect">
            <a:avLst/>
          </a:prstGeom>
          <a:noFill/>
        </p:spPr>
        <p:txBody>
          <a:bodyPr wrap="square" lIns="0" tIns="0" rIns="0" bIns="0" anchor="t">
            <a:spAutoFit/>
          </a:bodyPr>
          <a:lstStyle/>
          <a:p>
            <a:pPr algn="l">
              <a:lnSpc>
                <a:spcPct val="150000"/>
              </a:lnSpc>
            </a:pPr>
            <a:r>
              <a:rPr sz="1300" b="0" i="0">
                <a:solidFill>
                  <a:srgbClr val="2C2C2A"/>
                </a:solidFill>
                <a:latin typeface="Helvetica Neue"/>
              </a:rPr>
              <a:t>Intake, classification, extraction, routing. The pipeline that every other workflow depends on, now measured in hours instead of days.</a:t>
            </a:r>
          </a:p>
        </p:txBody>
      </p:sp>
      <p:cxnSp>
        <p:nvCxnSpPr>
          <p:cNvPr id="19" name="Connector 18"/>
          <p:cNvCxnSpPr/>
          <p:nvPr/>
        </p:nvCxnSpPr>
        <p:spPr>
          <a:xfrm>
            <a:off x="0" y="5120640"/>
            <a:ext cx="0"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03996" y="5285232"/>
            <a:ext cx="2862986" cy="381066"/>
          </a:xfrm>
          <a:prstGeom prst="rect">
            <a:avLst/>
          </a:prstGeom>
          <a:noFill/>
        </p:spPr>
        <p:txBody>
          <a:bodyPr wrap="square" lIns="0" tIns="0" rIns="0" bIns="0" anchor="t">
            <a:spAutoFit/>
          </a:bodyPr>
          <a:lstStyle/>
          <a:p>
            <a:pPr algn="l">
              <a:lnSpc>
                <a:spcPct val="125000"/>
              </a:lnSpc>
            </a:pPr>
            <a:r>
              <a:rPr lang="en-US" sz="2200" b="0" i="0" dirty="0">
                <a:solidFill>
                  <a:srgbClr val="2C2C2A"/>
                </a:solidFill>
                <a:latin typeface="Helvetica Neue Medium"/>
              </a:rPr>
              <a:t>Days </a:t>
            </a:r>
            <a:r>
              <a:rPr sz="2200" b="0" i="0" dirty="0">
                <a:solidFill>
                  <a:srgbClr val="D85A30"/>
                </a:solidFill>
                <a:latin typeface="Helvetica Neue Medium"/>
              </a:rPr>
              <a:t>→ </a:t>
            </a:r>
            <a:r>
              <a:rPr sz="2200" b="0" i="0" dirty="0">
                <a:solidFill>
                  <a:srgbClr val="2C2C2A"/>
                </a:solidFill>
                <a:latin typeface="Helvetica Neue Medium"/>
              </a:rPr>
              <a:t>  </a:t>
            </a:r>
            <a:r>
              <a:rPr lang="en-US" sz="2200" b="0" i="0" dirty="0">
                <a:solidFill>
                  <a:srgbClr val="2C2C2A"/>
                </a:solidFill>
                <a:latin typeface="Helvetica Neue Medium"/>
              </a:rPr>
              <a:t>minutes</a:t>
            </a:r>
            <a:endParaRPr sz="2200" b="0" i="0" dirty="0">
              <a:solidFill>
                <a:srgbClr val="2C2C2A"/>
              </a:solidFill>
              <a:latin typeface="Helvetica Neue Medium"/>
            </a:endParaRPr>
          </a:p>
        </p:txBody>
      </p:sp>
      <p:sp>
        <p:nvSpPr>
          <p:cNvPr id="21" name="TextBox 20"/>
          <p:cNvSpPr txBox="1"/>
          <p:nvPr/>
        </p:nvSpPr>
        <p:spPr>
          <a:xfrm>
            <a:off x="8203996" y="5833872"/>
            <a:ext cx="2862986" cy="457200"/>
          </a:xfrm>
          <a:prstGeom prst="rect">
            <a:avLst/>
          </a:prstGeom>
          <a:noFill/>
        </p:spPr>
        <p:txBody>
          <a:bodyPr wrap="square" lIns="0" tIns="0" rIns="0" bIns="0" anchor="t">
            <a:spAutoFit/>
          </a:bodyPr>
          <a:lstStyle/>
          <a:p>
            <a:pPr algn="l">
              <a:lnSpc>
                <a:spcPct val="140000"/>
              </a:lnSpc>
            </a:pPr>
            <a:r>
              <a:rPr sz="1000" b="0" i="0">
                <a:solidFill>
                  <a:srgbClr val="5F5E5A"/>
                </a:solidFill>
                <a:latin typeface="Helvetica Neue"/>
              </a:rPr>
              <a:t>Median end-to-end intake time</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292608"/>
          </a:xfrm>
          <a:prstGeom prst="rect">
            <a:avLst/>
          </a:prstGeom>
          <a:noFill/>
        </p:spPr>
        <p:txBody>
          <a:bodyPr wrap="square" lIns="0" tIns="0" rIns="0" bIns="0" anchor="t">
            <a:spAutoFit/>
          </a:bodyPr>
          <a:lstStyle/>
          <a:p>
            <a:pPr algn="l">
              <a:lnSpc>
                <a:spcPct val="125000"/>
              </a:lnSpc>
            </a:pPr>
            <a:r>
              <a:rPr sz="1100" b="0" i="0">
                <a:solidFill>
                  <a:srgbClr val="888780"/>
                </a:solidFill>
                <a:latin typeface="Helvetica Neue Medium"/>
              </a:rPr>
              <a:t>iii   </a:t>
            </a:r>
            <a:r>
              <a:rPr sz="1100" b="0" i="0">
                <a:solidFill>
                  <a:srgbClr val="993C1D"/>
                </a:solidFill>
                <a:latin typeface="Helvetica Neue Medium"/>
              </a:rPr>
              <a:t>Pillar three</a:t>
            </a:r>
          </a:p>
        </p:txBody>
      </p:sp>
      <p:sp>
        <p:nvSpPr>
          <p:cNvPr id="3" name="TextBox 2"/>
          <p:cNvSpPr txBox="1"/>
          <p:nvPr/>
        </p:nvSpPr>
        <p:spPr>
          <a:xfrm>
            <a:off x="868680" y="960120"/>
            <a:ext cx="10454335" cy="1097280"/>
          </a:xfrm>
          <a:prstGeom prst="rect">
            <a:avLst/>
          </a:prstGeom>
          <a:noFill/>
        </p:spPr>
        <p:txBody>
          <a:bodyPr wrap="square" lIns="0" tIns="0" rIns="0" bIns="0" anchor="t">
            <a:spAutoFit/>
          </a:bodyPr>
          <a:lstStyle/>
          <a:p>
            <a:pPr algn="l">
              <a:lnSpc>
                <a:spcPct val="110000"/>
              </a:lnSpc>
            </a:pPr>
            <a:r>
              <a:rPr sz="3600" b="0" i="0">
                <a:solidFill>
                  <a:srgbClr val="2C2C2A"/>
                </a:solidFill>
                <a:latin typeface="Helvetica Neue Medium"/>
              </a:rPr>
              <a:t>Change how we build.</a:t>
            </a:r>
          </a:p>
        </p:txBody>
      </p:sp>
      <p:sp>
        <p:nvSpPr>
          <p:cNvPr id="4" name="Rounded Rectangle 3"/>
          <p:cNvSpPr/>
          <p:nvPr/>
        </p:nvSpPr>
        <p:spPr>
          <a:xfrm>
            <a:off x="868680" y="2331720"/>
            <a:ext cx="5135727" cy="292608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 y="2587752"/>
            <a:ext cx="4623663" cy="274320"/>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Medium"/>
              </a:rPr>
              <a:t>The old way</a:t>
            </a:r>
          </a:p>
        </p:txBody>
      </p:sp>
      <p:sp>
        <p:nvSpPr>
          <p:cNvPr id="6" name="TextBox 5"/>
          <p:cNvSpPr txBox="1"/>
          <p:nvPr/>
        </p:nvSpPr>
        <p:spPr>
          <a:xfrm>
            <a:off x="1124712" y="3108960"/>
            <a:ext cx="4623663" cy="2011680"/>
          </a:xfrm>
          <a:prstGeom prst="rect">
            <a:avLst/>
          </a:prstGeom>
          <a:noFill/>
        </p:spPr>
        <p:txBody>
          <a:bodyPr wrap="square" lIns="0" tIns="0" rIns="0" bIns="0" anchor="t">
            <a:spAutoFit/>
          </a:bodyPr>
          <a:lstStyle/>
          <a:p>
            <a:pPr algn="l">
              <a:lnSpc>
                <a:spcPct val="140000"/>
              </a:lnSpc>
            </a:pPr>
            <a:r>
              <a:rPr sz="1500" b="0" i="0">
                <a:solidFill>
                  <a:srgbClr val="2C2C2A"/>
                </a:solidFill>
                <a:latin typeface="Helvetica Neue"/>
              </a:rPr>
              <a:t>Quarters of specification.</a:t>
            </a:r>
          </a:p>
          <a:p>
            <a:pPr algn="l">
              <a:lnSpc>
                <a:spcPct val="140000"/>
              </a:lnSpc>
              <a:spcBef>
                <a:spcPts val="800"/>
              </a:spcBef>
            </a:pPr>
            <a:r>
              <a:rPr sz="1500" b="0" i="0">
                <a:solidFill>
                  <a:srgbClr val="2C2C2A"/>
                </a:solidFill>
                <a:latin typeface="Helvetica Neue"/>
              </a:rPr>
              <a:t>Then quarters of build.</a:t>
            </a:r>
          </a:p>
          <a:p>
            <a:pPr algn="l">
              <a:lnSpc>
                <a:spcPct val="140000"/>
              </a:lnSpc>
              <a:spcBef>
                <a:spcPts val="800"/>
              </a:spcBef>
            </a:pPr>
            <a:r>
              <a:rPr sz="1500" b="0" i="0">
                <a:solidFill>
                  <a:srgbClr val="2C2C2A"/>
                </a:solidFill>
                <a:latin typeface="Helvetica Neue"/>
              </a:rPr>
              <a:t>Then a release. Then a measurement, eventually.</a:t>
            </a:r>
          </a:p>
        </p:txBody>
      </p:sp>
      <p:sp>
        <p:nvSpPr>
          <p:cNvPr id="7" name="Rounded Rectangle 6"/>
          <p:cNvSpPr/>
          <p:nvPr/>
        </p:nvSpPr>
        <p:spPr>
          <a:xfrm>
            <a:off x="6187287" y="2331720"/>
            <a:ext cx="5135727" cy="2926080"/>
          </a:xfrm>
          <a:prstGeom prst="roundRect">
            <a:avLst>
              <a:gd name="adj" fmla="val 5000"/>
            </a:avLst>
          </a:prstGeom>
          <a:solidFill>
            <a:srgbClr val="FFFFFF"/>
          </a:solidFill>
          <a:ln w="6350">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3319" y="2587752"/>
            <a:ext cx="4623663" cy="274320"/>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The new way</a:t>
            </a:r>
          </a:p>
        </p:txBody>
      </p:sp>
      <p:sp>
        <p:nvSpPr>
          <p:cNvPr id="9" name="TextBox 8"/>
          <p:cNvSpPr txBox="1"/>
          <p:nvPr/>
        </p:nvSpPr>
        <p:spPr>
          <a:xfrm>
            <a:off x="6443319" y="3108960"/>
            <a:ext cx="4623663" cy="1782411"/>
          </a:xfrm>
          <a:prstGeom prst="rect">
            <a:avLst/>
          </a:prstGeom>
          <a:noFill/>
        </p:spPr>
        <p:txBody>
          <a:bodyPr wrap="square" lIns="0" tIns="0" rIns="0" bIns="0" anchor="t">
            <a:spAutoFit/>
          </a:bodyPr>
          <a:lstStyle/>
          <a:p>
            <a:pPr algn="l">
              <a:lnSpc>
                <a:spcPct val="140000"/>
              </a:lnSpc>
            </a:pPr>
            <a:r>
              <a:rPr sz="1500" b="0" i="0" dirty="0">
                <a:solidFill>
                  <a:srgbClr val="2C2C2A"/>
                </a:solidFill>
                <a:latin typeface="Helvetica Neue"/>
              </a:rPr>
              <a:t>A prototype in </a:t>
            </a:r>
            <a:r>
              <a:rPr lang="en-US" sz="1500" b="0" i="0" dirty="0">
                <a:solidFill>
                  <a:srgbClr val="2C2C2A"/>
                </a:solidFill>
                <a:latin typeface="Helvetica Neue"/>
              </a:rPr>
              <a:t>minutes</a:t>
            </a:r>
            <a:r>
              <a:rPr sz="1500" b="0" i="0" dirty="0">
                <a:solidFill>
                  <a:srgbClr val="2C2C2A"/>
                </a:solidFill>
                <a:latin typeface="Helvetica Neue"/>
              </a:rPr>
              <a:t>.</a:t>
            </a:r>
          </a:p>
          <a:p>
            <a:pPr algn="l">
              <a:lnSpc>
                <a:spcPct val="140000"/>
              </a:lnSpc>
              <a:spcBef>
                <a:spcPts val="800"/>
              </a:spcBef>
            </a:pPr>
            <a:r>
              <a:rPr sz="1500" b="0" i="0" dirty="0">
                <a:solidFill>
                  <a:srgbClr val="2C2C2A"/>
                </a:solidFill>
                <a:latin typeface="Helvetica Neue"/>
              </a:rPr>
              <a:t>Decisions measured in advisor and client outcomes, not in features shipped.</a:t>
            </a:r>
          </a:p>
          <a:p>
            <a:pPr algn="l">
              <a:lnSpc>
                <a:spcPct val="140000"/>
              </a:lnSpc>
              <a:spcBef>
                <a:spcPts val="800"/>
              </a:spcBef>
            </a:pPr>
            <a:r>
              <a:rPr sz="1500" b="0" i="0" dirty="0">
                <a:solidFill>
                  <a:srgbClr val="2C2C2A"/>
                </a:solidFill>
                <a:latin typeface="Helvetica Neue"/>
              </a:rPr>
              <a:t>Engineers becoming editors of work the system has drafted.</a:t>
            </a:r>
          </a:p>
        </p:txBody>
      </p:sp>
      <p:sp>
        <p:nvSpPr>
          <p:cNvPr id="10" name="Rounded Rectangle 9"/>
          <p:cNvSpPr/>
          <p:nvPr/>
        </p:nvSpPr>
        <p:spPr>
          <a:xfrm>
            <a:off x="868680" y="571500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0" tIns="164592" rIns="274320" bIns="164592" rtlCol="0" anchor="ctr"/>
          <a:lstStyle/>
          <a:p>
            <a:pPr algn="l"/>
            <a:r>
              <a:rPr sz="1800" b="0">
                <a:solidFill>
                  <a:srgbClr val="2C2C2A"/>
                </a:solidFill>
                <a:latin typeface="Helvetica Neue Medium"/>
              </a:rPr>
              <a:t>Less “deliver the roadmap.” More “ship the thing, watch what happens, iterate.”</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2011680"/>
            <a:ext cx="2743200" cy="1828800"/>
          </a:xfrm>
          <a:prstGeom prst="rect">
            <a:avLst/>
          </a:prstGeom>
          <a:noFill/>
        </p:spPr>
        <p:txBody>
          <a:bodyPr wrap="square" lIns="0" tIns="0" rIns="0" bIns="0" anchor="t">
            <a:spAutoFit/>
          </a:bodyPr>
          <a:lstStyle/>
          <a:p>
            <a:pPr algn="l">
              <a:lnSpc>
                <a:spcPct val="100000"/>
              </a:lnSpc>
            </a:pPr>
            <a:r>
              <a:rPr sz="11000" b="0" i="0">
                <a:solidFill>
                  <a:srgbClr val="D85A30"/>
                </a:solidFill>
                <a:latin typeface="Helvetica Neue Medium"/>
              </a:rPr>
              <a:t>iv</a:t>
            </a:r>
          </a:p>
        </p:txBody>
      </p:sp>
      <p:sp>
        <p:nvSpPr>
          <p:cNvPr id="3" name="TextBox 2"/>
          <p:cNvSpPr txBox="1"/>
          <p:nvPr/>
        </p:nvSpPr>
        <p:spPr>
          <a:xfrm>
            <a:off x="868680" y="3703320"/>
            <a:ext cx="2743200" cy="365760"/>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Medium"/>
              </a:rPr>
              <a:t>Pillar four</a:t>
            </a:r>
          </a:p>
        </p:txBody>
      </p:sp>
      <p:sp>
        <p:nvSpPr>
          <p:cNvPr id="4" name="TextBox 3"/>
          <p:cNvSpPr txBox="1"/>
          <p:nvPr/>
        </p:nvSpPr>
        <p:spPr>
          <a:xfrm>
            <a:off x="4251960" y="1874519"/>
            <a:ext cx="7071055" cy="1097280"/>
          </a:xfrm>
          <a:prstGeom prst="rect">
            <a:avLst/>
          </a:prstGeom>
          <a:noFill/>
        </p:spPr>
        <p:txBody>
          <a:bodyPr wrap="square" lIns="0" tIns="0" rIns="0" bIns="0" anchor="t">
            <a:spAutoFit/>
          </a:bodyPr>
          <a:lstStyle/>
          <a:p>
            <a:pPr algn="l">
              <a:lnSpc>
                <a:spcPct val="110000"/>
              </a:lnSpc>
            </a:pPr>
            <a:r>
              <a:rPr sz="3600" b="0" i="0">
                <a:solidFill>
                  <a:srgbClr val="2C2C2A"/>
                </a:solidFill>
                <a:latin typeface="Helvetica Neue Medium"/>
              </a:rPr>
              <a:t>The Data Hive.</a:t>
            </a:r>
          </a:p>
        </p:txBody>
      </p:sp>
      <p:sp>
        <p:nvSpPr>
          <p:cNvPr id="5" name="Rounded Rectangle 4"/>
          <p:cNvSpPr/>
          <p:nvPr/>
        </p:nvSpPr>
        <p:spPr>
          <a:xfrm>
            <a:off x="4242817" y="2926080"/>
            <a:ext cx="45719" cy="1097280"/>
          </a:xfrm>
          <a:prstGeom prst="roundRect">
            <a:avLst>
              <a:gd name="adj" fmla="val 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16552" y="2953511"/>
            <a:ext cx="6906463" cy="457200"/>
          </a:xfrm>
          <a:prstGeom prst="rect">
            <a:avLst/>
          </a:prstGeom>
          <a:noFill/>
        </p:spPr>
        <p:txBody>
          <a:bodyPr wrap="square" lIns="0" tIns="0" rIns="0" bIns="0" anchor="t">
            <a:spAutoFit/>
          </a:bodyPr>
          <a:lstStyle/>
          <a:p>
            <a:pPr algn="l">
              <a:lnSpc>
                <a:spcPct val="135000"/>
              </a:lnSpc>
            </a:pPr>
            <a:r>
              <a:rPr sz="1500" b="0" i="1" dirty="0">
                <a:solidFill>
                  <a:srgbClr val="2C2C2A"/>
                </a:solidFill>
                <a:latin typeface="Helvetica Neue"/>
              </a:rPr>
              <a:t>“What are you seeing? How are other clients reacting? What are they doing and saying?”</a:t>
            </a:r>
          </a:p>
        </p:txBody>
      </p:sp>
      <p:sp>
        <p:nvSpPr>
          <p:cNvPr id="7" name="TextBox 6"/>
          <p:cNvSpPr txBox="1"/>
          <p:nvPr/>
        </p:nvSpPr>
        <p:spPr>
          <a:xfrm>
            <a:off x="4416552" y="3657600"/>
            <a:ext cx="6906463" cy="292608"/>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a:rPr>
              <a:t>— Every advisor, every market-volatile week.</a:t>
            </a:r>
          </a:p>
        </p:txBody>
      </p:sp>
      <p:sp>
        <p:nvSpPr>
          <p:cNvPr id="8" name="TextBox 7"/>
          <p:cNvSpPr txBox="1"/>
          <p:nvPr/>
        </p:nvSpPr>
        <p:spPr>
          <a:xfrm>
            <a:off x="4251960" y="4160520"/>
            <a:ext cx="7071055" cy="2148840"/>
          </a:xfrm>
          <a:prstGeom prst="rect">
            <a:avLst/>
          </a:prstGeom>
          <a:noFill/>
        </p:spPr>
        <p:txBody>
          <a:bodyPr wrap="square" lIns="0" tIns="0" rIns="0" bIns="0" anchor="t">
            <a:spAutoFit/>
          </a:bodyPr>
          <a:lstStyle/>
          <a:p>
            <a:pPr algn="l">
              <a:lnSpc>
                <a:spcPct val="150000"/>
              </a:lnSpc>
            </a:pPr>
            <a:r>
              <a:rPr sz="1400" b="0" i="0" dirty="0">
                <a:solidFill>
                  <a:srgbClr val="444441"/>
                </a:solidFill>
                <a:latin typeface="Helvetica Neue"/>
              </a:rPr>
              <a:t>We are building the Data Hive — </a:t>
            </a:r>
            <a:r>
              <a:rPr sz="1400" b="0" i="0" dirty="0">
                <a:solidFill>
                  <a:srgbClr val="993C1D"/>
                </a:solidFill>
                <a:latin typeface="Helvetica Neue Medium"/>
              </a:rPr>
              <a:t>Coach Trending</a:t>
            </a:r>
            <a:r>
              <a:rPr sz="1400" b="0" i="0" dirty="0">
                <a:solidFill>
                  <a:srgbClr val="444441"/>
                </a:solidFill>
                <a:latin typeface="Helvetica Neue"/>
              </a:rPr>
              <a:t> in production — to answer that question. Every advisor-client conversation, every question, every trade, every new product, every market reaction — captured the moment it happens, </a:t>
            </a:r>
            <a:r>
              <a:rPr sz="1400" b="0" i="0" dirty="0" err="1">
                <a:solidFill>
                  <a:srgbClr val="444441"/>
                </a:solidFill>
                <a:latin typeface="Helvetica Neue"/>
              </a:rPr>
              <a:t>queryable</a:t>
            </a:r>
            <a:r>
              <a:rPr sz="1400" b="0" i="0" dirty="0">
                <a:solidFill>
                  <a:srgbClr val="444441"/>
                </a:solidFill>
                <a:latin typeface="Helvetica Neue"/>
              </a:rPr>
              <a:t> in real time, before it becomes obvious to the market.</a:t>
            </a:r>
          </a:p>
          <a:p>
            <a:pPr algn="l">
              <a:lnSpc>
                <a:spcPct val="150000"/>
              </a:lnSpc>
              <a:spcBef>
                <a:spcPts val="800"/>
              </a:spcBef>
            </a:pPr>
            <a:r>
              <a:rPr sz="1400" b="0" i="0" dirty="0">
                <a:solidFill>
                  <a:srgbClr val="993C1D"/>
                </a:solidFill>
                <a:latin typeface="Helvetica Neue Medium"/>
              </a:rPr>
              <a:t>The Hive lands first on Solutions desks.</a:t>
            </a:r>
            <a:r>
              <a:rPr sz="1400" b="0" i="0" dirty="0">
                <a:solidFill>
                  <a:srgbClr val="444441"/>
                </a:solidFill>
                <a:latin typeface="Helvetica Neue"/>
              </a:rPr>
              <a:t> The specialist sees it before the advisor calls. No competitor can replicate this.</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292608"/>
          </a:xfrm>
          <a:prstGeom prst="rect">
            <a:avLst/>
          </a:prstGeom>
          <a:noFill/>
        </p:spPr>
        <p:txBody>
          <a:bodyPr wrap="square" lIns="0" tIns="0" rIns="0" bIns="0" anchor="t">
            <a:spAutoFit/>
          </a:bodyPr>
          <a:lstStyle/>
          <a:p>
            <a:pPr algn="l">
              <a:lnSpc>
                <a:spcPct val="125000"/>
              </a:lnSpc>
            </a:pPr>
            <a:r>
              <a:rPr sz="1100" b="0" i="0" dirty="0">
                <a:solidFill>
                  <a:srgbClr val="888780"/>
                </a:solidFill>
                <a:latin typeface="Helvetica Neue Medium"/>
              </a:rPr>
              <a:t>iv   </a:t>
            </a:r>
            <a:r>
              <a:rPr sz="1100" b="0" i="0" dirty="0">
                <a:solidFill>
                  <a:srgbClr val="993C1D"/>
                </a:solidFill>
                <a:latin typeface="Helvetica Neue Medium"/>
              </a:rPr>
              <a:t>Pillar four  ·  The Hive in motion</a:t>
            </a:r>
          </a:p>
        </p:txBody>
      </p:sp>
      <p:sp>
        <p:nvSpPr>
          <p:cNvPr id="3" name="TextBox 2"/>
          <p:cNvSpPr txBox="1"/>
          <p:nvPr/>
        </p:nvSpPr>
        <p:spPr>
          <a:xfrm>
            <a:off x="868680" y="960120"/>
            <a:ext cx="10454335" cy="914400"/>
          </a:xfrm>
          <a:prstGeom prst="rect">
            <a:avLst/>
          </a:prstGeom>
          <a:noFill/>
        </p:spPr>
        <p:txBody>
          <a:bodyPr wrap="square" lIns="0" tIns="0" rIns="0" bIns="0" anchor="t">
            <a:spAutoFit/>
          </a:bodyPr>
          <a:lstStyle/>
          <a:p>
            <a:pPr algn="l">
              <a:lnSpc>
                <a:spcPct val="120000"/>
              </a:lnSpc>
            </a:pPr>
            <a:r>
              <a:rPr sz="2400" b="0" i="0">
                <a:solidFill>
                  <a:srgbClr val="2C2C2A"/>
                </a:solidFill>
                <a:latin typeface="Helvetica Neue Medium"/>
              </a:rPr>
              <a:t>From signal in, to signal out.</a:t>
            </a:r>
          </a:p>
        </p:txBody>
      </p:sp>
      <p:sp>
        <p:nvSpPr>
          <p:cNvPr id="4" name="Rounded Rectangle 3"/>
          <p:cNvSpPr/>
          <p:nvPr/>
        </p:nvSpPr>
        <p:spPr>
          <a:xfrm>
            <a:off x="868680" y="1627632"/>
            <a:ext cx="10454335" cy="2990087"/>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Hexagon 4"/>
          <p:cNvSpPr/>
          <p:nvPr/>
        </p:nvSpPr>
        <p:spPr>
          <a:xfrm>
            <a:off x="2148840" y="1939534"/>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750" b="0" dirty="0">
                <a:solidFill>
                  <a:srgbClr val="993C1D"/>
                </a:solidFill>
                <a:latin typeface="Helvetica Neue Medium"/>
              </a:rPr>
              <a:t>Conversations</a:t>
            </a:r>
          </a:p>
          <a:p>
            <a:pPr algn="ctr"/>
            <a:r>
              <a:rPr sz="650" dirty="0">
                <a:solidFill>
                  <a:srgbClr val="5F5E5A"/>
                </a:solidFill>
                <a:latin typeface="Helvetica Neue"/>
              </a:rPr>
              <a:t>advisor · client</a:t>
            </a:r>
          </a:p>
        </p:txBody>
      </p:sp>
      <p:sp>
        <p:nvSpPr>
          <p:cNvPr id="6" name="Hexagon 5"/>
          <p:cNvSpPr/>
          <p:nvPr/>
        </p:nvSpPr>
        <p:spPr>
          <a:xfrm>
            <a:off x="2903220" y="2375063"/>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800" b="0">
                <a:solidFill>
                  <a:srgbClr val="993C1D"/>
                </a:solidFill>
                <a:latin typeface="Helvetica Neue Medium"/>
              </a:rPr>
              <a:t>Questions</a:t>
            </a:r>
          </a:p>
          <a:p>
            <a:pPr algn="ctr"/>
            <a:r>
              <a:rPr sz="650">
                <a:solidFill>
                  <a:srgbClr val="5F5E5A"/>
                </a:solidFill>
                <a:latin typeface="Helvetica Neue"/>
              </a:rPr>
              <a:t>what clients ask</a:t>
            </a:r>
          </a:p>
        </p:txBody>
      </p:sp>
      <p:sp>
        <p:nvSpPr>
          <p:cNvPr id="7" name="Hexagon 6"/>
          <p:cNvSpPr/>
          <p:nvPr/>
        </p:nvSpPr>
        <p:spPr>
          <a:xfrm>
            <a:off x="2903220" y="3246119"/>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800" b="0">
                <a:solidFill>
                  <a:srgbClr val="993C1D"/>
                </a:solidFill>
                <a:latin typeface="Helvetica Neue Medium"/>
              </a:rPr>
              <a:t>Trades</a:t>
            </a:r>
          </a:p>
          <a:p>
            <a:pPr algn="ctr"/>
            <a:r>
              <a:rPr sz="650">
                <a:solidFill>
                  <a:srgbClr val="5F5E5A"/>
                </a:solidFill>
                <a:latin typeface="Helvetica Neue"/>
              </a:rPr>
              <a:t>every flow</a:t>
            </a:r>
          </a:p>
        </p:txBody>
      </p:sp>
      <p:sp>
        <p:nvSpPr>
          <p:cNvPr id="8" name="Hexagon 7"/>
          <p:cNvSpPr/>
          <p:nvPr/>
        </p:nvSpPr>
        <p:spPr>
          <a:xfrm>
            <a:off x="2148840" y="3681648"/>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800" b="0">
                <a:solidFill>
                  <a:srgbClr val="993C1D"/>
                </a:solidFill>
                <a:latin typeface="Helvetica Neue Medium"/>
              </a:rPr>
              <a:t>Products</a:t>
            </a:r>
          </a:p>
          <a:p>
            <a:pPr algn="ctr"/>
            <a:r>
              <a:rPr sz="650">
                <a:solidFill>
                  <a:srgbClr val="5F5E5A"/>
                </a:solidFill>
                <a:latin typeface="Helvetica Neue"/>
              </a:rPr>
              <a:t>launches · uptake</a:t>
            </a:r>
          </a:p>
        </p:txBody>
      </p:sp>
      <p:sp>
        <p:nvSpPr>
          <p:cNvPr id="9" name="Hexagon 8"/>
          <p:cNvSpPr/>
          <p:nvPr/>
        </p:nvSpPr>
        <p:spPr>
          <a:xfrm>
            <a:off x="1394460" y="3246119"/>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800" b="0">
                <a:solidFill>
                  <a:srgbClr val="993C1D"/>
                </a:solidFill>
                <a:latin typeface="Helvetica Neue Medium"/>
              </a:rPr>
              <a:t>Reactions</a:t>
            </a:r>
          </a:p>
          <a:p>
            <a:pPr algn="ctr"/>
            <a:r>
              <a:rPr sz="650">
                <a:solidFill>
                  <a:srgbClr val="5F5E5A"/>
                </a:solidFill>
                <a:latin typeface="Helvetica Neue"/>
              </a:rPr>
              <a:t>market · client</a:t>
            </a:r>
          </a:p>
        </p:txBody>
      </p:sp>
      <p:sp>
        <p:nvSpPr>
          <p:cNvPr id="10" name="Hexagon 9"/>
          <p:cNvSpPr/>
          <p:nvPr/>
        </p:nvSpPr>
        <p:spPr>
          <a:xfrm>
            <a:off x="1394460" y="2375063"/>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800" b="0">
                <a:solidFill>
                  <a:srgbClr val="993C1D"/>
                </a:solidFill>
                <a:latin typeface="Helvetica Neue Medium"/>
              </a:rPr>
              <a:t>Queries</a:t>
            </a:r>
          </a:p>
          <a:p>
            <a:pPr algn="ctr"/>
            <a:r>
              <a:rPr sz="650">
                <a:solidFill>
                  <a:srgbClr val="5F5E5A"/>
                </a:solidFill>
                <a:latin typeface="Helvetica Neue"/>
              </a:rPr>
              <a:t>advisor inbound</a:t>
            </a:r>
          </a:p>
        </p:txBody>
      </p:sp>
      <p:sp>
        <p:nvSpPr>
          <p:cNvPr id="11" name="Hexagon 10"/>
          <p:cNvSpPr/>
          <p:nvPr/>
        </p:nvSpPr>
        <p:spPr>
          <a:xfrm>
            <a:off x="2148840" y="2810591"/>
            <a:ext cx="1005840" cy="871057"/>
          </a:xfrm>
          <a:prstGeom prst="hexagon">
            <a:avLst/>
          </a:prstGeom>
          <a:solidFill>
            <a:srgbClr val="D85A30"/>
          </a:solidFill>
          <a:ln w="6350">
            <a:solidFill>
              <a:srgbClr val="993C1D"/>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0">
                <a:solidFill>
                  <a:srgbClr val="FFFFFF"/>
                </a:solidFill>
                <a:latin typeface="Helvetica Neue Medium"/>
              </a:rPr>
              <a:t>THE HIVE</a:t>
            </a:r>
          </a:p>
          <a:p>
            <a:pPr algn="ctr"/>
            <a:r>
              <a:rPr sz="650">
                <a:solidFill>
                  <a:srgbClr val="FAECE7"/>
                </a:solidFill>
                <a:latin typeface="Helvetica Neue"/>
              </a:rPr>
              <a:t>realtime · queryable</a:t>
            </a:r>
          </a:p>
        </p:txBody>
      </p:sp>
      <p:sp>
        <p:nvSpPr>
          <p:cNvPr id="12" name="Rounded Rectangle 11"/>
          <p:cNvSpPr/>
          <p:nvPr/>
        </p:nvSpPr>
        <p:spPr>
          <a:xfrm>
            <a:off x="5166360" y="1963585"/>
            <a:ext cx="6019495" cy="1328253"/>
          </a:xfrm>
          <a:prstGeom prst="roundRect">
            <a:avLst>
              <a:gd name="adj" fmla="val 8000"/>
            </a:avLst>
          </a:prstGeom>
          <a:solidFill>
            <a:srgbClr val="FAECE7"/>
          </a:solidFill>
          <a:ln w="952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94960" y="2109890"/>
            <a:ext cx="5562295" cy="228600"/>
          </a:xfrm>
          <a:prstGeom prst="rect">
            <a:avLst/>
          </a:prstGeom>
          <a:noFill/>
        </p:spPr>
        <p:txBody>
          <a:bodyPr wrap="square" lIns="0" tIns="0" rIns="0" bIns="0" anchor="t">
            <a:spAutoFit/>
          </a:bodyPr>
          <a:lstStyle/>
          <a:p>
            <a:pPr algn="l">
              <a:lnSpc>
                <a:spcPct val="125000"/>
              </a:lnSpc>
            </a:pPr>
            <a:r>
              <a:rPr sz="1000" b="0" i="0">
                <a:solidFill>
                  <a:srgbClr val="993C1D"/>
                </a:solidFill>
                <a:latin typeface="Helvetica Neue Medium"/>
              </a:rPr>
              <a:t>SOLUTIONS DESKS</a:t>
            </a:r>
          </a:p>
        </p:txBody>
      </p:sp>
      <p:sp>
        <p:nvSpPr>
          <p:cNvPr id="14" name="TextBox 13"/>
          <p:cNvSpPr txBox="1"/>
          <p:nvPr/>
        </p:nvSpPr>
        <p:spPr>
          <a:xfrm>
            <a:off x="5394960" y="2384210"/>
            <a:ext cx="5562295" cy="365760"/>
          </a:xfrm>
          <a:prstGeom prst="rect">
            <a:avLst/>
          </a:prstGeom>
          <a:noFill/>
        </p:spPr>
        <p:txBody>
          <a:bodyPr wrap="square" lIns="0" tIns="0" rIns="0" bIns="0" anchor="t">
            <a:spAutoFit/>
          </a:bodyPr>
          <a:lstStyle/>
          <a:p>
            <a:pPr algn="l">
              <a:lnSpc>
                <a:spcPct val="115000"/>
              </a:lnSpc>
            </a:pPr>
            <a:r>
              <a:rPr sz="1800" b="0" i="0">
                <a:solidFill>
                  <a:srgbClr val="2C2C2A"/>
                </a:solidFill>
                <a:latin typeface="Helvetica Neue Medium"/>
              </a:rPr>
              <a:t>The specialist acts first.</a:t>
            </a:r>
          </a:p>
        </p:txBody>
      </p:sp>
      <p:sp>
        <p:nvSpPr>
          <p:cNvPr id="15" name="TextBox 14"/>
          <p:cNvSpPr txBox="1"/>
          <p:nvPr/>
        </p:nvSpPr>
        <p:spPr>
          <a:xfrm>
            <a:off x="5394960" y="2768258"/>
            <a:ext cx="5562295" cy="320040"/>
          </a:xfrm>
          <a:prstGeom prst="rect">
            <a:avLst/>
          </a:prstGeom>
          <a:noFill/>
        </p:spPr>
        <p:txBody>
          <a:bodyPr wrap="square" lIns="0" tIns="0" rIns="0" bIns="0" anchor="t">
            <a:spAutoFit/>
          </a:bodyPr>
          <a:lstStyle/>
          <a:p>
            <a:pPr algn="l">
              <a:lnSpc>
                <a:spcPct val="140000"/>
              </a:lnSpc>
            </a:pPr>
            <a:r>
              <a:rPr sz="1100" b="0" i="0" dirty="0">
                <a:solidFill>
                  <a:srgbClr val="5F5E5A"/>
                </a:solidFill>
                <a:latin typeface="Helvetica Neue"/>
              </a:rPr>
              <a:t>The Hive surfaces what is trending across the channel — to the desk that owns the answer. In real time.</a:t>
            </a:r>
          </a:p>
        </p:txBody>
      </p:sp>
      <p:cxnSp>
        <p:nvCxnSpPr>
          <p:cNvPr id="16" name="Connector 15"/>
          <p:cNvCxnSpPr>
            <a:cxnSpLocks/>
          </p:cNvCxnSpPr>
          <p:nvPr/>
        </p:nvCxnSpPr>
        <p:spPr>
          <a:xfrm flipV="1">
            <a:off x="3909060" y="2606039"/>
            <a:ext cx="1211580" cy="146304"/>
          </a:xfrm>
          <a:prstGeom prst="line">
            <a:avLst/>
          </a:prstGeom>
          <a:ln w="19050">
            <a:solidFill>
              <a:srgbClr val="D85A30"/>
            </a:solidFill>
            <a:tailEnd type="triangle" w="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059936" y="2926079"/>
            <a:ext cx="731520" cy="201168"/>
          </a:xfrm>
          <a:prstGeom prst="rect">
            <a:avLst/>
          </a:prstGeom>
          <a:noFill/>
        </p:spPr>
        <p:txBody>
          <a:bodyPr wrap="square" lIns="0" tIns="0" rIns="0" bIns="0" anchor="t">
            <a:spAutoFit/>
          </a:bodyPr>
          <a:lstStyle/>
          <a:p>
            <a:pPr algn="l">
              <a:lnSpc>
                <a:spcPct val="125000"/>
              </a:lnSpc>
            </a:pPr>
            <a:r>
              <a:rPr sz="1000" b="0" i="0">
                <a:solidFill>
                  <a:srgbClr val="993C1D"/>
                </a:solidFill>
                <a:latin typeface="Helvetica Neue Medium"/>
              </a:rPr>
              <a:t>first</a:t>
            </a:r>
          </a:p>
        </p:txBody>
      </p:sp>
      <p:cxnSp>
        <p:nvCxnSpPr>
          <p:cNvPr id="18" name="Connector 17"/>
          <p:cNvCxnSpPr/>
          <p:nvPr/>
        </p:nvCxnSpPr>
        <p:spPr>
          <a:xfrm>
            <a:off x="0" y="3447287"/>
            <a:ext cx="0" cy="274320"/>
          </a:xfrm>
          <a:prstGeom prst="line">
            <a:avLst/>
          </a:prstGeom>
          <a:ln w="9525">
            <a:solidFill>
              <a:srgbClr val="5F5E5A"/>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31946" y="3486594"/>
            <a:ext cx="457200" cy="182880"/>
          </a:xfrm>
          <a:prstGeom prst="rect">
            <a:avLst/>
          </a:prstGeom>
          <a:noFill/>
        </p:spPr>
        <p:txBody>
          <a:bodyPr wrap="square" lIns="0" tIns="0" rIns="0" bIns="0" anchor="t">
            <a:spAutoFit/>
          </a:bodyPr>
          <a:lstStyle/>
          <a:p>
            <a:pPr algn="l">
              <a:lnSpc>
                <a:spcPct val="125000"/>
              </a:lnSpc>
            </a:pPr>
            <a:r>
              <a:rPr sz="900" b="0" i="0" dirty="0">
                <a:solidFill>
                  <a:srgbClr val="5F5E5A"/>
                </a:solidFill>
                <a:latin typeface="Helvetica Neue"/>
              </a:rPr>
              <a:t>then</a:t>
            </a:r>
          </a:p>
        </p:txBody>
      </p:sp>
      <p:sp>
        <p:nvSpPr>
          <p:cNvPr id="20" name="Rounded Rectangle 19"/>
          <p:cNvSpPr/>
          <p:nvPr/>
        </p:nvSpPr>
        <p:spPr>
          <a:xfrm>
            <a:off x="5715000" y="3855913"/>
            <a:ext cx="4922215" cy="644831"/>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97880" y="3929066"/>
            <a:ext cx="4556455" cy="201168"/>
          </a:xfrm>
          <a:prstGeom prst="rect">
            <a:avLst/>
          </a:prstGeom>
          <a:noFill/>
        </p:spPr>
        <p:txBody>
          <a:bodyPr wrap="square" lIns="0" tIns="0" rIns="0" bIns="0" anchor="t">
            <a:spAutoFit/>
          </a:bodyPr>
          <a:lstStyle/>
          <a:p>
            <a:pPr algn="l">
              <a:lnSpc>
                <a:spcPct val="125000"/>
              </a:lnSpc>
            </a:pPr>
            <a:r>
              <a:rPr sz="900" b="0" i="0">
                <a:solidFill>
                  <a:srgbClr val="5F5E5A"/>
                </a:solidFill>
                <a:latin typeface="Helvetica Neue Medium"/>
              </a:rPr>
              <a:t>ADVISORS</a:t>
            </a:r>
          </a:p>
        </p:txBody>
      </p:sp>
      <p:sp>
        <p:nvSpPr>
          <p:cNvPr id="22" name="TextBox 21"/>
          <p:cNvSpPr txBox="1"/>
          <p:nvPr/>
        </p:nvSpPr>
        <p:spPr>
          <a:xfrm>
            <a:off x="5897880" y="4130234"/>
            <a:ext cx="4556455" cy="274320"/>
          </a:xfrm>
          <a:prstGeom prst="rect">
            <a:avLst/>
          </a:prstGeom>
          <a:noFill/>
        </p:spPr>
        <p:txBody>
          <a:bodyPr wrap="square" lIns="0" tIns="0" rIns="0" bIns="0" anchor="t">
            <a:spAutoFit/>
          </a:bodyPr>
          <a:lstStyle/>
          <a:p>
            <a:pPr algn="l">
              <a:lnSpc>
                <a:spcPct val="125000"/>
              </a:lnSpc>
            </a:pPr>
            <a:r>
              <a:rPr sz="1100" b="0" i="0" dirty="0">
                <a:solidFill>
                  <a:srgbClr val="2C2C2A"/>
                </a:solidFill>
                <a:latin typeface="Helvetica Neue Medium"/>
              </a:rPr>
              <a:t>Same signal, downstream — synthesized for the call.</a:t>
            </a:r>
          </a:p>
        </p:txBody>
      </p:sp>
      <p:sp>
        <p:nvSpPr>
          <p:cNvPr id="23" name="Rounded Rectangle 22"/>
          <p:cNvSpPr/>
          <p:nvPr/>
        </p:nvSpPr>
        <p:spPr>
          <a:xfrm>
            <a:off x="868680"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51560" y="4937760"/>
            <a:ext cx="2151811"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Investment flows</a:t>
            </a:r>
          </a:p>
        </p:txBody>
      </p:sp>
      <p:sp>
        <p:nvSpPr>
          <p:cNvPr id="25" name="TextBox 24"/>
          <p:cNvSpPr txBox="1"/>
          <p:nvPr/>
        </p:nvSpPr>
        <p:spPr>
          <a:xfrm>
            <a:off x="1051560" y="5285232"/>
            <a:ext cx="2151811" cy="914400"/>
          </a:xfrm>
          <a:prstGeom prst="rect">
            <a:avLst/>
          </a:prstGeom>
          <a:noFill/>
        </p:spPr>
        <p:txBody>
          <a:bodyPr wrap="square" lIns="0" tIns="0" rIns="0" bIns="0" anchor="t">
            <a:spAutoFit/>
          </a:bodyPr>
          <a:lstStyle/>
          <a:p>
            <a:pPr algn="l">
              <a:lnSpc>
                <a:spcPct val="140000"/>
              </a:lnSpc>
            </a:pPr>
            <a:r>
              <a:rPr sz="1000" b="0" i="0">
                <a:solidFill>
                  <a:srgbClr val="2C2C2A"/>
                </a:solidFill>
                <a:latin typeface="Helvetica Neue"/>
              </a:rPr>
              <a:t>Buy/sell skew this week. Single-stock activity on recommended names. Hedging and derivative spikes across the brokerage book.</a:t>
            </a:r>
          </a:p>
        </p:txBody>
      </p:sp>
      <p:sp>
        <p:nvSpPr>
          <p:cNvPr id="26" name="Rounded Rectangle 25"/>
          <p:cNvSpPr/>
          <p:nvPr/>
        </p:nvSpPr>
        <p:spPr>
          <a:xfrm>
            <a:off x="3514267"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97147" y="4937760"/>
            <a:ext cx="2151811"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Wealth planning</a:t>
            </a:r>
          </a:p>
        </p:txBody>
      </p:sp>
      <p:sp>
        <p:nvSpPr>
          <p:cNvPr id="28" name="TextBox 27"/>
          <p:cNvSpPr txBox="1"/>
          <p:nvPr/>
        </p:nvSpPr>
        <p:spPr>
          <a:xfrm>
            <a:off x="3697147" y="5285232"/>
            <a:ext cx="2151811" cy="914400"/>
          </a:xfrm>
          <a:prstGeom prst="rect">
            <a:avLst/>
          </a:prstGeom>
          <a:noFill/>
        </p:spPr>
        <p:txBody>
          <a:bodyPr wrap="square" lIns="0" tIns="0" rIns="0" bIns="0" anchor="t">
            <a:spAutoFit/>
          </a:bodyPr>
          <a:lstStyle/>
          <a:p>
            <a:pPr algn="l">
              <a:lnSpc>
                <a:spcPct val="140000"/>
              </a:lnSpc>
            </a:pPr>
            <a:r>
              <a:rPr sz="1000" b="0" i="0">
                <a:solidFill>
                  <a:srgbClr val="2C2C2A"/>
                </a:solidFill>
                <a:latin typeface="Helvetica Neue"/>
              </a:rPr>
              <a:t>Clients opening GRATs. Clients opening PPVA/PPLI. Clients funding DAFs with appreciated stock.</a:t>
            </a:r>
          </a:p>
        </p:txBody>
      </p:sp>
      <p:sp>
        <p:nvSpPr>
          <p:cNvPr id="29" name="Rounded Rectangle 28"/>
          <p:cNvSpPr/>
          <p:nvPr/>
        </p:nvSpPr>
        <p:spPr>
          <a:xfrm>
            <a:off x="6159855"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42735" y="4937760"/>
            <a:ext cx="2151811"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A cross-cutting narrative</a:t>
            </a:r>
          </a:p>
        </p:txBody>
      </p:sp>
      <p:sp>
        <p:nvSpPr>
          <p:cNvPr id="31" name="TextBox 30"/>
          <p:cNvSpPr txBox="1"/>
          <p:nvPr/>
        </p:nvSpPr>
        <p:spPr>
          <a:xfrm>
            <a:off x="6342735" y="5285232"/>
            <a:ext cx="2151811" cy="914400"/>
          </a:xfrm>
          <a:prstGeom prst="rect">
            <a:avLst/>
          </a:prstGeom>
          <a:noFill/>
        </p:spPr>
        <p:txBody>
          <a:bodyPr wrap="square" lIns="0" tIns="0" rIns="0" bIns="0" anchor="t">
            <a:spAutoFit/>
          </a:bodyPr>
          <a:lstStyle/>
          <a:p>
            <a:pPr algn="l">
              <a:lnSpc>
                <a:spcPct val="140000"/>
              </a:lnSpc>
            </a:pPr>
            <a:r>
              <a:rPr sz="1000" b="0" i="1">
                <a:solidFill>
                  <a:srgbClr val="2C2C2A"/>
                </a:solidFill>
                <a:latin typeface="Helvetica Neue"/>
              </a:rPr>
              <a:t>“NVDA is reaching new highs — clients across the bench are gifting appreciated shares to DAFs this week.”</a:t>
            </a:r>
          </a:p>
        </p:txBody>
      </p:sp>
      <p:sp>
        <p:nvSpPr>
          <p:cNvPr id="32" name="Rounded Rectangle 31"/>
          <p:cNvSpPr/>
          <p:nvPr/>
        </p:nvSpPr>
        <p:spPr>
          <a:xfrm>
            <a:off x="8805443"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88323" y="4937760"/>
            <a:ext cx="2151811" cy="29260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Cohort-aware</a:t>
            </a:r>
          </a:p>
        </p:txBody>
      </p:sp>
      <p:sp>
        <p:nvSpPr>
          <p:cNvPr id="34" name="TextBox 33"/>
          <p:cNvSpPr txBox="1"/>
          <p:nvPr/>
        </p:nvSpPr>
        <p:spPr>
          <a:xfrm>
            <a:off x="8988323" y="5285232"/>
            <a:ext cx="2151811" cy="914400"/>
          </a:xfrm>
          <a:prstGeom prst="rect">
            <a:avLst/>
          </a:prstGeom>
          <a:noFill/>
        </p:spPr>
        <p:txBody>
          <a:bodyPr wrap="square" lIns="0" tIns="0" rIns="0" bIns="0" anchor="t">
            <a:spAutoFit/>
          </a:bodyPr>
          <a:lstStyle/>
          <a:p>
            <a:pPr algn="l">
              <a:lnSpc>
                <a:spcPct val="140000"/>
              </a:lnSpc>
            </a:pPr>
            <a:r>
              <a:rPr sz="1000" b="0" i="0">
                <a:solidFill>
                  <a:srgbClr val="2C2C2A"/>
                </a:solidFill>
                <a:latin typeface="Helvetica Neue"/>
              </a:rPr>
              <a:t>Filterable by client size (&gt; $100M), industry, geography, and advisor cohort (Morgan Circles).</a:t>
            </a:r>
          </a:p>
        </p:txBody>
      </p:sp>
      <p:cxnSp>
        <p:nvCxnSpPr>
          <p:cNvPr id="38" name="Straight Arrow Connector 37">
            <a:extLst>
              <a:ext uri="{FF2B5EF4-FFF2-40B4-BE49-F238E27FC236}">
                <a16:creationId xmlns:a16="http://schemas.microsoft.com/office/drawing/2014/main" id="{348F3766-A980-3998-032F-CBE52C62D878}"/>
              </a:ext>
            </a:extLst>
          </p:cNvPr>
          <p:cNvCxnSpPr/>
          <p:nvPr/>
        </p:nvCxnSpPr>
        <p:spPr>
          <a:xfrm>
            <a:off x="8253351" y="3429000"/>
            <a:ext cx="0" cy="292607"/>
          </a:xfrm>
          <a:prstGeom prst="straightConnector1">
            <a:avLst/>
          </a:prstGeom>
          <a:ln w="635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189475"/>
          </a:xfrm>
          <a:prstGeom prst="rect">
            <a:avLst/>
          </a:prstGeom>
          <a:noFill/>
        </p:spPr>
        <p:txBody>
          <a:bodyPr wrap="square" lIns="0" tIns="0" rIns="0" bIns="0" anchor="t">
            <a:spAutoFit/>
          </a:bodyPr>
          <a:lstStyle/>
          <a:p>
            <a:pPr algn="l">
              <a:lnSpc>
                <a:spcPct val="125000"/>
              </a:lnSpc>
            </a:pPr>
            <a:r>
              <a:rPr sz="1100" b="0" i="0" dirty="0">
                <a:solidFill>
                  <a:srgbClr val="993C1D"/>
                </a:solidFill>
                <a:latin typeface="Helvetica Neue Medium"/>
              </a:rPr>
              <a:t>The thread across all four</a:t>
            </a:r>
          </a:p>
        </p:txBody>
      </p:sp>
      <p:sp>
        <p:nvSpPr>
          <p:cNvPr id="3" name="TextBox 2"/>
          <p:cNvSpPr txBox="1"/>
          <p:nvPr/>
        </p:nvSpPr>
        <p:spPr>
          <a:xfrm>
            <a:off x="868680" y="960120"/>
            <a:ext cx="10454335" cy="777240"/>
          </a:xfrm>
          <a:prstGeom prst="rect">
            <a:avLst/>
          </a:prstGeom>
          <a:noFill/>
        </p:spPr>
        <p:txBody>
          <a:bodyPr wrap="square" lIns="0" tIns="0" rIns="0" bIns="0" anchor="t">
            <a:spAutoFit/>
          </a:bodyPr>
          <a:lstStyle/>
          <a:p>
            <a:pPr algn="l">
              <a:lnSpc>
                <a:spcPct val="115000"/>
              </a:lnSpc>
            </a:pPr>
            <a:r>
              <a:rPr sz="3000" b="0" i="0">
                <a:solidFill>
                  <a:srgbClr val="2C2C2A"/>
                </a:solidFill>
                <a:latin typeface="Helvetica Neue Medium"/>
              </a:rPr>
              <a:t>Where the strategy is going.</a:t>
            </a:r>
          </a:p>
        </p:txBody>
      </p:sp>
      <p:sp>
        <p:nvSpPr>
          <p:cNvPr id="4" name="TextBox 3"/>
          <p:cNvSpPr txBox="1"/>
          <p:nvPr/>
        </p:nvSpPr>
        <p:spPr>
          <a:xfrm>
            <a:off x="868680" y="1828800"/>
            <a:ext cx="10454335" cy="411480"/>
          </a:xfrm>
          <a:prstGeom prst="rect">
            <a:avLst/>
          </a:prstGeom>
          <a:noFill/>
        </p:spPr>
        <p:txBody>
          <a:bodyPr wrap="square" lIns="0" tIns="0" rIns="0" bIns="0" anchor="t">
            <a:spAutoFit/>
          </a:bodyPr>
          <a:lstStyle/>
          <a:p>
            <a:pPr algn="l">
              <a:lnSpc>
                <a:spcPct val="135000"/>
              </a:lnSpc>
            </a:pPr>
            <a:r>
              <a:rPr sz="1300" b="0" i="1" dirty="0">
                <a:solidFill>
                  <a:srgbClr val="5F5E5A"/>
                </a:solidFill>
                <a:latin typeface="Helvetica Neue"/>
              </a:rPr>
              <a:t>Today's systems answer questions. Tomorrow's take actions, with the specialist deciding what to release.</a:t>
            </a:r>
          </a:p>
        </p:txBody>
      </p:sp>
      <p:sp>
        <p:nvSpPr>
          <p:cNvPr id="5" name="Rounded Rectangle 4"/>
          <p:cNvSpPr/>
          <p:nvPr/>
        </p:nvSpPr>
        <p:spPr>
          <a:xfrm>
            <a:off x="451262" y="2331720"/>
            <a:ext cx="11374673" cy="324612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05840" y="3931622"/>
            <a:ext cx="1417320" cy="77724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4068782"/>
            <a:ext cx="1234440" cy="292608"/>
          </a:xfrm>
          <a:prstGeom prst="rect">
            <a:avLst/>
          </a:prstGeom>
          <a:noFill/>
        </p:spPr>
        <p:txBody>
          <a:bodyPr wrap="square" lIns="0" tIns="0" rIns="0" bIns="0" anchor="t">
            <a:spAutoFit/>
          </a:bodyPr>
          <a:lstStyle/>
          <a:p>
            <a:pPr algn="ctr">
              <a:lnSpc>
                <a:spcPct val="125000"/>
              </a:lnSpc>
            </a:pPr>
            <a:r>
              <a:rPr sz="1200" b="0" i="0">
                <a:solidFill>
                  <a:srgbClr val="2C2C2A"/>
                </a:solidFill>
                <a:latin typeface="Helvetica Neue Medium"/>
              </a:rPr>
              <a:t>Inbound signal</a:t>
            </a:r>
          </a:p>
        </p:txBody>
      </p:sp>
      <p:sp>
        <p:nvSpPr>
          <p:cNvPr id="8" name="TextBox 7"/>
          <p:cNvSpPr txBox="1"/>
          <p:nvPr/>
        </p:nvSpPr>
        <p:spPr>
          <a:xfrm>
            <a:off x="1097280" y="4434542"/>
            <a:ext cx="1234440" cy="155171"/>
          </a:xfrm>
          <a:prstGeom prst="rect">
            <a:avLst/>
          </a:prstGeom>
          <a:noFill/>
        </p:spPr>
        <p:txBody>
          <a:bodyPr wrap="square" lIns="0" tIns="0" rIns="0" bIns="0" anchor="t">
            <a:spAutoFit/>
          </a:bodyPr>
          <a:lstStyle/>
          <a:p>
            <a:pPr algn="ctr">
              <a:lnSpc>
                <a:spcPct val="125000"/>
              </a:lnSpc>
            </a:pPr>
            <a:r>
              <a:rPr lang="en-US" sz="900" b="0" i="0" dirty="0">
                <a:solidFill>
                  <a:srgbClr val="5F5E5A"/>
                </a:solidFill>
                <a:latin typeface="Helvetica Neue"/>
              </a:rPr>
              <a:t>Query or trigger </a:t>
            </a:r>
            <a:r>
              <a:rPr sz="900" b="0" i="0" dirty="0">
                <a:solidFill>
                  <a:srgbClr val="5F5E5A"/>
                </a:solidFill>
                <a:latin typeface="Helvetica Neue"/>
              </a:rPr>
              <a:t>event</a:t>
            </a:r>
          </a:p>
        </p:txBody>
      </p:sp>
      <p:cxnSp>
        <p:nvCxnSpPr>
          <p:cNvPr id="9" name="Connector 8"/>
          <p:cNvCxnSpPr/>
          <p:nvPr/>
        </p:nvCxnSpPr>
        <p:spPr>
          <a:xfrm>
            <a:off x="2459736" y="4320242"/>
            <a:ext cx="448056" cy="0"/>
          </a:xfrm>
          <a:prstGeom prst="line">
            <a:avLst/>
          </a:prstGeom>
          <a:ln w="12700">
            <a:solidFill>
              <a:srgbClr val="5F5E5A"/>
            </a:solidFill>
            <a:tailEnd type="triangle" w="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26080" y="3840182"/>
            <a:ext cx="1828800" cy="960120"/>
          </a:xfrm>
          <a:prstGeom prst="roundRect">
            <a:avLst>
              <a:gd name="adj" fmla="val 10000"/>
            </a:avLst>
          </a:prstGeom>
          <a:solidFill>
            <a:srgbClr val="FAECE7"/>
          </a:solidFill>
          <a:ln w="952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0" y="3977342"/>
            <a:ext cx="1645920" cy="292608"/>
          </a:xfrm>
          <a:prstGeom prst="rect">
            <a:avLst/>
          </a:prstGeom>
          <a:noFill/>
        </p:spPr>
        <p:txBody>
          <a:bodyPr wrap="square" lIns="0" tIns="0" rIns="0" bIns="0" anchor="t">
            <a:spAutoFit/>
          </a:bodyPr>
          <a:lstStyle/>
          <a:p>
            <a:pPr algn="ctr">
              <a:lnSpc>
                <a:spcPct val="125000"/>
              </a:lnSpc>
            </a:pPr>
            <a:r>
              <a:rPr sz="1200" b="0" i="0">
                <a:solidFill>
                  <a:srgbClr val="2C2C2A"/>
                </a:solidFill>
                <a:latin typeface="Helvetica Neue Medium"/>
              </a:rPr>
              <a:t>The agent</a:t>
            </a:r>
          </a:p>
        </p:txBody>
      </p:sp>
      <p:sp>
        <p:nvSpPr>
          <p:cNvPr id="12" name="TextBox 11"/>
          <p:cNvSpPr txBox="1"/>
          <p:nvPr/>
        </p:nvSpPr>
        <p:spPr>
          <a:xfrm>
            <a:off x="3017520" y="4525982"/>
            <a:ext cx="1645920" cy="219456"/>
          </a:xfrm>
          <a:prstGeom prst="rect">
            <a:avLst/>
          </a:prstGeom>
          <a:noFill/>
        </p:spPr>
        <p:txBody>
          <a:bodyPr wrap="square" lIns="0" tIns="0" rIns="0" bIns="0" anchor="t">
            <a:spAutoFit/>
          </a:bodyPr>
          <a:lstStyle/>
          <a:p>
            <a:pPr algn="ctr">
              <a:lnSpc>
                <a:spcPct val="125000"/>
              </a:lnSpc>
            </a:pPr>
            <a:r>
              <a:rPr sz="900" b="0" i="0">
                <a:solidFill>
                  <a:srgbClr val="5F5E5A"/>
                </a:solidFill>
                <a:latin typeface="Helvetica Neue"/>
              </a:rPr>
              <a:t>Plans, calls tools, composes</a:t>
            </a:r>
          </a:p>
        </p:txBody>
      </p:sp>
      <p:sp>
        <p:nvSpPr>
          <p:cNvPr id="13" name="TextBox 12"/>
          <p:cNvSpPr txBox="1"/>
          <p:nvPr/>
        </p:nvSpPr>
        <p:spPr>
          <a:xfrm>
            <a:off x="3017520" y="4297382"/>
            <a:ext cx="1645920" cy="219456"/>
          </a:xfrm>
          <a:prstGeom prst="rect">
            <a:avLst/>
          </a:prstGeom>
          <a:noFill/>
        </p:spPr>
        <p:txBody>
          <a:bodyPr wrap="square" lIns="0" tIns="0" rIns="0" bIns="0" anchor="t">
            <a:spAutoFit/>
          </a:bodyPr>
          <a:lstStyle/>
          <a:p>
            <a:pPr algn="ctr">
              <a:lnSpc>
                <a:spcPct val="125000"/>
              </a:lnSpc>
            </a:pPr>
            <a:r>
              <a:rPr sz="900" b="0" i="0">
                <a:solidFill>
                  <a:srgbClr val="993C1D"/>
                </a:solidFill>
                <a:latin typeface="Helvetica Neue Medium"/>
              </a:rPr>
              <a:t>Orchestrator</a:t>
            </a:r>
          </a:p>
        </p:txBody>
      </p:sp>
      <p:sp>
        <p:nvSpPr>
          <p:cNvPr id="14" name="TextBox 13"/>
          <p:cNvSpPr txBox="1"/>
          <p:nvPr/>
        </p:nvSpPr>
        <p:spPr>
          <a:xfrm>
            <a:off x="914400" y="2651760"/>
            <a:ext cx="1097280" cy="219456"/>
          </a:xfrm>
          <a:prstGeom prst="rect">
            <a:avLst/>
          </a:prstGeom>
          <a:noFill/>
        </p:spPr>
        <p:txBody>
          <a:bodyPr wrap="square" lIns="0" tIns="0" rIns="0" bIns="0" anchor="t">
            <a:spAutoFit/>
          </a:bodyPr>
          <a:lstStyle/>
          <a:p>
            <a:pPr algn="ctr">
              <a:lnSpc>
                <a:spcPct val="125000"/>
              </a:lnSpc>
            </a:pPr>
            <a:r>
              <a:rPr sz="1000" b="0" i="0">
                <a:solidFill>
                  <a:srgbClr val="993C1D"/>
                </a:solidFill>
                <a:latin typeface="Helvetica Neue Medium"/>
              </a:rPr>
              <a:t>i</a:t>
            </a:r>
          </a:p>
        </p:txBody>
      </p:sp>
      <p:sp>
        <p:nvSpPr>
          <p:cNvPr id="15" name="TextBox 14"/>
          <p:cNvSpPr txBox="1"/>
          <p:nvPr/>
        </p:nvSpPr>
        <p:spPr>
          <a:xfrm>
            <a:off x="914400" y="2852928"/>
            <a:ext cx="1097280" cy="219456"/>
          </a:xfrm>
          <a:prstGeom prst="rect">
            <a:avLst/>
          </a:prstGeom>
          <a:noFill/>
        </p:spPr>
        <p:txBody>
          <a:bodyPr wrap="square" lIns="0" tIns="0" rIns="0" bIns="0" anchor="t">
            <a:spAutoFit/>
          </a:bodyPr>
          <a:lstStyle/>
          <a:p>
            <a:pPr algn="ctr">
              <a:lnSpc>
                <a:spcPct val="125000"/>
              </a:lnSpc>
            </a:pPr>
            <a:r>
              <a:rPr sz="1000" b="0" i="0">
                <a:solidFill>
                  <a:srgbClr val="444441"/>
                </a:solidFill>
                <a:latin typeface="Helvetica Neue Medium"/>
              </a:rPr>
              <a:t>Specialist tools</a:t>
            </a:r>
          </a:p>
        </p:txBody>
      </p:sp>
      <p:sp>
        <p:nvSpPr>
          <p:cNvPr id="16" name="TextBox 15"/>
          <p:cNvSpPr txBox="1"/>
          <p:nvPr/>
        </p:nvSpPr>
        <p:spPr>
          <a:xfrm>
            <a:off x="2499360" y="2651760"/>
            <a:ext cx="1097280" cy="219456"/>
          </a:xfrm>
          <a:prstGeom prst="rect">
            <a:avLst/>
          </a:prstGeom>
          <a:noFill/>
        </p:spPr>
        <p:txBody>
          <a:bodyPr wrap="square" lIns="0" tIns="0" rIns="0" bIns="0" anchor="t">
            <a:spAutoFit/>
          </a:bodyPr>
          <a:lstStyle/>
          <a:p>
            <a:pPr algn="ctr">
              <a:lnSpc>
                <a:spcPct val="125000"/>
              </a:lnSpc>
            </a:pPr>
            <a:r>
              <a:rPr sz="1000" b="0" i="0">
                <a:solidFill>
                  <a:srgbClr val="993C1D"/>
                </a:solidFill>
                <a:latin typeface="Helvetica Neue Medium"/>
              </a:rPr>
              <a:t>ii</a:t>
            </a:r>
          </a:p>
        </p:txBody>
      </p:sp>
      <p:sp>
        <p:nvSpPr>
          <p:cNvPr id="17" name="TextBox 16"/>
          <p:cNvSpPr txBox="1"/>
          <p:nvPr/>
        </p:nvSpPr>
        <p:spPr>
          <a:xfrm>
            <a:off x="2499360" y="2852928"/>
            <a:ext cx="1097280" cy="219456"/>
          </a:xfrm>
          <a:prstGeom prst="rect">
            <a:avLst/>
          </a:prstGeom>
          <a:noFill/>
        </p:spPr>
        <p:txBody>
          <a:bodyPr wrap="square" lIns="0" tIns="0" rIns="0" bIns="0" anchor="t">
            <a:spAutoFit/>
          </a:bodyPr>
          <a:lstStyle/>
          <a:p>
            <a:pPr algn="ctr">
              <a:lnSpc>
                <a:spcPct val="125000"/>
              </a:lnSpc>
            </a:pPr>
            <a:r>
              <a:rPr sz="1000" b="0" i="0">
                <a:solidFill>
                  <a:srgbClr val="444441"/>
                </a:solidFill>
                <a:latin typeface="Helvetica Neue Medium"/>
              </a:rPr>
              <a:t>Operations</a:t>
            </a:r>
          </a:p>
        </p:txBody>
      </p:sp>
      <p:sp>
        <p:nvSpPr>
          <p:cNvPr id="18" name="TextBox 17"/>
          <p:cNvSpPr txBox="1"/>
          <p:nvPr/>
        </p:nvSpPr>
        <p:spPr>
          <a:xfrm>
            <a:off x="4084320" y="2651760"/>
            <a:ext cx="1097280" cy="219456"/>
          </a:xfrm>
          <a:prstGeom prst="rect">
            <a:avLst/>
          </a:prstGeom>
          <a:noFill/>
        </p:spPr>
        <p:txBody>
          <a:bodyPr wrap="square" lIns="0" tIns="0" rIns="0" bIns="0" anchor="t">
            <a:spAutoFit/>
          </a:bodyPr>
          <a:lstStyle/>
          <a:p>
            <a:pPr algn="ctr">
              <a:lnSpc>
                <a:spcPct val="125000"/>
              </a:lnSpc>
            </a:pPr>
            <a:r>
              <a:rPr sz="1000" b="0" i="0">
                <a:solidFill>
                  <a:srgbClr val="993C1D"/>
                </a:solidFill>
                <a:latin typeface="Helvetica Neue Medium"/>
              </a:rPr>
              <a:t>iii</a:t>
            </a:r>
          </a:p>
        </p:txBody>
      </p:sp>
      <p:sp>
        <p:nvSpPr>
          <p:cNvPr id="19" name="TextBox 18"/>
          <p:cNvSpPr txBox="1"/>
          <p:nvPr/>
        </p:nvSpPr>
        <p:spPr>
          <a:xfrm>
            <a:off x="4084320" y="2852928"/>
            <a:ext cx="1097280" cy="219456"/>
          </a:xfrm>
          <a:prstGeom prst="rect">
            <a:avLst/>
          </a:prstGeom>
          <a:noFill/>
        </p:spPr>
        <p:txBody>
          <a:bodyPr wrap="square" lIns="0" tIns="0" rIns="0" bIns="0" anchor="t">
            <a:spAutoFit/>
          </a:bodyPr>
          <a:lstStyle/>
          <a:p>
            <a:pPr algn="ctr">
              <a:lnSpc>
                <a:spcPct val="125000"/>
              </a:lnSpc>
            </a:pPr>
            <a:r>
              <a:rPr sz="1000" b="0" i="0">
                <a:solidFill>
                  <a:srgbClr val="444441"/>
                </a:solidFill>
                <a:latin typeface="Helvetica Neue Medium"/>
              </a:rPr>
              <a:t>Build</a:t>
            </a:r>
          </a:p>
        </p:txBody>
      </p:sp>
      <p:sp>
        <p:nvSpPr>
          <p:cNvPr id="20" name="TextBox 19"/>
          <p:cNvSpPr txBox="1"/>
          <p:nvPr/>
        </p:nvSpPr>
        <p:spPr>
          <a:xfrm>
            <a:off x="5669280" y="2651760"/>
            <a:ext cx="1097280" cy="219456"/>
          </a:xfrm>
          <a:prstGeom prst="rect">
            <a:avLst/>
          </a:prstGeom>
          <a:noFill/>
        </p:spPr>
        <p:txBody>
          <a:bodyPr wrap="square" lIns="0" tIns="0" rIns="0" bIns="0" anchor="t">
            <a:spAutoFit/>
          </a:bodyPr>
          <a:lstStyle/>
          <a:p>
            <a:pPr algn="ctr">
              <a:lnSpc>
                <a:spcPct val="125000"/>
              </a:lnSpc>
            </a:pPr>
            <a:r>
              <a:rPr sz="1000" b="0" i="0">
                <a:solidFill>
                  <a:srgbClr val="993C1D"/>
                </a:solidFill>
                <a:latin typeface="Helvetica Neue Medium"/>
              </a:rPr>
              <a:t>iv</a:t>
            </a:r>
          </a:p>
        </p:txBody>
      </p:sp>
      <p:sp>
        <p:nvSpPr>
          <p:cNvPr id="21" name="TextBox 20"/>
          <p:cNvSpPr txBox="1"/>
          <p:nvPr/>
        </p:nvSpPr>
        <p:spPr>
          <a:xfrm>
            <a:off x="5669280" y="2852928"/>
            <a:ext cx="1097280" cy="219456"/>
          </a:xfrm>
          <a:prstGeom prst="rect">
            <a:avLst/>
          </a:prstGeom>
          <a:noFill/>
        </p:spPr>
        <p:txBody>
          <a:bodyPr wrap="square" lIns="0" tIns="0" rIns="0" bIns="0" anchor="t">
            <a:spAutoFit/>
          </a:bodyPr>
          <a:lstStyle/>
          <a:p>
            <a:pPr algn="ctr">
              <a:lnSpc>
                <a:spcPct val="125000"/>
              </a:lnSpc>
            </a:pPr>
            <a:r>
              <a:rPr sz="1000" b="0" i="0">
                <a:solidFill>
                  <a:srgbClr val="444441"/>
                </a:solidFill>
                <a:latin typeface="Helvetica Neue Medium"/>
              </a:rPr>
              <a:t>Data</a:t>
            </a:r>
          </a:p>
        </p:txBody>
      </p:sp>
      <p:cxnSp>
        <p:nvCxnSpPr>
          <p:cNvPr id="22" name="Connector 21"/>
          <p:cNvCxnSpPr/>
          <p:nvPr/>
        </p:nvCxnSpPr>
        <p:spPr>
          <a:xfrm flipV="1">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0" y="310896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0" y="310896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0" y="310896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0" y="3108960"/>
            <a:ext cx="0" cy="0"/>
          </a:xfrm>
          <a:prstGeom prst="line">
            <a:avLst/>
          </a:prstGeom>
          <a:ln w="6350">
            <a:solidFill>
              <a:srgbClr val="D85A30"/>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91456" y="4320242"/>
            <a:ext cx="402336" cy="0"/>
          </a:xfrm>
          <a:prstGeom prst="line">
            <a:avLst/>
          </a:prstGeom>
          <a:ln w="12700">
            <a:solidFill>
              <a:srgbClr val="5F5E5A"/>
            </a:solidFill>
            <a:tailEnd type="triangle" w="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212080" y="3840182"/>
            <a:ext cx="2011680" cy="96012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0" y="3977342"/>
            <a:ext cx="1828800" cy="292608"/>
          </a:xfrm>
          <a:prstGeom prst="rect">
            <a:avLst/>
          </a:prstGeom>
          <a:noFill/>
        </p:spPr>
        <p:txBody>
          <a:bodyPr wrap="square" lIns="0" tIns="0" rIns="0" bIns="0" anchor="t">
            <a:spAutoFit/>
          </a:bodyPr>
          <a:lstStyle/>
          <a:p>
            <a:pPr algn="ctr">
              <a:lnSpc>
                <a:spcPct val="125000"/>
              </a:lnSpc>
            </a:pPr>
            <a:r>
              <a:rPr sz="1200" b="0" i="0">
                <a:solidFill>
                  <a:srgbClr val="2C2C2A"/>
                </a:solidFill>
                <a:latin typeface="Helvetica Neue Medium"/>
              </a:rPr>
              <a:t>Our data + model</a:t>
            </a:r>
          </a:p>
        </p:txBody>
      </p:sp>
      <p:sp>
        <p:nvSpPr>
          <p:cNvPr id="37" name="TextBox 36"/>
          <p:cNvSpPr txBox="1"/>
          <p:nvPr/>
        </p:nvSpPr>
        <p:spPr>
          <a:xfrm>
            <a:off x="5303520" y="4525982"/>
            <a:ext cx="1828800" cy="219456"/>
          </a:xfrm>
          <a:prstGeom prst="rect">
            <a:avLst/>
          </a:prstGeom>
          <a:noFill/>
        </p:spPr>
        <p:txBody>
          <a:bodyPr wrap="square" lIns="0" tIns="0" rIns="0" bIns="0" anchor="t">
            <a:spAutoFit/>
          </a:bodyPr>
          <a:lstStyle/>
          <a:p>
            <a:pPr algn="ctr">
              <a:lnSpc>
                <a:spcPct val="125000"/>
              </a:lnSpc>
            </a:pPr>
            <a:r>
              <a:rPr sz="900" b="0" i="0">
                <a:solidFill>
                  <a:srgbClr val="5F5E5A"/>
                </a:solidFill>
                <a:latin typeface="Helvetica Neue"/>
              </a:rPr>
              <a:t>Every interaction, every cycle</a:t>
            </a:r>
          </a:p>
        </p:txBody>
      </p:sp>
      <p:sp>
        <p:nvSpPr>
          <p:cNvPr id="38" name="TextBox 37"/>
          <p:cNvSpPr txBox="1"/>
          <p:nvPr/>
        </p:nvSpPr>
        <p:spPr>
          <a:xfrm>
            <a:off x="5303520" y="4297382"/>
            <a:ext cx="1828800" cy="219456"/>
          </a:xfrm>
          <a:prstGeom prst="rect">
            <a:avLst/>
          </a:prstGeom>
          <a:noFill/>
        </p:spPr>
        <p:txBody>
          <a:bodyPr wrap="square" lIns="0" tIns="0" rIns="0" bIns="0" anchor="t">
            <a:spAutoFit/>
          </a:bodyPr>
          <a:lstStyle/>
          <a:p>
            <a:pPr algn="ctr">
              <a:lnSpc>
                <a:spcPct val="125000"/>
              </a:lnSpc>
            </a:pPr>
            <a:r>
              <a:rPr sz="900" b="0" i="0">
                <a:solidFill>
                  <a:srgbClr val="5F5E5A"/>
                </a:solidFill>
                <a:latin typeface="Helvetica Neue Medium"/>
              </a:rPr>
              <a:t>The proprietary substrate</a:t>
            </a:r>
          </a:p>
        </p:txBody>
      </p:sp>
      <p:cxnSp>
        <p:nvCxnSpPr>
          <p:cNvPr id="39" name="Connector 38"/>
          <p:cNvCxnSpPr/>
          <p:nvPr/>
        </p:nvCxnSpPr>
        <p:spPr>
          <a:xfrm>
            <a:off x="7260336" y="4320242"/>
            <a:ext cx="402336" cy="0"/>
          </a:xfrm>
          <a:prstGeom prst="line">
            <a:avLst/>
          </a:prstGeom>
          <a:ln w="12700">
            <a:solidFill>
              <a:srgbClr val="5F5E5A"/>
            </a:solidFill>
            <a:tailEnd type="triangle" w="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60" y="3840182"/>
            <a:ext cx="1691640" cy="960120"/>
          </a:xfrm>
          <a:prstGeom prst="roundRect">
            <a:avLst>
              <a:gd name="adj" fmla="val 10000"/>
            </a:avLst>
          </a:prstGeom>
          <a:solidFill>
            <a:srgbClr val="FFFFFF"/>
          </a:solidFill>
          <a:ln w="952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0" y="3977342"/>
            <a:ext cx="1508760" cy="292608"/>
          </a:xfrm>
          <a:prstGeom prst="rect">
            <a:avLst/>
          </a:prstGeom>
          <a:noFill/>
        </p:spPr>
        <p:txBody>
          <a:bodyPr wrap="square" lIns="0" tIns="0" rIns="0" bIns="0" anchor="t">
            <a:spAutoFit/>
          </a:bodyPr>
          <a:lstStyle/>
          <a:p>
            <a:pPr algn="ctr">
              <a:lnSpc>
                <a:spcPct val="125000"/>
              </a:lnSpc>
            </a:pPr>
            <a:r>
              <a:rPr sz="1200" b="0" i="0">
                <a:solidFill>
                  <a:srgbClr val="2C2C2A"/>
                </a:solidFill>
                <a:latin typeface="Helvetica Neue Medium"/>
              </a:rPr>
              <a:t>Specialist review</a:t>
            </a:r>
          </a:p>
        </p:txBody>
      </p:sp>
      <p:sp>
        <p:nvSpPr>
          <p:cNvPr id="42" name="TextBox 41"/>
          <p:cNvSpPr txBox="1"/>
          <p:nvPr/>
        </p:nvSpPr>
        <p:spPr>
          <a:xfrm>
            <a:off x="7772400" y="4525982"/>
            <a:ext cx="1508760" cy="219456"/>
          </a:xfrm>
          <a:prstGeom prst="rect">
            <a:avLst/>
          </a:prstGeom>
          <a:noFill/>
        </p:spPr>
        <p:txBody>
          <a:bodyPr wrap="square" lIns="0" tIns="0" rIns="0" bIns="0" anchor="t">
            <a:spAutoFit/>
          </a:bodyPr>
          <a:lstStyle/>
          <a:p>
            <a:pPr algn="ctr">
              <a:lnSpc>
                <a:spcPct val="125000"/>
              </a:lnSpc>
            </a:pPr>
            <a:r>
              <a:rPr sz="900" b="0" i="0">
                <a:solidFill>
                  <a:srgbClr val="5F5E5A"/>
                </a:solidFill>
                <a:latin typeface="Helvetica Neue"/>
              </a:rPr>
              <a:t>Approval · escalation</a:t>
            </a:r>
          </a:p>
        </p:txBody>
      </p:sp>
      <p:sp>
        <p:nvSpPr>
          <p:cNvPr id="43" name="TextBox 42"/>
          <p:cNvSpPr txBox="1"/>
          <p:nvPr/>
        </p:nvSpPr>
        <p:spPr>
          <a:xfrm>
            <a:off x="7772400" y="4297382"/>
            <a:ext cx="1508760" cy="219456"/>
          </a:xfrm>
          <a:prstGeom prst="rect">
            <a:avLst/>
          </a:prstGeom>
          <a:noFill/>
        </p:spPr>
        <p:txBody>
          <a:bodyPr wrap="square" lIns="0" tIns="0" rIns="0" bIns="0" anchor="t">
            <a:spAutoFit/>
          </a:bodyPr>
          <a:lstStyle/>
          <a:p>
            <a:pPr algn="ctr">
              <a:lnSpc>
                <a:spcPct val="125000"/>
              </a:lnSpc>
            </a:pPr>
            <a:r>
              <a:rPr sz="900" b="0" i="0">
                <a:solidFill>
                  <a:srgbClr val="993C1D"/>
                </a:solidFill>
                <a:latin typeface="Helvetica Neue Medium"/>
              </a:rPr>
              <a:t>The judgment gate</a:t>
            </a:r>
          </a:p>
        </p:txBody>
      </p:sp>
      <p:cxnSp>
        <p:nvCxnSpPr>
          <p:cNvPr id="44" name="Connector 43"/>
          <p:cNvCxnSpPr/>
          <p:nvPr/>
        </p:nvCxnSpPr>
        <p:spPr>
          <a:xfrm>
            <a:off x="9409176" y="4320242"/>
            <a:ext cx="466344" cy="0"/>
          </a:xfrm>
          <a:prstGeom prst="line">
            <a:avLst/>
          </a:prstGeom>
          <a:ln w="12700">
            <a:solidFill>
              <a:srgbClr val="D85A30"/>
            </a:solidFill>
            <a:tailEnd type="triangle" w="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948672" y="4137362"/>
            <a:ext cx="1371600" cy="274320"/>
          </a:xfrm>
          <a:prstGeom prst="rect">
            <a:avLst/>
          </a:prstGeom>
          <a:noFill/>
        </p:spPr>
        <p:txBody>
          <a:bodyPr wrap="square" lIns="0" tIns="0" rIns="0" bIns="0" anchor="t">
            <a:spAutoFit/>
          </a:bodyPr>
          <a:lstStyle/>
          <a:p>
            <a:pPr algn="l">
              <a:lnSpc>
                <a:spcPct val="125000"/>
              </a:lnSpc>
            </a:pPr>
            <a:r>
              <a:rPr sz="1300" b="0" i="0">
                <a:solidFill>
                  <a:srgbClr val="993C1D"/>
                </a:solidFill>
                <a:latin typeface="Helvetica Neue Medium"/>
              </a:rPr>
              <a:t>Action</a:t>
            </a:r>
          </a:p>
        </p:txBody>
      </p:sp>
      <p:sp>
        <p:nvSpPr>
          <p:cNvPr id="46" name="TextBox 45"/>
          <p:cNvSpPr txBox="1"/>
          <p:nvPr/>
        </p:nvSpPr>
        <p:spPr>
          <a:xfrm>
            <a:off x="9948672" y="4411682"/>
            <a:ext cx="1371600" cy="219456"/>
          </a:xfrm>
          <a:prstGeom prst="rect">
            <a:avLst/>
          </a:prstGeom>
          <a:noFill/>
        </p:spPr>
        <p:txBody>
          <a:bodyPr wrap="square" lIns="0" tIns="0" rIns="0" bIns="0" anchor="t">
            <a:spAutoFit/>
          </a:bodyPr>
          <a:lstStyle/>
          <a:p>
            <a:pPr algn="l">
              <a:lnSpc>
                <a:spcPct val="125000"/>
              </a:lnSpc>
            </a:pPr>
            <a:r>
              <a:rPr sz="900" b="0" i="0" dirty="0">
                <a:solidFill>
                  <a:srgbClr val="5F5E5A"/>
                </a:solidFill>
                <a:latin typeface="Helvetica Neue"/>
              </a:rPr>
              <a:t>Shipped + logged</a:t>
            </a:r>
          </a:p>
        </p:txBody>
      </p:sp>
      <p:sp>
        <p:nvSpPr>
          <p:cNvPr id="55" name="Straight Connector 54">
            <a:extLst>
              <a:ext uri="{FF2B5EF4-FFF2-40B4-BE49-F238E27FC236}">
                <a16:creationId xmlns:a16="http://schemas.microsoft.com/office/drawing/2014/main" id="{7717C770-E552-E33D-3D44-76CD6BA3DF45}"/>
              </a:ext>
            </a:extLst>
          </p:cNvPr>
          <p:cNvSpPr>
            <a:spLocks noGrp="1"/>
          </p:cNvSpPr>
          <p:nvPr/>
        </p:nvSpPr>
        <p:spPr>
          <a:xfrm flipV="1">
            <a:off x="1443062" y="3306908"/>
            <a:ext cx="4779608" cy="1"/>
          </a:xfrm>
          <a:prstGeom prst="line">
            <a:avLst/>
          </a:prstGeom>
          <a:solidFill>
            <a:srgbClr val="000000">
              <a:alpha val="0"/>
            </a:srgbClr>
          </a:solidFill>
          <a:ln w="9525">
            <a:solidFill>
              <a:srgbClr val="BEB9AE"/>
            </a:solidFill>
            <a:prstDash val="dash"/>
          </a:ln>
        </p:spPr>
        <p:txBody>
          <a:bodyPr/>
          <a:lstStyle/>
          <a:p>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189475"/>
          </a:xfrm>
          <a:prstGeom prst="rect">
            <a:avLst/>
          </a:prstGeom>
          <a:noFill/>
        </p:spPr>
        <p:txBody>
          <a:bodyPr wrap="square" lIns="0" tIns="0" rIns="0" bIns="0" anchor="t">
            <a:spAutoFit/>
          </a:bodyPr>
          <a:lstStyle/>
          <a:p>
            <a:pPr algn="l">
              <a:lnSpc>
                <a:spcPct val="125000"/>
              </a:lnSpc>
            </a:pPr>
            <a:r>
              <a:rPr sz="1100" b="0" i="0" dirty="0">
                <a:solidFill>
                  <a:srgbClr val="993C1D"/>
                </a:solidFill>
                <a:latin typeface="Helvetica Neue Medium"/>
              </a:rPr>
              <a:t>The operating model</a:t>
            </a:r>
          </a:p>
        </p:txBody>
      </p:sp>
      <p:sp>
        <p:nvSpPr>
          <p:cNvPr id="3" name="TextBox 2"/>
          <p:cNvSpPr txBox="1"/>
          <p:nvPr/>
        </p:nvSpPr>
        <p:spPr>
          <a:xfrm>
            <a:off x="868680" y="960120"/>
            <a:ext cx="10454335" cy="777240"/>
          </a:xfrm>
          <a:prstGeom prst="rect">
            <a:avLst/>
          </a:prstGeom>
          <a:noFill/>
        </p:spPr>
        <p:txBody>
          <a:bodyPr wrap="square" lIns="0" tIns="0" rIns="0" bIns="0" anchor="t">
            <a:spAutoFit/>
          </a:bodyPr>
          <a:lstStyle/>
          <a:p>
            <a:pPr algn="l">
              <a:lnSpc>
                <a:spcPct val="115000"/>
              </a:lnSpc>
            </a:pPr>
            <a:r>
              <a:rPr sz="3000" b="0" i="0">
                <a:solidFill>
                  <a:srgbClr val="2C2C2A"/>
                </a:solidFill>
                <a:latin typeface="Helvetica Neue Medium"/>
              </a:rPr>
              <a:t>From coordinating tasks to overseeing agents.</a:t>
            </a:r>
          </a:p>
        </p:txBody>
      </p:sp>
      <p:sp>
        <p:nvSpPr>
          <p:cNvPr id="4" name="TextBox 3"/>
          <p:cNvSpPr txBox="1"/>
          <p:nvPr/>
        </p:nvSpPr>
        <p:spPr>
          <a:xfrm>
            <a:off x="868680" y="1723705"/>
            <a:ext cx="10454335" cy="502920"/>
          </a:xfrm>
          <a:prstGeom prst="rect">
            <a:avLst/>
          </a:prstGeom>
          <a:noFill/>
        </p:spPr>
        <p:txBody>
          <a:bodyPr wrap="square" lIns="0" tIns="0" rIns="0" bIns="0" anchor="t">
            <a:spAutoFit/>
          </a:bodyPr>
          <a:lstStyle/>
          <a:p>
            <a:pPr algn="l">
              <a:lnSpc>
                <a:spcPct val="140000"/>
              </a:lnSpc>
            </a:pPr>
            <a:r>
              <a:rPr sz="1200" b="0" i="0" dirty="0">
                <a:solidFill>
                  <a:srgbClr val="5F5E5A"/>
                </a:solidFill>
                <a:latin typeface="Helvetica Neue"/>
              </a:rPr>
              <a:t>Same work. Different shape. Today, specialists pass the file down a queue — each step waits for the one before it. Next, agents run in parallel, and the specialist's role shifts to oversight at the checkpoints that matter.</a:t>
            </a:r>
          </a:p>
        </p:txBody>
      </p:sp>
      <p:sp>
        <p:nvSpPr>
          <p:cNvPr id="5" name="Rounded Rectangle 4"/>
          <p:cNvSpPr/>
          <p:nvPr/>
        </p:nvSpPr>
        <p:spPr>
          <a:xfrm>
            <a:off x="868680" y="2423160"/>
            <a:ext cx="10454335" cy="3835136"/>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2587752"/>
            <a:ext cx="822960" cy="201168"/>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Medium"/>
              </a:rPr>
              <a:t>Today</a:t>
            </a:r>
          </a:p>
        </p:txBody>
      </p:sp>
      <p:sp>
        <p:nvSpPr>
          <p:cNvPr id="7" name="TextBox 6"/>
          <p:cNvSpPr txBox="1"/>
          <p:nvPr/>
        </p:nvSpPr>
        <p:spPr>
          <a:xfrm>
            <a:off x="1737360" y="2587752"/>
            <a:ext cx="5029200" cy="201168"/>
          </a:xfrm>
          <a:prstGeom prst="rect">
            <a:avLst/>
          </a:prstGeom>
          <a:noFill/>
        </p:spPr>
        <p:txBody>
          <a:bodyPr wrap="square" lIns="0" tIns="0" rIns="0" bIns="0" anchor="t">
            <a:spAutoFit/>
          </a:bodyPr>
          <a:lstStyle/>
          <a:p>
            <a:pPr algn="l">
              <a:lnSpc>
                <a:spcPct val="125000"/>
              </a:lnSpc>
            </a:pPr>
            <a:r>
              <a:rPr sz="1000" b="0" i="0">
                <a:solidFill>
                  <a:srgbClr val="888780"/>
                </a:solidFill>
                <a:latin typeface="Helvetica Neue"/>
              </a:rPr>
              <a:t>Specialists in sequence. A handoff at every step.</a:t>
            </a:r>
          </a:p>
        </p:txBody>
      </p:sp>
      <p:sp>
        <p:nvSpPr>
          <p:cNvPr id="8" name="TextBox 7"/>
          <p:cNvSpPr txBox="1"/>
          <p:nvPr/>
        </p:nvSpPr>
        <p:spPr>
          <a:xfrm>
            <a:off x="1097280" y="2967998"/>
            <a:ext cx="1554480" cy="219456"/>
          </a:xfrm>
          <a:prstGeom prst="rect">
            <a:avLst/>
          </a:prstGeom>
          <a:noFill/>
        </p:spPr>
        <p:txBody>
          <a:bodyPr wrap="square" lIns="0" tIns="0" rIns="0" bIns="0" anchor="ctr">
            <a:spAutoFit/>
          </a:bodyPr>
          <a:lstStyle/>
          <a:p>
            <a:pPr algn="r">
              <a:lnSpc>
                <a:spcPct val="125000"/>
              </a:lnSpc>
            </a:pPr>
            <a:r>
              <a:rPr sz="1000" b="0" i="0" dirty="0">
                <a:solidFill>
                  <a:srgbClr val="444441"/>
                </a:solidFill>
                <a:latin typeface="Helvetica Neue Medium"/>
              </a:rPr>
              <a:t>Lender</a:t>
            </a:r>
          </a:p>
        </p:txBody>
      </p:sp>
      <p:sp>
        <p:nvSpPr>
          <p:cNvPr id="9" name="Rounded Rectangle 8"/>
          <p:cNvSpPr/>
          <p:nvPr/>
        </p:nvSpPr>
        <p:spPr>
          <a:xfrm>
            <a:off x="2743200" y="2967998"/>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3224030"/>
            <a:ext cx="1554480" cy="219456"/>
          </a:xfrm>
          <a:prstGeom prst="rect">
            <a:avLst/>
          </a:prstGeom>
          <a:noFill/>
        </p:spPr>
        <p:txBody>
          <a:bodyPr wrap="square" lIns="0" tIns="0" rIns="0" bIns="0" anchor="ctr">
            <a:spAutoFit/>
          </a:bodyPr>
          <a:lstStyle/>
          <a:p>
            <a:pPr algn="r">
              <a:lnSpc>
                <a:spcPct val="125000"/>
              </a:lnSpc>
            </a:pPr>
            <a:r>
              <a:rPr sz="1000" b="0" i="0">
                <a:solidFill>
                  <a:srgbClr val="444441"/>
                </a:solidFill>
                <a:latin typeface="Helvetica Neue Medium"/>
              </a:rPr>
              <a:t>Underwriter</a:t>
            </a:r>
          </a:p>
        </p:txBody>
      </p:sp>
      <p:sp>
        <p:nvSpPr>
          <p:cNvPr id="11" name="Rounded Rectangle 10"/>
          <p:cNvSpPr/>
          <p:nvPr/>
        </p:nvSpPr>
        <p:spPr>
          <a:xfrm>
            <a:off x="2743200" y="3224030"/>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480062"/>
            <a:ext cx="1554480" cy="219456"/>
          </a:xfrm>
          <a:prstGeom prst="rect">
            <a:avLst/>
          </a:prstGeom>
          <a:noFill/>
        </p:spPr>
        <p:txBody>
          <a:bodyPr wrap="square" lIns="0" tIns="0" rIns="0" bIns="0" anchor="ctr">
            <a:spAutoFit/>
          </a:bodyPr>
          <a:lstStyle/>
          <a:p>
            <a:pPr algn="r">
              <a:lnSpc>
                <a:spcPct val="125000"/>
              </a:lnSpc>
            </a:pPr>
            <a:r>
              <a:rPr sz="1000" b="0" i="0">
                <a:solidFill>
                  <a:srgbClr val="444441"/>
                </a:solidFill>
                <a:latin typeface="Helvetica Neue Medium"/>
              </a:rPr>
              <a:t>Compliance</a:t>
            </a:r>
          </a:p>
        </p:txBody>
      </p:sp>
      <p:sp>
        <p:nvSpPr>
          <p:cNvPr id="13" name="Rounded Rectangle 12"/>
          <p:cNvSpPr/>
          <p:nvPr/>
        </p:nvSpPr>
        <p:spPr>
          <a:xfrm>
            <a:off x="2743200" y="3480062"/>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736094"/>
            <a:ext cx="1554480" cy="219456"/>
          </a:xfrm>
          <a:prstGeom prst="rect">
            <a:avLst/>
          </a:prstGeom>
          <a:noFill/>
        </p:spPr>
        <p:txBody>
          <a:bodyPr wrap="square" lIns="0" tIns="0" rIns="0" bIns="0" anchor="ctr">
            <a:spAutoFit/>
          </a:bodyPr>
          <a:lstStyle/>
          <a:p>
            <a:pPr algn="r">
              <a:lnSpc>
                <a:spcPct val="125000"/>
              </a:lnSpc>
            </a:pPr>
            <a:r>
              <a:rPr sz="1000" b="0" i="0">
                <a:solidFill>
                  <a:srgbClr val="444441"/>
                </a:solidFill>
                <a:latin typeface="Helvetica Neue Medium"/>
              </a:rPr>
              <a:t>Servicing</a:t>
            </a:r>
          </a:p>
        </p:txBody>
      </p:sp>
      <p:sp>
        <p:nvSpPr>
          <p:cNvPr id="15" name="Rounded Rectangle 14"/>
          <p:cNvSpPr/>
          <p:nvPr/>
        </p:nvSpPr>
        <p:spPr>
          <a:xfrm>
            <a:off x="2743200" y="3736094"/>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899251" y="3004574"/>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FFFFFF"/>
                </a:solidFill>
                <a:latin typeface="Helvetica Neue Medium"/>
              </a:rPr>
              <a:t>Originate</a:t>
            </a:r>
          </a:p>
        </p:txBody>
      </p:sp>
      <p:cxnSp>
        <p:nvCxnSpPr>
          <p:cNvPr id="17" name="Connector 16"/>
          <p:cNvCxnSpPr/>
          <p:nvPr/>
        </p:nvCxnSpPr>
        <p:spPr>
          <a:xfrm>
            <a:off x="0" y="0"/>
            <a:ext cx="0" cy="0"/>
          </a:xfrm>
          <a:prstGeom prst="line">
            <a:avLst/>
          </a:prstGeom>
          <a:ln w="6350">
            <a:solidFill>
              <a:srgbClr val="888780"/>
            </a:solidFill>
            <a:tailEnd type="triangle" w="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615818" y="3260606"/>
            <a:ext cx="1560515"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FFFFFF"/>
                </a:solidFill>
                <a:latin typeface="Helvetica Neue Medium"/>
              </a:rPr>
              <a:t>Underwrite</a:t>
            </a:r>
          </a:p>
        </p:txBody>
      </p:sp>
      <p:cxnSp>
        <p:nvCxnSpPr>
          <p:cNvPr id="19" name="Connector 18"/>
          <p:cNvCxnSpPr/>
          <p:nvPr/>
        </p:nvCxnSpPr>
        <p:spPr>
          <a:xfrm>
            <a:off x="0" y="0"/>
            <a:ext cx="0" cy="0"/>
          </a:xfrm>
          <a:prstGeom prst="line">
            <a:avLst/>
          </a:prstGeom>
          <a:ln w="6350">
            <a:solidFill>
              <a:srgbClr val="888780"/>
            </a:solidFill>
            <a:tailEnd type="triangle" w="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32384" y="3516638"/>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FFFFFF"/>
                </a:solidFill>
                <a:latin typeface="Helvetica Neue Medium"/>
              </a:rPr>
              <a:t>Review</a:t>
            </a:r>
          </a:p>
        </p:txBody>
      </p:sp>
      <p:cxnSp>
        <p:nvCxnSpPr>
          <p:cNvPr id="21" name="Connector 20"/>
          <p:cNvCxnSpPr/>
          <p:nvPr/>
        </p:nvCxnSpPr>
        <p:spPr>
          <a:xfrm>
            <a:off x="0" y="0"/>
            <a:ext cx="0" cy="0"/>
          </a:xfrm>
          <a:prstGeom prst="line">
            <a:avLst/>
          </a:prstGeom>
          <a:ln w="6350">
            <a:solidFill>
              <a:srgbClr val="888780"/>
            </a:solidFill>
            <a:tailEnd type="triangle" w="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892899" y="3772670"/>
            <a:ext cx="1872618"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FFFFFF"/>
                </a:solidFill>
                <a:latin typeface="Helvetica Neue Medium"/>
              </a:rPr>
              <a:t>Service</a:t>
            </a:r>
          </a:p>
        </p:txBody>
      </p:sp>
      <p:sp>
        <p:nvSpPr>
          <p:cNvPr id="23" name="TextBox 22"/>
          <p:cNvSpPr txBox="1"/>
          <p:nvPr/>
        </p:nvSpPr>
        <p:spPr>
          <a:xfrm>
            <a:off x="10637215" y="3361190"/>
            <a:ext cx="731520" cy="274320"/>
          </a:xfrm>
          <a:prstGeom prst="rect">
            <a:avLst/>
          </a:prstGeom>
          <a:noFill/>
        </p:spPr>
        <p:txBody>
          <a:bodyPr wrap="square" lIns="0" tIns="0" rIns="0" bIns="0" anchor="ctr">
            <a:spAutoFit/>
          </a:bodyPr>
          <a:lstStyle/>
          <a:p>
            <a:pPr algn="l">
              <a:lnSpc>
                <a:spcPct val="125000"/>
              </a:lnSpc>
            </a:pPr>
            <a:r>
              <a:rPr sz="1100" b="0" i="0">
                <a:solidFill>
                  <a:srgbClr val="5F5E5A"/>
                </a:solidFill>
                <a:latin typeface="Helvetica Neue Medium"/>
              </a:rPr>
              <a:t>~ days</a:t>
            </a:r>
          </a:p>
        </p:txBody>
      </p:sp>
      <p:sp>
        <p:nvSpPr>
          <p:cNvPr id="25" name="TextBox 24"/>
          <p:cNvSpPr txBox="1"/>
          <p:nvPr/>
        </p:nvSpPr>
        <p:spPr>
          <a:xfrm>
            <a:off x="1097280" y="4233430"/>
            <a:ext cx="822960" cy="201168"/>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Next</a:t>
            </a:r>
          </a:p>
        </p:txBody>
      </p:sp>
      <p:sp>
        <p:nvSpPr>
          <p:cNvPr id="26" name="TextBox 25"/>
          <p:cNvSpPr txBox="1"/>
          <p:nvPr/>
        </p:nvSpPr>
        <p:spPr>
          <a:xfrm>
            <a:off x="1737360" y="4233430"/>
            <a:ext cx="5486400" cy="201168"/>
          </a:xfrm>
          <a:prstGeom prst="rect">
            <a:avLst/>
          </a:prstGeom>
          <a:noFill/>
        </p:spPr>
        <p:txBody>
          <a:bodyPr wrap="square" lIns="0" tIns="0" rIns="0" bIns="0" anchor="t">
            <a:spAutoFit/>
          </a:bodyPr>
          <a:lstStyle/>
          <a:p>
            <a:pPr algn="l">
              <a:lnSpc>
                <a:spcPct val="125000"/>
              </a:lnSpc>
            </a:pPr>
            <a:r>
              <a:rPr sz="1000" b="0" i="0" dirty="0">
                <a:solidFill>
                  <a:srgbClr val="888780"/>
                </a:solidFill>
                <a:latin typeface="Helvetica Neue"/>
              </a:rPr>
              <a:t>Agents in parallel. Specialist oversight at the checkpoints.</a:t>
            </a:r>
          </a:p>
        </p:txBody>
      </p:sp>
      <p:sp>
        <p:nvSpPr>
          <p:cNvPr id="27" name="TextBox 26"/>
          <p:cNvSpPr txBox="1"/>
          <p:nvPr/>
        </p:nvSpPr>
        <p:spPr>
          <a:xfrm>
            <a:off x="1097280" y="4994048"/>
            <a:ext cx="1554480" cy="219456"/>
          </a:xfrm>
          <a:prstGeom prst="rect">
            <a:avLst/>
          </a:prstGeom>
          <a:noFill/>
        </p:spPr>
        <p:txBody>
          <a:bodyPr wrap="square" lIns="0" tIns="0" rIns="0" bIns="0" anchor="ctr">
            <a:spAutoFit/>
          </a:bodyPr>
          <a:lstStyle/>
          <a:p>
            <a:pPr algn="r">
              <a:lnSpc>
                <a:spcPct val="125000"/>
              </a:lnSpc>
            </a:pPr>
            <a:r>
              <a:rPr sz="1000" b="0" i="0">
                <a:solidFill>
                  <a:srgbClr val="444441"/>
                </a:solidFill>
                <a:latin typeface="Helvetica Neue Medium"/>
              </a:rPr>
              <a:t>Agent · Originate</a:t>
            </a:r>
          </a:p>
        </p:txBody>
      </p:sp>
      <p:sp>
        <p:nvSpPr>
          <p:cNvPr id="29" name="Rounded Rectangle 28"/>
          <p:cNvSpPr/>
          <p:nvPr/>
        </p:nvSpPr>
        <p:spPr>
          <a:xfrm>
            <a:off x="2743200" y="5030624"/>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712B13"/>
                </a:solidFill>
                <a:latin typeface="Helvetica Neue Medium"/>
              </a:rPr>
              <a:t>Runs autonomously</a:t>
            </a:r>
          </a:p>
        </p:txBody>
      </p:sp>
      <p:sp>
        <p:nvSpPr>
          <p:cNvPr id="30" name="TextBox 29"/>
          <p:cNvSpPr txBox="1"/>
          <p:nvPr/>
        </p:nvSpPr>
        <p:spPr>
          <a:xfrm>
            <a:off x="1097280" y="5250080"/>
            <a:ext cx="1554480" cy="219456"/>
          </a:xfrm>
          <a:prstGeom prst="rect">
            <a:avLst/>
          </a:prstGeom>
          <a:noFill/>
        </p:spPr>
        <p:txBody>
          <a:bodyPr wrap="square" lIns="0" tIns="0" rIns="0" bIns="0" anchor="ctr">
            <a:spAutoFit/>
          </a:bodyPr>
          <a:lstStyle/>
          <a:p>
            <a:pPr algn="r">
              <a:lnSpc>
                <a:spcPct val="125000"/>
              </a:lnSpc>
            </a:pPr>
            <a:r>
              <a:rPr sz="1000" b="0" i="0">
                <a:solidFill>
                  <a:srgbClr val="444441"/>
                </a:solidFill>
                <a:latin typeface="Helvetica Neue Medium"/>
              </a:rPr>
              <a:t>Agent · Underwrite</a:t>
            </a:r>
          </a:p>
        </p:txBody>
      </p:sp>
      <p:sp>
        <p:nvSpPr>
          <p:cNvPr id="32" name="Rounded Rectangle 31"/>
          <p:cNvSpPr/>
          <p:nvPr/>
        </p:nvSpPr>
        <p:spPr>
          <a:xfrm>
            <a:off x="2743200" y="5286656"/>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712B13"/>
                </a:solidFill>
                <a:latin typeface="Helvetica Neue Medium"/>
              </a:rPr>
              <a:t>Runs autonomously</a:t>
            </a:r>
          </a:p>
        </p:txBody>
      </p:sp>
      <p:sp>
        <p:nvSpPr>
          <p:cNvPr id="33" name="TextBox 32"/>
          <p:cNvSpPr txBox="1"/>
          <p:nvPr/>
        </p:nvSpPr>
        <p:spPr>
          <a:xfrm>
            <a:off x="1097280" y="5506112"/>
            <a:ext cx="1554480" cy="219456"/>
          </a:xfrm>
          <a:prstGeom prst="rect">
            <a:avLst/>
          </a:prstGeom>
          <a:noFill/>
        </p:spPr>
        <p:txBody>
          <a:bodyPr wrap="square" lIns="0" tIns="0" rIns="0" bIns="0" anchor="ctr">
            <a:spAutoFit/>
          </a:bodyPr>
          <a:lstStyle/>
          <a:p>
            <a:pPr algn="r">
              <a:lnSpc>
                <a:spcPct val="125000"/>
              </a:lnSpc>
            </a:pPr>
            <a:r>
              <a:rPr sz="1000" b="0" i="0">
                <a:solidFill>
                  <a:srgbClr val="444441"/>
                </a:solidFill>
                <a:latin typeface="Helvetica Neue Medium"/>
              </a:rPr>
              <a:t>Agent · Review</a:t>
            </a:r>
          </a:p>
        </p:txBody>
      </p:sp>
      <p:sp>
        <p:nvSpPr>
          <p:cNvPr id="35" name="Rounded Rectangle 34"/>
          <p:cNvSpPr/>
          <p:nvPr/>
        </p:nvSpPr>
        <p:spPr>
          <a:xfrm>
            <a:off x="2743200" y="5542688"/>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712B13"/>
                </a:solidFill>
                <a:latin typeface="Helvetica Neue Medium"/>
              </a:rPr>
              <a:t>Runs autonomously</a:t>
            </a:r>
          </a:p>
        </p:txBody>
      </p:sp>
      <p:sp>
        <p:nvSpPr>
          <p:cNvPr id="36" name="TextBox 35"/>
          <p:cNvSpPr txBox="1"/>
          <p:nvPr/>
        </p:nvSpPr>
        <p:spPr>
          <a:xfrm>
            <a:off x="1097280" y="5762144"/>
            <a:ext cx="1554480" cy="219456"/>
          </a:xfrm>
          <a:prstGeom prst="rect">
            <a:avLst/>
          </a:prstGeom>
          <a:noFill/>
        </p:spPr>
        <p:txBody>
          <a:bodyPr wrap="square" lIns="0" tIns="0" rIns="0" bIns="0" anchor="ctr">
            <a:spAutoFit/>
          </a:bodyPr>
          <a:lstStyle/>
          <a:p>
            <a:pPr algn="r">
              <a:lnSpc>
                <a:spcPct val="125000"/>
              </a:lnSpc>
            </a:pPr>
            <a:r>
              <a:rPr sz="1000" b="0" i="0">
                <a:solidFill>
                  <a:srgbClr val="444441"/>
                </a:solidFill>
                <a:latin typeface="Helvetica Neue Medium"/>
              </a:rPr>
              <a:t>Agent · Service</a:t>
            </a:r>
          </a:p>
        </p:txBody>
      </p:sp>
      <p:sp>
        <p:nvSpPr>
          <p:cNvPr id="38" name="Rounded Rectangle 37"/>
          <p:cNvSpPr/>
          <p:nvPr/>
        </p:nvSpPr>
        <p:spPr>
          <a:xfrm>
            <a:off x="2743200" y="5798720"/>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0">
                <a:solidFill>
                  <a:srgbClr val="712B13"/>
                </a:solidFill>
                <a:latin typeface="Helvetica Neue Medium"/>
              </a:rPr>
              <a:t>Runs autonomously</a:t>
            </a:r>
          </a:p>
        </p:txBody>
      </p:sp>
      <p:sp>
        <p:nvSpPr>
          <p:cNvPr id="39" name="Rounded Rectangle 38"/>
          <p:cNvSpPr/>
          <p:nvPr/>
        </p:nvSpPr>
        <p:spPr>
          <a:xfrm>
            <a:off x="9421107" y="5030624"/>
            <a:ext cx="523819" cy="914400"/>
          </a:xfrm>
          <a:prstGeom prst="roundRect">
            <a:avLst>
              <a:gd name="adj" fmla="val 1000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100" b="0" dirty="0">
                <a:solidFill>
                  <a:srgbClr val="FFFFFF"/>
                </a:solidFill>
                <a:latin typeface="Helvetica Neue Medium"/>
              </a:rPr>
              <a:t>Done</a:t>
            </a:r>
          </a:p>
        </p:txBody>
      </p:sp>
      <p:sp>
        <p:nvSpPr>
          <p:cNvPr id="40" name="TextBox 39"/>
          <p:cNvSpPr txBox="1"/>
          <p:nvPr/>
        </p:nvSpPr>
        <p:spPr>
          <a:xfrm>
            <a:off x="9990647" y="5350664"/>
            <a:ext cx="731520" cy="274320"/>
          </a:xfrm>
          <a:prstGeom prst="rect">
            <a:avLst/>
          </a:prstGeom>
          <a:noFill/>
        </p:spPr>
        <p:txBody>
          <a:bodyPr wrap="square" lIns="0" tIns="0" rIns="0" bIns="0" anchor="ctr">
            <a:spAutoFit/>
          </a:bodyPr>
          <a:lstStyle/>
          <a:p>
            <a:pPr algn="l">
              <a:lnSpc>
                <a:spcPct val="125000"/>
              </a:lnSpc>
            </a:pPr>
            <a:r>
              <a:rPr sz="1100" b="0" i="0" dirty="0">
                <a:solidFill>
                  <a:srgbClr val="993C1D"/>
                </a:solidFill>
                <a:latin typeface="Helvetica Neue Medium"/>
              </a:rPr>
              <a:t>~ hours</a:t>
            </a:r>
          </a:p>
        </p:txBody>
      </p:sp>
      <p:sp>
        <p:nvSpPr>
          <p:cNvPr id="41" name="TextBox 40"/>
          <p:cNvSpPr txBox="1"/>
          <p:nvPr/>
        </p:nvSpPr>
        <p:spPr>
          <a:xfrm>
            <a:off x="1097280" y="4655720"/>
            <a:ext cx="1554480" cy="237744"/>
          </a:xfrm>
          <a:prstGeom prst="rect">
            <a:avLst/>
          </a:prstGeom>
          <a:noFill/>
        </p:spPr>
        <p:txBody>
          <a:bodyPr wrap="square" lIns="0" tIns="0" rIns="0" bIns="0" anchor="ctr">
            <a:spAutoFit/>
          </a:bodyPr>
          <a:lstStyle/>
          <a:p>
            <a:pPr algn="r">
              <a:lnSpc>
                <a:spcPct val="125000"/>
              </a:lnSpc>
            </a:pPr>
            <a:r>
              <a:rPr sz="1000" b="0" i="0" dirty="0">
                <a:solidFill>
                  <a:srgbClr val="993C1D"/>
                </a:solidFill>
                <a:latin typeface="Helvetica Neue Medium"/>
              </a:rPr>
              <a:t>Specialist</a:t>
            </a:r>
          </a:p>
        </p:txBody>
      </p:sp>
      <p:sp>
        <p:nvSpPr>
          <p:cNvPr id="42" name="Rounded Rectangle 41"/>
          <p:cNvSpPr/>
          <p:nvPr/>
        </p:nvSpPr>
        <p:spPr>
          <a:xfrm>
            <a:off x="2743200" y="4655720"/>
            <a:ext cx="6632188" cy="237744"/>
          </a:xfrm>
          <a:prstGeom prst="roundRect">
            <a:avLst>
              <a:gd name="adj" fmla="val 10000"/>
            </a:avLst>
          </a:prstGeom>
          <a:solidFill>
            <a:srgbClr val="FFFFFF"/>
          </a:solidFill>
          <a:ln w="9525">
            <a:solidFill>
              <a:srgbClr val="D85A3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07792" y="4655720"/>
            <a:ext cx="1097280" cy="237744"/>
          </a:xfrm>
          <a:prstGeom prst="rect">
            <a:avLst/>
          </a:prstGeom>
          <a:noFill/>
        </p:spPr>
        <p:txBody>
          <a:bodyPr wrap="square" lIns="0" tIns="0" rIns="0" bIns="0" anchor="ctr">
            <a:spAutoFit/>
          </a:bodyPr>
          <a:lstStyle/>
          <a:p>
            <a:pPr algn="l">
              <a:lnSpc>
                <a:spcPct val="125000"/>
              </a:lnSpc>
            </a:pPr>
            <a:r>
              <a:rPr sz="900" b="0" i="0">
                <a:solidFill>
                  <a:srgbClr val="993C1D"/>
                </a:solidFill>
                <a:latin typeface="Helvetica Neue Medium"/>
              </a:rPr>
              <a:t>Oversees</a:t>
            </a:r>
          </a:p>
        </p:txBody>
      </p:sp>
      <p:sp>
        <p:nvSpPr>
          <p:cNvPr id="44" name="TextBox 43"/>
          <p:cNvSpPr txBox="1"/>
          <p:nvPr/>
        </p:nvSpPr>
        <p:spPr>
          <a:xfrm>
            <a:off x="7546588" y="4655720"/>
            <a:ext cx="1691640" cy="237744"/>
          </a:xfrm>
          <a:prstGeom prst="rect">
            <a:avLst/>
          </a:prstGeom>
          <a:noFill/>
        </p:spPr>
        <p:txBody>
          <a:bodyPr wrap="square" lIns="0" tIns="0" rIns="0" bIns="0" anchor="ctr">
            <a:spAutoFit/>
          </a:bodyPr>
          <a:lstStyle/>
          <a:p>
            <a:pPr algn="r">
              <a:lnSpc>
                <a:spcPct val="125000"/>
              </a:lnSpc>
            </a:pPr>
            <a:r>
              <a:rPr sz="900" b="0" i="0">
                <a:solidFill>
                  <a:srgbClr val="5F5E5A"/>
                </a:solidFill>
                <a:latin typeface="Helvetica Neue"/>
              </a:rPr>
              <a:t>approves at checkpoints →</a:t>
            </a:r>
          </a:p>
        </p:txBody>
      </p:sp>
      <p:sp>
        <p:nvSpPr>
          <p:cNvPr id="45" name="Oval 44"/>
          <p:cNvSpPr/>
          <p:nvPr/>
        </p:nvSpPr>
        <p:spPr>
          <a:xfrm>
            <a:off x="4355527" y="4728872"/>
            <a:ext cx="91440" cy="91440"/>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Freeform 45"/>
          <p:cNvSpPr/>
          <p:nvPr/>
        </p:nvSpPr>
        <p:spPr>
          <a:xfrm>
            <a:off x="4401247" y="4893464"/>
            <a:ext cx="0" cy="82296"/>
          </a:xfrm>
          <a:custGeom>
            <a:avLst/>
            <a:gdLst/>
            <a:ahLst/>
            <a:cxnLst/>
            <a:rect l="l" t="t" r="r" b="b"/>
            <a:pathLst>
              <a:path h="82296">
                <a:moveTo>
                  <a:pt x="0" y="0"/>
                </a:moveTo>
                <a:lnTo>
                  <a:pt x="0" y="82296"/>
                </a:lnTo>
              </a:path>
            </a:pathLst>
          </a:custGeom>
          <a:noFill/>
          <a:ln w="6350">
            <a:solidFill>
              <a:srgbClr val="D85A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013574" y="4728872"/>
            <a:ext cx="91440" cy="91440"/>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Freeform 47"/>
          <p:cNvSpPr/>
          <p:nvPr/>
        </p:nvSpPr>
        <p:spPr>
          <a:xfrm>
            <a:off x="6059294" y="4893464"/>
            <a:ext cx="0" cy="82296"/>
          </a:xfrm>
          <a:custGeom>
            <a:avLst/>
            <a:gdLst/>
            <a:ahLst/>
            <a:cxnLst/>
            <a:rect l="l" t="t" r="r" b="b"/>
            <a:pathLst>
              <a:path h="82296">
                <a:moveTo>
                  <a:pt x="0" y="0"/>
                </a:moveTo>
                <a:lnTo>
                  <a:pt x="0" y="82296"/>
                </a:lnTo>
              </a:path>
            </a:pathLst>
          </a:custGeom>
          <a:noFill/>
          <a:ln w="6350">
            <a:solidFill>
              <a:srgbClr val="D85A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71621" y="4728872"/>
            <a:ext cx="91440" cy="91440"/>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Freeform 49"/>
          <p:cNvSpPr/>
          <p:nvPr/>
        </p:nvSpPr>
        <p:spPr>
          <a:xfrm>
            <a:off x="7717341" y="4893464"/>
            <a:ext cx="0" cy="82296"/>
          </a:xfrm>
          <a:custGeom>
            <a:avLst/>
            <a:gdLst/>
            <a:ahLst/>
            <a:cxnLst/>
            <a:rect l="l" t="t" r="r" b="b"/>
            <a:pathLst>
              <a:path h="82296">
                <a:moveTo>
                  <a:pt x="0" y="0"/>
                </a:moveTo>
                <a:lnTo>
                  <a:pt x="0" y="82296"/>
                </a:lnTo>
              </a:path>
            </a:pathLst>
          </a:custGeom>
          <a:noFill/>
          <a:ln w="6350">
            <a:solidFill>
              <a:srgbClr val="D85A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Straight Connector 55">
            <a:extLst>
              <a:ext uri="{FF2B5EF4-FFF2-40B4-BE49-F238E27FC236}">
                <a16:creationId xmlns:a16="http://schemas.microsoft.com/office/drawing/2014/main" id="{3035241B-93C3-9C95-BC77-A449536651CC}"/>
              </a:ext>
            </a:extLst>
          </p:cNvPr>
          <p:cNvSpPr>
            <a:spLocks noGrp="1"/>
          </p:cNvSpPr>
          <p:nvPr/>
        </p:nvSpPr>
        <p:spPr>
          <a:xfrm>
            <a:off x="1663711" y="4184028"/>
            <a:ext cx="8973504" cy="9144"/>
          </a:xfrm>
          <a:prstGeom prst="line">
            <a:avLst/>
          </a:prstGeom>
          <a:solidFill>
            <a:srgbClr val="000000">
              <a:alpha val="0"/>
            </a:srgbClr>
          </a:solidFill>
          <a:ln w="9525">
            <a:solidFill>
              <a:srgbClr val="BEB9AE"/>
            </a:solidFill>
            <a:prstDash val="dash"/>
          </a:ln>
        </p:spPr>
        <p:txBody>
          <a:bodyPr/>
          <a:lstStyle/>
          <a:p>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189475"/>
          </a:xfrm>
          <a:prstGeom prst="rect">
            <a:avLst/>
          </a:prstGeom>
          <a:noFill/>
        </p:spPr>
        <p:txBody>
          <a:bodyPr wrap="square" lIns="0" tIns="0" rIns="0" bIns="0" anchor="t">
            <a:spAutoFit/>
          </a:bodyPr>
          <a:lstStyle/>
          <a:p>
            <a:pPr algn="l">
              <a:lnSpc>
                <a:spcPct val="125000"/>
              </a:lnSpc>
            </a:pPr>
            <a:r>
              <a:rPr sz="1100" b="0" i="0" dirty="0">
                <a:solidFill>
                  <a:srgbClr val="993C1D"/>
                </a:solidFill>
                <a:latin typeface="Helvetica Neue Medium"/>
              </a:rPr>
              <a:t>Where we are focused right now</a:t>
            </a:r>
          </a:p>
        </p:txBody>
      </p:sp>
      <p:sp>
        <p:nvSpPr>
          <p:cNvPr id="3" name="TextBox 2"/>
          <p:cNvSpPr txBox="1"/>
          <p:nvPr/>
        </p:nvSpPr>
        <p:spPr>
          <a:xfrm>
            <a:off x="868680" y="960120"/>
            <a:ext cx="10454335" cy="482248"/>
          </a:xfrm>
          <a:prstGeom prst="rect">
            <a:avLst/>
          </a:prstGeom>
          <a:noFill/>
        </p:spPr>
        <p:txBody>
          <a:bodyPr wrap="square" lIns="0" tIns="0" rIns="0" bIns="0" anchor="t">
            <a:spAutoFit/>
          </a:bodyPr>
          <a:lstStyle/>
          <a:p>
            <a:pPr algn="l">
              <a:lnSpc>
                <a:spcPct val="115000"/>
              </a:lnSpc>
            </a:pPr>
            <a:r>
              <a:rPr lang="en-US" sz="3000" dirty="0">
                <a:solidFill>
                  <a:srgbClr val="2C2C2A"/>
                </a:solidFill>
                <a:latin typeface="Helvetica Neue Medium"/>
              </a:rPr>
              <a:t>Two places first.</a:t>
            </a:r>
            <a:endParaRPr sz="3000" b="0" i="0" dirty="0">
              <a:solidFill>
                <a:srgbClr val="2C2C2A"/>
              </a:solidFill>
              <a:latin typeface="Helvetica Neue Medium"/>
            </a:endParaRPr>
          </a:p>
        </p:txBody>
      </p:sp>
      <p:sp>
        <p:nvSpPr>
          <p:cNvPr id="4" name="Rounded Rectangle 3"/>
          <p:cNvSpPr/>
          <p:nvPr/>
        </p:nvSpPr>
        <p:spPr>
          <a:xfrm>
            <a:off x="868680" y="2194560"/>
            <a:ext cx="5135727" cy="3246120"/>
          </a:xfrm>
          <a:prstGeom prst="roundRect">
            <a:avLst>
              <a:gd name="adj" fmla="val 5000"/>
            </a:avLst>
          </a:prstGeom>
          <a:solidFill>
            <a:srgbClr val="FFFFFF"/>
          </a:solidFill>
          <a:ln w="6350">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61288" y="2450592"/>
            <a:ext cx="4550511" cy="189475"/>
          </a:xfrm>
          <a:prstGeom prst="rect">
            <a:avLst/>
          </a:prstGeom>
          <a:noFill/>
        </p:spPr>
        <p:txBody>
          <a:bodyPr wrap="square" lIns="0" tIns="0" rIns="0" bIns="0" anchor="t">
            <a:spAutoFit/>
          </a:bodyPr>
          <a:lstStyle/>
          <a:p>
            <a:pPr algn="l">
              <a:lnSpc>
                <a:spcPct val="125000"/>
              </a:lnSpc>
            </a:pPr>
            <a:r>
              <a:rPr lang="en-US" sz="1100" dirty="0">
                <a:solidFill>
                  <a:srgbClr val="993C1D"/>
                </a:solidFill>
                <a:latin typeface="Helvetica Neue Medium"/>
              </a:rPr>
              <a:t>One</a:t>
            </a:r>
            <a:endParaRPr sz="1100" b="0" i="0" dirty="0">
              <a:solidFill>
                <a:srgbClr val="993C1D"/>
              </a:solidFill>
              <a:latin typeface="Helvetica Neue Medium"/>
            </a:endParaRPr>
          </a:p>
        </p:txBody>
      </p:sp>
      <p:sp>
        <p:nvSpPr>
          <p:cNvPr id="6" name="TextBox 5"/>
          <p:cNvSpPr txBox="1"/>
          <p:nvPr/>
        </p:nvSpPr>
        <p:spPr>
          <a:xfrm>
            <a:off x="1161288" y="2852928"/>
            <a:ext cx="4550511" cy="640080"/>
          </a:xfrm>
          <a:prstGeom prst="rect">
            <a:avLst/>
          </a:prstGeom>
          <a:noFill/>
        </p:spPr>
        <p:txBody>
          <a:bodyPr wrap="square" lIns="0" tIns="0" rIns="0" bIns="0" anchor="t">
            <a:spAutoFit/>
          </a:bodyPr>
          <a:lstStyle/>
          <a:p>
            <a:pPr algn="l">
              <a:lnSpc>
                <a:spcPct val="110000"/>
              </a:lnSpc>
            </a:pPr>
            <a:r>
              <a:rPr sz="2600" b="0" i="0">
                <a:solidFill>
                  <a:srgbClr val="2C2C2A"/>
                </a:solidFill>
                <a:latin typeface="Helvetica Neue Medium"/>
              </a:rPr>
              <a:t>Mortgage</a:t>
            </a:r>
          </a:p>
        </p:txBody>
      </p:sp>
      <p:sp>
        <p:nvSpPr>
          <p:cNvPr id="7" name="TextBox 6"/>
          <p:cNvSpPr txBox="1"/>
          <p:nvPr/>
        </p:nvSpPr>
        <p:spPr>
          <a:xfrm>
            <a:off x="1161288" y="3611880"/>
            <a:ext cx="4550511" cy="1371600"/>
          </a:xfrm>
          <a:prstGeom prst="rect">
            <a:avLst/>
          </a:prstGeom>
          <a:noFill/>
        </p:spPr>
        <p:txBody>
          <a:bodyPr wrap="square" lIns="0" tIns="0" rIns="0" bIns="0" anchor="t">
            <a:spAutoFit/>
          </a:bodyPr>
          <a:lstStyle/>
          <a:p>
            <a:pPr algn="l">
              <a:lnSpc>
                <a:spcPct val="150000"/>
              </a:lnSpc>
            </a:pPr>
            <a:r>
              <a:rPr sz="1300" b="0" i="0">
                <a:solidFill>
                  <a:srgbClr val="444441"/>
                </a:solidFill>
                <a:latin typeface="Helvetica Neue"/>
              </a:rPr>
              <a:t>Origination, underwriting, document review, the full path from application to close. Document-heavy, exception-driven, operationally rich. The work the team already knows cold.</a:t>
            </a:r>
          </a:p>
        </p:txBody>
      </p:sp>
      <p:sp>
        <p:nvSpPr>
          <p:cNvPr id="8" name="TextBox 7"/>
          <p:cNvSpPr txBox="1"/>
          <p:nvPr/>
        </p:nvSpPr>
        <p:spPr>
          <a:xfrm>
            <a:off x="1161288" y="4800600"/>
            <a:ext cx="4550511" cy="502920"/>
          </a:xfrm>
          <a:prstGeom prst="rect">
            <a:avLst/>
          </a:prstGeom>
          <a:noFill/>
        </p:spPr>
        <p:txBody>
          <a:bodyPr wrap="square" lIns="0" tIns="0" rIns="0" bIns="0" anchor="t">
            <a:spAutoFit/>
          </a:bodyPr>
          <a:lstStyle/>
          <a:p>
            <a:pPr algn="l">
              <a:lnSpc>
                <a:spcPct val="145000"/>
              </a:lnSpc>
            </a:pPr>
            <a:r>
              <a:rPr sz="1000" b="0" i="1">
                <a:solidFill>
                  <a:srgbClr val="5F5E5A"/>
                </a:solidFill>
                <a:latin typeface="Helvetica Neue"/>
              </a:rPr>
              <a:t>Scope: intake → underwriting → review → decision → servicing handoff.</a:t>
            </a:r>
          </a:p>
        </p:txBody>
      </p:sp>
      <p:sp>
        <p:nvSpPr>
          <p:cNvPr id="9" name="Rounded Rectangle 8"/>
          <p:cNvSpPr/>
          <p:nvPr/>
        </p:nvSpPr>
        <p:spPr>
          <a:xfrm>
            <a:off x="6187287" y="2194560"/>
            <a:ext cx="5135727" cy="3246120"/>
          </a:xfrm>
          <a:prstGeom prst="roundRect">
            <a:avLst>
              <a:gd name="adj" fmla="val 5000"/>
            </a:avLst>
          </a:prstGeom>
          <a:solidFill>
            <a:srgbClr val="FFFFFF"/>
          </a:solidFill>
          <a:ln w="6350">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79895" y="2450592"/>
            <a:ext cx="4550511" cy="189475"/>
          </a:xfrm>
          <a:prstGeom prst="rect">
            <a:avLst/>
          </a:prstGeom>
          <a:noFill/>
        </p:spPr>
        <p:txBody>
          <a:bodyPr wrap="square" lIns="0" tIns="0" rIns="0" bIns="0" anchor="t">
            <a:spAutoFit/>
          </a:bodyPr>
          <a:lstStyle/>
          <a:p>
            <a:pPr algn="l">
              <a:lnSpc>
                <a:spcPct val="125000"/>
              </a:lnSpc>
            </a:pPr>
            <a:r>
              <a:rPr lang="en-US" sz="1100" b="0" i="0" dirty="0">
                <a:solidFill>
                  <a:srgbClr val="993C1D"/>
                </a:solidFill>
                <a:latin typeface="Helvetica Neue Medium"/>
              </a:rPr>
              <a:t>Two</a:t>
            </a:r>
            <a:endParaRPr sz="1100" b="0" i="0" dirty="0">
              <a:solidFill>
                <a:srgbClr val="993C1D"/>
              </a:solidFill>
              <a:latin typeface="Helvetica Neue Medium"/>
            </a:endParaRPr>
          </a:p>
        </p:txBody>
      </p:sp>
      <p:sp>
        <p:nvSpPr>
          <p:cNvPr id="11" name="TextBox 10"/>
          <p:cNvSpPr txBox="1"/>
          <p:nvPr/>
        </p:nvSpPr>
        <p:spPr>
          <a:xfrm>
            <a:off x="6479895" y="2852928"/>
            <a:ext cx="4550511" cy="640080"/>
          </a:xfrm>
          <a:prstGeom prst="rect">
            <a:avLst/>
          </a:prstGeom>
          <a:noFill/>
        </p:spPr>
        <p:txBody>
          <a:bodyPr wrap="square" lIns="0" tIns="0" rIns="0" bIns="0" anchor="t">
            <a:spAutoFit/>
          </a:bodyPr>
          <a:lstStyle/>
          <a:p>
            <a:pPr algn="l">
              <a:lnSpc>
                <a:spcPct val="110000"/>
              </a:lnSpc>
            </a:pPr>
            <a:r>
              <a:rPr sz="2600" b="0" i="0" dirty="0">
                <a:solidFill>
                  <a:srgbClr val="2C2C2A"/>
                </a:solidFill>
                <a:latin typeface="Helvetica Neue Medium"/>
              </a:rPr>
              <a:t>Trust administration</a:t>
            </a:r>
          </a:p>
        </p:txBody>
      </p:sp>
      <p:sp>
        <p:nvSpPr>
          <p:cNvPr id="12" name="TextBox 11"/>
          <p:cNvSpPr txBox="1"/>
          <p:nvPr/>
        </p:nvSpPr>
        <p:spPr>
          <a:xfrm>
            <a:off x="6479895" y="3611880"/>
            <a:ext cx="4550511" cy="1371600"/>
          </a:xfrm>
          <a:prstGeom prst="rect">
            <a:avLst/>
          </a:prstGeom>
          <a:noFill/>
        </p:spPr>
        <p:txBody>
          <a:bodyPr wrap="square" lIns="0" tIns="0" rIns="0" bIns="0" anchor="t">
            <a:spAutoFit/>
          </a:bodyPr>
          <a:lstStyle/>
          <a:p>
            <a:pPr algn="l">
              <a:lnSpc>
                <a:spcPct val="150000"/>
              </a:lnSpc>
            </a:pPr>
            <a:r>
              <a:rPr sz="1300" b="0" i="0">
                <a:solidFill>
                  <a:srgbClr val="444441"/>
                </a:solidFill>
                <a:latin typeface="Helvetica Neue"/>
              </a:rPr>
              <a:t>Administration workflows, document handling, recurring operations, beneficiary servicing. Historically too edge-case to automate. Now exactly the right shape for agents.</a:t>
            </a:r>
          </a:p>
        </p:txBody>
      </p:sp>
      <p:sp>
        <p:nvSpPr>
          <p:cNvPr id="13" name="TextBox 12"/>
          <p:cNvSpPr txBox="1"/>
          <p:nvPr/>
        </p:nvSpPr>
        <p:spPr>
          <a:xfrm>
            <a:off x="6479895" y="4800600"/>
            <a:ext cx="4550511" cy="502920"/>
          </a:xfrm>
          <a:prstGeom prst="rect">
            <a:avLst/>
          </a:prstGeom>
          <a:noFill/>
        </p:spPr>
        <p:txBody>
          <a:bodyPr wrap="square" lIns="0" tIns="0" rIns="0" bIns="0" anchor="t">
            <a:spAutoFit/>
          </a:bodyPr>
          <a:lstStyle/>
          <a:p>
            <a:pPr algn="l">
              <a:lnSpc>
                <a:spcPct val="145000"/>
              </a:lnSpc>
            </a:pPr>
            <a:r>
              <a:rPr sz="1000" b="0" i="1">
                <a:solidFill>
                  <a:srgbClr val="5F5E5A"/>
                </a:solidFill>
                <a:latin typeface="Helvetica Neue"/>
              </a:rPr>
              <a:t>Scope: document ingest → drafting → packets → reconciliation → exception routing.</a:t>
            </a:r>
          </a:p>
        </p:txBody>
      </p:sp>
      <p:sp>
        <p:nvSpPr>
          <p:cNvPr id="14" name="Rounded Rectangle 13"/>
          <p:cNvSpPr/>
          <p:nvPr/>
        </p:nvSpPr>
        <p:spPr>
          <a:xfrm>
            <a:off x="868680" y="580644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0" tIns="164592" rIns="274320" bIns="164592" rtlCol="0" anchor="ctr"/>
          <a:lstStyle/>
          <a:p>
            <a:pPr algn="l"/>
            <a:r>
              <a:rPr sz="1800" b="0" dirty="0">
                <a:solidFill>
                  <a:srgbClr val="2C2C2A"/>
                </a:solidFill>
                <a:latin typeface="Helvetica Neue Medium"/>
              </a:rPr>
              <a:t>Not because mortgage and trust are the most important. Because doing them well builds the platform that lets us do everything else fast.</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189475"/>
          </a:xfrm>
          <a:prstGeom prst="rect">
            <a:avLst/>
          </a:prstGeom>
          <a:noFill/>
        </p:spPr>
        <p:txBody>
          <a:bodyPr wrap="square" lIns="0" tIns="0" rIns="0" bIns="0" anchor="t">
            <a:spAutoFit/>
          </a:bodyPr>
          <a:lstStyle/>
          <a:p>
            <a:pPr algn="l">
              <a:lnSpc>
                <a:spcPct val="125000"/>
              </a:lnSpc>
            </a:pPr>
            <a:r>
              <a:rPr sz="1100" b="0" i="0" dirty="0">
                <a:solidFill>
                  <a:srgbClr val="993C1D"/>
                </a:solidFill>
                <a:latin typeface="Helvetica Neue Medium"/>
              </a:rPr>
              <a:t>The foundation we are building</a:t>
            </a:r>
          </a:p>
        </p:txBody>
      </p:sp>
      <p:sp>
        <p:nvSpPr>
          <p:cNvPr id="3" name="TextBox 2"/>
          <p:cNvSpPr txBox="1"/>
          <p:nvPr/>
        </p:nvSpPr>
        <p:spPr>
          <a:xfrm>
            <a:off x="868680" y="960120"/>
            <a:ext cx="10454335" cy="914400"/>
          </a:xfrm>
          <a:prstGeom prst="rect">
            <a:avLst/>
          </a:prstGeom>
          <a:noFill/>
        </p:spPr>
        <p:txBody>
          <a:bodyPr wrap="square" lIns="0" tIns="0" rIns="0" bIns="0" anchor="t">
            <a:spAutoFit/>
          </a:bodyPr>
          <a:lstStyle/>
          <a:p>
            <a:pPr algn="l">
              <a:lnSpc>
                <a:spcPct val="115000"/>
              </a:lnSpc>
            </a:pPr>
            <a:r>
              <a:rPr sz="2400" b="0" i="0">
                <a:solidFill>
                  <a:srgbClr val="2C2C2A"/>
                </a:solidFill>
                <a:latin typeface="Helvetica Neue Medium"/>
              </a:rPr>
              <a:t>What mortgage and trust create for the rest of Solutions.</a:t>
            </a:r>
          </a:p>
        </p:txBody>
      </p:sp>
      <p:sp>
        <p:nvSpPr>
          <p:cNvPr id="4" name="Rounded Rectangle 3"/>
          <p:cNvSpPr/>
          <p:nvPr/>
        </p:nvSpPr>
        <p:spPr>
          <a:xfrm>
            <a:off x="86868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240280"/>
            <a:ext cx="2942234" cy="274320"/>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01</a:t>
            </a:r>
          </a:p>
        </p:txBody>
      </p:sp>
      <p:sp>
        <p:nvSpPr>
          <p:cNvPr id="6" name="TextBox 5"/>
          <p:cNvSpPr txBox="1"/>
          <p:nvPr/>
        </p:nvSpPr>
        <p:spPr>
          <a:xfrm>
            <a:off x="1097280" y="2560320"/>
            <a:ext cx="2942234" cy="457200"/>
          </a:xfrm>
          <a:prstGeom prst="rect">
            <a:avLst/>
          </a:prstGeom>
          <a:noFill/>
        </p:spPr>
        <p:txBody>
          <a:bodyPr wrap="square" lIns="0" tIns="0" rIns="0" bIns="0" anchor="t">
            <a:spAutoFit/>
          </a:bodyPr>
          <a:lstStyle/>
          <a:p>
            <a:pPr algn="l">
              <a:lnSpc>
                <a:spcPct val="118000"/>
              </a:lnSpc>
            </a:pPr>
            <a:r>
              <a:rPr sz="1500" b="0" i="0">
                <a:solidFill>
                  <a:srgbClr val="2C2C2A"/>
                </a:solidFill>
                <a:latin typeface="Helvetica Neue Medium"/>
              </a:rPr>
              <a:t>Document processing &amp; parsing</a:t>
            </a:r>
          </a:p>
        </p:txBody>
      </p:sp>
      <p:sp>
        <p:nvSpPr>
          <p:cNvPr id="7" name="TextBox 6"/>
          <p:cNvSpPr txBox="1"/>
          <p:nvPr/>
        </p:nvSpPr>
        <p:spPr>
          <a:xfrm>
            <a:off x="1097280" y="3017520"/>
            <a:ext cx="2942234" cy="594360"/>
          </a:xfrm>
          <a:prstGeom prst="rect">
            <a:avLst/>
          </a:prstGeom>
          <a:noFill/>
        </p:spPr>
        <p:txBody>
          <a:bodyPr wrap="square" lIns="0" tIns="0" rIns="0" bIns="0" anchor="t">
            <a:spAutoFit/>
          </a:bodyPr>
          <a:lstStyle/>
          <a:p>
            <a:pPr algn="l">
              <a:lnSpc>
                <a:spcPct val="145000"/>
              </a:lnSpc>
            </a:pPr>
            <a:r>
              <a:rPr sz="1100" b="0" i="0">
                <a:solidFill>
                  <a:srgbClr val="5F5E5A"/>
                </a:solidFill>
                <a:latin typeface="Helvetica Neue"/>
              </a:rPr>
              <a:t>Intake, extraction, classification — the layer every business line needs.</a:t>
            </a:r>
          </a:p>
        </p:txBody>
      </p:sp>
      <p:sp>
        <p:nvSpPr>
          <p:cNvPr id="8" name="Rounded Rectangle 7"/>
          <p:cNvSpPr/>
          <p:nvPr/>
        </p:nvSpPr>
        <p:spPr>
          <a:xfrm>
            <a:off x="439613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24730" y="2240280"/>
            <a:ext cx="2942234" cy="274320"/>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02</a:t>
            </a:r>
          </a:p>
        </p:txBody>
      </p:sp>
      <p:sp>
        <p:nvSpPr>
          <p:cNvPr id="10" name="TextBox 9"/>
          <p:cNvSpPr txBox="1"/>
          <p:nvPr/>
        </p:nvSpPr>
        <p:spPr>
          <a:xfrm>
            <a:off x="4624730" y="2560320"/>
            <a:ext cx="2942234" cy="457200"/>
          </a:xfrm>
          <a:prstGeom prst="rect">
            <a:avLst/>
          </a:prstGeom>
          <a:noFill/>
        </p:spPr>
        <p:txBody>
          <a:bodyPr wrap="square" lIns="0" tIns="0" rIns="0" bIns="0" anchor="t">
            <a:spAutoFit/>
          </a:bodyPr>
          <a:lstStyle/>
          <a:p>
            <a:pPr algn="l">
              <a:lnSpc>
                <a:spcPct val="118000"/>
              </a:lnSpc>
            </a:pPr>
            <a:r>
              <a:rPr sz="1500" b="0" i="0">
                <a:solidFill>
                  <a:srgbClr val="2C2C2A"/>
                </a:solidFill>
                <a:latin typeface="Helvetica Neue Medium"/>
              </a:rPr>
              <a:t>Email reading &amp; classification</a:t>
            </a:r>
          </a:p>
        </p:txBody>
      </p:sp>
      <p:sp>
        <p:nvSpPr>
          <p:cNvPr id="11" name="TextBox 10"/>
          <p:cNvSpPr txBox="1"/>
          <p:nvPr/>
        </p:nvSpPr>
        <p:spPr>
          <a:xfrm>
            <a:off x="4624730" y="2903220"/>
            <a:ext cx="3070250" cy="460511"/>
          </a:xfrm>
          <a:prstGeom prst="rect">
            <a:avLst/>
          </a:prstGeom>
          <a:noFill/>
        </p:spPr>
        <p:txBody>
          <a:bodyPr wrap="square" lIns="0" tIns="0" rIns="0" bIns="0" anchor="t">
            <a:spAutoFit/>
          </a:bodyPr>
          <a:lstStyle/>
          <a:p>
            <a:pPr algn="l">
              <a:lnSpc>
                <a:spcPct val="145000"/>
              </a:lnSpc>
            </a:pPr>
            <a:r>
              <a:rPr sz="1100" b="0" i="0" dirty="0">
                <a:solidFill>
                  <a:srgbClr val="5F5E5A"/>
                </a:solidFill>
                <a:latin typeface="Helvetica Neue"/>
              </a:rPr>
              <a:t>The agent that triages, routes, and acknowledges before a human opens the inbox.</a:t>
            </a:r>
          </a:p>
        </p:txBody>
      </p:sp>
      <p:sp>
        <p:nvSpPr>
          <p:cNvPr id="12" name="Rounded Rectangle 11"/>
          <p:cNvSpPr/>
          <p:nvPr/>
        </p:nvSpPr>
        <p:spPr>
          <a:xfrm>
            <a:off x="792358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52180" y="2240280"/>
            <a:ext cx="2942234" cy="274320"/>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03</a:t>
            </a:r>
          </a:p>
        </p:txBody>
      </p:sp>
      <p:sp>
        <p:nvSpPr>
          <p:cNvPr id="14" name="TextBox 13"/>
          <p:cNvSpPr txBox="1"/>
          <p:nvPr/>
        </p:nvSpPr>
        <p:spPr>
          <a:xfrm>
            <a:off x="8152180" y="2560320"/>
            <a:ext cx="2942234" cy="457200"/>
          </a:xfrm>
          <a:prstGeom prst="rect">
            <a:avLst/>
          </a:prstGeom>
          <a:noFill/>
        </p:spPr>
        <p:txBody>
          <a:bodyPr wrap="square" lIns="0" tIns="0" rIns="0" bIns="0" anchor="t">
            <a:spAutoFit/>
          </a:bodyPr>
          <a:lstStyle/>
          <a:p>
            <a:pPr algn="l">
              <a:lnSpc>
                <a:spcPct val="118000"/>
              </a:lnSpc>
            </a:pPr>
            <a:r>
              <a:rPr sz="1500" b="0" i="0">
                <a:solidFill>
                  <a:srgbClr val="2C2C2A"/>
                </a:solidFill>
                <a:latin typeface="Helvetica Neue Medium"/>
              </a:rPr>
              <a:t>Workflow orchestration</a:t>
            </a:r>
          </a:p>
        </p:txBody>
      </p:sp>
      <p:sp>
        <p:nvSpPr>
          <p:cNvPr id="15" name="TextBox 14"/>
          <p:cNvSpPr txBox="1"/>
          <p:nvPr/>
        </p:nvSpPr>
        <p:spPr>
          <a:xfrm>
            <a:off x="8152180" y="3017520"/>
            <a:ext cx="2942234" cy="594360"/>
          </a:xfrm>
          <a:prstGeom prst="rect">
            <a:avLst/>
          </a:prstGeom>
          <a:noFill/>
        </p:spPr>
        <p:txBody>
          <a:bodyPr wrap="square" lIns="0" tIns="0" rIns="0" bIns="0" anchor="t">
            <a:spAutoFit/>
          </a:bodyPr>
          <a:lstStyle/>
          <a:p>
            <a:pPr algn="l">
              <a:lnSpc>
                <a:spcPct val="145000"/>
              </a:lnSpc>
            </a:pPr>
            <a:r>
              <a:rPr sz="1100" b="0" i="0">
                <a:solidFill>
                  <a:srgbClr val="5F5E5A"/>
                </a:solidFill>
                <a:latin typeface="Helvetica Neue"/>
              </a:rPr>
              <a:t>The engine that knows the steps, the order, and what comes after which approval.</a:t>
            </a:r>
          </a:p>
        </p:txBody>
      </p:sp>
      <p:sp>
        <p:nvSpPr>
          <p:cNvPr id="16" name="Rounded Rectangle 15"/>
          <p:cNvSpPr/>
          <p:nvPr/>
        </p:nvSpPr>
        <p:spPr>
          <a:xfrm>
            <a:off x="86868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3922776"/>
            <a:ext cx="2942234" cy="274320"/>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04</a:t>
            </a:r>
          </a:p>
        </p:txBody>
      </p:sp>
      <p:sp>
        <p:nvSpPr>
          <p:cNvPr id="18" name="TextBox 17"/>
          <p:cNvSpPr txBox="1"/>
          <p:nvPr/>
        </p:nvSpPr>
        <p:spPr>
          <a:xfrm>
            <a:off x="1097280" y="4242816"/>
            <a:ext cx="2942234" cy="457200"/>
          </a:xfrm>
          <a:prstGeom prst="rect">
            <a:avLst/>
          </a:prstGeom>
          <a:noFill/>
        </p:spPr>
        <p:txBody>
          <a:bodyPr wrap="square" lIns="0" tIns="0" rIns="0" bIns="0" anchor="t">
            <a:spAutoFit/>
          </a:bodyPr>
          <a:lstStyle/>
          <a:p>
            <a:pPr algn="l">
              <a:lnSpc>
                <a:spcPct val="118000"/>
              </a:lnSpc>
            </a:pPr>
            <a:r>
              <a:rPr sz="1500" b="0" i="0">
                <a:solidFill>
                  <a:srgbClr val="2C2C2A"/>
                </a:solidFill>
                <a:latin typeface="Helvetica Neue Medium"/>
              </a:rPr>
              <a:t>Compliance &amp; risk classifiers</a:t>
            </a:r>
          </a:p>
        </p:txBody>
      </p:sp>
      <p:sp>
        <p:nvSpPr>
          <p:cNvPr id="19" name="TextBox 18"/>
          <p:cNvSpPr txBox="1"/>
          <p:nvPr/>
        </p:nvSpPr>
        <p:spPr>
          <a:xfrm>
            <a:off x="1097280" y="4700016"/>
            <a:ext cx="2942234" cy="594360"/>
          </a:xfrm>
          <a:prstGeom prst="rect">
            <a:avLst/>
          </a:prstGeom>
          <a:noFill/>
        </p:spPr>
        <p:txBody>
          <a:bodyPr wrap="square" lIns="0" tIns="0" rIns="0" bIns="0" anchor="t">
            <a:spAutoFit/>
          </a:bodyPr>
          <a:lstStyle/>
          <a:p>
            <a:pPr algn="l">
              <a:lnSpc>
                <a:spcPct val="145000"/>
              </a:lnSpc>
            </a:pPr>
            <a:r>
              <a:rPr sz="1100" b="0" i="0">
                <a:solidFill>
                  <a:srgbClr val="5F5E5A"/>
                </a:solidFill>
                <a:latin typeface="Helvetica Neue"/>
              </a:rPr>
              <a:t>The pattern detectors that surface what a reviewer needs to see, before they see it.</a:t>
            </a:r>
          </a:p>
        </p:txBody>
      </p:sp>
      <p:sp>
        <p:nvSpPr>
          <p:cNvPr id="20" name="Rounded Rectangle 19"/>
          <p:cNvSpPr/>
          <p:nvPr/>
        </p:nvSpPr>
        <p:spPr>
          <a:xfrm>
            <a:off x="439613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24730" y="3922776"/>
            <a:ext cx="2942234" cy="274320"/>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05</a:t>
            </a:r>
          </a:p>
        </p:txBody>
      </p:sp>
      <p:sp>
        <p:nvSpPr>
          <p:cNvPr id="22" name="TextBox 21"/>
          <p:cNvSpPr txBox="1"/>
          <p:nvPr/>
        </p:nvSpPr>
        <p:spPr>
          <a:xfrm>
            <a:off x="4624730" y="4242816"/>
            <a:ext cx="2942234" cy="457200"/>
          </a:xfrm>
          <a:prstGeom prst="rect">
            <a:avLst/>
          </a:prstGeom>
          <a:noFill/>
        </p:spPr>
        <p:txBody>
          <a:bodyPr wrap="square" lIns="0" tIns="0" rIns="0" bIns="0" anchor="t">
            <a:spAutoFit/>
          </a:bodyPr>
          <a:lstStyle/>
          <a:p>
            <a:pPr algn="l">
              <a:lnSpc>
                <a:spcPct val="118000"/>
              </a:lnSpc>
            </a:pPr>
            <a:r>
              <a:rPr sz="1500" b="0" i="0">
                <a:solidFill>
                  <a:srgbClr val="2C2C2A"/>
                </a:solidFill>
                <a:latin typeface="Helvetica Neue Medium"/>
              </a:rPr>
              <a:t>Approval &amp; handoff patterns</a:t>
            </a:r>
          </a:p>
        </p:txBody>
      </p:sp>
      <p:sp>
        <p:nvSpPr>
          <p:cNvPr id="23" name="TextBox 22"/>
          <p:cNvSpPr txBox="1"/>
          <p:nvPr/>
        </p:nvSpPr>
        <p:spPr>
          <a:xfrm>
            <a:off x="4624730" y="4700016"/>
            <a:ext cx="2942234" cy="594360"/>
          </a:xfrm>
          <a:prstGeom prst="rect">
            <a:avLst/>
          </a:prstGeom>
          <a:noFill/>
        </p:spPr>
        <p:txBody>
          <a:bodyPr wrap="square" lIns="0" tIns="0" rIns="0" bIns="0" anchor="t">
            <a:spAutoFit/>
          </a:bodyPr>
          <a:lstStyle/>
          <a:p>
            <a:pPr algn="l">
              <a:lnSpc>
                <a:spcPct val="145000"/>
              </a:lnSpc>
            </a:pPr>
            <a:r>
              <a:rPr sz="1100" b="0" i="0">
                <a:solidFill>
                  <a:srgbClr val="5F5E5A"/>
                </a:solidFill>
                <a:latin typeface="Helvetica Neue"/>
              </a:rPr>
              <a:t>The shapes of human-in-the-loop that every business line will reuse.</a:t>
            </a:r>
          </a:p>
        </p:txBody>
      </p:sp>
      <p:sp>
        <p:nvSpPr>
          <p:cNvPr id="24" name="Rounded Rectangle 23"/>
          <p:cNvSpPr/>
          <p:nvPr/>
        </p:nvSpPr>
        <p:spPr>
          <a:xfrm>
            <a:off x="792358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52180" y="3922776"/>
            <a:ext cx="2942234" cy="274320"/>
          </a:xfrm>
          <a:prstGeom prst="rect">
            <a:avLst/>
          </a:prstGeom>
          <a:noFill/>
        </p:spPr>
        <p:txBody>
          <a:bodyPr wrap="square" lIns="0" tIns="0" rIns="0" bIns="0" anchor="t">
            <a:spAutoFit/>
          </a:bodyPr>
          <a:lstStyle/>
          <a:p>
            <a:pPr algn="l">
              <a:lnSpc>
                <a:spcPct val="125000"/>
              </a:lnSpc>
            </a:pPr>
            <a:r>
              <a:rPr sz="1100" b="0" i="0">
                <a:solidFill>
                  <a:srgbClr val="993C1D"/>
                </a:solidFill>
                <a:latin typeface="Helvetica Neue Medium"/>
              </a:rPr>
              <a:t>06</a:t>
            </a:r>
          </a:p>
        </p:txBody>
      </p:sp>
      <p:sp>
        <p:nvSpPr>
          <p:cNvPr id="26" name="TextBox 25"/>
          <p:cNvSpPr txBox="1"/>
          <p:nvPr/>
        </p:nvSpPr>
        <p:spPr>
          <a:xfrm>
            <a:off x="8152180" y="4242816"/>
            <a:ext cx="2942234" cy="457200"/>
          </a:xfrm>
          <a:prstGeom prst="rect">
            <a:avLst/>
          </a:prstGeom>
          <a:noFill/>
        </p:spPr>
        <p:txBody>
          <a:bodyPr wrap="square" lIns="0" tIns="0" rIns="0" bIns="0" anchor="t">
            <a:spAutoFit/>
          </a:bodyPr>
          <a:lstStyle/>
          <a:p>
            <a:pPr algn="l">
              <a:lnSpc>
                <a:spcPct val="118000"/>
              </a:lnSpc>
            </a:pPr>
            <a:r>
              <a:rPr sz="1500" b="0" i="0">
                <a:solidFill>
                  <a:srgbClr val="2C2C2A"/>
                </a:solidFill>
                <a:latin typeface="Helvetica Neue Medium"/>
              </a:rPr>
              <a:t>Audit &amp; observability</a:t>
            </a:r>
          </a:p>
        </p:txBody>
      </p:sp>
      <p:sp>
        <p:nvSpPr>
          <p:cNvPr id="27" name="TextBox 26"/>
          <p:cNvSpPr txBox="1"/>
          <p:nvPr/>
        </p:nvSpPr>
        <p:spPr>
          <a:xfrm>
            <a:off x="8152180" y="4700016"/>
            <a:ext cx="2942234" cy="594360"/>
          </a:xfrm>
          <a:prstGeom prst="rect">
            <a:avLst/>
          </a:prstGeom>
          <a:noFill/>
        </p:spPr>
        <p:txBody>
          <a:bodyPr wrap="square" lIns="0" tIns="0" rIns="0" bIns="0" anchor="t">
            <a:spAutoFit/>
          </a:bodyPr>
          <a:lstStyle/>
          <a:p>
            <a:pPr algn="l">
              <a:lnSpc>
                <a:spcPct val="145000"/>
              </a:lnSpc>
            </a:pPr>
            <a:r>
              <a:rPr sz="1100" b="0" i="0">
                <a:solidFill>
                  <a:srgbClr val="5F5E5A"/>
                </a:solidFill>
                <a:latin typeface="Helvetica Neue"/>
              </a:rPr>
              <a:t>Every action logged, every decision recoverable. The foundation of trust.</a:t>
            </a:r>
          </a:p>
        </p:txBody>
      </p:sp>
      <p:sp>
        <p:nvSpPr>
          <p:cNvPr id="28" name="Rounded Rectangle 27"/>
          <p:cNvSpPr/>
          <p:nvPr/>
        </p:nvSpPr>
        <p:spPr>
          <a:xfrm>
            <a:off x="868680" y="585216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wrap="square" lIns="274320" tIns="164592" rIns="274320" bIns="164592" rtlCol="0" anchor="ctr"/>
          <a:lstStyle/>
          <a:p>
            <a:pPr algn="l"/>
            <a:r>
              <a:rPr sz="1800" b="0" dirty="0">
                <a:solidFill>
                  <a:srgbClr val="2C2C2A"/>
                </a:solidFill>
                <a:latin typeface="Helvetica Neue Medium"/>
              </a:rPr>
              <a:t>When mortgage and trust </a:t>
            </a:r>
            <a:r>
              <a:rPr lang="en-US" dirty="0">
                <a:solidFill>
                  <a:srgbClr val="2C2C2A"/>
                </a:solidFill>
                <a:latin typeface="Helvetica Neue Medium"/>
              </a:rPr>
              <a:t>are delivered</a:t>
            </a:r>
            <a:r>
              <a:rPr sz="1800" b="0" dirty="0">
                <a:solidFill>
                  <a:srgbClr val="2C2C2A"/>
                </a:solidFill>
                <a:latin typeface="Helvetica Neue Medium"/>
              </a:rPr>
              <a:t>, the other business lines do not start from zero. They start from this.</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EFE8"/>
        </a:solidFill>
        <a:effectLst/>
      </p:bgPr>
    </p:bg>
    <p:spTree>
      <p:nvGrpSpPr>
        <p:cNvPr id="1" name=""/>
        <p:cNvGrpSpPr/>
        <p:nvPr/>
      </p:nvGrpSpPr>
      <p:grpSpPr>
        <a:xfrm>
          <a:off x="0" y="0"/>
          <a:ext cx="0" cy="0"/>
          <a:chOff x="0" y="0"/>
          <a:chExt cx="0" cy="0"/>
        </a:xfrm>
      </p:grpSpPr>
      <p:sp>
        <p:nvSpPr>
          <p:cNvPr id="2" name="TextBox 1"/>
          <p:cNvSpPr txBox="1"/>
          <p:nvPr/>
        </p:nvSpPr>
        <p:spPr>
          <a:xfrm>
            <a:off x="868680" y="502920"/>
            <a:ext cx="10454335" cy="189475"/>
          </a:xfrm>
          <a:prstGeom prst="rect">
            <a:avLst/>
          </a:prstGeom>
          <a:noFill/>
        </p:spPr>
        <p:txBody>
          <a:bodyPr wrap="square" lIns="0" tIns="0" rIns="0" bIns="0" anchor="t">
            <a:spAutoFit/>
          </a:bodyPr>
          <a:lstStyle/>
          <a:p>
            <a:pPr algn="l">
              <a:lnSpc>
                <a:spcPct val="125000"/>
              </a:lnSpc>
            </a:pPr>
            <a:r>
              <a:rPr sz="1100" b="0" i="0" dirty="0">
                <a:solidFill>
                  <a:srgbClr val="993C1D"/>
                </a:solidFill>
                <a:latin typeface="Helvetica Neue Medium"/>
              </a:rPr>
              <a:t>Trust the shape</a:t>
            </a:r>
          </a:p>
        </p:txBody>
      </p:sp>
      <p:sp>
        <p:nvSpPr>
          <p:cNvPr id="3" name="TextBox 2"/>
          <p:cNvSpPr txBox="1"/>
          <p:nvPr/>
        </p:nvSpPr>
        <p:spPr>
          <a:xfrm>
            <a:off x="868680" y="960120"/>
            <a:ext cx="10454335" cy="777240"/>
          </a:xfrm>
          <a:prstGeom prst="rect">
            <a:avLst/>
          </a:prstGeom>
          <a:noFill/>
        </p:spPr>
        <p:txBody>
          <a:bodyPr wrap="square" lIns="0" tIns="0" rIns="0" bIns="0" anchor="t">
            <a:spAutoFit/>
          </a:bodyPr>
          <a:lstStyle/>
          <a:p>
            <a:pPr algn="l">
              <a:lnSpc>
                <a:spcPct val="115000"/>
              </a:lnSpc>
            </a:pPr>
            <a:r>
              <a:rPr sz="3000" b="0" i="0">
                <a:solidFill>
                  <a:srgbClr val="2C2C2A"/>
                </a:solidFill>
                <a:latin typeface="Helvetica Neue Medium"/>
              </a:rPr>
              <a:t>Why progress will not look linear.</a:t>
            </a:r>
          </a:p>
        </p:txBody>
      </p:sp>
      <p:sp>
        <p:nvSpPr>
          <p:cNvPr id="4" name="TextBox 3"/>
          <p:cNvSpPr txBox="1"/>
          <p:nvPr/>
        </p:nvSpPr>
        <p:spPr>
          <a:xfrm>
            <a:off x="868680" y="1783080"/>
            <a:ext cx="10454335" cy="246478"/>
          </a:xfrm>
          <a:prstGeom prst="rect">
            <a:avLst/>
          </a:prstGeom>
          <a:noFill/>
        </p:spPr>
        <p:txBody>
          <a:bodyPr wrap="square" lIns="0" tIns="0" rIns="0" bIns="0" anchor="t">
            <a:spAutoFit/>
          </a:bodyPr>
          <a:lstStyle/>
          <a:p>
            <a:pPr algn="l">
              <a:lnSpc>
                <a:spcPct val="140000"/>
              </a:lnSpc>
            </a:pPr>
            <a:r>
              <a:rPr sz="1300" b="0" i="1" dirty="0">
                <a:solidFill>
                  <a:srgbClr val="5F5E5A"/>
                </a:solidFill>
                <a:latin typeface="Helvetica Neue"/>
              </a:rPr>
              <a:t>For the first twelve months, the visible output will look concentrated. That is the foundation period. What follows is not.</a:t>
            </a:r>
          </a:p>
        </p:txBody>
      </p:sp>
      <p:sp>
        <p:nvSpPr>
          <p:cNvPr id="5" name="Rounded Rectangle 4"/>
          <p:cNvSpPr/>
          <p:nvPr/>
        </p:nvSpPr>
        <p:spPr>
          <a:xfrm>
            <a:off x="868680" y="2423160"/>
            <a:ext cx="10454335" cy="324612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645920" y="2926080"/>
            <a:ext cx="3058058" cy="2240280"/>
          </a:xfrm>
          <a:prstGeom prst="roundRect">
            <a:avLst>
              <a:gd name="adj" fmla="val 0"/>
            </a:avLst>
          </a:prstGeom>
          <a:solidFill>
            <a:srgbClr val="FAECE7">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703978" y="2926080"/>
            <a:ext cx="1529029" cy="2240280"/>
          </a:xfrm>
          <a:prstGeom prst="roundRect">
            <a:avLst>
              <a:gd name="adj" fmla="val 0"/>
            </a:avLst>
          </a:prstGeom>
          <a:solidFill>
            <a:srgbClr val="F5C4B3">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4703978" y="2971800"/>
            <a:ext cx="0" cy="2194560"/>
          </a:xfrm>
          <a:custGeom>
            <a:avLst/>
            <a:gdLst/>
            <a:ahLst/>
            <a:cxnLst/>
            <a:rect l="l" t="t" r="r" b="b"/>
            <a:pathLst>
              <a:path h="2194560">
                <a:moveTo>
                  <a:pt x="0" y="0"/>
                </a:moveTo>
                <a:lnTo>
                  <a:pt x="0" y="2194560"/>
                </a:lnTo>
              </a:path>
            </a:pathLst>
          </a:custGeom>
          <a:noFill/>
          <a:ln w="6350">
            <a:solidFill>
              <a:srgbClr val="C8C7C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p:cNvSpPr/>
          <p:nvPr/>
        </p:nvSpPr>
        <p:spPr>
          <a:xfrm>
            <a:off x="6233007" y="2971800"/>
            <a:ext cx="0" cy="2194560"/>
          </a:xfrm>
          <a:custGeom>
            <a:avLst/>
            <a:gdLst/>
            <a:ahLst/>
            <a:cxnLst/>
            <a:rect l="l" t="t" r="r" b="b"/>
            <a:pathLst>
              <a:path h="2194560">
                <a:moveTo>
                  <a:pt x="0" y="0"/>
                </a:moveTo>
                <a:lnTo>
                  <a:pt x="0" y="2194560"/>
                </a:lnTo>
              </a:path>
            </a:pathLst>
          </a:custGeom>
          <a:noFill/>
          <a:ln w="6350">
            <a:solidFill>
              <a:srgbClr val="C8C7C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45920" y="2587752"/>
            <a:ext cx="3058058" cy="182880"/>
          </a:xfrm>
          <a:prstGeom prst="rect">
            <a:avLst/>
          </a:prstGeom>
          <a:noFill/>
        </p:spPr>
        <p:txBody>
          <a:bodyPr wrap="square" lIns="0" tIns="0" rIns="0" bIns="0" anchor="t">
            <a:spAutoFit/>
          </a:bodyPr>
          <a:lstStyle/>
          <a:p>
            <a:pPr algn="ctr">
              <a:lnSpc>
                <a:spcPct val="125000"/>
              </a:lnSpc>
            </a:pPr>
            <a:r>
              <a:rPr sz="1000" b="0" i="0">
                <a:solidFill>
                  <a:srgbClr val="993C1D"/>
                </a:solidFill>
                <a:latin typeface="Helvetica Neue Medium"/>
              </a:rPr>
              <a:t>Foundation building</a:t>
            </a:r>
          </a:p>
        </p:txBody>
      </p:sp>
      <p:sp>
        <p:nvSpPr>
          <p:cNvPr id="11" name="TextBox 10"/>
          <p:cNvSpPr txBox="1"/>
          <p:nvPr/>
        </p:nvSpPr>
        <p:spPr>
          <a:xfrm>
            <a:off x="1645920" y="2752344"/>
            <a:ext cx="3058058" cy="137923"/>
          </a:xfrm>
          <a:prstGeom prst="rect">
            <a:avLst/>
          </a:prstGeom>
          <a:noFill/>
        </p:spPr>
        <p:txBody>
          <a:bodyPr wrap="square" lIns="0" tIns="0" rIns="0" bIns="0" anchor="t">
            <a:spAutoFit/>
          </a:bodyPr>
          <a:lstStyle/>
          <a:p>
            <a:pPr algn="ctr">
              <a:lnSpc>
                <a:spcPct val="125000"/>
              </a:lnSpc>
            </a:pPr>
            <a:r>
              <a:rPr sz="800" b="0" i="0" dirty="0">
                <a:solidFill>
                  <a:srgbClr val="5F5E5A"/>
                </a:solidFill>
                <a:latin typeface="Helvetica Neue"/>
              </a:rPr>
              <a:t>Months 0–</a:t>
            </a:r>
            <a:r>
              <a:rPr lang="en-US" sz="800" b="0" i="0" dirty="0">
                <a:solidFill>
                  <a:srgbClr val="5F5E5A"/>
                </a:solidFill>
                <a:latin typeface="Helvetica Neue"/>
              </a:rPr>
              <a:t>9</a:t>
            </a:r>
            <a:endParaRPr sz="800" b="0" i="0" dirty="0">
              <a:solidFill>
                <a:srgbClr val="5F5E5A"/>
              </a:solidFill>
              <a:latin typeface="Helvetica Neue"/>
            </a:endParaRPr>
          </a:p>
        </p:txBody>
      </p:sp>
      <p:sp>
        <p:nvSpPr>
          <p:cNvPr id="12" name="TextBox 11"/>
          <p:cNvSpPr txBox="1"/>
          <p:nvPr/>
        </p:nvSpPr>
        <p:spPr>
          <a:xfrm>
            <a:off x="4703978" y="2587752"/>
            <a:ext cx="1529029" cy="182880"/>
          </a:xfrm>
          <a:prstGeom prst="rect">
            <a:avLst/>
          </a:prstGeom>
          <a:noFill/>
        </p:spPr>
        <p:txBody>
          <a:bodyPr wrap="square" lIns="0" tIns="0" rIns="0" bIns="0" anchor="t">
            <a:spAutoFit/>
          </a:bodyPr>
          <a:lstStyle/>
          <a:p>
            <a:pPr algn="ctr">
              <a:lnSpc>
                <a:spcPct val="125000"/>
              </a:lnSpc>
            </a:pPr>
            <a:r>
              <a:rPr sz="1000" b="0" i="0">
                <a:solidFill>
                  <a:srgbClr val="993C1D"/>
                </a:solidFill>
                <a:latin typeface="Helvetica Neue Medium"/>
              </a:rPr>
              <a:t>First leverage</a:t>
            </a:r>
          </a:p>
        </p:txBody>
      </p:sp>
      <p:sp>
        <p:nvSpPr>
          <p:cNvPr id="13" name="TextBox 12"/>
          <p:cNvSpPr txBox="1"/>
          <p:nvPr/>
        </p:nvSpPr>
        <p:spPr>
          <a:xfrm>
            <a:off x="4703978" y="2752344"/>
            <a:ext cx="1529029" cy="137923"/>
          </a:xfrm>
          <a:prstGeom prst="rect">
            <a:avLst/>
          </a:prstGeom>
          <a:noFill/>
        </p:spPr>
        <p:txBody>
          <a:bodyPr wrap="square" lIns="0" tIns="0" rIns="0" bIns="0" anchor="t">
            <a:spAutoFit/>
          </a:bodyPr>
          <a:lstStyle/>
          <a:p>
            <a:pPr algn="ctr">
              <a:lnSpc>
                <a:spcPct val="125000"/>
              </a:lnSpc>
            </a:pPr>
            <a:r>
              <a:rPr sz="800" b="0" i="0" dirty="0">
                <a:solidFill>
                  <a:srgbClr val="5F5E5A"/>
                </a:solidFill>
                <a:latin typeface="Helvetica Neue"/>
              </a:rPr>
              <a:t>Months </a:t>
            </a:r>
            <a:r>
              <a:rPr lang="en-US" sz="800" dirty="0">
                <a:solidFill>
                  <a:srgbClr val="5F5E5A"/>
                </a:solidFill>
                <a:latin typeface="Helvetica Neue"/>
              </a:rPr>
              <a:t>9</a:t>
            </a:r>
            <a:r>
              <a:rPr sz="800" b="0" i="0" dirty="0">
                <a:solidFill>
                  <a:srgbClr val="5F5E5A"/>
                </a:solidFill>
                <a:latin typeface="Helvetica Neue"/>
              </a:rPr>
              <a:t>–1</a:t>
            </a:r>
            <a:r>
              <a:rPr lang="en-US" sz="800" b="0" i="0" dirty="0">
                <a:solidFill>
                  <a:srgbClr val="5F5E5A"/>
                </a:solidFill>
                <a:latin typeface="Helvetica Neue"/>
              </a:rPr>
              <a:t>2</a:t>
            </a:r>
            <a:endParaRPr sz="800" b="0" i="0" dirty="0">
              <a:solidFill>
                <a:srgbClr val="5F5E5A"/>
              </a:solidFill>
              <a:latin typeface="Helvetica Neue"/>
            </a:endParaRPr>
          </a:p>
        </p:txBody>
      </p:sp>
      <p:sp>
        <p:nvSpPr>
          <p:cNvPr id="14" name="TextBox 13"/>
          <p:cNvSpPr txBox="1"/>
          <p:nvPr/>
        </p:nvSpPr>
        <p:spPr>
          <a:xfrm>
            <a:off x="6233007" y="2587752"/>
            <a:ext cx="4587087" cy="182880"/>
          </a:xfrm>
          <a:prstGeom prst="rect">
            <a:avLst/>
          </a:prstGeom>
          <a:noFill/>
        </p:spPr>
        <p:txBody>
          <a:bodyPr wrap="square" lIns="0" tIns="0" rIns="0" bIns="0" anchor="t">
            <a:spAutoFit/>
          </a:bodyPr>
          <a:lstStyle/>
          <a:p>
            <a:pPr algn="ctr">
              <a:lnSpc>
                <a:spcPct val="125000"/>
              </a:lnSpc>
            </a:pPr>
            <a:r>
              <a:rPr sz="1000" b="0" i="0">
                <a:solidFill>
                  <a:srgbClr val="993C1D"/>
                </a:solidFill>
                <a:latin typeface="Helvetica Neue Medium"/>
              </a:rPr>
              <a:t>Acceleration across business lines</a:t>
            </a:r>
          </a:p>
        </p:txBody>
      </p:sp>
      <p:sp>
        <p:nvSpPr>
          <p:cNvPr id="15" name="TextBox 14"/>
          <p:cNvSpPr txBox="1"/>
          <p:nvPr/>
        </p:nvSpPr>
        <p:spPr>
          <a:xfrm>
            <a:off x="6233007" y="2752344"/>
            <a:ext cx="4587087" cy="137923"/>
          </a:xfrm>
          <a:prstGeom prst="rect">
            <a:avLst/>
          </a:prstGeom>
          <a:noFill/>
        </p:spPr>
        <p:txBody>
          <a:bodyPr wrap="square" lIns="0" tIns="0" rIns="0" bIns="0" anchor="t">
            <a:spAutoFit/>
          </a:bodyPr>
          <a:lstStyle/>
          <a:p>
            <a:pPr algn="ctr">
              <a:lnSpc>
                <a:spcPct val="125000"/>
              </a:lnSpc>
            </a:pPr>
            <a:r>
              <a:rPr sz="800" b="0" i="0" dirty="0">
                <a:solidFill>
                  <a:srgbClr val="5F5E5A"/>
                </a:solidFill>
                <a:latin typeface="Helvetica Neue"/>
              </a:rPr>
              <a:t>Months </a:t>
            </a:r>
            <a:r>
              <a:rPr lang="en-US" sz="800" dirty="0">
                <a:solidFill>
                  <a:srgbClr val="5F5E5A"/>
                </a:solidFill>
                <a:latin typeface="Helvetica Neue"/>
              </a:rPr>
              <a:t>12</a:t>
            </a:r>
            <a:r>
              <a:rPr sz="800" b="0" i="0" dirty="0">
                <a:solidFill>
                  <a:srgbClr val="5F5E5A"/>
                </a:solidFill>
                <a:latin typeface="Helvetica Neue"/>
              </a:rPr>
              <a:t>–</a:t>
            </a:r>
            <a:r>
              <a:rPr lang="en-US" sz="800" b="0" i="0" dirty="0">
                <a:solidFill>
                  <a:srgbClr val="5F5E5A"/>
                </a:solidFill>
                <a:latin typeface="Helvetica Neue"/>
              </a:rPr>
              <a:t>24</a:t>
            </a:r>
            <a:endParaRPr sz="800" b="0" i="0" dirty="0">
              <a:solidFill>
                <a:srgbClr val="5F5E5A"/>
              </a:solidFill>
              <a:latin typeface="Helvetica Neue"/>
            </a:endParaRPr>
          </a:p>
        </p:txBody>
      </p:sp>
      <p:sp>
        <p:nvSpPr>
          <p:cNvPr id="16" name="Freeform 15"/>
          <p:cNvSpPr/>
          <p:nvPr/>
        </p:nvSpPr>
        <p:spPr>
          <a:xfrm>
            <a:off x="1645920" y="5166360"/>
            <a:ext cx="9174175" cy="0"/>
          </a:xfrm>
          <a:custGeom>
            <a:avLst/>
            <a:gdLst/>
            <a:ahLst/>
            <a:cxnLst/>
            <a:rect l="l" t="t" r="r" b="b"/>
            <a:pathLst>
              <a:path w="9174175">
                <a:moveTo>
                  <a:pt x="0" y="0"/>
                </a:moveTo>
                <a:lnTo>
                  <a:pt x="9174175" y="0"/>
                </a:lnTo>
              </a:path>
            </a:pathLst>
          </a:custGeom>
          <a:noFill/>
          <a:ln w="9525">
            <a:solidFill>
              <a:srgbClr val="5F5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1645920" y="2926080"/>
            <a:ext cx="0" cy="2240280"/>
          </a:xfrm>
          <a:custGeom>
            <a:avLst/>
            <a:gdLst/>
            <a:ahLst/>
            <a:cxnLst/>
            <a:rect l="l" t="t" r="r" b="b"/>
            <a:pathLst>
              <a:path h="2240280">
                <a:moveTo>
                  <a:pt x="0" y="0"/>
                </a:moveTo>
                <a:lnTo>
                  <a:pt x="0" y="2240280"/>
                </a:lnTo>
              </a:path>
            </a:pathLst>
          </a:custGeom>
          <a:noFill/>
          <a:ln w="9525">
            <a:solidFill>
              <a:srgbClr val="5F5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63040" y="5221224"/>
            <a:ext cx="365760" cy="182880"/>
          </a:xfrm>
          <a:prstGeom prst="rect">
            <a:avLst/>
          </a:prstGeom>
          <a:noFill/>
        </p:spPr>
        <p:txBody>
          <a:bodyPr wrap="square" lIns="0" tIns="0" rIns="0" bIns="0" anchor="t">
            <a:spAutoFit/>
          </a:bodyPr>
          <a:lstStyle/>
          <a:p>
            <a:pPr algn="ctr">
              <a:lnSpc>
                <a:spcPct val="125000"/>
              </a:lnSpc>
            </a:pPr>
            <a:r>
              <a:rPr sz="900" b="0" i="0">
                <a:solidFill>
                  <a:srgbClr val="5F5E5A"/>
                </a:solidFill>
                <a:latin typeface="Helvetica Neue"/>
              </a:rPr>
              <a:t>0</a:t>
            </a:r>
          </a:p>
        </p:txBody>
      </p:sp>
      <p:sp>
        <p:nvSpPr>
          <p:cNvPr id="20" name="TextBox 19"/>
          <p:cNvSpPr txBox="1"/>
          <p:nvPr/>
        </p:nvSpPr>
        <p:spPr>
          <a:xfrm>
            <a:off x="4521098" y="5221224"/>
            <a:ext cx="365760" cy="155171"/>
          </a:xfrm>
          <a:prstGeom prst="rect">
            <a:avLst/>
          </a:prstGeom>
          <a:noFill/>
        </p:spPr>
        <p:txBody>
          <a:bodyPr wrap="square" lIns="0" tIns="0" rIns="0" bIns="0" anchor="t">
            <a:spAutoFit/>
          </a:bodyPr>
          <a:lstStyle/>
          <a:p>
            <a:pPr algn="ctr">
              <a:lnSpc>
                <a:spcPct val="125000"/>
              </a:lnSpc>
            </a:pPr>
            <a:r>
              <a:rPr lang="en-US" sz="900" b="0" i="0" dirty="0">
                <a:solidFill>
                  <a:srgbClr val="5F5E5A"/>
                </a:solidFill>
                <a:latin typeface="Helvetica Neue"/>
              </a:rPr>
              <a:t>9</a:t>
            </a:r>
            <a:endParaRPr sz="900" b="0" i="0" dirty="0">
              <a:solidFill>
                <a:srgbClr val="5F5E5A"/>
              </a:solidFill>
              <a:latin typeface="Helvetica Neue"/>
            </a:endParaRPr>
          </a:p>
        </p:txBody>
      </p:sp>
      <p:sp>
        <p:nvSpPr>
          <p:cNvPr id="21" name="TextBox 20"/>
          <p:cNvSpPr txBox="1"/>
          <p:nvPr/>
        </p:nvSpPr>
        <p:spPr>
          <a:xfrm>
            <a:off x="6050127" y="5221224"/>
            <a:ext cx="365760" cy="155171"/>
          </a:xfrm>
          <a:prstGeom prst="rect">
            <a:avLst/>
          </a:prstGeom>
          <a:noFill/>
        </p:spPr>
        <p:txBody>
          <a:bodyPr wrap="square" lIns="0" tIns="0" rIns="0" bIns="0" anchor="t">
            <a:spAutoFit/>
          </a:bodyPr>
          <a:lstStyle/>
          <a:p>
            <a:pPr algn="ctr">
              <a:lnSpc>
                <a:spcPct val="125000"/>
              </a:lnSpc>
            </a:pPr>
            <a:r>
              <a:rPr sz="900" b="0" i="0" dirty="0">
                <a:solidFill>
                  <a:srgbClr val="5F5E5A"/>
                </a:solidFill>
                <a:latin typeface="Helvetica Neue"/>
              </a:rPr>
              <a:t>1</a:t>
            </a:r>
            <a:r>
              <a:rPr lang="en-US" sz="900" b="0" i="0" dirty="0">
                <a:solidFill>
                  <a:srgbClr val="5F5E5A"/>
                </a:solidFill>
                <a:latin typeface="Helvetica Neue"/>
              </a:rPr>
              <a:t>2</a:t>
            </a:r>
            <a:endParaRPr sz="900" b="0" i="0" dirty="0">
              <a:solidFill>
                <a:srgbClr val="5F5E5A"/>
              </a:solidFill>
              <a:latin typeface="Helvetica Neue"/>
            </a:endParaRPr>
          </a:p>
        </p:txBody>
      </p:sp>
      <p:sp>
        <p:nvSpPr>
          <p:cNvPr id="22" name="TextBox 21"/>
          <p:cNvSpPr txBox="1"/>
          <p:nvPr/>
        </p:nvSpPr>
        <p:spPr>
          <a:xfrm>
            <a:off x="7579156" y="5221224"/>
            <a:ext cx="365760" cy="155171"/>
          </a:xfrm>
          <a:prstGeom prst="rect">
            <a:avLst/>
          </a:prstGeom>
          <a:noFill/>
        </p:spPr>
        <p:txBody>
          <a:bodyPr wrap="square" lIns="0" tIns="0" rIns="0" bIns="0" anchor="t">
            <a:spAutoFit/>
          </a:bodyPr>
          <a:lstStyle/>
          <a:p>
            <a:pPr algn="ctr">
              <a:lnSpc>
                <a:spcPct val="125000"/>
              </a:lnSpc>
            </a:pPr>
            <a:r>
              <a:rPr lang="en-US" sz="900" dirty="0">
                <a:solidFill>
                  <a:srgbClr val="5F5E5A"/>
                </a:solidFill>
                <a:latin typeface="Helvetica Neue"/>
              </a:rPr>
              <a:t>18</a:t>
            </a:r>
            <a:endParaRPr sz="900" b="0" i="0" dirty="0">
              <a:solidFill>
                <a:srgbClr val="5F5E5A"/>
              </a:solidFill>
              <a:latin typeface="Helvetica Neue"/>
            </a:endParaRPr>
          </a:p>
        </p:txBody>
      </p:sp>
      <p:sp>
        <p:nvSpPr>
          <p:cNvPr id="23" name="TextBox 22"/>
          <p:cNvSpPr txBox="1"/>
          <p:nvPr/>
        </p:nvSpPr>
        <p:spPr>
          <a:xfrm>
            <a:off x="9108185" y="5221224"/>
            <a:ext cx="365760" cy="155171"/>
          </a:xfrm>
          <a:prstGeom prst="rect">
            <a:avLst/>
          </a:prstGeom>
          <a:noFill/>
        </p:spPr>
        <p:txBody>
          <a:bodyPr wrap="square" lIns="0" tIns="0" rIns="0" bIns="0" anchor="t">
            <a:spAutoFit/>
          </a:bodyPr>
          <a:lstStyle/>
          <a:p>
            <a:pPr algn="ctr">
              <a:lnSpc>
                <a:spcPct val="125000"/>
              </a:lnSpc>
            </a:pPr>
            <a:r>
              <a:rPr lang="en-US" sz="900" b="0" i="0" dirty="0">
                <a:solidFill>
                  <a:srgbClr val="5F5E5A"/>
                </a:solidFill>
                <a:latin typeface="Helvetica Neue"/>
              </a:rPr>
              <a:t>24</a:t>
            </a:r>
            <a:endParaRPr sz="900" b="0" i="0" dirty="0">
              <a:solidFill>
                <a:srgbClr val="5F5E5A"/>
              </a:solidFill>
              <a:latin typeface="Helvetica Neue"/>
            </a:endParaRPr>
          </a:p>
        </p:txBody>
      </p:sp>
      <p:sp>
        <p:nvSpPr>
          <p:cNvPr id="24" name="TextBox 23"/>
          <p:cNvSpPr txBox="1"/>
          <p:nvPr/>
        </p:nvSpPr>
        <p:spPr>
          <a:xfrm>
            <a:off x="10637215" y="5221224"/>
            <a:ext cx="365760" cy="182880"/>
          </a:xfrm>
          <a:prstGeom prst="rect">
            <a:avLst/>
          </a:prstGeom>
          <a:noFill/>
        </p:spPr>
        <p:txBody>
          <a:bodyPr wrap="square" lIns="0" tIns="0" rIns="0" bIns="0" anchor="t">
            <a:spAutoFit/>
          </a:bodyPr>
          <a:lstStyle/>
          <a:p>
            <a:pPr algn="ctr">
              <a:lnSpc>
                <a:spcPct val="125000"/>
              </a:lnSpc>
            </a:pPr>
            <a:r>
              <a:rPr sz="900" b="0" i="0" dirty="0">
                <a:solidFill>
                  <a:srgbClr val="5F5E5A"/>
                </a:solidFill>
                <a:latin typeface="Helvetica Neue"/>
              </a:rPr>
              <a:t>36</a:t>
            </a:r>
          </a:p>
        </p:txBody>
      </p:sp>
      <p:sp>
        <p:nvSpPr>
          <p:cNvPr id="25" name="TextBox 24"/>
          <p:cNvSpPr txBox="1"/>
          <p:nvPr/>
        </p:nvSpPr>
        <p:spPr>
          <a:xfrm>
            <a:off x="1645920" y="5422392"/>
            <a:ext cx="9174175" cy="201168"/>
          </a:xfrm>
          <a:prstGeom prst="rect">
            <a:avLst/>
          </a:prstGeom>
          <a:noFill/>
        </p:spPr>
        <p:txBody>
          <a:bodyPr wrap="square" lIns="0" tIns="0" rIns="0" bIns="0" anchor="t">
            <a:spAutoFit/>
          </a:bodyPr>
          <a:lstStyle/>
          <a:p>
            <a:pPr algn="ctr">
              <a:lnSpc>
                <a:spcPct val="125000"/>
              </a:lnSpc>
            </a:pPr>
            <a:r>
              <a:rPr sz="1000" b="0" i="0">
                <a:solidFill>
                  <a:srgbClr val="5F5E5A"/>
                </a:solidFill>
                <a:latin typeface="Helvetica Neue Medium"/>
              </a:rPr>
              <a:t>Months from now</a:t>
            </a:r>
          </a:p>
        </p:txBody>
      </p:sp>
      <p:sp>
        <p:nvSpPr>
          <p:cNvPr id="26" name="TextBox 25"/>
          <p:cNvSpPr txBox="1"/>
          <p:nvPr/>
        </p:nvSpPr>
        <p:spPr>
          <a:xfrm rot="16200000">
            <a:off x="914400" y="3884637"/>
            <a:ext cx="2194560" cy="323165"/>
          </a:xfrm>
          <a:prstGeom prst="rect">
            <a:avLst/>
          </a:prstGeom>
          <a:noFill/>
        </p:spPr>
        <p:txBody>
          <a:bodyPr wrap="square" lIns="0" tIns="0" rIns="0" bIns="0">
            <a:spAutoFit/>
          </a:bodyPr>
          <a:lstStyle/>
          <a:p>
            <a:pPr algn="ctr"/>
            <a:r>
              <a:rPr sz="1050" b="0" dirty="0">
                <a:solidFill>
                  <a:srgbClr val="5F5E5A"/>
                </a:solidFill>
                <a:latin typeface="Helvetica Neue Medium"/>
              </a:rPr>
              <a:t>AI capability deployed across Solutions</a:t>
            </a:r>
          </a:p>
        </p:txBody>
      </p:sp>
      <p:sp>
        <p:nvSpPr>
          <p:cNvPr id="27" name="Freeform 26"/>
          <p:cNvSpPr/>
          <p:nvPr/>
        </p:nvSpPr>
        <p:spPr>
          <a:xfrm>
            <a:off x="1645920" y="3105302"/>
            <a:ext cx="9174175" cy="1993849"/>
          </a:xfrm>
          <a:custGeom>
            <a:avLst/>
            <a:gdLst/>
            <a:ahLst/>
            <a:cxnLst/>
            <a:rect l="l" t="t" r="r" b="b"/>
            <a:pathLst>
              <a:path w="9174175" h="1993849">
                <a:moveTo>
                  <a:pt x="0" y="1993849"/>
                </a:moveTo>
                <a:lnTo>
                  <a:pt x="9174175" y="0"/>
                </a:lnTo>
              </a:path>
            </a:pathLst>
          </a:custGeom>
          <a:noFill/>
          <a:ln w="19050">
            <a:solidFill>
              <a:srgbClr val="8887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71713" y="3888486"/>
            <a:ext cx="2286000" cy="201168"/>
          </a:xfrm>
          <a:prstGeom prst="rect">
            <a:avLst/>
          </a:prstGeom>
          <a:noFill/>
        </p:spPr>
        <p:txBody>
          <a:bodyPr wrap="square" lIns="0" tIns="0" rIns="0" bIns="0" anchor="t">
            <a:spAutoFit/>
          </a:bodyPr>
          <a:lstStyle/>
          <a:p>
            <a:pPr algn="l">
              <a:lnSpc>
                <a:spcPct val="125000"/>
              </a:lnSpc>
            </a:pPr>
            <a:r>
              <a:rPr sz="1200" b="0" i="0">
                <a:solidFill>
                  <a:srgbClr val="5F5E5A"/>
                </a:solidFill>
                <a:latin typeface="Helvetica Neue Medium"/>
              </a:rPr>
              <a:t>What we might expect</a:t>
            </a:r>
          </a:p>
        </p:txBody>
      </p:sp>
      <p:sp>
        <p:nvSpPr>
          <p:cNvPr id="29" name="TextBox 28"/>
          <p:cNvSpPr txBox="1"/>
          <p:nvPr/>
        </p:nvSpPr>
        <p:spPr>
          <a:xfrm>
            <a:off x="8271713" y="4053078"/>
            <a:ext cx="2286000" cy="182880"/>
          </a:xfrm>
          <a:prstGeom prst="rect">
            <a:avLst/>
          </a:prstGeom>
          <a:noFill/>
        </p:spPr>
        <p:txBody>
          <a:bodyPr wrap="square" lIns="0" tIns="0" rIns="0" bIns="0" anchor="t">
            <a:spAutoFit/>
          </a:bodyPr>
          <a:lstStyle/>
          <a:p>
            <a:pPr algn="l">
              <a:lnSpc>
                <a:spcPct val="125000"/>
              </a:lnSpc>
            </a:pPr>
            <a:r>
              <a:rPr sz="1100" b="0" i="0">
                <a:solidFill>
                  <a:srgbClr val="888780"/>
                </a:solidFill>
                <a:latin typeface="Helvetica Neue"/>
              </a:rPr>
              <a:t>A steady linear ramp</a:t>
            </a:r>
          </a:p>
        </p:txBody>
      </p:sp>
      <p:sp>
        <p:nvSpPr>
          <p:cNvPr id="30" name="Freeform 29"/>
          <p:cNvSpPr/>
          <p:nvPr/>
        </p:nvSpPr>
        <p:spPr>
          <a:xfrm>
            <a:off x="1645920" y="3082899"/>
            <a:ext cx="9174175" cy="2016252"/>
          </a:xfrm>
          <a:custGeom>
            <a:avLst/>
            <a:gdLst/>
            <a:ahLst/>
            <a:cxnLst/>
            <a:rect l="l" t="t" r="r" b="b"/>
            <a:pathLst>
              <a:path w="9174175" h="2016252">
                <a:moveTo>
                  <a:pt x="0" y="2016252"/>
                </a:moveTo>
                <a:lnTo>
                  <a:pt x="764515" y="1971446"/>
                </a:lnTo>
                <a:lnTo>
                  <a:pt x="1529029" y="1926641"/>
                </a:lnTo>
                <a:lnTo>
                  <a:pt x="2293544" y="1881835"/>
                </a:lnTo>
                <a:lnTo>
                  <a:pt x="3058058" y="1814627"/>
                </a:lnTo>
                <a:lnTo>
                  <a:pt x="3567735" y="1725016"/>
                </a:lnTo>
                <a:lnTo>
                  <a:pt x="4077411" y="1590599"/>
                </a:lnTo>
                <a:lnTo>
                  <a:pt x="4587088" y="1433779"/>
                </a:lnTo>
                <a:lnTo>
                  <a:pt x="5096764" y="1232154"/>
                </a:lnTo>
                <a:lnTo>
                  <a:pt x="5606440" y="1008126"/>
                </a:lnTo>
                <a:lnTo>
                  <a:pt x="6116117" y="806501"/>
                </a:lnTo>
                <a:lnTo>
                  <a:pt x="6625793" y="604876"/>
                </a:lnTo>
                <a:lnTo>
                  <a:pt x="7135469" y="425653"/>
                </a:lnTo>
                <a:lnTo>
                  <a:pt x="7645146" y="291236"/>
                </a:lnTo>
                <a:lnTo>
                  <a:pt x="8409660" y="112014"/>
                </a:lnTo>
                <a:lnTo>
                  <a:pt x="9174175" y="0"/>
                </a:lnTo>
              </a:path>
            </a:pathLst>
          </a:custGeom>
          <a:noFill/>
          <a:ln w="317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42683" y="4658868"/>
            <a:ext cx="2286000" cy="201168"/>
          </a:xfrm>
          <a:prstGeom prst="rect">
            <a:avLst/>
          </a:prstGeom>
          <a:noFill/>
        </p:spPr>
        <p:txBody>
          <a:bodyPr wrap="square" lIns="0" tIns="0" rIns="0" bIns="0" anchor="t">
            <a:spAutoFit/>
          </a:bodyPr>
          <a:lstStyle/>
          <a:p>
            <a:pPr algn="l">
              <a:lnSpc>
                <a:spcPct val="125000"/>
              </a:lnSpc>
            </a:pPr>
            <a:r>
              <a:rPr sz="1200" b="0" i="0">
                <a:solidFill>
                  <a:srgbClr val="993C1D"/>
                </a:solidFill>
                <a:latin typeface="Helvetica Neue Medium"/>
              </a:rPr>
              <a:t>What we actually expect</a:t>
            </a:r>
          </a:p>
        </p:txBody>
      </p:sp>
      <p:sp>
        <p:nvSpPr>
          <p:cNvPr id="32" name="TextBox 31"/>
          <p:cNvSpPr txBox="1"/>
          <p:nvPr/>
        </p:nvSpPr>
        <p:spPr>
          <a:xfrm>
            <a:off x="6742683" y="4823460"/>
            <a:ext cx="2286000" cy="182880"/>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a:rPr>
              <a:t>Foundation, then acceleration</a:t>
            </a:r>
          </a:p>
        </p:txBody>
      </p:sp>
      <p:sp>
        <p:nvSpPr>
          <p:cNvPr id="33" name="Oval 32"/>
          <p:cNvSpPr/>
          <p:nvPr/>
        </p:nvSpPr>
        <p:spPr>
          <a:xfrm>
            <a:off x="868680"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69848"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271016"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764792" y="5861304"/>
            <a:ext cx="9558223" cy="274320"/>
          </a:xfrm>
          <a:prstGeom prst="rect">
            <a:avLst/>
          </a:prstGeom>
          <a:noFill/>
        </p:spPr>
        <p:txBody>
          <a:bodyPr wrap="square" lIns="0" tIns="0" rIns="0" bIns="0" anchor="t">
            <a:spAutoFit/>
          </a:bodyPr>
          <a:lstStyle/>
          <a:p>
            <a:pPr algn="l">
              <a:lnSpc>
                <a:spcPct val="125000"/>
              </a:lnSpc>
            </a:pPr>
            <a:r>
              <a:rPr sz="1100" b="0" i="0">
                <a:solidFill>
                  <a:srgbClr val="5F5E5A"/>
                </a:solidFill>
                <a:latin typeface="Helvetica Neue Medium"/>
              </a:rPr>
              <a:t>Three phases. Foundation, first leverage, acceleration.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1482</Words>
  <Application>Microsoft Macintosh PowerPoint</Application>
  <PresentationFormat>Widescreen</PresentationFormat>
  <Paragraphs>204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Helvetica Neue</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Mohamed Khalifa</cp:lastModifiedBy>
  <cp:revision>3</cp:revision>
  <dcterms:created xsi:type="dcterms:W3CDTF">2013-01-27T09:14:16Z</dcterms:created>
  <dcterms:modified xsi:type="dcterms:W3CDTF">2026-05-17T20:16:43Z</dcterms:modified>
  <cp:category/>
</cp:coreProperties>
</file>