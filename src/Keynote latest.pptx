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4610"/>
  </p:normalViewPr>
  <p:slideViewPr>
    <p:cSldViewPr snapToGrid="0" snapToObjects="1">
      <p:cViewPr varScale="1">
        <p:scale>
          <a:sx n="115" d="100"/>
          <a:sy n="115"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1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Let the room settle. Read slowly.]
It's a Tuesday morning in 2030.
Our advisor — call her Maria — wakes up, and her briefing is already written. Coach knows her book. Coach knows the market. Coach knows that overnight, one of her clients sold a business. So three term-sheet structures are already modeled. A tax overlay is already done. The call is on her calendar by nine.
By lunch she has seen forty clients. Not forty inboxes — forty clients.
At four, the market moves. By four-thirty, every affected client has a personalized note in her voice. Not from her staff. From her.
She closes the day thinking: I have never had this much time for my clients.
[Pause.]
That's the Private Bank we are building. Everything that follows is how we get there.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chart.
The orange line is AI capability. It's exponential, and it's accelerating — that curve is being redrawn every quarter. The gray line, flat by comparison, is what we've actually deployed inside the Private Bank.
This gap is the most important picture in financial services right now.
It is not a gap we can close with features bolted onto today's operating model. We've tried. Every incumbent has tried. You get AI-assisted this and AI-enhanced that, and the curve stays flat.
[Slow down.]
The firms that close this gap are not going to be the firms that buy the most AI. They're going to be the firms willing to rebuild what an advisor's day looks like, from first principles, around this capability.
That's the conversation we're having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Coach.
Coach is one word for a lot of things. Coach is the advisor's research analyst, their associate, their operations partner, their specialist on call, their coder, their memory. All of that — one surface.
Brain. Muscle. Memory. Builder.
The way I want you to hold this in your head: Coach is not a tool we are giving advisors. Coach is a teammate we are giving advisors. That distinction matters, and it will come back every time we have to make a decision about scope, about investment, about what we say no to.
We are not building AI features for the Private Bank. We are building Coach. And Coach is the substrate the Private Bank will run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deck.
Coach is not four products in a trench coat. Coach is a flywheel. Four capabilities, one loop.
The Brain — intelligence — gets sharper because it plugs into the Muscle, our agentic workflows, which give it real, consequential reps. The Muscle gets better because it plugs into the Memory — our data hive — which gives it context no competitor has. The Memory gets richer because the Builder — our coding agents — lets us instrument everything. And the Builder gets more useful because the Brain can wield it.
[Slow.]
Each capability makes the others stronger. Every advisor interaction feeds the loop.
This is the part that competitors will try to copy and fail at. They can buy a model. They can hire engineers. They cannot buy the loop. The loop is something you build over time, with your own clients, your own data, your own workflows.
We start now. Every quarter we wait, the loop gets harder to catch.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Brain.
Coach is the intelligence layer sitting across everything an advisor does.
Answers — any question, cited, in seconds. Not a search result. An answer, grounded in our firm's actual research, policy, and precedent.
Ideas — and this is where it gets interesting. Coach doesn't wait to be asked. It reads the market, it reads the book, and it surfaces the next move. "Your client in Dallas — given today's rates, this structure just became relevant. Here's the one-pager."
Actions — the work that used to take a team of people. Materials drafted. Follow-ups scheduled. Plans built. All while the advisor is still on the call.
[Pause.]
The goal is simple. We want every advisor to operate like our best one. Not by training them for twenty years. By giving them Coach.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Coach doesn't stop at the intelligence layer. That's where most firms are going to stop.
We don't.
Today, humans navigate the system. Advisors spend most of their day routing information — screen to screen, login to login, email to spreadsheet to CRM. They are the glue. They are also the bottleneck.
Tomorrow, agents orchestrate. Coach drives workflows end-to-end. Humans own the judgment calls and the relationships — the things that actually compound trust with a client.
We're not doing this everywhere at once. We're starting where the pain is biggest and the leverage is highest: mortgages and trusts. High volume. High friction. High stakes. When we get this right in mortgages and trusts, we'll have the playbook for the rest of the firm.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flag a threshold we've crossed that I think some of you don't fully feel yet.
Coding agents.
[Point to orange.]
What used to take a quant team and a team-week — a custom scenario, a bespoke model, a client-specific analysis — Coach now produces in an advisor-afternoon.
[Point to blue.]
And here's the part that matters. That kind of analysis used to be rationed. The top one percent of clients got it. Everyone else got a product sheet.
That changes now. Bespoke analysis is no longer scarce. It is available to every client, for every question, at the speed of the conversation.
[Slow down.]
We are democratizing bespoke. Put that on a wall somewhere. Because that sentence alone will reshape how we define "premium" in this industry.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breath. This is the emotional heart of the deck.]
I want you to picture the advisor at the center of this slide — and then picture what's actually around them.
Their own personalized AI teammate, that has learned their voice, their book, their instincts, their judgment. Ambient meeting intelligence, that listens in every client conversation and quietly remembers everything. An on-call coding agent, for any analysis, at any moment, for any client. Proactive discovery — Coach finds the next opportunity before the advisor does. Infinite memory — every promise, every preference, every conversation, remembered. And the whole firm at their fingertips — every specialist, every product, every document, one prompt away.
[Pause.]
This is what we mean when we say: your best advisor's instincts become every advisor's instincts.
We are not replacing advisors. We are amplifying them — every one of them — to a level that used to require twenty years of experience and a team of ten.
This is why people will stay at this firm. And this is why people will come to this firm.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an advisor actually do all day in this world?
Everything on the left disappears. Searching. Summarizing. Coordinating. Reformatting. Chasing ops. Hunting for documents. Re-explaining things for the fourth time. The assembly work of being an advisor — gone.
And everything on the right grows. Deeper relationships. Creative structuring. Proactive outreach. Bigger books, served attentively. Strategic judgment on the calls that matter.
[Pause.]
This is the sentence I want every one of you to carry: the assembly work goes away, and the judgment work expands.
This is not about making advisors more efficient. Efficiency is a 10% word. This is about moving advisors up the value chain by one full floor.
The best advisors in this firm — the ones you were worried would burn out, the ones whose books are already too big — are about to get better at what only they can do. That's the trade.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part that keeps competitors up at night.
The moat isn't the model. The models are going to be commodities. Every firm will have access to a good one.
The moat is this: the data hive.
Every conversation with every client. Every portfolio move. Every planning decision. Every lending interaction. Every service ticket. Every market moment. All of it, wired into one client intelligence graph.
This is the compounding asset. Every interaction makes Coach smarter — about that client, about similar clients, about the firm as a whole.
A competitor who starts building this tomorrow is already three years behind us. A competitor who starts building it next year will be five years behind. The data hive doesn't get copied. It gets lapped.
This is why we invest now, and this is why we invest heavily.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stay on the hive for a moment, because this is the part that I don't think we've fully internalized as a firm.
This thing compounds. Every day. Every hour. Without us having to do anything extra.
Think about what actually happens when Coach is running. Every call an advisor has — Coach is listening, summarizing, saving. That's client context we've never captured before at this resolution. Every question an advisor asks Coach — that's a signal. If advisors are asking the same question over and over, we know that's a gap in our content, or a gap in our training, or a product opportunity. Every time an advisor takes a draft and tweaks it, we learn. Every time they accept it wholesale, we learn. Every time they reject it and do their own thing, we learn the most.
None of this has to be designed. It just happens as a byproduct of doing the work.
And the outputs compound, in parallel. The client's profile gets deeper. The firm's content map gets clearer — we know what matters, and we know where the gaps are. The agents themselves get smarter because they're trained on the best answers our best advisors gave yesterday. Coverage gets better because we can see who was served and who wasn't. And the data hive — the moat — gets thicker by the day.
By next quarter, Coach will know more about our book than any single advisor ever has. By next year, Coach will know more about the intersection of our clients and the market than any team in this industry. That is not hyperbole. That is what happens when you run the loop and you're the only one running it.
This is why urgency matters. Every day we delay is a day we're not accumulating. And every day a competitor delays is a day we're pulling further ahead.
Every interaction is a deposit. That's the frame I want you to hold.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make this concrete, because "the platform compounds" can sound abstract. So let me walk through three real things that happen inside Coach in any given week.
Story one. Maria has a call at 10 with a client asking about private credit. At 9:45 she turns to Coach and asks, "What's our current view on private credit?" Coach gives her the answer in our firm's voice, with the latest strategist framing. That's the helpful part. Now watch what happens underneath. This week, 38 advisors asked that same question. Coach sees that in aggregate — and notices the content hit-rate is only 61 percent, which means the primer we've got is stale. That signal gets flagged. Within 24 hours the PM team has refreshed the primer, new talking points are pushed firm-wide, and by Friday every advisor is armed with the current view. One question from one advisor, turned into firm-wide readiness in a week.
Story two. Call summary. A senior banker in New York finishes a meeting. Coach summarizes it automatically — "client wary of EM, bullish on munis post-Fed." That line goes into the client profile; next time the advisor opens the account, it's there. But it also goes into the hive. And over the course of a month, Coach sees that muni sentiment across our UHNW book is three times what it was last month. No single advisor could see that. The portfolio managers see it. The product team sees it. Within days, muni-forward outreach is ready for 180 advisors to deliver to every eligible client. A firm-wide move — driven by a conversation no one scheduled.
Story three. Trades. Coach logs every position change, every rotation, in every book. Last month: 73 clients rotated out of banks into tech. That's $120M of net-new exposure into tech across the firm. Coach also sees that two of the products we recommend are now visibly underexposed. Which means next quarter's client reviews get a new lens auto-added — "tech exposure relative to your plan" — so every advisor has that conversation in every review.
This is what I mean when I say Coach is the compounding asset. The more advisors ask, the more content gets sharper. The more calls get summarized, the clearer the client-level picture gets. The more trades flow through, the better we see where the book is going. And every one of these loops tightens over time.
Every interaction is a signal. Every signal becomes a pattern. Every pattern becomes a firm-wide move. That's the engine.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this chart. This is the picture I want everyone to leave the room with.
Two curves. Ours on top, a competitor's on the bottom.
At year one, the gap looks small. Someone could look at this in year one and say, "I don't see it. They're almost caught up. Why are we panicking?"
But watch what happens between year one and year three. Our curve bends up. Theirs doesn't. Because we've got the loop running and they don't.
By year three, we are decisively ahead. Not a little ahead — ahead in a way that shows up in win rates, in net new assets, in advisor productivity, in client satisfaction. It becomes impossible for a competitor to argue they're comparable.
And by year five — look at that gap — we are in a different industry. We're not competing with the Private Bank down the street. We're competing with what we were last year, and we're winning that competition, every quarter.
That shaded area between the two curves — that's the moat. And the moat isn't a fact. It's a behavior. It only exists if we actually run the loop. If we stop feeding the hive, if we stop building the agents, if we stop using Coach, the gap closes.
So here's the verdict I want you to take from this slide. Today's small gap — the one where a thoughtful skeptic could say "I don't see it" — is tomorrow's unreachable lead. Every quarter we run, it widens. Every quarter we wait, someone else gets to start compounding, and our advantage begins to depreciate.
We are not building a head start. We are building an unreachable lead. That's the difference. And that's what this chart says.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calendar.
Every advisor in this room has had this conversation: "I wish I could spend more time with that client." "I haven't called them in four months." "I know that one is drifting, but I don't have the hours."
Attention has always been rationed. The top 20 clients got deep engagement. The middle got episodic check-ins. The long tail got barely served.
That ends.
Coach covers the base. Every client — every one — gets continuous, proactive, personalized engagement. Not spam. Not generic content. Real, in-the-voice-of-their-advisor engagement.
And advisors? Advisors stop being reactive. Advisors show up for the moments that matter — the life events, the strategic decisions, the hard calls. They become present in their clients' lives in a way they've wanted to be for their entire careers.
[Pause.]
The tyranny of the calendar ends. That is not a small thing. That is the 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Three scenes.
One. Tuesday, 9 AM. A client sells a business overnight. Today, that kicks off a five-day sprint — tax, structuring, trusts, philanthropy, a call on Friday. Tomorrow, three structures are modeled overnight, the call happens Wednesday morning, and the client is stunned.
Two. Tuesday, 4 PM. The market moves hard. Today, we scramble to write one generic note. Tomorrow, by 4:30, every affected client has a personalized message from their advisor — their portfolio, their exposure, their specific next step.
Three. Tuesday, any time. A client asks a question nobody's asked before. Today, that's a research request that comes back Thursday. Tomorrow, Coach assembles the answer from the firm's full brain in minutes.
[Pause.]
These are not demos. These are Tuesdays.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the shape of this business?
The best advisors in this firm will carry three to five times the book they carry today — and they will serve it better than they serve it today.
[Slow.]
That's not a productivity gain. That's an economic shift.
Agents absorb the coordination tax — the thing that consumes most of an advisor's calendar. Advisors get that time back, and they spend it on the work that actually compounds: judgment, relationships, creativity, presence.
This changes the economics of the Private Bank. It changes how we hire, how we staff, how we scale, what we invest in, and what we charge for. We will be talking about this slide for years.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get there.
Now. Coach, expanded. Persistent memory, deeper personalization, stronger reasoning. This is live work, happening this year.
Next. Agentic workflows. We go deep in mortgages and trusts. Coding agent pilots scale. The data foundation gets richer.
Future. AI-native. Ambient meeting intelligence. A firm-wide discovery engine. Entirely new client experiences we haven't built yet because they weren't possible.
[Pause.]
This is not a five-year plan. This is a now-next-future rhythm, and we move faster every quarter because the loop is compounding.
One commitment: we ship. The firms that talk about AI strategy lose to the firms that ship AI products. We will ship.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Quiet. Land it.]
I want to leave you with one line.
We are not building AI features. We are building an AI-powered Private Bank.
That difference — features versus substrate — is the difference between the firms that are still here in 2035 and the firms that aren't.
The winners will be the firms that build the most intelligent system. Not the firms with the flashiest model. Not the firms with the best marketing. The firms that build the most intelligent system.
That is what we are building.
[Pause. Eye contact. Step back from the podium.]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Q&amp;A only. Don't read these out loud unless asked.]
These are the recurring lines from the deck. Anchors for questions. Use freely.
If someone asks "what's the headline?" — "Every client gets the firm, not just their advisor."
If someone asks "what's the moat?" — "The moat isn't the model. It's the loop."
If someone asks "what about the advisors?" — "Advisors stop being the bottleneck and start being the differentiator."
If someone asks "isn't this just automation?" — "We're not automating the Private Bank. We're rebuilding it on a new substrate."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a:effectLst/>
      </p:bgPr>
    </p:bg>
    <p:spTree>
      <p:nvGrpSpPr>
        <p:cNvPr id="1" name=""/>
        <p:cNvGrpSpPr/>
        <p:nvPr/>
      </p:nvGrpSpPr>
      <p:grpSpPr>
        <a:xfrm>
          <a:off x="0" y="0"/>
          <a:ext cx="0" cy="0"/>
          <a:chOff x="0" y="0"/>
          <a:chExt cx="0" cy="0"/>
        </a:xfrm>
      </p:grpSpPr>
      <p:sp>
        <p:nvSpPr>
          <p:cNvPr id="2" name="Text 0"/>
          <p:cNvSpPr/>
          <p:nvPr/>
        </p:nvSpPr>
        <p:spPr>
          <a:xfrm>
            <a:off x="1188720" y="914400"/>
            <a:ext cx="10058400" cy="274320"/>
          </a:xfrm>
          <a:prstGeom prst="rect">
            <a:avLst/>
          </a:prstGeom>
          <a:noFill/>
          <a:ln/>
        </p:spPr>
        <p:txBody>
          <a:bodyPr wrap="square" lIns="0" tIns="0" rIns="0" bIns="0" rtlCol="0" anchor="ctr"/>
          <a:lstStyle/>
          <a:p>
            <a:pPr marL="0" indent="0" algn="l">
              <a:buNone/>
            </a:pPr>
            <a:r>
              <a:rPr lang="en-US" sz="1000" b="1" kern="0" spc="600" dirty="0">
                <a:solidFill>
                  <a:srgbClr val="A0824E"/>
                </a:solidFill>
                <a:latin typeface="Helvetica" pitchFamily="34" charset="0"/>
                <a:ea typeface="Helvetica" pitchFamily="34" charset="-122"/>
                <a:cs typeface="Helvetica" pitchFamily="34" charset="-120"/>
              </a:rPr>
              <a:t>A TUESDAY  •  2030</a:t>
            </a:r>
            <a:endParaRPr lang="en-US" sz="1000" dirty="0"/>
          </a:p>
        </p:txBody>
      </p:sp>
      <p:sp>
        <p:nvSpPr>
          <p:cNvPr id="3" name="Shape 1"/>
          <p:cNvSpPr/>
          <p:nvPr/>
        </p:nvSpPr>
        <p:spPr>
          <a:xfrm>
            <a:off x="1188720" y="1234440"/>
            <a:ext cx="640080" cy="914"/>
          </a:xfrm>
          <a:prstGeom prst="line">
            <a:avLst/>
          </a:prstGeom>
          <a:noFill/>
          <a:ln w="19050">
            <a:solidFill>
              <a:srgbClr val="A0824E"/>
            </a:solidFill>
            <a:prstDash val="solid"/>
          </a:ln>
        </p:spPr>
        <p:txBody>
          <a:bodyPr/>
          <a:lstStyle/>
          <a:p>
            <a:endParaRPr lang="en-US"/>
          </a:p>
        </p:txBody>
      </p:sp>
      <p:sp>
        <p:nvSpPr>
          <p:cNvPr id="4" name="Text 2"/>
          <p:cNvSpPr/>
          <p:nvPr/>
        </p:nvSpPr>
        <p:spPr>
          <a:xfrm>
            <a:off x="1188720" y="1691640"/>
            <a:ext cx="9784080" cy="4297680"/>
          </a:xfrm>
          <a:prstGeom prst="rect">
            <a:avLst/>
          </a:prstGeom>
          <a:noFill/>
          <a:ln/>
        </p:spPr>
        <p:txBody>
          <a:bodyPr wrap="square" lIns="0" tIns="0" rIns="0" bIns="0" rtlCol="0" anchor="t"/>
          <a:lstStyle/>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She wakes to a briefing already written.</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A client had a liquidity event overnight.</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Coach has modeled three structures.</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The call is on her calendar by nine.</a:t>
            </a:r>
            <a:endParaRPr lang="en-US" sz="2400" dirty="0"/>
          </a:p>
          <a:p>
            <a:pPr marL="0" indent="0" algn="l">
              <a:spcAft>
                <a:spcPts val="200"/>
              </a:spcAft>
              <a:buNone/>
            </a:pPr>
            <a:r>
              <a:rPr lang="en-US" sz="1200" dirty="0">
                <a:solidFill>
                  <a:srgbClr val="E6E1D4"/>
                </a:solidFill>
                <a:latin typeface="Georgia" pitchFamily="34" charset="0"/>
                <a:ea typeface="Georgia" pitchFamily="34" charset="-122"/>
                <a:cs typeface="Georgia" pitchFamily="34" charset="-120"/>
              </a:rPr>
              <a:t> </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By lunch she has seen forty clients — not inboxes.</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At four, the market moves.</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By four-thirty, every affected client</a:t>
            </a:r>
            <a:endParaRPr lang="en-US" sz="2400" dirty="0"/>
          </a:p>
          <a:p>
            <a:pPr marL="0" indent="0" algn="l">
              <a:spcAft>
                <a:spcPts val="200"/>
              </a:spcAft>
              <a:buNone/>
            </a:pPr>
            <a:r>
              <a:rPr lang="en-US" sz="2400" i="1" dirty="0">
                <a:solidFill>
                  <a:srgbClr val="E6E1D4"/>
                </a:solidFill>
                <a:latin typeface="Georgia" pitchFamily="34" charset="0"/>
                <a:ea typeface="Georgia" pitchFamily="34" charset="-122"/>
                <a:cs typeface="Georgia" pitchFamily="34" charset="-120"/>
              </a:rPr>
              <a:t>has a note in her voice.</a:t>
            </a:r>
            <a:endParaRPr lang="en-US" sz="2400" dirty="0"/>
          </a:p>
          <a:p>
            <a:pPr marL="0" indent="0" algn="l">
              <a:spcAft>
                <a:spcPts val="200"/>
              </a:spcAft>
              <a:buNone/>
            </a:pPr>
            <a:r>
              <a:rPr lang="en-US" sz="1200" dirty="0">
                <a:solidFill>
                  <a:srgbClr val="E6E1D4"/>
                </a:solidFill>
                <a:latin typeface="Georgia" pitchFamily="34" charset="0"/>
                <a:ea typeface="Georgia" pitchFamily="34" charset="-122"/>
                <a:cs typeface="Georgia" pitchFamily="34" charset="-120"/>
              </a:rPr>
              <a:t> </a:t>
            </a:r>
            <a:endParaRPr lang="en-US" sz="2400" dirty="0"/>
          </a:p>
          <a:p>
            <a:pPr marL="0" indent="0" algn="l">
              <a:spcAft>
                <a:spcPts val="200"/>
              </a:spcAft>
              <a:buNone/>
            </a:pPr>
            <a:r>
              <a:rPr lang="en-US" sz="2400" i="1" dirty="0">
                <a:solidFill>
                  <a:srgbClr val="AEA89B"/>
                </a:solidFill>
                <a:latin typeface="Georgia" pitchFamily="34" charset="0"/>
                <a:ea typeface="Georgia" pitchFamily="34" charset="-122"/>
                <a:cs typeface="Georgia" pitchFamily="34" charset="-120"/>
              </a:rPr>
              <a:t>She closes the day thinking:</a:t>
            </a:r>
            <a:endParaRPr lang="en-US" sz="2400" dirty="0"/>
          </a:p>
          <a:p>
            <a:pPr marL="0" indent="0" algn="l">
              <a:spcAft>
                <a:spcPts val="200"/>
              </a:spcAft>
              <a:buNone/>
            </a:pPr>
            <a:r>
              <a:rPr lang="en-US" sz="2400" b="1" i="1" dirty="0">
                <a:solidFill>
                  <a:srgbClr val="F5F0EB"/>
                </a:solidFill>
                <a:latin typeface="Georgia" pitchFamily="34" charset="0"/>
                <a:ea typeface="Georgia" pitchFamily="34" charset="-122"/>
                <a:cs typeface="Georgia" pitchFamily="34" charset="-120"/>
              </a:rPr>
              <a:t>I have never had this much time for my clients.</a:t>
            </a:r>
            <a:endParaRPr lang="en-US" sz="2400" dirty="0"/>
          </a:p>
        </p:txBody>
      </p:sp>
      <p:sp>
        <p:nvSpPr>
          <p:cNvPr id="5" name="Text 3"/>
          <p:cNvSpPr/>
          <p:nvPr/>
        </p:nvSpPr>
        <p:spPr>
          <a:xfrm>
            <a:off x="1188720" y="6035040"/>
            <a:ext cx="5486400" cy="274320"/>
          </a:xfrm>
          <a:prstGeom prst="rect">
            <a:avLst/>
          </a:prstGeom>
          <a:noFill/>
          <a:ln/>
        </p:spPr>
        <p:txBody>
          <a:bodyPr wrap="square" lIns="0" tIns="0" rIns="0" bIns="0" rtlCol="0" anchor="ctr"/>
          <a:lstStyle/>
          <a:p>
            <a:pPr marL="0" indent="0">
              <a:buNone/>
            </a:pPr>
            <a:r>
              <a:rPr lang="en-US" sz="800" b="1" kern="0" spc="400" dirty="0">
                <a:solidFill>
                  <a:srgbClr val="6E6A60"/>
                </a:solidFill>
                <a:latin typeface="Helvetica" pitchFamily="34" charset="0"/>
                <a:ea typeface="Helvetica" pitchFamily="34" charset="-122"/>
                <a:cs typeface="Helvetica" pitchFamily="34" charset="-120"/>
              </a:rPr>
              <a:t>— COLD OPEN</a:t>
            </a:r>
            <a:endParaRPr lang="en-US" sz="800" dirty="0"/>
          </a:p>
        </p:txBody>
      </p:sp>
      <p:sp>
        <p:nvSpPr>
          <p:cNvPr id="6" name="Text 4"/>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6E6A60"/>
                </a:solidFill>
                <a:latin typeface="Helvetica" pitchFamily="34" charset="0"/>
                <a:ea typeface="Helvetica" pitchFamily="34" charset="-122"/>
                <a:cs typeface="Helvetica" pitchFamily="34" charset="-120"/>
              </a:rPr>
              <a:t>PRIVATE  BANK</a:t>
            </a:r>
            <a:endParaRPr lang="en-US" sz="800" dirty="0"/>
          </a:p>
        </p:txBody>
      </p:sp>
      <p:sp>
        <p:nvSpPr>
          <p:cNvPr id="7" name="Text 5"/>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6E6A60"/>
                </a:solidFill>
                <a:latin typeface="Helvetica" pitchFamily="34" charset="0"/>
                <a:ea typeface="Helvetica" pitchFamily="34" charset="-122"/>
                <a:cs typeface="Helvetica" pitchFamily="34" charset="-120"/>
              </a:rPr>
              <a:t>01  /  19</a:t>
            </a:r>
            <a:endParaRPr lang="en-US" sz="800" dirty="0"/>
          </a:p>
        </p:txBody>
      </p:sp>
      <p:sp>
        <p:nvSpPr>
          <p:cNvPr id="8" name="Text 6"/>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6E6A60"/>
                </a:solidFill>
                <a:latin typeface="Helvetica" pitchFamily="34" charset="0"/>
                <a:ea typeface="Helvetica" pitchFamily="34" charset="-122"/>
                <a:cs typeface="Helvetica" pitchFamily="34" charset="-120"/>
              </a:rPr>
              <a:t>CONFIDENTIAL</a:t>
            </a:r>
            <a:endParaRPr lang="en-US" sz="800" dirty="0"/>
          </a:p>
        </p:txBody>
      </p:sp>
      <p:sp>
        <p:nvSpPr>
          <p:cNvPr id="9" name="Shape 7"/>
          <p:cNvSpPr/>
          <p:nvPr/>
        </p:nvSpPr>
        <p:spPr>
          <a:xfrm>
            <a:off x="502920" y="6428232"/>
            <a:ext cx="11183112" cy="914"/>
          </a:xfrm>
          <a:prstGeom prst="line">
            <a:avLst/>
          </a:prstGeom>
          <a:noFill/>
          <a:ln w="6350">
            <a:solidFill>
              <a:srgbClr val="2A2824"/>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SETUP</a:t>
            </a:r>
            <a:endParaRPr lang="en-US" sz="900" dirty="0"/>
          </a:p>
        </p:txBody>
      </p:sp>
      <p:sp>
        <p:nvSpPr>
          <p:cNvPr id="3" name="Text 1"/>
          <p:cNvSpPr/>
          <p:nvPr/>
        </p:nvSpPr>
        <p:spPr>
          <a:xfrm>
            <a:off x="685800" y="868680"/>
            <a:ext cx="10789920" cy="1463040"/>
          </a:xfrm>
          <a:prstGeom prst="rect">
            <a:avLst/>
          </a:prstGeom>
          <a:noFill/>
          <a:ln/>
        </p:spPr>
        <p:txBody>
          <a:bodyPr wrap="square" lIns="0" tIns="0" rIns="0" bIns="0" rtlCol="0" anchor="t"/>
          <a:lstStyle/>
          <a:p>
            <a:pPr marL="0" indent="0" algn="l">
              <a:buNone/>
            </a:pPr>
            <a:r>
              <a:rPr lang="en-US" sz="2800" b="1" dirty="0">
                <a:solidFill>
                  <a:srgbClr val="14192A"/>
                </a:solidFill>
                <a:latin typeface="Arial Black" pitchFamily="34" charset="0"/>
                <a:ea typeface="Arial Black" pitchFamily="34" charset="-122"/>
                <a:cs typeface="Arial Black" pitchFamily="34" charset="-120"/>
              </a:rPr>
              <a:t>There's a growing gap between what AI can do</a:t>
            </a:r>
            <a:endParaRPr lang="en-US" sz="2800" dirty="0"/>
          </a:p>
          <a:p>
            <a:pPr marL="0" indent="0" algn="l">
              <a:buNone/>
            </a:pPr>
            <a:r>
              <a:rPr lang="en-US" sz="2800" b="1" dirty="0">
                <a:solidFill>
                  <a:srgbClr val="14192A"/>
                </a:solidFill>
                <a:latin typeface="Arial Black" pitchFamily="34" charset="0"/>
                <a:ea typeface="Arial Black" pitchFamily="34" charset="-122"/>
                <a:cs typeface="Arial Black" pitchFamily="34" charset="-120"/>
              </a:rPr>
              <a:t>and what the Private Bank has built.</a:t>
            </a:r>
            <a:endParaRPr lang="en-US" sz="2800" dirty="0"/>
          </a:p>
        </p:txBody>
      </p:sp>
      <p:sp>
        <p:nvSpPr>
          <p:cNvPr id="4" name="Text 2"/>
          <p:cNvSpPr/>
          <p:nvPr/>
        </p:nvSpPr>
        <p:spPr>
          <a:xfrm>
            <a:off x="685800" y="2606040"/>
            <a:ext cx="10789920" cy="82296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Frontier models now reason, plan, execute, and build. Our operating model still routes them through dashboards and inboxes. The distance between the two widens every quarter.</a:t>
            </a:r>
            <a:endParaRPr lang="en-US" sz="1300" dirty="0"/>
          </a:p>
        </p:txBody>
      </p:sp>
      <p:sp>
        <p:nvSpPr>
          <p:cNvPr id="5" name="Shape 3"/>
          <p:cNvSpPr/>
          <p:nvPr/>
        </p:nvSpPr>
        <p:spPr>
          <a:xfrm>
            <a:off x="685800" y="6035040"/>
            <a:ext cx="8686800" cy="914"/>
          </a:xfrm>
          <a:prstGeom prst="line">
            <a:avLst/>
          </a:prstGeom>
          <a:noFill/>
          <a:ln w="9525">
            <a:solidFill>
              <a:srgbClr val="D6D0C2"/>
            </a:solidFill>
            <a:prstDash val="solid"/>
          </a:ln>
        </p:spPr>
        <p:txBody>
          <a:bodyPr/>
          <a:lstStyle/>
          <a:p>
            <a:endParaRPr lang="en-US"/>
          </a:p>
        </p:txBody>
      </p:sp>
      <p:sp>
        <p:nvSpPr>
          <p:cNvPr id="6" name="Shape 4"/>
          <p:cNvSpPr/>
          <p:nvPr/>
        </p:nvSpPr>
        <p:spPr>
          <a:xfrm flipV="1">
            <a:off x="685800" y="5894195"/>
            <a:ext cx="61633" cy="3685"/>
          </a:xfrm>
          <a:prstGeom prst="line">
            <a:avLst/>
          </a:prstGeom>
          <a:noFill/>
          <a:ln w="44450">
            <a:solidFill>
              <a:srgbClr val="A0824E"/>
            </a:solidFill>
            <a:prstDash val="solid"/>
          </a:ln>
        </p:spPr>
        <p:txBody>
          <a:bodyPr/>
          <a:lstStyle/>
          <a:p>
            <a:endParaRPr lang="en-US"/>
          </a:p>
        </p:txBody>
      </p:sp>
      <p:sp>
        <p:nvSpPr>
          <p:cNvPr id="7" name="Shape 5"/>
          <p:cNvSpPr/>
          <p:nvPr/>
        </p:nvSpPr>
        <p:spPr>
          <a:xfrm flipV="1">
            <a:off x="747433" y="5889614"/>
            <a:ext cx="78746" cy="4581"/>
          </a:xfrm>
          <a:prstGeom prst="line">
            <a:avLst/>
          </a:prstGeom>
          <a:noFill/>
          <a:ln w="44450">
            <a:solidFill>
              <a:srgbClr val="A0824E"/>
            </a:solidFill>
            <a:prstDash val="solid"/>
          </a:ln>
        </p:spPr>
        <p:txBody>
          <a:bodyPr/>
          <a:lstStyle/>
          <a:p>
            <a:endParaRPr lang="en-US"/>
          </a:p>
        </p:txBody>
      </p:sp>
      <p:sp>
        <p:nvSpPr>
          <p:cNvPr id="8" name="Shape 6"/>
          <p:cNvSpPr/>
          <p:nvPr/>
        </p:nvSpPr>
        <p:spPr>
          <a:xfrm flipV="1">
            <a:off x="826179" y="5884246"/>
            <a:ext cx="92992" cy="5368"/>
          </a:xfrm>
          <a:prstGeom prst="line">
            <a:avLst/>
          </a:prstGeom>
          <a:noFill/>
          <a:ln w="44450">
            <a:solidFill>
              <a:srgbClr val="A0824E"/>
            </a:solidFill>
            <a:prstDash val="solid"/>
          </a:ln>
        </p:spPr>
        <p:txBody>
          <a:bodyPr/>
          <a:lstStyle/>
          <a:p>
            <a:endParaRPr lang="en-US"/>
          </a:p>
        </p:txBody>
      </p:sp>
      <p:sp>
        <p:nvSpPr>
          <p:cNvPr id="9" name="Shape 7"/>
          <p:cNvSpPr/>
          <p:nvPr/>
        </p:nvSpPr>
        <p:spPr>
          <a:xfrm flipV="1">
            <a:off x="919171" y="5878202"/>
            <a:ext cx="104372" cy="6044"/>
          </a:xfrm>
          <a:prstGeom prst="line">
            <a:avLst/>
          </a:prstGeom>
          <a:noFill/>
          <a:ln w="44450">
            <a:solidFill>
              <a:srgbClr val="A0824E"/>
            </a:solidFill>
            <a:prstDash val="solid"/>
          </a:ln>
        </p:spPr>
        <p:txBody>
          <a:bodyPr/>
          <a:lstStyle/>
          <a:p>
            <a:endParaRPr lang="en-US"/>
          </a:p>
        </p:txBody>
      </p:sp>
      <p:sp>
        <p:nvSpPr>
          <p:cNvPr id="10" name="Shape 8"/>
          <p:cNvSpPr/>
          <p:nvPr/>
        </p:nvSpPr>
        <p:spPr>
          <a:xfrm flipV="1">
            <a:off x="1023543" y="5871591"/>
            <a:ext cx="112885" cy="6611"/>
          </a:xfrm>
          <a:prstGeom prst="line">
            <a:avLst/>
          </a:prstGeom>
          <a:noFill/>
          <a:ln w="44450">
            <a:solidFill>
              <a:srgbClr val="A0824E"/>
            </a:solidFill>
            <a:prstDash val="solid"/>
          </a:ln>
        </p:spPr>
        <p:txBody>
          <a:bodyPr/>
          <a:lstStyle/>
          <a:p>
            <a:endParaRPr lang="en-US"/>
          </a:p>
        </p:txBody>
      </p:sp>
      <p:sp>
        <p:nvSpPr>
          <p:cNvPr id="11" name="Shape 9"/>
          <p:cNvSpPr/>
          <p:nvPr/>
        </p:nvSpPr>
        <p:spPr>
          <a:xfrm flipV="1">
            <a:off x="1136428" y="5864523"/>
            <a:ext cx="118531" cy="7068"/>
          </a:xfrm>
          <a:prstGeom prst="line">
            <a:avLst/>
          </a:prstGeom>
          <a:noFill/>
          <a:ln w="44450">
            <a:solidFill>
              <a:srgbClr val="A0824E"/>
            </a:solidFill>
            <a:prstDash val="solid"/>
          </a:ln>
        </p:spPr>
        <p:txBody>
          <a:bodyPr/>
          <a:lstStyle/>
          <a:p>
            <a:endParaRPr lang="en-US"/>
          </a:p>
        </p:txBody>
      </p:sp>
      <p:sp>
        <p:nvSpPr>
          <p:cNvPr id="12" name="Shape 10"/>
          <p:cNvSpPr/>
          <p:nvPr/>
        </p:nvSpPr>
        <p:spPr>
          <a:xfrm flipV="1">
            <a:off x="1254959" y="5857107"/>
            <a:ext cx="121311" cy="7416"/>
          </a:xfrm>
          <a:prstGeom prst="line">
            <a:avLst/>
          </a:prstGeom>
          <a:noFill/>
          <a:ln w="44450">
            <a:solidFill>
              <a:srgbClr val="A0824E"/>
            </a:solidFill>
            <a:prstDash val="solid"/>
          </a:ln>
        </p:spPr>
        <p:txBody>
          <a:bodyPr/>
          <a:lstStyle/>
          <a:p>
            <a:endParaRPr lang="en-US"/>
          </a:p>
        </p:txBody>
      </p:sp>
      <p:sp>
        <p:nvSpPr>
          <p:cNvPr id="13" name="Shape 11"/>
          <p:cNvSpPr/>
          <p:nvPr/>
        </p:nvSpPr>
        <p:spPr>
          <a:xfrm flipV="1">
            <a:off x="1376270" y="5849453"/>
            <a:ext cx="121224" cy="7654"/>
          </a:xfrm>
          <a:prstGeom prst="line">
            <a:avLst/>
          </a:prstGeom>
          <a:noFill/>
          <a:ln w="44450">
            <a:solidFill>
              <a:srgbClr val="A0824E"/>
            </a:solidFill>
            <a:prstDash val="solid"/>
          </a:ln>
        </p:spPr>
        <p:txBody>
          <a:bodyPr/>
          <a:lstStyle/>
          <a:p>
            <a:endParaRPr lang="en-US"/>
          </a:p>
        </p:txBody>
      </p:sp>
      <p:sp>
        <p:nvSpPr>
          <p:cNvPr id="14" name="Shape 12"/>
          <p:cNvSpPr/>
          <p:nvPr/>
        </p:nvSpPr>
        <p:spPr>
          <a:xfrm flipV="1">
            <a:off x="1497495" y="5841672"/>
            <a:ext cx="118271" cy="7782"/>
          </a:xfrm>
          <a:prstGeom prst="line">
            <a:avLst/>
          </a:prstGeom>
          <a:noFill/>
          <a:ln w="44450">
            <a:solidFill>
              <a:srgbClr val="A0824E"/>
            </a:solidFill>
            <a:prstDash val="solid"/>
          </a:ln>
        </p:spPr>
        <p:txBody>
          <a:bodyPr/>
          <a:lstStyle/>
          <a:p>
            <a:endParaRPr lang="en-US"/>
          </a:p>
        </p:txBody>
      </p:sp>
      <p:sp>
        <p:nvSpPr>
          <p:cNvPr id="15" name="Shape 13"/>
          <p:cNvSpPr/>
          <p:nvPr/>
        </p:nvSpPr>
        <p:spPr>
          <a:xfrm flipV="1">
            <a:off x="1615765" y="5833872"/>
            <a:ext cx="112451" cy="7800"/>
          </a:xfrm>
          <a:prstGeom prst="line">
            <a:avLst/>
          </a:prstGeom>
          <a:noFill/>
          <a:ln w="44450">
            <a:solidFill>
              <a:srgbClr val="A0824E"/>
            </a:solidFill>
            <a:prstDash val="solid"/>
          </a:ln>
        </p:spPr>
        <p:txBody>
          <a:bodyPr/>
          <a:lstStyle/>
          <a:p>
            <a:endParaRPr lang="en-US"/>
          </a:p>
        </p:txBody>
      </p:sp>
      <p:sp>
        <p:nvSpPr>
          <p:cNvPr id="16" name="Shape 14"/>
          <p:cNvSpPr/>
          <p:nvPr/>
        </p:nvSpPr>
        <p:spPr>
          <a:xfrm flipV="1">
            <a:off x="1728216" y="5833872"/>
            <a:ext cx="914" cy="914"/>
          </a:xfrm>
          <a:prstGeom prst="line">
            <a:avLst/>
          </a:prstGeom>
          <a:noFill/>
          <a:ln w="44450">
            <a:solidFill>
              <a:srgbClr val="A0824E"/>
            </a:solidFill>
            <a:prstDash val="solid"/>
          </a:ln>
        </p:spPr>
        <p:txBody>
          <a:bodyPr/>
          <a:lstStyle/>
          <a:p>
            <a:endParaRPr lang="en-US"/>
          </a:p>
        </p:txBody>
      </p:sp>
      <p:sp>
        <p:nvSpPr>
          <p:cNvPr id="17" name="Shape 15"/>
          <p:cNvSpPr/>
          <p:nvPr/>
        </p:nvSpPr>
        <p:spPr>
          <a:xfrm flipV="1">
            <a:off x="1728216" y="5826168"/>
            <a:ext cx="109410" cy="7704"/>
          </a:xfrm>
          <a:prstGeom prst="line">
            <a:avLst/>
          </a:prstGeom>
          <a:noFill/>
          <a:ln w="44450">
            <a:solidFill>
              <a:srgbClr val="A0824E"/>
            </a:solidFill>
            <a:prstDash val="solid"/>
          </a:ln>
        </p:spPr>
        <p:txBody>
          <a:bodyPr/>
          <a:lstStyle/>
          <a:p>
            <a:endParaRPr lang="en-US"/>
          </a:p>
        </p:txBody>
      </p:sp>
      <p:sp>
        <p:nvSpPr>
          <p:cNvPr id="18" name="Shape 16"/>
          <p:cNvSpPr/>
          <p:nvPr/>
        </p:nvSpPr>
        <p:spPr>
          <a:xfrm flipV="1">
            <a:off x="1837626" y="5818510"/>
            <a:ext cx="110887" cy="7658"/>
          </a:xfrm>
          <a:prstGeom prst="line">
            <a:avLst/>
          </a:prstGeom>
          <a:noFill/>
          <a:ln w="44450">
            <a:solidFill>
              <a:srgbClr val="A0824E"/>
            </a:solidFill>
            <a:prstDash val="solid"/>
          </a:ln>
        </p:spPr>
        <p:txBody>
          <a:bodyPr/>
          <a:lstStyle/>
          <a:p>
            <a:endParaRPr lang="en-US"/>
          </a:p>
        </p:txBody>
      </p:sp>
      <p:sp>
        <p:nvSpPr>
          <p:cNvPr id="19" name="Shape 17"/>
          <p:cNvSpPr/>
          <p:nvPr/>
        </p:nvSpPr>
        <p:spPr>
          <a:xfrm flipV="1">
            <a:off x="1948513" y="5810761"/>
            <a:ext cx="112103" cy="7750"/>
          </a:xfrm>
          <a:prstGeom prst="line">
            <a:avLst/>
          </a:prstGeom>
          <a:noFill/>
          <a:ln w="44450">
            <a:solidFill>
              <a:srgbClr val="A0824E"/>
            </a:solidFill>
            <a:prstDash val="solid"/>
          </a:ln>
        </p:spPr>
        <p:txBody>
          <a:bodyPr/>
          <a:lstStyle/>
          <a:p>
            <a:endParaRPr lang="en-US"/>
          </a:p>
        </p:txBody>
      </p:sp>
      <p:sp>
        <p:nvSpPr>
          <p:cNvPr id="20" name="Shape 18"/>
          <p:cNvSpPr/>
          <p:nvPr/>
        </p:nvSpPr>
        <p:spPr>
          <a:xfrm flipV="1">
            <a:off x="2060616" y="5802782"/>
            <a:ext cx="113059" cy="7978"/>
          </a:xfrm>
          <a:prstGeom prst="line">
            <a:avLst/>
          </a:prstGeom>
          <a:noFill/>
          <a:ln w="44450">
            <a:solidFill>
              <a:srgbClr val="A0824E"/>
            </a:solidFill>
            <a:prstDash val="solid"/>
          </a:ln>
        </p:spPr>
        <p:txBody>
          <a:bodyPr/>
          <a:lstStyle/>
          <a:p>
            <a:endParaRPr lang="en-US"/>
          </a:p>
        </p:txBody>
      </p:sp>
      <p:sp>
        <p:nvSpPr>
          <p:cNvPr id="21" name="Shape 19"/>
          <p:cNvSpPr/>
          <p:nvPr/>
        </p:nvSpPr>
        <p:spPr>
          <a:xfrm flipV="1">
            <a:off x="2173675" y="5794439"/>
            <a:ext cx="113754" cy="8344"/>
          </a:xfrm>
          <a:prstGeom prst="line">
            <a:avLst/>
          </a:prstGeom>
          <a:noFill/>
          <a:ln w="44450">
            <a:solidFill>
              <a:srgbClr val="A0824E"/>
            </a:solidFill>
            <a:prstDash val="solid"/>
          </a:ln>
        </p:spPr>
        <p:txBody>
          <a:bodyPr/>
          <a:lstStyle/>
          <a:p>
            <a:endParaRPr lang="en-US"/>
          </a:p>
        </p:txBody>
      </p:sp>
      <p:sp>
        <p:nvSpPr>
          <p:cNvPr id="22" name="Shape 20"/>
          <p:cNvSpPr/>
          <p:nvPr/>
        </p:nvSpPr>
        <p:spPr>
          <a:xfrm flipV="1">
            <a:off x="2287429" y="5785592"/>
            <a:ext cx="114188" cy="8847"/>
          </a:xfrm>
          <a:prstGeom prst="line">
            <a:avLst/>
          </a:prstGeom>
          <a:noFill/>
          <a:ln w="44450">
            <a:solidFill>
              <a:srgbClr val="A0824E"/>
            </a:solidFill>
            <a:prstDash val="solid"/>
          </a:ln>
        </p:spPr>
        <p:txBody>
          <a:bodyPr/>
          <a:lstStyle/>
          <a:p>
            <a:endParaRPr lang="en-US"/>
          </a:p>
        </p:txBody>
      </p:sp>
      <p:sp>
        <p:nvSpPr>
          <p:cNvPr id="23" name="Shape 21"/>
          <p:cNvSpPr/>
          <p:nvPr/>
        </p:nvSpPr>
        <p:spPr>
          <a:xfrm flipV="1">
            <a:off x="2401617" y="5776105"/>
            <a:ext cx="114362" cy="9487"/>
          </a:xfrm>
          <a:prstGeom prst="line">
            <a:avLst/>
          </a:prstGeom>
          <a:noFill/>
          <a:ln w="44450">
            <a:solidFill>
              <a:srgbClr val="A0824E"/>
            </a:solidFill>
            <a:prstDash val="solid"/>
          </a:ln>
        </p:spPr>
        <p:txBody>
          <a:bodyPr/>
          <a:lstStyle/>
          <a:p>
            <a:endParaRPr lang="en-US"/>
          </a:p>
        </p:txBody>
      </p:sp>
      <p:sp>
        <p:nvSpPr>
          <p:cNvPr id="24" name="Shape 22"/>
          <p:cNvSpPr/>
          <p:nvPr/>
        </p:nvSpPr>
        <p:spPr>
          <a:xfrm flipV="1">
            <a:off x="2515978" y="5765841"/>
            <a:ext cx="114275" cy="10264"/>
          </a:xfrm>
          <a:prstGeom prst="line">
            <a:avLst/>
          </a:prstGeom>
          <a:noFill/>
          <a:ln w="44450">
            <a:solidFill>
              <a:srgbClr val="A0824E"/>
            </a:solidFill>
            <a:prstDash val="solid"/>
          </a:ln>
        </p:spPr>
        <p:txBody>
          <a:bodyPr/>
          <a:lstStyle/>
          <a:p>
            <a:endParaRPr lang="en-US"/>
          </a:p>
        </p:txBody>
      </p:sp>
      <p:sp>
        <p:nvSpPr>
          <p:cNvPr id="25" name="Shape 23"/>
          <p:cNvSpPr/>
          <p:nvPr/>
        </p:nvSpPr>
        <p:spPr>
          <a:xfrm flipV="1">
            <a:off x="2630253" y="5754662"/>
            <a:ext cx="113927" cy="11179"/>
          </a:xfrm>
          <a:prstGeom prst="line">
            <a:avLst/>
          </a:prstGeom>
          <a:noFill/>
          <a:ln w="44450">
            <a:solidFill>
              <a:srgbClr val="A0824E"/>
            </a:solidFill>
            <a:prstDash val="solid"/>
          </a:ln>
        </p:spPr>
        <p:txBody>
          <a:bodyPr/>
          <a:lstStyle/>
          <a:p>
            <a:endParaRPr lang="en-US"/>
          </a:p>
        </p:txBody>
      </p:sp>
      <p:sp>
        <p:nvSpPr>
          <p:cNvPr id="26" name="Shape 24"/>
          <p:cNvSpPr/>
          <p:nvPr/>
        </p:nvSpPr>
        <p:spPr>
          <a:xfrm flipV="1">
            <a:off x="2744181" y="5742432"/>
            <a:ext cx="113319" cy="12230"/>
          </a:xfrm>
          <a:prstGeom prst="line">
            <a:avLst/>
          </a:prstGeom>
          <a:noFill/>
          <a:ln w="44450">
            <a:solidFill>
              <a:srgbClr val="A0824E"/>
            </a:solidFill>
            <a:prstDash val="solid"/>
          </a:ln>
        </p:spPr>
        <p:txBody>
          <a:bodyPr/>
          <a:lstStyle/>
          <a:p>
            <a:endParaRPr lang="en-US"/>
          </a:p>
        </p:txBody>
      </p:sp>
      <p:sp>
        <p:nvSpPr>
          <p:cNvPr id="27" name="Shape 25"/>
          <p:cNvSpPr/>
          <p:nvPr/>
        </p:nvSpPr>
        <p:spPr>
          <a:xfrm>
            <a:off x="2857500" y="5742432"/>
            <a:ext cx="914" cy="914"/>
          </a:xfrm>
          <a:prstGeom prst="line">
            <a:avLst/>
          </a:prstGeom>
          <a:noFill/>
          <a:ln w="44450">
            <a:solidFill>
              <a:srgbClr val="A0824E"/>
            </a:solidFill>
            <a:prstDash val="solid"/>
          </a:ln>
        </p:spPr>
        <p:txBody>
          <a:bodyPr/>
          <a:lstStyle/>
          <a:p>
            <a:endParaRPr lang="en-US"/>
          </a:p>
        </p:txBody>
      </p:sp>
      <p:sp>
        <p:nvSpPr>
          <p:cNvPr id="28" name="Shape 26"/>
          <p:cNvSpPr/>
          <p:nvPr/>
        </p:nvSpPr>
        <p:spPr>
          <a:xfrm flipV="1">
            <a:off x="2857500" y="5729429"/>
            <a:ext cx="113319" cy="13003"/>
          </a:xfrm>
          <a:prstGeom prst="line">
            <a:avLst/>
          </a:prstGeom>
          <a:noFill/>
          <a:ln w="44450">
            <a:solidFill>
              <a:srgbClr val="A0824E"/>
            </a:solidFill>
            <a:prstDash val="solid"/>
          </a:ln>
        </p:spPr>
        <p:txBody>
          <a:bodyPr/>
          <a:lstStyle/>
          <a:p>
            <a:endParaRPr lang="en-US"/>
          </a:p>
        </p:txBody>
      </p:sp>
      <p:sp>
        <p:nvSpPr>
          <p:cNvPr id="29" name="Shape 27"/>
          <p:cNvSpPr/>
          <p:nvPr/>
        </p:nvSpPr>
        <p:spPr>
          <a:xfrm flipV="1">
            <a:off x="2970819" y="5715951"/>
            <a:ext cx="113927" cy="13478"/>
          </a:xfrm>
          <a:prstGeom prst="line">
            <a:avLst/>
          </a:prstGeom>
          <a:noFill/>
          <a:ln w="44450">
            <a:solidFill>
              <a:srgbClr val="A0824E"/>
            </a:solidFill>
            <a:prstDash val="solid"/>
          </a:ln>
        </p:spPr>
        <p:txBody>
          <a:bodyPr/>
          <a:lstStyle/>
          <a:p>
            <a:endParaRPr lang="en-US"/>
          </a:p>
        </p:txBody>
      </p:sp>
      <p:sp>
        <p:nvSpPr>
          <p:cNvPr id="30" name="Shape 28"/>
          <p:cNvSpPr/>
          <p:nvPr/>
        </p:nvSpPr>
        <p:spPr>
          <a:xfrm flipV="1">
            <a:off x="3084747" y="5701888"/>
            <a:ext cx="114275" cy="14063"/>
          </a:xfrm>
          <a:prstGeom prst="line">
            <a:avLst/>
          </a:prstGeom>
          <a:noFill/>
          <a:ln w="44450">
            <a:solidFill>
              <a:srgbClr val="A0824E"/>
            </a:solidFill>
            <a:prstDash val="solid"/>
          </a:ln>
        </p:spPr>
        <p:txBody>
          <a:bodyPr/>
          <a:lstStyle/>
          <a:p>
            <a:endParaRPr lang="en-US"/>
          </a:p>
        </p:txBody>
      </p:sp>
      <p:sp>
        <p:nvSpPr>
          <p:cNvPr id="31" name="Shape 29"/>
          <p:cNvSpPr/>
          <p:nvPr/>
        </p:nvSpPr>
        <p:spPr>
          <a:xfrm flipV="1">
            <a:off x="3199022" y="5687129"/>
            <a:ext cx="114362" cy="14758"/>
          </a:xfrm>
          <a:prstGeom prst="line">
            <a:avLst/>
          </a:prstGeom>
          <a:noFill/>
          <a:ln w="44450">
            <a:solidFill>
              <a:srgbClr val="A0824E"/>
            </a:solidFill>
            <a:prstDash val="solid"/>
          </a:ln>
        </p:spPr>
        <p:txBody>
          <a:bodyPr/>
          <a:lstStyle/>
          <a:p>
            <a:endParaRPr lang="en-US"/>
          </a:p>
        </p:txBody>
      </p:sp>
      <p:sp>
        <p:nvSpPr>
          <p:cNvPr id="32" name="Shape 30"/>
          <p:cNvSpPr/>
          <p:nvPr/>
        </p:nvSpPr>
        <p:spPr>
          <a:xfrm flipV="1">
            <a:off x="3313383" y="5671566"/>
            <a:ext cx="114188" cy="15563"/>
          </a:xfrm>
          <a:prstGeom prst="line">
            <a:avLst/>
          </a:prstGeom>
          <a:noFill/>
          <a:ln w="44450">
            <a:solidFill>
              <a:srgbClr val="A0824E"/>
            </a:solidFill>
            <a:prstDash val="solid"/>
          </a:ln>
        </p:spPr>
        <p:txBody>
          <a:bodyPr/>
          <a:lstStyle/>
          <a:p>
            <a:endParaRPr lang="en-US"/>
          </a:p>
        </p:txBody>
      </p:sp>
      <p:sp>
        <p:nvSpPr>
          <p:cNvPr id="33" name="Shape 31"/>
          <p:cNvSpPr/>
          <p:nvPr/>
        </p:nvSpPr>
        <p:spPr>
          <a:xfrm flipV="1">
            <a:off x="3427571" y="5655089"/>
            <a:ext cx="113754" cy="16477"/>
          </a:xfrm>
          <a:prstGeom prst="line">
            <a:avLst/>
          </a:prstGeom>
          <a:noFill/>
          <a:ln w="44450">
            <a:solidFill>
              <a:srgbClr val="A0824E"/>
            </a:solidFill>
            <a:prstDash val="solid"/>
          </a:ln>
        </p:spPr>
        <p:txBody>
          <a:bodyPr/>
          <a:lstStyle/>
          <a:p>
            <a:endParaRPr lang="en-US"/>
          </a:p>
        </p:txBody>
      </p:sp>
      <p:sp>
        <p:nvSpPr>
          <p:cNvPr id="34" name="Shape 32"/>
          <p:cNvSpPr/>
          <p:nvPr/>
        </p:nvSpPr>
        <p:spPr>
          <a:xfrm flipV="1">
            <a:off x="3541325" y="5637587"/>
            <a:ext cx="113059" cy="17502"/>
          </a:xfrm>
          <a:prstGeom prst="line">
            <a:avLst/>
          </a:prstGeom>
          <a:noFill/>
          <a:ln w="44450">
            <a:solidFill>
              <a:srgbClr val="A0824E"/>
            </a:solidFill>
            <a:prstDash val="solid"/>
          </a:ln>
        </p:spPr>
        <p:txBody>
          <a:bodyPr/>
          <a:lstStyle/>
          <a:p>
            <a:endParaRPr lang="en-US"/>
          </a:p>
        </p:txBody>
      </p:sp>
      <p:sp>
        <p:nvSpPr>
          <p:cNvPr id="35" name="Shape 33"/>
          <p:cNvSpPr/>
          <p:nvPr/>
        </p:nvSpPr>
        <p:spPr>
          <a:xfrm flipV="1">
            <a:off x="3654384" y="5618951"/>
            <a:ext cx="112103" cy="18635"/>
          </a:xfrm>
          <a:prstGeom prst="line">
            <a:avLst/>
          </a:prstGeom>
          <a:noFill/>
          <a:ln w="44450">
            <a:solidFill>
              <a:srgbClr val="A0824E"/>
            </a:solidFill>
            <a:prstDash val="solid"/>
          </a:ln>
        </p:spPr>
        <p:txBody>
          <a:bodyPr/>
          <a:lstStyle/>
          <a:p>
            <a:endParaRPr lang="en-US"/>
          </a:p>
        </p:txBody>
      </p:sp>
      <p:sp>
        <p:nvSpPr>
          <p:cNvPr id="36" name="Shape 34"/>
          <p:cNvSpPr/>
          <p:nvPr/>
        </p:nvSpPr>
        <p:spPr>
          <a:xfrm flipV="1">
            <a:off x="3766487" y="5599072"/>
            <a:ext cx="110887" cy="19879"/>
          </a:xfrm>
          <a:prstGeom prst="line">
            <a:avLst/>
          </a:prstGeom>
          <a:noFill/>
          <a:ln w="44450">
            <a:solidFill>
              <a:srgbClr val="A0824E"/>
            </a:solidFill>
            <a:prstDash val="solid"/>
          </a:ln>
        </p:spPr>
        <p:txBody>
          <a:bodyPr/>
          <a:lstStyle/>
          <a:p>
            <a:endParaRPr lang="en-US"/>
          </a:p>
        </p:txBody>
      </p:sp>
      <p:sp>
        <p:nvSpPr>
          <p:cNvPr id="37" name="Shape 35"/>
          <p:cNvSpPr/>
          <p:nvPr/>
        </p:nvSpPr>
        <p:spPr>
          <a:xfrm flipV="1">
            <a:off x="3877374" y="5577840"/>
            <a:ext cx="109410" cy="21232"/>
          </a:xfrm>
          <a:prstGeom prst="line">
            <a:avLst/>
          </a:prstGeom>
          <a:noFill/>
          <a:ln w="44450">
            <a:solidFill>
              <a:srgbClr val="A0824E"/>
            </a:solidFill>
            <a:prstDash val="solid"/>
          </a:ln>
        </p:spPr>
        <p:txBody>
          <a:bodyPr/>
          <a:lstStyle/>
          <a:p>
            <a:endParaRPr lang="en-US"/>
          </a:p>
        </p:txBody>
      </p:sp>
      <p:sp>
        <p:nvSpPr>
          <p:cNvPr id="38" name="Shape 36"/>
          <p:cNvSpPr/>
          <p:nvPr/>
        </p:nvSpPr>
        <p:spPr>
          <a:xfrm flipV="1">
            <a:off x="3986784" y="5555346"/>
            <a:ext cx="107760" cy="22494"/>
          </a:xfrm>
          <a:prstGeom prst="line">
            <a:avLst/>
          </a:prstGeom>
          <a:noFill/>
          <a:ln w="44450">
            <a:solidFill>
              <a:srgbClr val="A0824E"/>
            </a:solidFill>
            <a:prstDash val="solid"/>
          </a:ln>
        </p:spPr>
        <p:txBody>
          <a:bodyPr/>
          <a:lstStyle/>
          <a:p>
            <a:endParaRPr lang="en-US"/>
          </a:p>
        </p:txBody>
      </p:sp>
      <p:sp>
        <p:nvSpPr>
          <p:cNvPr id="39" name="Shape 37"/>
          <p:cNvSpPr/>
          <p:nvPr/>
        </p:nvSpPr>
        <p:spPr>
          <a:xfrm flipV="1">
            <a:off x="4094544" y="5531754"/>
            <a:ext cx="106283" cy="23592"/>
          </a:xfrm>
          <a:prstGeom prst="line">
            <a:avLst/>
          </a:prstGeom>
          <a:noFill/>
          <a:ln w="44450">
            <a:solidFill>
              <a:srgbClr val="A0824E"/>
            </a:solidFill>
            <a:prstDash val="solid"/>
          </a:ln>
        </p:spPr>
        <p:txBody>
          <a:bodyPr/>
          <a:lstStyle/>
          <a:p>
            <a:endParaRPr lang="en-US"/>
          </a:p>
        </p:txBody>
      </p:sp>
      <p:sp>
        <p:nvSpPr>
          <p:cNvPr id="40" name="Shape 38"/>
          <p:cNvSpPr/>
          <p:nvPr/>
        </p:nvSpPr>
        <p:spPr>
          <a:xfrm flipV="1">
            <a:off x="4200827" y="5507065"/>
            <a:ext cx="105067" cy="24689"/>
          </a:xfrm>
          <a:prstGeom prst="line">
            <a:avLst/>
          </a:prstGeom>
          <a:noFill/>
          <a:ln w="44450">
            <a:solidFill>
              <a:srgbClr val="A0824E"/>
            </a:solidFill>
            <a:prstDash val="solid"/>
          </a:ln>
        </p:spPr>
        <p:txBody>
          <a:bodyPr/>
          <a:lstStyle/>
          <a:p>
            <a:endParaRPr lang="en-US"/>
          </a:p>
        </p:txBody>
      </p:sp>
      <p:sp>
        <p:nvSpPr>
          <p:cNvPr id="41" name="Shape 39"/>
          <p:cNvSpPr/>
          <p:nvPr/>
        </p:nvSpPr>
        <p:spPr>
          <a:xfrm flipV="1">
            <a:off x="4305894" y="5481279"/>
            <a:ext cx="104111" cy="25786"/>
          </a:xfrm>
          <a:prstGeom prst="line">
            <a:avLst/>
          </a:prstGeom>
          <a:noFill/>
          <a:ln w="44450">
            <a:solidFill>
              <a:srgbClr val="A0824E"/>
            </a:solidFill>
            <a:prstDash val="solid"/>
          </a:ln>
        </p:spPr>
        <p:txBody>
          <a:bodyPr/>
          <a:lstStyle/>
          <a:p>
            <a:endParaRPr lang="en-US"/>
          </a:p>
        </p:txBody>
      </p:sp>
      <p:sp>
        <p:nvSpPr>
          <p:cNvPr id="42" name="Shape 40"/>
          <p:cNvSpPr/>
          <p:nvPr/>
        </p:nvSpPr>
        <p:spPr>
          <a:xfrm flipV="1">
            <a:off x="4410005" y="5454396"/>
            <a:ext cx="103416" cy="26883"/>
          </a:xfrm>
          <a:prstGeom prst="line">
            <a:avLst/>
          </a:prstGeom>
          <a:noFill/>
          <a:ln w="44450">
            <a:solidFill>
              <a:srgbClr val="A0824E"/>
            </a:solidFill>
            <a:prstDash val="solid"/>
          </a:ln>
        </p:spPr>
        <p:txBody>
          <a:bodyPr/>
          <a:lstStyle/>
          <a:p>
            <a:endParaRPr lang="en-US"/>
          </a:p>
        </p:txBody>
      </p:sp>
      <p:sp>
        <p:nvSpPr>
          <p:cNvPr id="43" name="Shape 41"/>
          <p:cNvSpPr/>
          <p:nvPr/>
        </p:nvSpPr>
        <p:spPr>
          <a:xfrm flipV="1">
            <a:off x="4513421" y="5426415"/>
            <a:ext cx="102982" cy="27981"/>
          </a:xfrm>
          <a:prstGeom prst="line">
            <a:avLst/>
          </a:prstGeom>
          <a:noFill/>
          <a:ln w="44450">
            <a:solidFill>
              <a:srgbClr val="A0824E"/>
            </a:solidFill>
            <a:prstDash val="solid"/>
          </a:ln>
        </p:spPr>
        <p:txBody>
          <a:bodyPr/>
          <a:lstStyle/>
          <a:p>
            <a:endParaRPr lang="en-US"/>
          </a:p>
        </p:txBody>
      </p:sp>
      <p:sp>
        <p:nvSpPr>
          <p:cNvPr id="44" name="Shape 42"/>
          <p:cNvSpPr/>
          <p:nvPr/>
        </p:nvSpPr>
        <p:spPr>
          <a:xfrm flipV="1">
            <a:off x="4616403" y="5397337"/>
            <a:ext cx="102808" cy="29078"/>
          </a:xfrm>
          <a:prstGeom prst="line">
            <a:avLst/>
          </a:prstGeom>
          <a:noFill/>
          <a:ln w="44450">
            <a:solidFill>
              <a:srgbClr val="A0824E"/>
            </a:solidFill>
            <a:prstDash val="solid"/>
          </a:ln>
        </p:spPr>
        <p:txBody>
          <a:bodyPr/>
          <a:lstStyle/>
          <a:p>
            <a:endParaRPr lang="en-US"/>
          </a:p>
        </p:txBody>
      </p:sp>
      <p:sp>
        <p:nvSpPr>
          <p:cNvPr id="45" name="Shape 43"/>
          <p:cNvSpPr/>
          <p:nvPr/>
        </p:nvSpPr>
        <p:spPr>
          <a:xfrm flipV="1">
            <a:off x="4719212" y="5367162"/>
            <a:ext cx="102895" cy="30175"/>
          </a:xfrm>
          <a:prstGeom prst="line">
            <a:avLst/>
          </a:prstGeom>
          <a:noFill/>
          <a:ln w="44450">
            <a:solidFill>
              <a:srgbClr val="A0824E"/>
            </a:solidFill>
            <a:prstDash val="solid"/>
          </a:ln>
        </p:spPr>
        <p:txBody>
          <a:bodyPr/>
          <a:lstStyle/>
          <a:p>
            <a:endParaRPr lang="en-US"/>
          </a:p>
        </p:txBody>
      </p:sp>
      <p:sp>
        <p:nvSpPr>
          <p:cNvPr id="46" name="Shape 44"/>
          <p:cNvSpPr/>
          <p:nvPr/>
        </p:nvSpPr>
        <p:spPr>
          <a:xfrm flipV="1">
            <a:off x="4822107" y="5335890"/>
            <a:ext cx="103243" cy="31272"/>
          </a:xfrm>
          <a:prstGeom prst="line">
            <a:avLst/>
          </a:prstGeom>
          <a:noFill/>
          <a:ln w="44450">
            <a:solidFill>
              <a:srgbClr val="A0824E"/>
            </a:solidFill>
            <a:prstDash val="solid"/>
          </a:ln>
        </p:spPr>
        <p:txBody>
          <a:bodyPr/>
          <a:lstStyle/>
          <a:p>
            <a:endParaRPr lang="en-US"/>
          </a:p>
        </p:txBody>
      </p:sp>
      <p:sp>
        <p:nvSpPr>
          <p:cNvPr id="47" name="Shape 45"/>
          <p:cNvSpPr/>
          <p:nvPr/>
        </p:nvSpPr>
        <p:spPr>
          <a:xfrm flipV="1">
            <a:off x="4925349" y="5303520"/>
            <a:ext cx="103851" cy="32370"/>
          </a:xfrm>
          <a:prstGeom prst="line">
            <a:avLst/>
          </a:prstGeom>
          <a:noFill/>
          <a:ln w="44450">
            <a:solidFill>
              <a:srgbClr val="A0824E"/>
            </a:solidFill>
            <a:prstDash val="solid"/>
          </a:ln>
        </p:spPr>
        <p:txBody>
          <a:bodyPr/>
          <a:lstStyle/>
          <a:p>
            <a:endParaRPr lang="en-US"/>
          </a:p>
        </p:txBody>
      </p:sp>
      <p:sp>
        <p:nvSpPr>
          <p:cNvPr id="48" name="Shape 46"/>
          <p:cNvSpPr/>
          <p:nvPr/>
        </p:nvSpPr>
        <p:spPr>
          <a:xfrm>
            <a:off x="5029200" y="5303520"/>
            <a:ext cx="914" cy="914"/>
          </a:xfrm>
          <a:prstGeom prst="line">
            <a:avLst/>
          </a:prstGeom>
          <a:noFill/>
          <a:ln w="44450">
            <a:solidFill>
              <a:srgbClr val="A0824E"/>
            </a:solidFill>
            <a:prstDash val="solid"/>
          </a:ln>
        </p:spPr>
        <p:txBody>
          <a:bodyPr/>
          <a:lstStyle/>
          <a:p>
            <a:endParaRPr lang="en-US"/>
          </a:p>
        </p:txBody>
      </p:sp>
      <p:sp>
        <p:nvSpPr>
          <p:cNvPr id="49" name="Shape 47"/>
          <p:cNvSpPr/>
          <p:nvPr/>
        </p:nvSpPr>
        <p:spPr>
          <a:xfrm flipV="1">
            <a:off x="5029200" y="5269806"/>
            <a:ext cx="103851" cy="33714"/>
          </a:xfrm>
          <a:prstGeom prst="line">
            <a:avLst/>
          </a:prstGeom>
          <a:noFill/>
          <a:ln w="44450">
            <a:solidFill>
              <a:srgbClr val="A0824E"/>
            </a:solidFill>
            <a:prstDash val="solid"/>
          </a:ln>
        </p:spPr>
        <p:txBody>
          <a:bodyPr/>
          <a:lstStyle/>
          <a:p>
            <a:endParaRPr lang="en-US"/>
          </a:p>
        </p:txBody>
      </p:sp>
      <p:sp>
        <p:nvSpPr>
          <p:cNvPr id="50" name="Shape 48"/>
          <p:cNvSpPr/>
          <p:nvPr/>
        </p:nvSpPr>
        <p:spPr>
          <a:xfrm flipV="1">
            <a:off x="5133051" y="5234611"/>
            <a:ext cx="103243" cy="35195"/>
          </a:xfrm>
          <a:prstGeom prst="line">
            <a:avLst/>
          </a:prstGeom>
          <a:noFill/>
          <a:ln w="44450">
            <a:solidFill>
              <a:srgbClr val="A0824E"/>
            </a:solidFill>
            <a:prstDash val="solid"/>
          </a:ln>
        </p:spPr>
        <p:txBody>
          <a:bodyPr/>
          <a:lstStyle/>
          <a:p>
            <a:endParaRPr lang="en-US"/>
          </a:p>
        </p:txBody>
      </p:sp>
      <p:sp>
        <p:nvSpPr>
          <p:cNvPr id="51" name="Shape 49"/>
          <p:cNvSpPr/>
          <p:nvPr/>
        </p:nvSpPr>
        <p:spPr>
          <a:xfrm flipV="1">
            <a:off x="5236293" y="5198099"/>
            <a:ext cx="102895" cy="36512"/>
          </a:xfrm>
          <a:prstGeom prst="line">
            <a:avLst/>
          </a:prstGeom>
          <a:noFill/>
          <a:ln w="44450">
            <a:solidFill>
              <a:srgbClr val="A0824E"/>
            </a:solidFill>
            <a:prstDash val="solid"/>
          </a:ln>
        </p:spPr>
        <p:txBody>
          <a:bodyPr/>
          <a:lstStyle/>
          <a:p>
            <a:endParaRPr lang="en-US"/>
          </a:p>
        </p:txBody>
      </p:sp>
      <p:sp>
        <p:nvSpPr>
          <p:cNvPr id="52" name="Shape 50"/>
          <p:cNvSpPr/>
          <p:nvPr/>
        </p:nvSpPr>
        <p:spPr>
          <a:xfrm flipV="1">
            <a:off x="5339188" y="5160435"/>
            <a:ext cx="102808" cy="37664"/>
          </a:xfrm>
          <a:prstGeom prst="line">
            <a:avLst/>
          </a:prstGeom>
          <a:noFill/>
          <a:ln w="44450">
            <a:solidFill>
              <a:srgbClr val="A0824E"/>
            </a:solidFill>
            <a:prstDash val="solid"/>
          </a:ln>
        </p:spPr>
        <p:txBody>
          <a:bodyPr/>
          <a:lstStyle/>
          <a:p>
            <a:endParaRPr lang="en-US"/>
          </a:p>
        </p:txBody>
      </p:sp>
      <p:sp>
        <p:nvSpPr>
          <p:cNvPr id="53" name="Shape 51"/>
          <p:cNvSpPr/>
          <p:nvPr/>
        </p:nvSpPr>
        <p:spPr>
          <a:xfrm flipV="1">
            <a:off x="5441997" y="5121783"/>
            <a:ext cx="102982" cy="38652"/>
          </a:xfrm>
          <a:prstGeom prst="line">
            <a:avLst/>
          </a:prstGeom>
          <a:noFill/>
          <a:ln w="44450">
            <a:solidFill>
              <a:srgbClr val="A0824E"/>
            </a:solidFill>
            <a:prstDash val="solid"/>
          </a:ln>
        </p:spPr>
        <p:txBody>
          <a:bodyPr/>
          <a:lstStyle/>
          <a:p>
            <a:endParaRPr lang="en-US"/>
          </a:p>
        </p:txBody>
      </p:sp>
      <p:sp>
        <p:nvSpPr>
          <p:cNvPr id="54" name="Shape 52"/>
          <p:cNvSpPr/>
          <p:nvPr/>
        </p:nvSpPr>
        <p:spPr>
          <a:xfrm flipV="1">
            <a:off x="5544979" y="5082308"/>
            <a:ext cx="103416" cy="39475"/>
          </a:xfrm>
          <a:prstGeom prst="line">
            <a:avLst/>
          </a:prstGeom>
          <a:noFill/>
          <a:ln w="44450">
            <a:solidFill>
              <a:srgbClr val="A0824E"/>
            </a:solidFill>
            <a:prstDash val="solid"/>
          </a:ln>
        </p:spPr>
        <p:txBody>
          <a:bodyPr/>
          <a:lstStyle/>
          <a:p>
            <a:endParaRPr lang="en-US"/>
          </a:p>
        </p:txBody>
      </p:sp>
      <p:sp>
        <p:nvSpPr>
          <p:cNvPr id="55" name="Shape 53"/>
          <p:cNvSpPr/>
          <p:nvPr/>
        </p:nvSpPr>
        <p:spPr>
          <a:xfrm flipV="1">
            <a:off x="5648395" y="5042175"/>
            <a:ext cx="104111" cy="40133"/>
          </a:xfrm>
          <a:prstGeom prst="line">
            <a:avLst/>
          </a:prstGeom>
          <a:noFill/>
          <a:ln w="44450">
            <a:solidFill>
              <a:srgbClr val="A0824E"/>
            </a:solidFill>
            <a:prstDash val="solid"/>
          </a:ln>
        </p:spPr>
        <p:txBody>
          <a:bodyPr/>
          <a:lstStyle/>
          <a:p>
            <a:endParaRPr lang="en-US"/>
          </a:p>
        </p:txBody>
      </p:sp>
      <p:sp>
        <p:nvSpPr>
          <p:cNvPr id="56" name="Shape 54"/>
          <p:cNvSpPr/>
          <p:nvPr/>
        </p:nvSpPr>
        <p:spPr>
          <a:xfrm flipV="1">
            <a:off x="5752506" y="5001549"/>
            <a:ext cx="105067" cy="40627"/>
          </a:xfrm>
          <a:prstGeom prst="line">
            <a:avLst/>
          </a:prstGeom>
          <a:noFill/>
          <a:ln w="44450">
            <a:solidFill>
              <a:srgbClr val="A0824E"/>
            </a:solidFill>
            <a:prstDash val="solid"/>
          </a:ln>
        </p:spPr>
        <p:txBody>
          <a:bodyPr/>
          <a:lstStyle/>
          <a:p>
            <a:endParaRPr lang="en-US"/>
          </a:p>
        </p:txBody>
      </p:sp>
      <p:sp>
        <p:nvSpPr>
          <p:cNvPr id="57" name="Shape 55"/>
          <p:cNvSpPr/>
          <p:nvPr/>
        </p:nvSpPr>
        <p:spPr>
          <a:xfrm flipV="1">
            <a:off x="5857573" y="4960593"/>
            <a:ext cx="106283" cy="40956"/>
          </a:xfrm>
          <a:prstGeom prst="line">
            <a:avLst/>
          </a:prstGeom>
          <a:noFill/>
          <a:ln w="44450">
            <a:solidFill>
              <a:srgbClr val="A0824E"/>
            </a:solidFill>
            <a:prstDash val="solid"/>
          </a:ln>
        </p:spPr>
        <p:txBody>
          <a:bodyPr/>
          <a:lstStyle/>
          <a:p>
            <a:endParaRPr lang="en-US"/>
          </a:p>
        </p:txBody>
      </p:sp>
      <p:sp>
        <p:nvSpPr>
          <p:cNvPr id="58" name="Shape 56"/>
          <p:cNvSpPr/>
          <p:nvPr/>
        </p:nvSpPr>
        <p:spPr>
          <a:xfrm flipV="1">
            <a:off x="5963856" y="4919472"/>
            <a:ext cx="107760" cy="41121"/>
          </a:xfrm>
          <a:prstGeom prst="line">
            <a:avLst/>
          </a:prstGeom>
          <a:noFill/>
          <a:ln w="44450">
            <a:solidFill>
              <a:srgbClr val="A0824E"/>
            </a:solidFill>
            <a:prstDash val="solid"/>
          </a:ln>
        </p:spPr>
        <p:txBody>
          <a:bodyPr/>
          <a:lstStyle/>
          <a:p>
            <a:endParaRPr lang="en-US"/>
          </a:p>
        </p:txBody>
      </p:sp>
      <p:sp>
        <p:nvSpPr>
          <p:cNvPr id="59" name="Shape 57"/>
          <p:cNvSpPr/>
          <p:nvPr/>
        </p:nvSpPr>
        <p:spPr>
          <a:xfrm flipH="1">
            <a:off x="6071616" y="4919472"/>
            <a:ext cx="914" cy="914"/>
          </a:xfrm>
          <a:prstGeom prst="line">
            <a:avLst/>
          </a:prstGeom>
          <a:noFill/>
          <a:ln w="44450">
            <a:solidFill>
              <a:srgbClr val="A0824E"/>
            </a:solidFill>
            <a:prstDash val="solid"/>
          </a:ln>
        </p:spPr>
        <p:txBody>
          <a:bodyPr/>
          <a:lstStyle/>
          <a:p>
            <a:endParaRPr lang="en-US"/>
          </a:p>
        </p:txBody>
      </p:sp>
      <p:sp>
        <p:nvSpPr>
          <p:cNvPr id="60" name="Shape 58"/>
          <p:cNvSpPr/>
          <p:nvPr/>
        </p:nvSpPr>
        <p:spPr>
          <a:xfrm flipV="1">
            <a:off x="6071616" y="4877474"/>
            <a:ext cx="109801" cy="41998"/>
          </a:xfrm>
          <a:prstGeom prst="line">
            <a:avLst/>
          </a:prstGeom>
          <a:noFill/>
          <a:ln w="44450">
            <a:solidFill>
              <a:srgbClr val="A0824E"/>
            </a:solidFill>
            <a:prstDash val="solid"/>
          </a:ln>
        </p:spPr>
        <p:txBody>
          <a:bodyPr/>
          <a:lstStyle/>
          <a:p>
            <a:endParaRPr lang="en-US"/>
          </a:p>
        </p:txBody>
      </p:sp>
      <p:sp>
        <p:nvSpPr>
          <p:cNvPr id="61" name="Shape 59"/>
          <p:cNvSpPr/>
          <p:nvPr/>
        </p:nvSpPr>
        <p:spPr>
          <a:xfrm flipV="1">
            <a:off x="6181417" y="4834030"/>
            <a:ext cx="111886" cy="43443"/>
          </a:xfrm>
          <a:prstGeom prst="line">
            <a:avLst/>
          </a:prstGeom>
          <a:noFill/>
          <a:ln w="44450">
            <a:solidFill>
              <a:srgbClr val="A0824E"/>
            </a:solidFill>
            <a:prstDash val="solid"/>
          </a:ln>
        </p:spPr>
        <p:txBody>
          <a:bodyPr/>
          <a:lstStyle/>
          <a:p>
            <a:endParaRPr lang="en-US"/>
          </a:p>
        </p:txBody>
      </p:sp>
      <p:sp>
        <p:nvSpPr>
          <p:cNvPr id="62" name="Shape 60"/>
          <p:cNvSpPr/>
          <p:nvPr/>
        </p:nvSpPr>
        <p:spPr>
          <a:xfrm flipV="1">
            <a:off x="6293303" y="4789527"/>
            <a:ext cx="113450" cy="44504"/>
          </a:xfrm>
          <a:prstGeom prst="line">
            <a:avLst/>
          </a:prstGeom>
          <a:noFill/>
          <a:ln w="44450">
            <a:solidFill>
              <a:srgbClr val="A0824E"/>
            </a:solidFill>
            <a:prstDash val="solid"/>
          </a:ln>
        </p:spPr>
        <p:txBody>
          <a:bodyPr/>
          <a:lstStyle/>
          <a:p>
            <a:endParaRPr lang="en-US"/>
          </a:p>
        </p:txBody>
      </p:sp>
      <p:sp>
        <p:nvSpPr>
          <p:cNvPr id="63" name="Shape 61"/>
          <p:cNvSpPr/>
          <p:nvPr/>
        </p:nvSpPr>
        <p:spPr>
          <a:xfrm flipV="1">
            <a:off x="6406753" y="4744346"/>
            <a:ext cx="114492" cy="45181"/>
          </a:xfrm>
          <a:prstGeom prst="line">
            <a:avLst/>
          </a:prstGeom>
          <a:noFill/>
          <a:ln w="44450">
            <a:solidFill>
              <a:srgbClr val="A0824E"/>
            </a:solidFill>
            <a:prstDash val="solid"/>
          </a:ln>
        </p:spPr>
        <p:txBody>
          <a:bodyPr/>
          <a:lstStyle/>
          <a:p>
            <a:endParaRPr lang="en-US"/>
          </a:p>
        </p:txBody>
      </p:sp>
      <p:sp>
        <p:nvSpPr>
          <p:cNvPr id="64" name="Shape 62"/>
          <p:cNvSpPr/>
          <p:nvPr/>
        </p:nvSpPr>
        <p:spPr>
          <a:xfrm flipV="1">
            <a:off x="6521245" y="4698873"/>
            <a:ext cx="115013" cy="45473"/>
          </a:xfrm>
          <a:prstGeom prst="line">
            <a:avLst/>
          </a:prstGeom>
          <a:noFill/>
          <a:ln w="44450">
            <a:solidFill>
              <a:srgbClr val="A0824E"/>
            </a:solidFill>
            <a:prstDash val="solid"/>
          </a:ln>
        </p:spPr>
        <p:txBody>
          <a:bodyPr/>
          <a:lstStyle/>
          <a:p>
            <a:endParaRPr lang="en-US"/>
          </a:p>
        </p:txBody>
      </p:sp>
      <p:sp>
        <p:nvSpPr>
          <p:cNvPr id="65" name="Shape 63"/>
          <p:cNvSpPr/>
          <p:nvPr/>
        </p:nvSpPr>
        <p:spPr>
          <a:xfrm flipV="1">
            <a:off x="6636258" y="4653491"/>
            <a:ext cx="115013" cy="45382"/>
          </a:xfrm>
          <a:prstGeom prst="line">
            <a:avLst/>
          </a:prstGeom>
          <a:noFill/>
          <a:ln w="44450">
            <a:solidFill>
              <a:srgbClr val="A0824E"/>
            </a:solidFill>
            <a:prstDash val="solid"/>
          </a:ln>
        </p:spPr>
        <p:txBody>
          <a:bodyPr/>
          <a:lstStyle/>
          <a:p>
            <a:endParaRPr lang="en-US"/>
          </a:p>
        </p:txBody>
      </p:sp>
      <p:sp>
        <p:nvSpPr>
          <p:cNvPr id="66" name="Shape 64"/>
          <p:cNvSpPr/>
          <p:nvPr/>
        </p:nvSpPr>
        <p:spPr>
          <a:xfrm flipV="1">
            <a:off x="6751271" y="4608585"/>
            <a:ext cx="114492" cy="44906"/>
          </a:xfrm>
          <a:prstGeom prst="line">
            <a:avLst/>
          </a:prstGeom>
          <a:noFill/>
          <a:ln w="44450">
            <a:solidFill>
              <a:srgbClr val="A0824E"/>
            </a:solidFill>
            <a:prstDash val="solid"/>
          </a:ln>
        </p:spPr>
        <p:txBody>
          <a:bodyPr/>
          <a:lstStyle/>
          <a:p>
            <a:endParaRPr lang="en-US"/>
          </a:p>
        </p:txBody>
      </p:sp>
      <p:sp>
        <p:nvSpPr>
          <p:cNvPr id="67" name="Shape 65"/>
          <p:cNvSpPr/>
          <p:nvPr/>
        </p:nvSpPr>
        <p:spPr>
          <a:xfrm flipV="1">
            <a:off x="6865763" y="4564538"/>
            <a:ext cx="113450" cy="44047"/>
          </a:xfrm>
          <a:prstGeom prst="line">
            <a:avLst/>
          </a:prstGeom>
          <a:noFill/>
          <a:ln w="44450">
            <a:solidFill>
              <a:srgbClr val="A0824E"/>
            </a:solidFill>
            <a:prstDash val="solid"/>
          </a:ln>
        </p:spPr>
        <p:txBody>
          <a:bodyPr/>
          <a:lstStyle/>
          <a:p>
            <a:endParaRPr lang="en-US"/>
          </a:p>
        </p:txBody>
      </p:sp>
      <p:sp>
        <p:nvSpPr>
          <p:cNvPr id="68" name="Shape 66"/>
          <p:cNvSpPr/>
          <p:nvPr/>
        </p:nvSpPr>
        <p:spPr>
          <a:xfrm flipV="1">
            <a:off x="6979213" y="4521735"/>
            <a:ext cx="111886" cy="42803"/>
          </a:xfrm>
          <a:prstGeom prst="line">
            <a:avLst/>
          </a:prstGeom>
          <a:noFill/>
          <a:ln w="44450">
            <a:solidFill>
              <a:srgbClr val="A0824E"/>
            </a:solidFill>
            <a:prstDash val="solid"/>
          </a:ln>
        </p:spPr>
        <p:txBody>
          <a:bodyPr/>
          <a:lstStyle/>
          <a:p>
            <a:endParaRPr lang="en-US"/>
          </a:p>
        </p:txBody>
      </p:sp>
      <p:sp>
        <p:nvSpPr>
          <p:cNvPr id="69" name="Shape 67"/>
          <p:cNvSpPr/>
          <p:nvPr/>
        </p:nvSpPr>
        <p:spPr>
          <a:xfrm flipV="1">
            <a:off x="7091099" y="4480560"/>
            <a:ext cx="109801" cy="41175"/>
          </a:xfrm>
          <a:prstGeom prst="line">
            <a:avLst/>
          </a:prstGeom>
          <a:noFill/>
          <a:ln w="44450">
            <a:solidFill>
              <a:srgbClr val="A0824E"/>
            </a:solidFill>
            <a:prstDash val="solid"/>
          </a:ln>
        </p:spPr>
        <p:txBody>
          <a:bodyPr/>
          <a:lstStyle/>
          <a:p>
            <a:endParaRPr lang="en-US"/>
          </a:p>
        </p:txBody>
      </p:sp>
      <p:sp>
        <p:nvSpPr>
          <p:cNvPr id="70" name="Shape 68"/>
          <p:cNvSpPr/>
          <p:nvPr/>
        </p:nvSpPr>
        <p:spPr>
          <a:xfrm flipH="1">
            <a:off x="7200900" y="4480560"/>
            <a:ext cx="914" cy="914"/>
          </a:xfrm>
          <a:prstGeom prst="line">
            <a:avLst/>
          </a:prstGeom>
          <a:noFill/>
          <a:ln w="44450">
            <a:solidFill>
              <a:srgbClr val="A0824E"/>
            </a:solidFill>
            <a:prstDash val="solid"/>
          </a:ln>
        </p:spPr>
        <p:txBody>
          <a:bodyPr/>
          <a:lstStyle/>
          <a:p>
            <a:endParaRPr lang="en-US"/>
          </a:p>
        </p:txBody>
      </p:sp>
      <p:sp>
        <p:nvSpPr>
          <p:cNvPr id="71" name="Shape 69"/>
          <p:cNvSpPr/>
          <p:nvPr/>
        </p:nvSpPr>
        <p:spPr>
          <a:xfrm flipV="1">
            <a:off x="7200900" y="4440404"/>
            <a:ext cx="107369" cy="40156"/>
          </a:xfrm>
          <a:prstGeom prst="line">
            <a:avLst/>
          </a:prstGeom>
          <a:noFill/>
          <a:ln w="44450">
            <a:solidFill>
              <a:srgbClr val="A0824E"/>
            </a:solidFill>
            <a:prstDash val="solid"/>
          </a:ln>
        </p:spPr>
        <p:txBody>
          <a:bodyPr/>
          <a:lstStyle/>
          <a:p>
            <a:endParaRPr lang="en-US"/>
          </a:p>
        </p:txBody>
      </p:sp>
      <p:sp>
        <p:nvSpPr>
          <p:cNvPr id="72" name="Shape 70"/>
          <p:cNvSpPr/>
          <p:nvPr/>
        </p:nvSpPr>
        <p:spPr>
          <a:xfrm flipV="1">
            <a:off x="7308269" y="4400532"/>
            <a:ext cx="105284" cy="39872"/>
          </a:xfrm>
          <a:prstGeom prst="line">
            <a:avLst/>
          </a:prstGeom>
          <a:noFill/>
          <a:ln w="44450">
            <a:solidFill>
              <a:srgbClr val="A0824E"/>
            </a:solidFill>
            <a:prstDash val="solid"/>
          </a:ln>
        </p:spPr>
        <p:txBody>
          <a:bodyPr/>
          <a:lstStyle/>
          <a:p>
            <a:endParaRPr lang="en-US"/>
          </a:p>
        </p:txBody>
      </p:sp>
      <p:sp>
        <p:nvSpPr>
          <p:cNvPr id="73" name="Shape 71"/>
          <p:cNvSpPr/>
          <p:nvPr/>
        </p:nvSpPr>
        <p:spPr>
          <a:xfrm flipV="1">
            <a:off x="7413553" y="4361135"/>
            <a:ext cx="103720" cy="39397"/>
          </a:xfrm>
          <a:prstGeom prst="line">
            <a:avLst/>
          </a:prstGeom>
          <a:noFill/>
          <a:ln w="44450">
            <a:solidFill>
              <a:srgbClr val="A0824E"/>
            </a:solidFill>
            <a:prstDash val="solid"/>
          </a:ln>
        </p:spPr>
        <p:txBody>
          <a:bodyPr/>
          <a:lstStyle/>
          <a:p>
            <a:endParaRPr lang="en-US"/>
          </a:p>
        </p:txBody>
      </p:sp>
      <p:sp>
        <p:nvSpPr>
          <p:cNvPr id="74" name="Shape 72"/>
          <p:cNvSpPr/>
          <p:nvPr/>
        </p:nvSpPr>
        <p:spPr>
          <a:xfrm flipV="1">
            <a:off x="7517273" y="4322405"/>
            <a:ext cx="102678" cy="38729"/>
          </a:xfrm>
          <a:prstGeom prst="line">
            <a:avLst/>
          </a:prstGeom>
          <a:noFill/>
          <a:ln w="44450">
            <a:solidFill>
              <a:srgbClr val="A0824E"/>
            </a:solidFill>
            <a:prstDash val="solid"/>
          </a:ln>
        </p:spPr>
        <p:txBody>
          <a:bodyPr/>
          <a:lstStyle/>
          <a:p>
            <a:endParaRPr lang="en-US"/>
          </a:p>
        </p:txBody>
      </p:sp>
      <p:sp>
        <p:nvSpPr>
          <p:cNvPr id="75" name="Shape 73"/>
          <p:cNvSpPr/>
          <p:nvPr/>
        </p:nvSpPr>
        <p:spPr>
          <a:xfrm flipV="1">
            <a:off x="7619951" y="4284536"/>
            <a:ext cx="102157" cy="37870"/>
          </a:xfrm>
          <a:prstGeom prst="line">
            <a:avLst/>
          </a:prstGeom>
          <a:noFill/>
          <a:ln w="44450">
            <a:solidFill>
              <a:srgbClr val="A0824E"/>
            </a:solidFill>
            <a:prstDash val="solid"/>
          </a:ln>
        </p:spPr>
        <p:txBody>
          <a:bodyPr/>
          <a:lstStyle/>
          <a:p>
            <a:endParaRPr lang="en-US"/>
          </a:p>
        </p:txBody>
      </p:sp>
      <p:sp>
        <p:nvSpPr>
          <p:cNvPr id="76" name="Shape 74"/>
          <p:cNvSpPr/>
          <p:nvPr/>
        </p:nvSpPr>
        <p:spPr>
          <a:xfrm flipV="1">
            <a:off x="7722108" y="4247717"/>
            <a:ext cx="102157" cy="36818"/>
          </a:xfrm>
          <a:prstGeom prst="line">
            <a:avLst/>
          </a:prstGeom>
          <a:noFill/>
          <a:ln w="44450">
            <a:solidFill>
              <a:srgbClr val="A0824E"/>
            </a:solidFill>
            <a:prstDash val="solid"/>
          </a:ln>
        </p:spPr>
        <p:txBody>
          <a:bodyPr/>
          <a:lstStyle/>
          <a:p>
            <a:endParaRPr lang="en-US"/>
          </a:p>
        </p:txBody>
      </p:sp>
      <p:sp>
        <p:nvSpPr>
          <p:cNvPr id="77" name="Shape 75"/>
          <p:cNvSpPr/>
          <p:nvPr/>
        </p:nvSpPr>
        <p:spPr>
          <a:xfrm flipV="1">
            <a:off x="7824265" y="4212142"/>
            <a:ext cx="102678" cy="35575"/>
          </a:xfrm>
          <a:prstGeom prst="line">
            <a:avLst/>
          </a:prstGeom>
          <a:noFill/>
          <a:ln w="44450">
            <a:solidFill>
              <a:srgbClr val="A0824E"/>
            </a:solidFill>
            <a:prstDash val="solid"/>
          </a:ln>
        </p:spPr>
        <p:txBody>
          <a:bodyPr/>
          <a:lstStyle/>
          <a:p>
            <a:endParaRPr lang="en-US"/>
          </a:p>
        </p:txBody>
      </p:sp>
      <p:sp>
        <p:nvSpPr>
          <p:cNvPr id="78" name="Shape 76"/>
          <p:cNvSpPr/>
          <p:nvPr/>
        </p:nvSpPr>
        <p:spPr>
          <a:xfrm flipV="1">
            <a:off x="7926943" y="4178003"/>
            <a:ext cx="103720" cy="34139"/>
          </a:xfrm>
          <a:prstGeom prst="line">
            <a:avLst/>
          </a:prstGeom>
          <a:noFill/>
          <a:ln w="44450">
            <a:solidFill>
              <a:srgbClr val="A0824E"/>
            </a:solidFill>
            <a:prstDash val="solid"/>
          </a:ln>
        </p:spPr>
        <p:txBody>
          <a:bodyPr/>
          <a:lstStyle/>
          <a:p>
            <a:endParaRPr lang="en-US"/>
          </a:p>
        </p:txBody>
      </p:sp>
      <p:sp>
        <p:nvSpPr>
          <p:cNvPr id="79" name="Shape 77"/>
          <p:cNvSpPr/>
          <p:nvPr/>
        </p:nvSpPr>
        <p:spPr>
          <a:xfrm flipV="1">
            <a:off x="8030663" y="4145492"/>
            <a:ext cx="105284" cy="32511"/>
          </a:xfrm>
          <a:prstGeom prst="line">
            <a:avLst/>
          </a:prstGeom>
          <a:noFill/>
          <a:ln w="44450">
            <a:solidFill>
              <a:srgbClr val="A0824E"/>
            </a:solidFill>
            <a:prstDash val="solid"/>
          </a:ln>
        </p:spPr>
        <p:txBody>
          <a:bodyPr/>
          <a:lstStyle/>
          <a:p>
            <a:endParaRPr lang="en-US"/>
          </a:p>
        </p:txBody>
      </p:sp>
      <p:sp>
        <p:nvSpPr>
          <p:cNvPr id="80" name="Shape 78"/>
          <p:cNvSpPr/>
          <p:nvPr/>
        </p:nvSpPr>
        <p:spPr>
          <a:xfrm flipV="1">
            <a:off x="8135947" y="4114800"/>
            <a:ext cx="107369" cy="30692"/>
          </a:xfrm>
          <a:prstGeom prst="line">
            <a:avLst/>
          </a:prstGeom>
          <a:noFill/>
          <a:ln w="44450">
            <a:solidFill>
              <a:srgbClr val="A0824E"/>
            </a:solidFill>
            <a:prstDash val="solid"/>
          </a:ln>
        </p:spPr>
        <p:txBody>
          <a:bodyPr/>
          <a:lstStyle/>
          <a:p>
            <a:endParaRPr lang="en-US"/>
          </a:p>
        </p:txBody>
      </p:sp>
      <p:sp>
        <p:nvSpPr>
          <p:cNvPr id="81" name="Shape 79"/>
          <p:cNvSpPr/>
          <p:nvPr/>
        </p:nvSpPr>
        <p:spPr>
          <a:xfrm flipV="1">
            <a:off x="8243316" y="4114800"/>
            <a:ext cx="914" cy="914"/>
          </a:xfrm>
          <a:prstGeom prst="line">
            <a:avLst/>
          </a:prstGeom>
          <a:noFill/>
          <a:ln w="44450">
            <a:solidFill>
              <a:srgbClr val="A0824E"/>
            </a:solidFill>
            <a:prstDash val="solid"/>
          </a:ln>
        </p:spPr>
        <p:txBody>
          <a:bodyPr/>
          <a:lstStyle/>
          <a:p>
            <a:endParaRPr lang="en-US"/>
          </a:p>
        </p:txBody>
      </p:sp>
      <p:sp>
        <p:nvSpPr>
          <p:cNvPr id="82" name="Shape 80"/>
          <p:cNvSpPr/>
          <p:nvPr/>
        </p:nvSpPr>
        <p:spPr>
          <a:xfrm flipV="1">
            <a:off x="8243316" y="4085356"/>
            <a:ext cx="114492" cy="29444"/>
          </a:xfrm>
          <a:prstGeom prst="line">
            <a:avLst/>
          </a:prstGeom>
          <a:noFill/>
          <a:ln w="44450">
            <a:solidFill>
              <a:srgbClr val="A0824E"/>
            </a:solidFill>
            <a:prstDash val="solid"/>
          </a:ln>
        </p:spPr>
        <p:txBody>
          <a:bodyPr/>
          <a:lstStyle/>
          <a:p>
            <a:endParaRPr lang="en-US"/>
          </a:p>
        </p:txBody>
      </p:sp>
      <p:sp>
        <p:nvSpPr>
          <p:cNvPr id="83" name="Shape 81"/>
          <p:cNvSpPr/>
          <p:nvPr/>
        </p:nvSpPr>
        <p:spPr>
          <a:xfrm flipV="1">
            <a:off x="8357808" y="4056644"/>
            <a:ext cx="123874" cy="28712"/>
          </a:xfrm>
          <a:prstGeom prst="line">
            <a:avLst/>
          </a:prstGeom>
          <a:noFill/>
          <a:ln w="44450">
            <a:solidFill>
              <a:srgbClr val="A0824E"/>
            </a:solidFill>
            <a:prstDash val="solid"/>
          </a:ln>
        </p:spPr>
        <p:txBody>
          <a:bodyPr/>
          <a:lstStyle/>
          <a:p>
            <a:endParaRPr lang="en-US"/>
          </a:p>
        </p:txBody>
      </p:sp>
      <p:sp>
        <p:nvSpPr>
          <p:cNvPr id="84" name="Shape 82"/>
          <p:cNvSpPr/>
          <p:nvPr/>
        </p:nvSpPr>
        <p:spPr>
          <a:xfrm flipV="1">
            <a:off x="8481682" y="4028938"/>
            <a:ext cx="129607" cy="27706"/>
          </a:xfrm>
          <a:prstGeom prst="line">
            <a:avLst/>
          </a:prstGeom>
          <a:noFill/>
          <a:ln w="44450">
            <a:solidFill>
              <a:srgbClr val="A0824E"/>
            </a:solidFill>
            <a:prstDash val="solid"/>
          </a:ln>
        </p:spPr>
        <p:txBody>
          <a:bodyPr/>
          <a:lstStyle/>
          <a:p>
            <a:endParaRPr lang="en-US"/>
          </a:p>
        </p:txBody>
      </p:sp>
      <p:sp>
        <p:nvSpPr>
          <p:cNvPr id="85" name="Shape 83"/>
          <p:cNvSpPr/>
          <p:nvPr/>
        </p:nvSpPr>
        <p:spPr>
          <a:xfrm flipV="1">
            <a:off x="8611289" y="4002512"/>
            <a:ext cx="131692" cy="26426"/>
          </a:xfrm>
          <a:prstGeom prst="line">
            <a:avLst/>
          </a:prstGeom>
          <a:noFill/>
          <a:ln w="44450">
            <a:solidFill>
              <a:srgbClr val="A0824E"/>
            </a:solidFill>
            <a:prstDash val="solid"/>
          </a:ln>
        </p:spPr>
        <p:txBody>
          <a:bodyPr/>
          <a:lstStyle/>
          <a:p>
            <a:endParaRPr lang="en-US"/>
          </a:p>
        </p:txBody>
      </p:sp>
      <p:sp>
        <p:nvSpPr>
          <p:cNvPr id="86" name="Shape 84"/>
          <p:cNvSpPr/>
          <p:nvPr/>
        </p:nvSpPr>
        <p:spPr>
          <a:xfrm flipV="1">
            <a:off x="8742981" y="3977640"/>
            <a:ext cx="130128" cy="24872"/>
          </a:xfrm>
          <a:prstGeom prst="line">
            <a:avLst/>
          </a:prstGeom>
          <a:noFill/>
          <a:ln w="44450">
            <a:solidFill>
              <a:srgbClr val="A0824E"/>
            </a:solidFill>
            <a:prstDash val="solid"/>
          </a:ln>
        </p:spPr>
        <p:txBody>
          <a:bodyPr/>
          <a:lstStyle/>
          <a:p>
            <a:endParaRPr lang="en-US"/>
          </a:p>
        </p:txBody>
      </p:sp>
      <p:sp>
        <p:nvSpPr>
          <p:cNvPr id="87" name="Shape 85"/>
          <p:cNvSpPr/>
          <p:nvPr/>
        </p:nvSpPr>
        <p:spPr>
          <a:xfrm flipV="1">
            <a:off x="8873109" y="3954597"/>
            <a:ext cx="124916" cy="23043"/>
          </a:xfrm>
          <a:prstGeom prst="line">
            <a:avLst/>
          </a:prstGeom>
          <a:noFill/>
          <a:ln w="44450">
            <a:solidFill>
              <a:srgbClr val="A0824E"/>
            </a:solidFill>
            <a:prstDash val="solid"/>
          </a:ln>
        </p:spPr>
        <p:txBody>
          <a:bodyPr/>
          <a:lstStyle/>
          <a:p>
            <a:endParaRPr lang="en-US"/>
          </a:p>
        </p:txBody>
      </p:sp>
      <p:sp>
        <p:nvSpPr>
          <p:cNvPr id="88" name="Shape 86"/>
          <p:cNvSpPr/>
          <p:nvPr/>
        </p:nvSpPr>
        <p:spPr>
          <a:xfrm flipV="1">
            <a:off x="8998025" y="3933657"/>
            <a:ext cx="116056" cy="20940"/>
          </a:xfrm>
          <a:prstGeom prst="line">
            <a:avLst/>
          </a:prstGeom>
          <a:noFill/>
          <a:ln w="44450">
            <a:solidFill>
              <a:srgbClr val="A0824E"/>
            </a:solidFill>
            <a:prstDash val="solid"/>
          </a:ln>
        </p:spPr>
        <p:txBody>
          <a:bodyPr/>
          <a:lstStyle/>
          <a:p>
            <a:endParaRPr lang="en-US"/>
          </a:p>
        </p:txBody>
      </p:sp>
      <p:sp>
        <p:nvSpPr>
          <p:cNvPr id="89" name="Shape 87"/>
          <p:cNvSpPr/>
          <p:nvPr/>
        </p:nvSpPr>
        <p:spPr>
          <a:xfrm flipV="1">
            <a:off x="9114081" y="3915095"/>
            <a:ext cx="103547" cy="18562"/>
          </a:xfrm>
          <a:prstGeom prst="line">
            <a:avLst/>
          </a:prstGeom>
          <a:noFill/>
          <a:ln w="44450">
            <a:solidFill>
              <a:srgbClr val="A0824E"/>
            </a:solidFill>
            <a:prstDash val="solid"/>
          </a:ln>
        </p:spPr>
        <p:txBody>
          <a:bodyPr/>
          <a:lstStyle/>
          <a:p>
            <a:endParaRPr lang="en-US"/>
          </a:p>
        </p:txBody>
      </p:sp>
      <p:sp>
        <p:nvSpPr>
          <p:cNvPr id="90" name="Shape 88"/>
          <p:cNvSpPr/>
          <p:nvPr/>
        </p:nvSpPr>
        <p:spPr>
          <a:xfrm flipV="1">
            <a:off x="9217627" y="3899184"/>
            <a:ext cx="87389" cy="15911"/>
          </a:xfrm>
          <a:prstGeom prst="line">
            <a:avLst/>
          </a:prstGeom>
          <a:noFill/>
          <a:ln w="44450">
            <a:solidFill>
              <a:srgbClr val="A0824E"/>
            </a:solidFill>
            <a:prstDash val="solid"/>
          </a:ln>
        </p:spPr>
        <p:txBody>
          <a:bodyPr/>
          <a:lstStyle/>
          <a:p>
            <a:endParaRPr lang="en-US"/>
          </a:p>
        </p:txBody>
      </p:sp>
      <p:sp>
        <p:nvSpPr>
          <p:cNvPr id="91" name="Shape 89"/>
          <p:cNvSpPr/>
          <p:nvPr/>
        </p:nvSpPr>
        <p:spPr>
          <a:xfrm flipV="1">
            <a:off x="9305017" y="3886200"/>
            <a:ext cx="67583" cy="12984"/>
          </a:xfrm>
          <a:prstGeom prst="line">
            <a:avLst/>
          </a:prstGeom>
          <a:noFill/>
          <a:ln w="44450">
            <a:solidFill>
              <a:srgbClr val="A0824E"/>
            </a:solidFill>
            <a:prstDash val="solid"/>
          </a:ln>
        </p:spPr>
        <p:txBody>
          <a:bodyPr/>
          <a:lstStyle/>
          <a:p>
            <a:endParaRPr lang="en-US"/>
          </a:p>
        </p:txBody>
      </p:sp>
      <p:sp>
        <p:nvSpPr>
          <p:cNvPr id="92" name="Text 90"/>
          <p:cNvSpPr/>
          <p:nvPr/>
        </p:nvSpPr>
        <p:spPr>
          <a:xfrm>
            <a:off x="9509760" y="3886200"/>
            <a:ext cx="2651760" cy="274320"/>
          </a:xfrm>
          <a:prstGeom prst="rect">
            <a:avLst/>
          </a:prstGeom>
          <a:noFill/>
          <a:ln/>
        </p:spPr>
        <p:txBody>
          <a:bodyPr wrap="square" lIns="0" tIns="0" rIns="0" bIns="0" rtlCol="0" anchor="ctr"/>
          <a:lstStyle/>
          <a:p>
            <a:pPr marL="0" indent="0" algn="l">
              <a:buNone/>
            </a:pPr>
            <a:r>
              <a:rPr lang="en-US" sz="1100" b="1" kern="0" spc="300" dirty="0">
                <a:solidFill>
                  <a:srgbClr val="A0824E"/>
                </a:solidFill>
                <a:latin typeface="Helvetica" pitchFamily="34" charset="0"/>
                <a:ea typeface="Helvetica" pitchFamily="34" charset="-122"/>
                <a:cs typeface="Helvetica" pitchFamily="34" charset="-120"/>
              </a:rPr>
              <a:t>AI CAPABILITY</a:t>
            </a:r>
            <a:endParaRPr lang="en-US" sz="1100" dirty="0"/>
          </a:p>
        </p:txBody>
      </p:sp>
      <p:sp>
        <p:nvSpPr>
          <p:cNvPr id="93" name="Text 91"/>
          <p:cNvSpPr/>
          <p:nvPr/>
        </p:nvSpPr>
        <p:spPr>
          <a:xfrm>
            <a:off x="9509760" y="4160520"/>
            <a:ext cx="2651760" cy="274320"/>
          </a:xfrm>
          <a:prstGeom prst="rect">
            <a:avLst/>
          </a:prstGeom>
          <a:noFill/>
          <a:ln/>
        </p:spPr>
        <p:txBody>
          <a:bodyPr wrap="square" lIns="0" tIns="0" rIns="0" bIns="0" rtlCol="0" anchor="ctr"/>
          <a:lstStyle/>
          <a:p>
            <a:pPr marL="0" indent="0" algn="l">
              <a:buNone/>
            </a:pPr>
            <a:r>
              <a:rPr lang="en-US" sz="1000" i="1" dirty="0">
                <a:solidFill>
                  <a:srgbClr val="6B6457"/>
                </a:solidFill>
                <a:latin typeface="Helvetica" pitchFamily="34" charset="0"/>
                <a:ea typeface="Helvetica" pitchFamily="34" charset="-122"/>
                <a:cs typeface="Helvetica" pitchFamily="34" charset="-120"/>
              </a:rPr>
              <a:t>exponential, accelerating</a:t>
            </a:r>
            <a:endParaRPr lang="en-US" sz="1000" dirty="0"/>
          </a:p>
        </p:txBody>
      </p:sp>
      <p:sp>
        <p:nvSpPr>
          <p:cNvPr id="94" name="Shape 92"/>
          <p:cNvSpPr/>
          <p:nvPr/>
        </p:nvSpPr>
        <p:spPr>
          <a:xfrm flipV="1">
            <a:off x="685800" y="5921042"/>
            <a:ext cx="129216" cy="4270"/>
          </a:xfrm>
          <a:prstGeom prst="line">
            <a:avLst/>
          </a:prstGeom>
          <a:noFill/>
          <a:ln w="38100">
            <a:solidFill>
              <a:srgbClr val="6B6358"/>
            </a:solidFill>
            <a:prstDash val="solid"/>
          </a:ln>
        </p:spPr>
        <p:txBody>
          <a:bodyPr/>
          <a:lstStyle/>
          <a:p>
            <a:endParaRPr lang="en-US"/>
          </a:p>
        </p:txBody>
      </p:sp>
      <p:sp>
        <p:nvSpPr>
          <p:cNvPr id="95" name="Shape 93"/>
          <p:cNvSpPr/>
          <p:nvPr/>
        </p:nvSpPr>
        <p:spPr>
          <a:xfrm flipV="1">
            <a:off x="815016" y="5915656"/>
            <a:ext cx="166135" cy="5386"/>
          </a:xfrm>
          <a:prstGeom prst="line">
            <a:avLst/>
          </a:prstGeom>
          <a:noFill/>
          <a:ln w="38100">
            <a:solidFill>
              <a:srgbClr val="6B6358"/>
            </a:solidFill>
            <a:prstDash val="solid"/>
          </a:ln>
        </p:spPr>
        <p:txBody>
          <a:bodyPr/>
          <a:lstStyle/>
          <a:p>
            <a:endParaRPr lang="en-US"/>
          </a:p>
        </p:txBody>
      </p:sp>
      <p:sp>
        <p:nvSpPr>
          <p:cNvPr id="96" name="Shape 94"/>
          <p:cNvSpPr/>
          <p:nvPr/>
        </p:nvSpPr>
        <p:spPr>
          <a:xfrm flipV="1">
            <a:off x="981151" y="5909319"/>
            <a:ext cx="196539" cy="6337"/>
          </a:xfrm>
          <a:prstGeom prst="line">
            <a:avLst/>
          </a:prstGeom>
          <a:noFill/>
          <a:ln w="38100">
            <a:solidFill>
              <a:srgbClr val="6B6358"/>
            </a:solidFill>
            <a:prstDash val="solid"/>
          </a:ln>
        </p:spPr>
        <p:txBody>
          <a:bodyPr/>
          <a:lstStyle/>
          <a:p>
            <a:endParaRPr lang="en-US"/>
          </a:p>
        </p:txBody>
      </p:sp>
      <p:sp>
        <p:nvSpPr>
          <p:cNvPr id="97" name="Shape 95"/>
          <p:cNvSpPr/>
          <p:nvPr/>
        </p:nvSpPr>
        <p:spPr>
          <a:xfrm flipV="1">
            <a:off x="1177690" y="5902196"/>
            <a:ext cx="220428" cy="7123"/>
          </a:xfrm>
          <a:prstGeom prst="line">
            <a:avLst/>
          </a:prstGeom>
          <a:noFill/>
          <a:ln w="38100">
            <a:solidFill>
              <a:srgbClr val="6B6358"/>
            </a:solidFill>
            <a:prstDash val="solid"/>
          </a:ln>
        </p:spPr>
        <p:txBody>
          <a:bodyPr/>
          <a:lstStyle/>
          <a:p>
            <a:endParaRPr lang="en-US"/>
          </a:p>
        </p:txBody>
      </p:sp>
      <p:sp>
        <p:nvSpPr>
          <p:cNvPr id="98" name="Shape 96"/>
          <p:cNvSpPr/>
          <p:nvPr/>
        </p:nvSpPr>
        <p:spPr>
          <a:xfrm flipV="1">
            <a:off x="1398118" y="5894451"/>
            <a:ext cx="237801" cy="7745"/>
          </a:xfrm>
          <a:prstGeom prst="line">
            <a:avLst/>
          </a:prstGeom>
          <a:noFill/>
          <a:ln w="38100">
            <a:solidFill>
              <a:srgbClr val="6B6358"/>
            </a:solidFill>
            <a:prstDash val="solid"/>
          </a:ln>
        </p:spPr>
        <p:txBody>
          <a:bodyPr/>
          <a:lstStyle/>
          <a:p>
            <a:endParaRPr lang="en-US"/>
          </a:p>
        </p:txBody>
      </p:sp>
      <p:sp>
        <p:nvSpPr>
          <p:cNvPr id="99" name="Shape 97"/>
          <p:cNvSpPr/>
          <p:nvPr/>
        </p:nvSpPr>
        <p:spPr>
          <a:xfrm flipV="1">
            <a:off x="1635919" y="5886249"/>
            <a:ext cx="248660" cy="8202"/>
          </a:xfrm>
          <a:prstGeom prst="line">
            <a:avLst/>
          </a:prstGeom>
          <a:noFill/>
          <a:ln w="38100">
            <a:solidFill>
              <a:srgbClr val="6B6358"/>
            </a:solidFill>
            <a:prstDash val="solid"/>
          </a:ln>
        </p:spPr>
        <p:txBody>
          <a:bodyPr/>
          <a:lstStyle/>
          <a:p>
            <a:endParaRPr lang="en-US"/>
          </a:p>
        </p:txBody>
      </p:sp>
      <p:sp>
        <p:nvSpPr>
          <p:cNvPr id="100" name="Shape 98"/>
          <p:cNvSpPr/>
          <p:nvPr/>
        </p:nvSpPr>
        <p:spPr>
          <a:xfrm flipV="1">
            <a:off x="1884578" y="5877754"/>
            <a:ext cx="253003" cy="8495"/>
          </a:xfrm>
          <a:prstGeom prst="line">
            <a:avLst/>
          </a:prstGeom>
          <a:noFill/>
          <a:ln w="38100">
            <a:solidFill>
              <a:srgbClr val="6B6358"/>
            </a:solidFill>
            <a:prstDash val="solid"/>
          </a:ln>
        </p:spPr>
        <p:txBody>
          <a:bodyPr/>
          <a:lstStyle/>
          <a:p>
            <a:endParaRPr lang="en-US"/>
          </a:p>
        </p:txBody>
      </p:sp>
      <p:sp>
        <p:nvSpPr>
          <p:cNvPr id="101" name="Shape 99"/>
          <p:cNvSpPr/>
          <p:nvPr/>
        </p:nvSpPr>
        <p:spPr>
          <a:xfrm flipV="1">
            <a:off x="2137581" y="5869131"/>
            <a:ext cx="250831" cy="8623"/>
          </a:xfrm>
          <a:prstGeom prst="line">
            <a:avLst/>
          </a:prstGeom>
          <a:noFill/>
          <a:ln w="38100">
            <a:solidFill>
              <a:srgbClr val="6B6358"/>
            </a:solidFill>
            <a:prstDash val="solid"/>
          </a:ln>
        </p:spPr>
        <p:txBody>
          <a:bodyPr/>
          <a:lstStyle/>
          <a:p>
            <a:endParaRPr lang="en-US"/>
          </a:p>
        </p:txBody>
      </p:sp>
      <p:sp>
        <p:nvSpPr>
          <p:cNvPr id="102" name="Shape 100"/>
          <p:cNvSpPr/>
          <p:nvPr/>
        </p:nvSpPr>
        <p:spPr>
          <a:xfrm flipV="1">
            <a:off x="2388413" y="5860545"/>
            <a:ext cx="242145" cy="8586"/>
          </a:xfrm>
          <a:prstGeom prst="line">
            <a:avLst/>
          </a:prstGeom>
          <a:noFill/>
          <a:ln w="38100">
            <a:solidFill>
              <a:srgbClr val="6B6358"/>
            </a:solidFill>
            <a:prstDash val="solid"/>
          </a:ln>
        </p:spPr>
        <p:txBody>
          <a:bodyPr/>
          <a:lstStyle/>
          <a:p>
            <a:endParaRPr lang="en-US"/>
          </a:p>
        </p:txBody>
      </p:sp>
      <p:sp>
        <p:nvSpPr>
          <p:cNvPr id="103" name="Shape 101"/>
          <p:cNvSpPr/>
          <p:nvPr/>
        </p:nvSpPr>
        <p:spPr>
          <a:xfrm flipV="1">
            <a:off x="2630557" y="5852160"/>
            <a:ext cx="226943" cy="8385"/>
          </a:xfrm>
          <a:prstGeom prst="line">
            <a:avLst/>
          </a:prstGeom>
          <a:noFill/>
          <a:ln w="38100">
            <a:solidFill>
              <a:srgbClr val="6B6358"/>
            </a:solidFill>
            <a:prstDash val="solid"/>
          </a:ln>
        </p:spPr>
        <p:txBody>
          <a:bodyPr/>
          <a:lstStyle/>
          <a:p>
            <a:endParaRPr lang="en-US"/>
          </a:p>
        </p:txBody>
      </p:sp>
      <p:sp>
        <p:nvSpPr>
          <p:cNvPr id="104" name="Shape 102"/>
          <p:cNvSpPr/>
          <p:nvPr/>
        </p:nvSpPr>
        <p:spPr>
          <a:xfrm>
            <a:off x="2857500" y="5852160"/>
            <a:ext cx="914" cy="914"/>
          </a:xfrm>
          <a:prstGeom prst="line">
            <a:avLst/>
          </a:prstGeom>
          <a:noFill/>
          <a:ln w="38100">
            <a:solidFill>
              <a:srgbClr val="6B6358"/>
            </a:solidFill>
            <a:prstDash val="solid"/>
          </a:ln>
        </p:spPr>
        <p:txBody>
          <a:bodyPr/>
          <a:lstStyle/>
          <a:p>
            <a:endParaRPr lang="en-US"/>
          </a:p>
        </p:txBody>
      </p:sp>
      <p:sp>
        <p:nvSpPr>
          <p:cNvPr id="105" name="Shape 103"/>
          <p:cNvSpPr/>
          <p:nvPr/>
        </p:nvSpPr>
        <p:spPr>
          <a:xfrm flipV="1">
            <a:off x="2857500" y="5843839"/>
            <a:ext cx="217170" cy="8321"/>
          </a:xfrm>
          <a:prstGeom prst="line">
            <a:avLst/>
          </a:prstGeom>
          <a:noFill/>
          <a:ln w="38100">
            <a:solidFill>
              <a:srgbClr val="6B6358"/>
            </a:solidFill>
            <a:prstDash val="solid"/>
          </a:ln>
        </p:spPr>
        <p:txBody>
          <a:bodyPr/>
          <a:lstStyle/>
          <a:p>
            <a:endParaRPr lang="en-US"/>
          </a:p>
        </p:txBody>
      </p:sp>
      <p:sp>
        <p:nvSpPr>
          <p:cNvPr id="106" name="Shape 104"/>
          <p:cNvSpPr/>
          <p:nvPr/>
        </p:nvSpPr>
        <p:spPr>
          <a:xfrm flipV="1">
            <a:off x="3074670" y="5835335"/>
            <a:ext cx="217170" cy="8504"/>
          </a:xfrm>
          <a:prstGeom prst="line">
            <a:avLst/>
          </a:prstGeom>
          <a:noFill/>
          <a:ln w="38100">
            <a:solidFill>
              <a:srgbClr val="6B6358"/>
            </a:solidFill>
            <a:prstDash val="solid"/>
          </a:ln>
        </p:spPr>
        <p:txBody>
          <a:bodyPr/>
          <a:lstStyle/>
          <a:p>
            <a:endParaRPr lang="en-US"/>
          </a:p>
        </p:txBody>
      </p:sp>
      <p:sp>
        <p:nvSpPr>
          <p:cNvPr id="107" name="Shape 105"/>
          <p:cNvSpPr/>
          <p:nvPr/>
        </p:nvSpPr>
        <p:spPr>
          <a:xfrm flipV="1">
            <a:off x="3291840" y="5826648"/>
            <a:ext cx="217170" cy="8687"/>
          </a:xfrm>
          <a:prstGeom prst="line">
            <a:avLst/>
          </a:prstGeom>
          <a:noFill/>
          <a:ln w="38100">
            <a:solidFill>
              <a:srgbClr val="6B6358"/>
            </a:solidFill>
            <a:prstDash val="solid"/>
          </a:ln>
        </p:spPr>
        <p:txBody>
          <a:bodyPr/>
          <a:lstStyle/>
          <a:p>
            <a:endParaRPr lang="en-US"/>
          </a:p>
        </p:txBody>
      </p:sp>
      <p:sp>
        <p:nvSpPr>
          <p:cNvPr id="108" name="Shape 106"/>
          <p:cNvSpPr/>
          <p:nvPr/>
        </p:nvSpPr>
        <p:spPr>
          <a:xfrm flipV="1">
            <a:off x="3509010" y="5817779"/>
            <a:ext cx="217170" cy="8870"/>
          </a:xfrm>
          <a:prstGeom prst="line">
            <a:avLst/>
          </a:prstGeom>
          <a:noFill/>
          <a:ln w="38100">
            <a:solidFill>
              <a:srgbClr val="6B6358"/>
            </a:solidFill>
            <a:prstDash val="solid"/>
          </a:ln>
        </p:spPr>
        <p:txBody>
          <a:bodyPr/>
          <a:lstStyle/>
          <a:p>
            <a:endParaRPr lang="en-US"/>
          </a:p>
        </p:txBody>
      </p:sp>
      <p:sp>
        <p:nvSpPr>
          <p:cNvPr id="109" name="Shape 107"/>
          <p:cNvSpPr/>
          <p:nvPr/>
        </p:nvSpPr>
        <p:spPr>
          <a:xfrm flipV="1">
            <a:off x="3726180" y="5808726"/>
            <a:ext cx="217170" cy="9053"/>
          </a:xfrm>
          <a:prstGeom prst="line">
            <a:avLst/>
          </a:prstGeom>
          <a:noFill/>
          <a:ln w="38100">
            <a:solidFill>
              <a:srgbClr val="6B6358"/>
            </a:solidFill>
            <a:prstDash val="solid"/>
          </a:ln>
        </p:spPr>
        <p:txBody>
          <a:bodyPr/>
          <a:lstStyle/>
          <a:p>
            <a:endParaRPr lang="en-US"/>
          </a:p>
        </p:txBody>
      </p:sp>
      <p:sp>
        <p:nvSpPr>
          <p:cNvPr id="110" name="Shape 108"/>
          <p:cNvSpPr/>
          <p:nvPr/>
        </p:nvSpPr>
        <p:spPr>
          <a:xfrm flipV="1">
            <a:off x="3943350" y="5799491"/>
            <a:ext cx="217170" cy="9235"/>
          </a:xfrm>
          <a:prstGeom prst="line">
            <a:avLst/>
          </a:prstGeom>
          <a:noFill/>
          <a:ln w="38100">
            <a:solidFill>
              <a:srgbClr val="6B6358"/>
            </a:solidFill>
            <a:prstDash val="solid"/>
          </a:ln>
        </p:spPr>
        <p:txBody>
          <a:bodyPr/>
          <a:lstStyle/>
          <a:p>
            <a:endParaRPr lang="en-US"/>
          </a:p>
        </p:txBody>
      </p:sp>
      <p:sp>
        <p:nvSpPr>
          <p:cNvPr id="111" name="Shape 109"/>
          <p:cNvSpPr/>
          <p:nvPr/>
        </p:nvSpPr>
        <p:spPr>
          <a:xfrm flipV="1">
            <a:off x="4160520" y="5790072"/>
            <a:ext cx="217170" cy="9418"/>
          </a:xfrm>
          <a:prstGeom prst="line">
            <a:avLst/>
          </a:prstGeom>
          <a:noFill/>
          <a:ln w="38100">
            <a:solidFill>
              <a:srgbClr val="6B6358"/>
            </a:solidFill>
            <a:prstDash val="solid"/>
          </a:ln>
        </p:spPr>
        <p:txBody>
          <a:bodyPr/>
          <a:lstStyle/>
          <a:p>
            <a:endParaRPr lang="en-US"/>
          </a:p>
        </p:txBody>
      </p:sp>
      <p:sp>
        <p:nvSpPr>
          <p:cNvPr id="112" name="Shape 110"/>
          <p:cNvSpPr/>
          <p:nvPr/>
        </p:nvSpPr>
        <p:spPr>
          <a:xfrm flipV="1">
            <a:off x="4377690" y="5780471"/>
            <a:ext cx="217170" cy="9601"/>
          </a:xfrm>
          <a:prstGeom prst="line">
            <a:avLst/>
          </a:prstGeom>
          <a:noFill/>
          <a:ln w="38100">
            <a:solidFill>
              <a:srgbClr val="6B6358"/>
            </a:solidFill>
            <a:prstDash val="solid"/>
          </a:ln>
        </p:spPr>
        <p:txBody>
          <a:bodyPr/>
          <a:lstStyle/>
          <a:p>
            <a:endParaRPr lang="en-US"/>
          </a:p>
        </p:txBody>
      </p:sp>
      <p:sp>
        <p:nvSpPr>
          <p:cNvPr id="113" name="Shape 111"/>
          <p:cNvSpPr/>
          <p:nvPr/>
        </p:nvSpPr>
        <p:spPr>
          <a:xfrm flipV="1">
            <a:off x="4594860" y="5770687"/>
            <a:ext cx="217170" cy="9784"/>
          </a:xfrm>
          <a:prstGeom prst="line">
            <a:avLst/>
          </a:prstGeom>
          <a:noFill/>
          <a:ln w="38100">
            <a:solidFill>
              <a:srgbClr val="6B6358"/>
            </a:solidFill>
            <a:prstDash val="solid"/>
          </a:ln>
        </p:spPr>
        <p:txBody>
          <a:bodyPr/>
          <a:lstStyle/>
          <a:p>
            <a:endParaRPr lang="en-US"/>
          </a:p>
        </p:txBody>
      </p:sp>
      <p:sp>
        <p:nvSpPr>
          <p:cNvPr id="114" name="Shape 112"/>
          <p:cNvSpPr/>
          <p:nvPr/>
        </p:nvSpPr>
        <p:spPr>
          <a:xfrm flipV="1">
            <a:off x="4812030" y="5760720"/>
            <a:ext cx="217170" cy="9967"/>
          </a:xfrm>
          <a:prstGeom prst="line">
            <a:avLst/>
          </a:prstGeom>
          <a:noFill/>
          <a:ln w="38100">
            <a:solidFill>
              <a:srgbClr val="6B6358"/>
            </a:solidFill>
            <a:prstDash val="solid"/>
          </a:ln>
        </p:spPr>
        <p:txBody>
          <a:bodyPr/>
          <a:lstStyle/>
          <a:p>
            <a:endParaRPr lang="en-US"/>
          </a:p>
        </p:txBody>
      </p:sp>
      <p:sp>
        <p:nvSpPr>
          <p:cNvPr id="115" name="Shape 113"/>
          <p:cNvSpPr/>
          <p:nvPr/>
        </p:nvSpPr>
        <p:spPr>
          <a:xfrm flipV="1">
            <a:off x="5029200" y="5760720"/>
            <a:ext cx="914" cy="914"/>
          </a:xfrm>
          <a:prstGeom prst="line">
            <a:avLst/>
          </a:prstGeom>
          <a:noFill/>
          <a:ln w="38100">
            <a:solidFill>
              <a:srgbClr val="6B6358"/>
            </a:solidFill>
            <a:prstDash val="solid"/>
          </a:ln>
        </p:spPr>
        <p:txBody>
          <a:bodyPr/>
          <a:lstStyle/>
          <a:p>
            <a:endParaRPr lang="en-US"/>
          </a:p>
        </p:txBody>
      </p:sp>
      <p:sp>
        <p:nvSpPr>
          <p:cNvPr id="116" name="Shape 114"/>
          <p:cNvSpPr/>
          <p:nvPr/>
        </p:nvSpPr>
        <p:spPr>
          <a:xfrm flipV="1">
            <a:off x="5029200" y="5750529"/>
            <a:ext cx="217170" cy="10191"/>
          </a:xfrm>
          <a:prstGeom prst="line">
            <a:avLst/>
          </a:prstGeom>
          <a:noFill/>
          <a:ln w="38100">
            <a:solidFill>
              <a:srgbClr val="6B6358"/>
            </a:solidFill>
            <a:prstDash val="solid"/>
          </a:ln>
        </p:spPr>
        <p:txBody>
          <a:bodyPr/>
          <a:lstStyle/>
          <a:p>
            <a:endParaRPr lang="en-US"/>
          </a:p>
        </p:txBody>
      </p:sp>
      <p:sp>
        <p:nvSpPr>
          <p:cNvPr id="117" name="Shape 115"/>
          <p:cNvSpPr/>
          <p:nvPr/>
        </p:nvSpPr>
        <p:spPr>
          <a:xfrm flipV="1">
            <a:off x="5246370" y="5740091"/>
            <a:ext cx="217170" cy="10438"/>
          </a:xfrm>
          <a:prstGeom prst="line">
            <a:avLst/>
          </a:prstGeom>
          <a:noFill/>
          <a:ln w="38100">
            <a:solidFill>
              <a:srgbClr val="6B6358"/>
            </a:solidFill>
            <a:prstDash val="solid"/>
          </a:ln>
        </p:spPr>
        <p:txBody>
          <a:bodyPr/>
          <a:lstStyle/>
          <a:p>
            <a:endParaRPr lang="en-US"/>
          </a:p>
        </p:txBody>
      </p:sp>
      <p:sp>
        <p:nvSpPr>
          <p:cNvPr id="118" name="Shape 116"/>
          <p:cNvSpPr/>
          <p:nvPr/>
        </p:nvSpPr>
        <p:spPr>
          <a:xfrm flipV="1">
            <a:off x="5463540" y="5729434"/>
            <a:ext cx="217170" cy="10657"/>
          </a:xfrm>
          <a:prstGeom prst="line">
            <a:avLst/>
          </a:prstGeom>
          <a:noFill/>
          <a:ln w="38100">
            <a:solidFill>
              <a:srgbClr val="6B6358"/>
            </a:solidFill>
            <a:prstDash val="solid"/>
          </a:ln>
        </p:spPr>
        <p:txBody>
          <a:bodyPr/>
          <a:lstStyle/>
          <a:p>
            <a:endParaRPr lang="en-US"/>
          </a:p>
        </p:txBody>
      </p:sp>
      <p:sp>
        <p:nvSpPr>
          <p:cNvPr id="119" name="Shape 117"/>
          <p:cNvSpPr/>
          <p:nvPr/>
        </p:nvSpPr>
        <p:spPr>
          <a:xfrm flipV="1">
            <a:off x="5680710" y="5718584"/>
            <a:ext cx="217170" cy="10849"/>
          </a:xfrm>
          <a:prstGeom prst="line">
            <a:avLst/>
          </a:prstGeom>
          <a:noFill/>
          <a:ln w="38100">
            <a:solidFill>
              <a:srgbClr val="6B6358"/>
            </a:solidFill>
            <a:prstDash val="solid"/>
          </a:ln>
        </p:spPr>
        <p:txBody>
          <a:bodyPr/>
          <a:lstStyle/>
          <a:p>
            <a:endParaRPr lang="en-US"/>
          </a:p>
        </p:txBody>
      </p:sp>
      <p:sp>
        <p:nvSpPr>
          <p:cNvPr id="120" name="Shape 118"/>
          <p:cNvSpPr/>
          <p:nvPr/>
        </p:nvSpPr>
        <p:spPr>
          <a:xfrm flipV="1">
            <a:off x="5897880" y="5707571"/>
            <a:ext cx="217170" cy="11014"/>
          </a:xfrm>
          <a:prstGeom prst="line">
            <a:avLst/>
          </a:prstGeom>
          <a:noFill/>
          <a:ln w="38100">
            <a:solidFill>
              <a:srgbClr val="6B6358"/>
            </a:solidFill>
            <a:prstDash val="solid"/>
          </a:ln>
        </p:spPr>
        <p:txBody>
          <a:bodyPr/>
          <a:lstStyle/>
          <a:p>
            <a:endParaRPr lang="en-US"/>
          </a:p>
        </p:txBody>
      </p:sp>
      <p:sp>
        <p:nvSpPr>
          <p:cNvPr id="121" name="Shape 119"/>
          <p:cNvSpPr/>
          <p:nvPr/>
        </p:nvSpPr>
        <p:spPr>
          <a:xfrm flipV="1">
            <a:off x="6115050" y="5696419"/>
            <a:ext cx="217170" cy="11151"/>
          </a:xfrm>
          <a:prstGeom prst="line">
            <a:avLst/>
          </a:prstGeom>
          <a:noFill/>
          <a:ln w="38100">
            <a:solidFill>
              <a:srgbClr val="6B6358"/>
            </a:solidFill>
            <a:prstDash val="solid"/>
          </a:ln>
        </p:spPr>
        <p:txBody>
          <a:bodyPr/>
          <a:lstStyle/>
          <a:p>
            <a:endParaRPr lang="en-US"/>
          </a:p>
        </p:txBody>
      </p:sp>
      <p:sp>
        <p:nvSpPr>
          <p:cNvPr id="122" name="Shape 120"/>
          <p:cNvSpPr/>
          <p:nvPr/>
        </p:nvSpPr>
        <p:spPr>
          <a:xfrm flipV="1">
            <a:off x="6332220" y="5685159"/>
            <a:ext cx="217170" cy="11261"/>
          </a:xfrm>
          <a:prstGeom prst="line">
            <a:avLst/>
          </a:prstGeom>
          <a:noFill/>
          <a:ln w="38100">
            <a:solidFill>
              <a:srgbClr val="6B6358"/>
            </a:solidFill>
            <a:prstDash val="solid"/>
          </a:ln>
        </p:spPr>
        <p:txBody>
          <a:bodyPr/>
          <a:lstStyle/>
          <a:p>
            <a:endParaRPr lang="en-US"/>
          </a:p>
        </p:txBody>
      </p:sp>
      <p:sp>
        <p:nvSpPr>
          <p:cNvPr id="123" name="Shape 121"/>
          <p:cNvSpPr/>
          <p:nvPr/>
        </p:nvSpPr>
        <p:spPr>
          <a:xfrm flipV="1">
            <a:off x="6549390" y="5673815"/>
            <a:ext cx="217170" cy="11343"/>
          </a:xfrm>
          <a:prstGeom prst="line">
            <a:avLst/>
          </a:prstGeom>
          <a:noFill/>
          <a:ln w="38100">
            <a:solidFill>
              <a:srgbClr val="6B6358"/>
            </a:solidFill>
            <a:prstDash val="solid"/>
          </a:ln>
        </p:spPr>
        <p:txBody>
          <a:bodyPr/>
          <a:lstStyle/>
          <a:p>
            <a:endParaRPr lang="en-US"/>
          </a:p>
        </p:txBody>
      </p:sp>
      <p:sp>
        <p:nvSpPr>
          <p:cNvPr id="124" name="Shape 122"/>
          <p:cNvSpPr/>
          <p:nvPr/>
        </p:nvSpPr>
        <p:spPr>
          <a:xfrm flipV="1">
            <a:off x="6766560" y="5662417"/>
            <a:ext cx="217170" cy="11398"/>
          </a:xfrm>
          <a:prstGeom prst="line">
            <a:avLst/>
          </a:prstGeom>
          <a:noFill/>
          <a:ln w="38100">
            <a:solidFill>
              <a:srgbClr val="6B6358"/>
            </a:solidFill>
            <a:prstDash val="solid"/>
          </a:ln>
        </p:spPr>
        <p:txBody>
          <a:bodyPr/>
          <a:lstStyle/>
          <a:p>
            <a:endParaRPr lang="en-US"/>
          </a:p>
        </p:txBody>
      </p:sp>
      <p:sp>
        <p:nvSpPr>
          <p:cNvPr id="125" name="Shape 123"/>
          <p:cNvSpPr/>
          <p:nvPr/>
        </p:nvSpPr>
        <p:spPr>
          <a:xfrm flipV="1">
            <a:off x="6983730" y="5650992"/>
            <a:ext cx="217170" cy="11425"/>
          </a:xfrm>
          <a:prstGeom prst="line">
            <a:avLst/>
          </a:prstGeom>
          <a:noFill/>
          <a:ln w="38100">
            <a:solidFill>
              <a:srgbClr val="6B6358"/>
            </a:solidFill>
            <a:prstDash val="solid"/>
          </a:ln>
        </p:spPr>
        <p:txBody>
          <a:bodyPr/>
          <a:lstStyle/>
          <a:p>
            <a:endParaRPr lang="en-US"/>
          </a:p>
        </p:txBody>
      </p:sp>
      <p:sp>
        <p:nvSpPr>
          <p:cNvPr id="126" name="Shape 124"/>
          <p:cNvSpPr/>
          <p:nvPr/>
        </p:nvSpPr>
        <p:spPr>
          <a:xfrm flipV="1">
            <a:off x="7200900" y="5638940"/>
            <a:ext cx="226943" cy="12052"/>
          </a:xfrm>
          <a:prstGeom prst="line">
            <a:avLst/>
          </a:prstGeom>
          <a:noFill/>
          <a:ln w="38100">
            <a:solidFill>
              <a:srgbClr val="6B6358"/>
            </a:solidFill>
            <a:prstDash val="solid"/>
          </a:ln>
        </p:spPr>
        <p:txBody>
          <a:bodyPr/>
          <a:lstStyle/>
          <a:p>
            <a:endParaRPr lang="en-US"/>
          </a:p>
        </p:txBody>
      </p:sp>
      <p:sp>
        <p:nvSpPr>
          <p:cNvPr id="127" name="Shape 125"/>
          <p:cNvSpPr/>
          <p:nvPr/>
        </p:nvSpPr>
        <p:spPr>
          <a:xfrm flipV="1">
            <a:off x="7427843" y="5625901"/>
            <a:ext cx="242145" cy="13039"/>
          </a:xfrm>
          <a:prstGeom prst="line">
            <a:avLst/>
          </a:prstGeom>
          <a:noFill/>
          <a:ln w="38100">
            <a:solidFill>
              <a:srgbClr val="6B6358"/>
            </a:solidFill>
            <a:prstDash val="solid"/>
          </a:ln>
        </p:spPr>
        <p:txBody>
          <a:bodyPr/>
          <a:lstStyle/>
          <a:p>
            <a:endParaRPr lang="en-US"/>
          </a:p>
        </p:txBody>
      </p:sp>
      <p:sp>
        <p:nvSpPr>
          <p:cNvPr id="128" name="Shape 126"/>
          <p:cNvSpPr/>
          <p:nvPr/>
        </p:nvSpPr>
        <p:spPr>
          <a:xfrm flipV="1">
            <a:off x="7669987" y="5612258"/>
            <a:ext cx="250831" cy="13643"/>
          </a:xfrm>
          <a:prstGeom prst="line">
            <a:avLst/>
          </a:prstGeom>
          <a:noFill/>
          <a:ln w="38100">
            <a:solidFill>
              <a:srgbClr val="6B6358"/>
            </a:solidFill>
            <a:prstDash val="solid"/>
          </a:ln>
        </p:spPr>
        <p:txBody>
          <a:bodyPr/>
          <a:lstStyle/>
          <a:p>
            <a:endParaRPr lang="en-US"/>
          </a:p>
        </p:txBody>
      </p:sp>
      <p:sp>
        <p:nvSpPr>
          <p:cNvPr id="129" name="Shape 127"/>
          <p:cNvSpPr/>
          <p:nvPr/>
        </p:nvSpPr>
        <p:spPr>
          <a:xfrm flipV="1">
            <a:off x="7920819" y="5598396"/>
            <a:ext cx="253003" cy="13862"/>
          </a:xfrm>
          <a:prstGeom prst="line">
            <a:avLst/>
          </a:prstGeom>
          <a:noFill/>
          <a:ln w="38100">
            <a:solidFill>
              <a:srgbClr val="6B6358"/>
            </a:solidFill>
            <a:prstDash val="solid"/>
          </a:ln>
        </p:spPr>
        <p:txBody>
          <a:bodyPr/>
          <a:lstStyle/>
          <a:p>
            <a:endParaRPr lang="en-US"/>
          </a:p>
        </p:txBody>
      </p:sp>
      <p:sp>
        <p:nvSpPr>
          <p:cNvPr id="130" name="Shape 128"/>
          <p:cNvSpPr/>
          <p:nvPr/>
        </p:nvSpPr>
        <p:spPr>
          <a:xfrm flipV="1">
            <a:off x="8173822" y="5584698"/>
            <a:ext cx="248660" cy="13698"/>
          </a:xfrm>
          <a:prstGeom prst="line">
            <a:avLst/>
          </a:prstGeom>
          <a:noFill/>
          <a:ln w="38100">
            <a:solidFill>
              <a:srgbClr val="6B6358"/>
            </a:solidFill>
            <a:prstDash val="solid"/>
          </a:ln>
        </p:spPr>
        <p:txBody>
          <a:bodyPr/>
          <a:lstStyle/>
          <a:p>
            <a:endParaRPr lang="en-US"/>
          </a:p>
        </p:txBody>
      </p:sp>
      <p:sp>
        <p:nvSpPr>
          <p:cNvPr id="131" name="Shape 129"/>
          <p:cNvSpPr/>
          <p:nvPr/>
        </p:nvSpPr>
        <p:spPr>
          <a:xfrm flipV="1">
            <a:off x="8422481" y="5571549"/>
            <a:ext cx="237801" cy="13149"/>
          </a:xfrm>
          <a:prstGeom prst="line">
            <a:avLst/>
          </a:prstGeom>
          <a:noFill/>
          <a:ln w="38100">
            <a:solidFill>
              <a:srgbClr val="6B6358"/>
            </a:solidFill>
            <a:prstDash val="solid"/>
          </a:ln>
        </p:spPr>
        <p:txBody>
          <a:bodyPr/>
          <a:lstStyle/>
          <a:p>
            <a:endParaRPr lang="en-US"/>
          </a:p>
        </p:txBody>
      </p:sp>
      <p:sp>
        <p:nvSpPr>
          <p:cNvPr id="132" name="Shape 130"/>
          <p:cNvSpPr/>
          <p:nvPr/>
        </p:nvSpPr>
        <p:spPr>
          <a:xfrm flipV="1">
            <a:off x="8660282" y="5559333"/>
            <a:ext cx="220428" cy="12216"/>
          </a:xfrm>
          <a:prstGeom prst="line">
            <a:avLst/>
          </a:prstGeom>
          <a:noFill/>
          <a:ln w="38100">
            <a:solidFill>
              <a:srgbClr val="6B6358"/>
            </a:solidFill>
            <a:prstDash val="solid"/>
          </a:ln>
        </p:spPr>
        <p:txBody>
          <a:bodyPr/>
          <a:lstStyle/>
          <a:p>
            <a:endParaRPr lang="en-US"/>
          </a:p>
        </p:txBody>
      </p:sp>
      <p:sp>
        <p:nvSpPr>
          <p:cNvPr id="133" name="Shape 131"/>
          <p:cNvSpPr/>
          <p:nvPr/>
        </p:nvSpPr>
        <p:spPr>
          <a:xfrm flipV="1">
            <a:off x="8880710" y="5548433"/>
            <a:ext cx="196539" cy="10900"/>
          </a:xfrm>
          <a:prstGeom prst="line">
            <a:avLst/>
          </a:prstGeom>
          <a:noFill/>
          <a:ln w="38100">
            <a:solidFill>
              <a:srgbClr val="6B6358"/>
            </a:solidFill>
            <a:prstDash val="solid"/>
          </a:ln>
        </p:spPr>
        <p:txBody>
          <a:bodyPr/>
          <a:lstStyle/>
          <a:p>
            <a:endParaRPr lang="en-US"/>
          </a:p>
        </p:txBody>
      </p:sp>
      <p:sp>
        <p:nvSpPr>
          <p:cNvPr id="134" name="Shape 132"/>
          <p:cNvSpPr/>
          <p:nvPr/>
        </p:nvSpPr>
        <p:spPr>
          <a:xfrm flipV="1">
            <a:off x="9077249" y="5539234"/>
            <a:ext cx="166135" cy="9199"/>
          </a:xfrm>
          <a:prstGeom prst="line">
            <a:avLst/>
          </a:prstGeom>
          <a:noFill/>
          <a:ln w="38100">
            <a:solidFill>
              <a:srgbClr val="6B6358"/>
            </a:solidFill>
            <a:prstDash val="solid"/>
          </a:ln>
        </p:spPr>
        <p:txBody>
          <a:bodyPr/>
          <a:lstStyle/>
          <a:p>
            <a:endParaRPr lang="en-US"/>
          </a:p>
        </p:txBody>
      </p:sp>
      <p:sp>
        <p:nvSpPr>
          <p:cNvPr id="135" name="Shape 133"/>
          <p:cNvSpPr/>
          <p:nvPr/>
        </p:nvSpPr>
        <p:spPr>
          <a:xfrm flipV="1">
            <a:off x="9243384" y="5532120"/>
            <a:ext cx="129216" cy="7114"/>
          </a:xfrm>
          <a:prstGeom prst="line">
            <a:avLst/>
          </a:prstGeom>
          <a:noFill/>
          <a:ln w="38100">
            <a:solidFill>
              <a:srgbClr val="6B6358"/>
            </a:solidFill>
            <a:prstDash val="solid"/>
          </a:ln>
        </p:spPr>
        <p:txBody>
          <a:bodyPr/>
          <a:lstStyle/>
          <a:p>
            <a:endParaRPr lang="en-US"/>
          </a:p>
        </p:txBody>
      </p:sp>
      <p:sp>
        <p:nvSpPr>
          <p:cNvPr id="136" name="Text 134"/>
          <p:cNvSpPr/>
          <p:nvPr/>
        </p:nvSpPr>
        <p:spPr>
          <a:xfrm>
            <a:off x="9509760" y="5440680"/>
            <a:ext cx="2651760" cy="274320"/>
          </a:xfrm>
          <a:prstGeom prst="rect">
            <a:avLst/>
          </a:prstGeom>
          <a:noFill/>
          <a:ln/>
        </p:spPr>
        <p:txBody>
          <a:bodyPr wrap="square" lIns="0" tIns="0" rIns="0" bIns="0" rtlCol="0" anchor="ctr"/>
          <a:lstStyle/>
          <a:p>
            <a:pPr marL="0" indent="0" algn="l">
              <a:buNone/>
            </a:pPr>
            <a:r>
              <a:rPr lang="en-US" sz="1100" b="1" kern="0" spc="300" dirty="0">
                <a:solidFill>
                  <a:srgbClr val="14192A"/>
                </a:solidFill>
                <a:latin typeface="Helvetica" pitchFamily="34" charset="0"/>
                <a:ea typeface="Helvetica" pitchFamily="34" charset="-122"/>
                <a:cs typeface="Helvetica" pitchFamily="34" charset="-120"/>
              </a:rPr>
              <a:t>PRIVATE BANK</a:t>
            </a:r>
            <a:endParaRPr lang="en-US" sz="1100" dirty="0"/>
          </a:p>
        </p:txBody>
      </p:sp>
      <p:sp>
        <p:nvSpPr>
          <p:cNvPr id="137" name="Text 135"/>
          <p:cNvSpPr/>
          <p:nvPr/>
        </p:nvSpPr>
        <p:spPr>
          <a:xfrm>
            <a:off x="9509760" y="5715000"/>
            <a:ext cx="2651760" cy="274320"/>
          </a:xfrm>
          <a:prstGeom prst="rect">
            <a:avLst/>
          </a:prstGeom>
          <a:noFill/>
          <a:ln/>
        </p:spPr>
        <p:txBody>
          <a:bodyPr wrap="square" lIns="0" tIns="0" rIns="0" bIns="0" rtlCol="0" anchor="ctr"/>
          <a:lstStyle/>
          <a:p>
            <a:pPr marL="0" indent="0" algn="l">
              <a:buNone/>
            </a:pPr>
            <a:r>
              <a:rPr lang="en-US" sz="1000" i="1" dirty="0">
                <a:solidFill>
                  <a:srgbClr val="6B6457"/>
                </a:solidFill>
                <a:latin typeface="Helvetica" pitchFamily="34" charset="0"/>
                <a:ea typeface="Helvetica" pitchFamily="34" charset="-122"/>
                <a:cs typeface="Helvetica" pitchFamily="34" charset="-120"/>
              </a:rPr>
              <a:t>linear, incremental</a:t>
            </a:r>
            <a:endParaRPr lang="en-US" sz="1000" dirty="0"/>
          </a:p>
        </p:txBody>
      </p:sp>
      <p:sp>
        <p:nvSpPr>
          <p:cNvPr id="138" name="Text 136"/>
          <p:cNvSpPr/>
          <p:nvPr/>
        </p:nvSpPr>
        <p:spPr>
          <a:xfrm>
            <a:off x="594360" y="6126480"/>
            <a:ext cx="731520" cy="228600"/>
          </a:xfrm>
          <a:prstGeom prst="rect">
            <a:avLst/>
          </a:prstGeom>
          <a:noFill/>
          <a:ln/>
        </p:spPr>
        <p:txBody>
          <a:bodyPr wrap="square" lIns="0" tIns="0" rIns="0" bIns="0" rtlCol="0" anchor="ctr"/>
          <a:lstStyle/>
          <a:p>
            <a:pPr marL="0" indent="0">
              <a:buNone/>
            </a:pPr>
            <a:r>
              <a:rPr lang="en-US" sz="900" dirty="0">
                <a:solidFill>
                  <a:srgbClr val="6B6457"/>
                </a:solidFill>
                <a:latin typeface="Helvetica" pitchFamily="34" charset="0"/>
                <a:ea typeface="Helvetica" pitchFamily="34" charset="-122"/>
                <a:cs typeface="Helvetica" pitchFamily="34" charset="-120"/>
              </a:rPr>
              <a:t>2020</a:t>
            </a:r>
            <a:endParaRPr lang="en-US" sz="900" dirty="0"/>
          </a:p>
        </p:txBody>
      </p:sp>
      <p:sp>
        <p:nvSpPr>
          <p:cNvPr id="139" name="Text 137"/>
          <p:cNvSpPr/>
          <p:nvPr/>
        </p:nvSpPr>
        <p:spPr>
          <a:xfrm>
            <a:off x="4855464" y="6126480"/>
            <a:ext cx="73152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TODAY</a:t>
            </a:r>
            <a:endParaRPr lang="en-US" sz="900" dirty="0"/>
          </a:p>
        </p:txBody>
      </p:sp>
      <p:sp>
        <p:nvSpPr>
          <p:cNvPr id="140" name="Text 138"/>
          <p:cNvSpPr/>
          <p:nvPr/>
        </p:nvSpPr>
        <p:spPr>
          <a:xfrm>
            <a:off x="8823960" y="6126480"/>
            <a:ext cx="731520" cy="228600"/>
          </a:xfrm>
          <a:prstGeom prst="rect">
            <a:avLst/>
          </a:prstGeom>
          <a:noFill/>
          <a:ln/>
        </p:spPr>
        <p:txBody>
          <a:bodyPr wrap="square" lIns="0" tIns="0" rIns="0" bIns="0" rtlCol="0" anchor="ctr"/>
          <a:lstStyle/>
          <a:p>
            <a:pPr marL="0" indent="0" algn="r">
              <a:buNone/>
            </a:pPr>
            <a:r>
              <a:rPr lang="en-US" sz="900" dirty="0">
                <a:solidFill>
                  <a:srgbClr val="6B6457"/>
                </a:solidFill>
                <a:latin typeface="Helvetica" pitchFamily="34" charset="0"/>
                <a:ea typeface="Helvetica" pitchFamily="34" charset="-122"/>
                <a:cs typeface="Helvetica" pitchFamily="34" charset="-120"/>
              </a:rPr>
              <a:t>2030</a:t>
            </a:r>
            <a:endParaRPr lang="en-US" sz="900" dirty="0"/>
          </a:p>
        </p:txBody>
      </p:sp>
      <p:sp>
        <p:nvSpPr>
          <p:cNvPr id="141" name="Shape 139"/>
          <p:cNvSpPr/>
          <p:nvPr/>
        </p:nvSpPr>
        <p:spPr>
          <a:xfrm>
            <a:off x="8069580" y="4251960"/>
            <a:ext cx="914" cy="434340"/>
          </a:xfrm>
          <a:prstGeom prst="line">
            <a:avLst/>
          </a:prstGeom>
          <a:noFill/>
          <a:ln w="12700">
            <a:solidFill>
              <a:srgbClr val="A0824E"/>
            </a:solidFill>
            <a:prstDash val="dash"/>
          </a:ln>
        </p:spPr>
        <p:txBody>
          <a:bodyPr/>
          <a:lstStyle/>
          <a:p>
            <a:endParaRPr lang="en-US"/>
          </a:p>
        </p:txBody>
      </p:sp>
      <p:sp>
        <p:nvSpPr>
          <p:cNvPr id="142" name="Shape 140"/>
          <p:cNvSpPr/>
          <p:nvPr/>
        </p:nvSpPr>
        <p:spPr>
          <a:xfrm>
            <a:off x="8069580" y="5189220"/>
            <a:ext cx="914" cy="434340"/>
          </a:xfrm>
          <a:prstGeom prst="line">
            <a:avLst/>
          </a:prstGeom>
          <a:noFill/>
          <a:ln w="12700">
            <a:solidFill>
              <a:srgbClr val="A0824E"/>
            </a:solidFill>
            <a:prstDash val="dash"/>
          </a:ln>
        </p:spPr>
        <p:txBody>
          <a:bodyPr/>
          <a:lstStyle/>
          <a:p>
            <a:endParaRPr lang="en-US"/>
          </a:p>
        </p:txBody>
      </p:sp>
      <p:sp>
        <p:nvSpPr>
          <p:cNvPr id="143" name="Text 141"/>
          <p:cNvSpPr/>
          <p:nvPr/>
        </p:nvSpPr>
        <p:spPr>
          <a:xfrm>
            <a:off x="7612380" y="4732020"/>
            <a:ext cx="914400" cy="411480"/>
          </a:xfrm>
          <a:prstGeom prst="rect">
            <a:avLst/>
          </a:prstGeom>
          <a:noFill/>
          <a:ln/>
        </p:spPr>
        <p:txBody>
          <a:bodyPr wrap="square" lIns="0" tIns="0" rIns="0" bIns="0" rtlCol="0" anchor="ctr"/>
          <a:lstStyle/>
          <a:p>
            <a:pPr marL="0" indent="0" algn="ctr">
              <a:buNone/>
            </a:pPr>
            <a:r>
              <a:rPr lang="en-US" sz="1000" b="1" kern="0" spc="400" dirty="0">
                <a:solidFill>
                  <a:srgbClr val="A0824E"/>
                </a:solidFill>
                <a:latin typeface="Helvetica" pitchFamily="34" charset="0"/>
                <a:ea typeface="Helvetica" pitchFamily="34" charset="-122"/>
                <a:cs typeface="Helvetica" pitchFamily="34" charset="-120"/>
              </a:rPr>
              <a:t>THE GAP</a:t>
            </a:r>
            <a:endParaRPr lang="en-US" sz="1000" dirty="0"/>
          </a:p>
        </p:txBody>
      </p:sp>
      <p:sp>
        <p:nvSpPr>
          <p:cNvPr id="144" name="Text 142"/>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145" name="Text 143"/>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02  /  19</a:t>
            </a:r>
            <a:endParaRPr lang="en-US" sz="800" dirty="0"/>
          </a:p>
        </p:txBody>
      </p:sp>
      <p:sp>
        <p:nvSpPr>
          <p:cNvPr id="146" name="Text 144"/>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147" name="Shape 145"/>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ANSWER</a:t>
            </a:r>
            <a:endParaRPr lang="en-US" sz="900" dirty="0"/>
          </a:p>
        </p:txBody>
      </p:sp>
      <p:sp>
        <p:nvSpPr>
          <p:cNvPr id="3" name="Text 1"/>
          <p:cNvSpPr/>
          <p:nvPr/>
        </p:nvSpPr>
        <p:spPr>
          <a:xfrm>
            <a:off x="685800" y="868680"/>
            <a:ext cx="10789920" cy="1463040"/>
          </a:xfrm>
          <a:prstGeom prst="rect">
            <a:avLst/>
          </a:prstGeom>
          <a:noFill/>
          <a:ln/>
        </p:spPr>
        <p:txBody>
          <a:bodyPr wrap="square" lIns="0" tIns="0" rIns="0" bIns="0" rtlCol="0" anchor="t"/>
          <a:lstStyle/>
          <a:p>
            <a:pPr marL="0" indent="0" algn="l">
              <a:buNone/>
            </a:pPr>
            <a:r>
              <a:rPr lang="en-US" sz="2800" b="1" dirty="0">
                <a:solidFill>
                  <a:srgbClr val="14192A"/>
                </a:solidFill>
                <a:latin typeface="Arial Black" pitchFamily="34" charset="0"/>
                <a:ea typeface="Arial Black" pitchFamily="34" charset="-122"/>
                <a:cs typeface="Arial Black" pitchFamily="34" charset="-120"/>
              </a:rPr>
              <a:t>We are building Coach to close that gap —</a:t>
            </a:r>
            <a:endParaRPr lang="en-US" sz="2800" dirty="0"/>
          </a:p>
          <a:p>
            <a:pPr marL="0" indent="0" algn="l">
              <a:buNone/>
            </a:pPr>
            <a:r>
              <a:rPr lang="en-US" sz="2800" b="1" dirty="0">
                <a:solidFill>
                  <a:srgbClr val="14192A"/>
                </a:solidFill>
                <a:latin typeface="Arial Black" pitchFamily="34" charset="0"/>
                <a:ea typeface="Arial Black" pitchFamily="34" charset="-122"/>
                <a:cs typeface="Arial Black" pitchFamily="34" charset="-120"/>
              </a:rPr>
              <a:t>and then to open a new one.</a:t>
            </a:r>
            <a:endParaRPr lang="en-US" sz="2800" dirty="0"/>
          </a:p>
        </p:txBody>
      </p:sp>
      <p:sp>
        <p:nvSpPr>
          <p:cNvPr id="4" name="Shape 2"/>
          <p:cNvSpPr/>
          <p:nvPr/>
        </p:nvSpPr>
        <p:spPr>
          <a:xfrm>
            <a:off x="1371600" y="2926080"/>
            <a:ext cx="9445752" cy="2560320"/>
          </a:xfrm>
          <a:prstGeom prst="rect">
            <a:avLst/>
          </a:prstGeom>
          <a:solidFill>
            <a:srgbClr val="F5F0EB"/>
          </a:solidFill>
          <a:ln w="9525">
            <a:solidFill>
              <a:srgbClr val="D6D0C2"/>
            </a:solidFill>
            <a:prstDash val="solid"/>
          </a:ln>
        </p:spPr>
        <p:txBody>
          <a:bodyPr/>
          <a:lstStyle/>
          <a:p>
            <a:endParaRPr lang="en-US"/>
          </a:p>
        </p:txBody>
      </p:sp>
      <p:sp>
        <p:nvSpPr>
          <p:cNvPr id="5" name="Shape 3"/>
          <p:cNvSpPr/>
          <p:nvPr/>
        </p:nvSpPr>
        <p:spPr>
          <a:xfrm>
            <a:off x="1371600" y="2926080"/>
            <a:ext cx="73152" cy="2560320"/>
          </a:xfrm>
          <a:prstGeom prst="rect">
            <a:avLst/>
          </a:prstGeom>
          <a:solidFill>
            <a:srgbClr val="A0824E"/>
          </a:solidFill>
          <a:ln/>
        </p:spPr>
        <p:txBody>
          <a:bodyPr/>
          <a:lstStyle/>
          <a:p>
            <a:endParaRPr lang="en-US"/>
          </a:p>
        </p:txBody>
      </p:sp>
      <p:sp>
        <p:nvSpPr>
          <p:cNvPr id="6" name="Text 4"/>
          <p:cNvSpPr/>
          <p:nvPr/>
        </p:nvSpPr>
        <p:spPr>
          <a:xfrm>
            <a:off x="1920240" y="3429000"/>
            <a:ext cx="5486400" cy="1188720"/>
          </a:xfrm>
          <a:prstGeom prst="rect">
            <a:avLst/>
          </a:prstGeom>
          <a:noFill/>
          <a:ln/>
        </p:spPr>
        <p:txBody>
          <a:bodyPr wrap="square" lIns="0" tIns="0" rIns="0" bIns="0" rtlCol="0" anchor="ctr"/>
          <a:lstStyle/>
          <a:p>
            <a:pPr marL="0" indent="0">
              <a:buNone/>
            </a:pPr>
            <a:r>
              <a:rPr lang="en-US" sz="8400" b="1" dirty="0">
                <a:solidFill>
                  <a:srgbClr val="14192A"/>
                </a:solidFill>
                <a:latin typeface="Arial Black" pitchFamily="34" charset="0"/>
                <a:ea typeface="Arial Black" pitchFamily="34" charset="-122"/>
                <a:cs typeface="Arial Black" pitchFamily="34" charset="-120"/>
              </a:rPr>
              <a:t>Coach.</a:t>
            </a:r>
            <a:endParaRPr lang="en-US" sz="8400" dirty="0"/>
          </a:p>
        </p:txBody>
      </p:sp>
      <p:sp>
        <p:nvSpPr>
          <p:cNvPr id="7" name="Text 5"/>
          <p:cNvSpPr/>
          <p:nvPr/>
        </p:nvSpPr>
        <p:spPr>
          <a:xfrm>
            <a:off x="1920240" y="4617720"/>
            <a:ext cx="8229600" cy="365760"/>
          </a:xfrm>
          <a:prstGeom prst="rect">
            <a:avLst/>
          </a:prstGeom>
          <a:noFill/>
          <a:ln/>
        </p:spPr>
        <p:txBody>
          <a:bodyPr wrap="square" lIns="0" tIns="0" rIns="0" bIns="0" rtlCol="0" anchor="ctr"/>
          <a:lstStyle/>
          <a:p>
            <a:pPr marL="0" indent="0">
              <a:buNone/>
            </a:pPr>
            <a:r>
              <a:rPr lang="en-US" sz="1800" b="1" dirty="0">
                <a:solidFill>
                  <a:srgbClr val="A0824E"/>
                </a:solidFill>
                <a:latin typeface="Helvetica" pitchFamily="34" charset="0"/>
                <a:ea typeface="Helvetica" pitchFamily="34" charset="-122"/>
                <a:cs typeface="Helvetica" pitchFamily="34" charset="-120"/>
              </a:rPr>
              <a:t>The advisor's AI teammate.</a:t>
            </a:r>
            <a:endParaRPr lang="en-US" sz="1800" dirty="0"/>
          </a:p>
        </p:txBody>
      </p:sp>
      <p:sp>
        <p:nvSpPr>
          <p:cNvPr id="8" name="Text 6"/>
          <p:cNvSpPr/>
          <p:nvPr/>
        </p:nvSpPr>
        <p:spPr>
          <a:xfrm>
            <a:off x="1920240" y="4983480"/>
            <a:ext cx="8229600" cy="320040"/>
          </a:xfrm>
          <a:prstGeom prst="rect">
            <a:avLst/>
          </a:prstGeom>
          <a:noFill/>
          <a:ln/>
        </p:spPr>
        <p:txBody>
          <a:bodyPr wrap="square" lIns="0" tIns="0" rIns="0" bIns="0" rtlCol="0" anchor="ctr"/>
          <a:lstStyle/>
          <a:p>
            <a:pPr marL="0" indent="0">
              <a:buNone/>
            </a:pPr>
            <a:r>
              <a:rPr lang="en-US" sz="1400" i="1" dirty="0">
                <a:solidFill>
                  <a:srgbClr val="3D3830"/>
                </a:solidFill>
                <a:latin typeface="Helvetica" pitchFamily="34" charset="0"/>
                <a:ea typeface="Helvetica" pitchFamily="34" charset="-122"/>
                <a:cs typeface="Helvetica" pitchFamily="34" charset="-120"/>
              </a:rPr>
              <a:t>Brain. Muscle. Memory. Builder. One surface.</a:t>
            </a:r>
            <a:endParaRPr lang="en-US" sz="1400" dirty="0"/>
          </a:p>
        </p:txBody>
      </p:sp>
      <p:sp>
        <p:nvSpPr>
          <p:cNvPr id="9" name="Text 7"/>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10" name="Text 8"/>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03  /  19</a:t>
            </a:r>
            <a:endParaRPr lang="en-US" sz="800" dirty="0"/>
          </a:p>
        </p:txBody>
      </p:sp>
      <p:sp>
        <p:nvSpPr>
          <p:cNvPr id="11" name="Text 9"/>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12" name="Shape 10"/>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ARCHITECTURE</a:t>
            </a:r>
            <a:endParaRPr lang="en-US" sz="900" dirty="0"/>
          </a:p>
        </p:txBody>
      </p:sp>
      <p:sp>
        <p:nvSpPr>
          <p:cNvPr id="3" name="Text 1"/>
          <p:cNvSpPr/>
          <p:nvPr/>
        </p:nvSpPr>
        <p:spPr>
          <a:xfrm>
            <a:off x="685800" y="868680"/>
            <a:ext cx="10789920" cy="822960"/>
          </a:xfrm>
          <a:prstGeom prst="rect">
            <a:avLst/>
          </a:prstGeom>
          <a:noFill/>
          <a:ln/>
        </p:spPr>
        <p:txBody>
          <a:bodyPr wrap="square" lIns="0" tIns="0" rIns="0" bIns="0" rtlCol="0" anchor="t"/>
          <a:lstStyle/>
          <a:p>
            <a:pPr marL="0" indent="0" algn="l">
              <a:buNone/>
            </a:pPr>
            <a:r>
              <a:rPr lang="en-US" sz="3600" b="1" dirty="0">
                <a:solidFill>
                  <a:srgbClr val="14192A"/>
                </a:solidFill>
                <a:latin typeface="Arial Black" pitchFamily="34" charset="0"/>
                <a:ea typeface="Arial Black" pitchFamily="34" charset="-122"/>
                <a:cs typeface="Arial Black" pitchFamily="34" charset="-120"/>
              </a:rPr>
              <a:t>Coach is a flywheel, not a feature.</a:t>
            </a:r>
            <a:endParaRPr lang="en-US" sz="3600" dirty="0"/>
          </a:p>
        </p:txBody>
      </p:sp>
      <p:sp>
        <p:nvSpPr>
          <p:cNvPr id="4" name="Text 2"/>
          <p:cNvSpPr/>
          <p:nvPr/>
        </p:nvSpPr>
        <p:spPr>
          <a:xfrm>
            <a:off x="685800" y="1828800"/>
            <a:ext cx="10789920" cy="45720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Four capabilities, one loop. Each makes the others stronger. Every interaction feeds it.</a:t>
            </a:r>
            <a:endParaRPr lang="en-US" sz="1300" dirty="0"/>
          </a:p>
        </p:txBody>
      </p:sp>
      <p:sp>
        <p:nvSpPr>
          <p:cNvPr id="5" name="Shape 3"/>
          <p:cNvSpPr/>
          <p:nvPr/>
        </p:nvSpPr>
        <p:spPr>
          <a:xfrm>
            <a:off x="4462272" y="2770632"/>
            <a:ext cx="3273552" cy="914"/>
          </a:xfrm>
          <a:prstGeom prst="line">
            <a:avLst/>
          </a:prstGeom>
          <a:noFill/>
          <a:ln w="22225">
            <a:solidFill>
              <a:srgbClr val="A0824E"/>
            </a:solidFill>
            <a:prstDash val="solid"/>
            <a:tailEnd type="triangle"/>
          </a:ln>
        </p:spPr>
        <p:txBody>
          <a:bodyPr/>
          <a:lstStyle/>
          <a:p>
            <a:endParaRPr lang="en-US"/>
          </a:p>
        </p:txBody>
      </p:sp>
      <p:sp>
        <p:nvSpPr>
          <p:cNvPr id="6" name="Shape 4"/>
          <p:cNvSpPr/>
          <p:nvPr/>
        </p:nvSpPr>
        <p:spPr>
          <a:xfrm>
            <a:off x="8476488" y="3511296"/>
            <a:ext cx="914" cy="932688"/>
          </a:xfrm>
          <a:prstGeom prst="line">
            <a:avLst/>
          </a:prstGeom>
          <a:noFill/>
          <a:ln w="22225">
            <a:solidFill>
              <a:srgbClr val="A0824E"/>
            </a:solidFill>
            <a:prstDash val="solid"/>
            <a:tailEnd type="triangle"/>
          </a:ln>
        </p:spPr>
        <p:txBody>
          <a:bodyPr/>
          <a:lstStyle/>
          <a:p>
            <a:endParaRPr lang="en-US"/>
          </a:p>
        </p:txBody>
      </p:sp>
      <p:sp>
        <p:nvSpPr>
          <p:cNvPr id="7" name="Shape 5"/>
          <p:cNvSpPr/>
          <p:nvPr/>
        </p:nvSpPr>
        <p:spPr>
          <a:xfrm flipH="1">
            <a:off x="4462272" y="5184648"/>
            <a:ext cx="3273552" cy="914"/>
          </a:xfrm>
          <a:prstGeom prst="line">
            <a:avLst/>
          </a:prstGeom>
          <a:noFill/>
          <a:ln w="22225">
            <a:solidFill>
              <a:srgbClr val="A0824E"/>
            </a:solidFill>
            <a:prstDash val="solid"/>
            <a:tailEnd type="triangle"/>
          </a:ln>
        </p:spPr>
        <p:txBody>
          <a:bodyPr/>
          <a:lstStyle/>
          <a:p>
            <a:endParaRPr lang="en-US"/>
          </a:p>
        </p:txBody>
      </p:sp>
      <p:sp>
        <p:nvSpPr>
          <p:cNvPr id="8" name="Shape 6"/>
          <p:cNvSpPr/>
          <p:nvPr/>
        </p:nvSpPr>
        <p:spPr>
          <a:xfrm flipV="1">
            <a:off x="3721608" y="3511296"/>
            <a:ext cx="914" cy="932688"/>
          </a:xfrm>
          <a:prstGeom prst="line">
            <a:avLst/>
          </a:prstGeom>
          <a:noFill/>
          <a:ln w="22225">
            <a:solidFill>
              <a:srgbClr val="A0824E"/>
            </a:solidFill>
            <a:prstDash val="solid"/>
            <a:tailEnd type="triangle"/>
          </a:ln>
        </p:spPr>
        <p:txBody>
          <a:bodyPr/>
          <a:lstStyle/>
          <a:p>
            <a:endParaRPr lang="en-US"/>
          </a:p>
        </p:txBody>
      </p:sp>
      <p:sp>
        <p:nvSpPr>
          <p:cNvPr id="9" name="Shape 7"/>
          <p:cNvSpPr/>
          <p:nvPr/>
        </p:nvSpPr>
        <p:spPr>
          <a:xfrm>
            <a:off x="5550408" y="3685032"/>
            <a:ext cx="1097280" cy="585216"/>
          </a:xfrm>
          <a:prstGeom prst="ellipse">
            <a:avLst/>
          </a:prstGeom>
          <a:solidFill>
            <a:srgbClr val="F5F0EB"/>
          </a:solidFill>
          <a:ln w="9525">
            <a:solidFill>
              <a:srgbClr val="D6D0C2"/>
            </a:solidFill>
            <a:prstDash val="solid"/>
          </a:ln>
        </p:spPr>
        <p:txBody>
          <a:bodyPr/>
          <a:lstStyle/>
          <a:p>
            <a:endParaRPr lang="en-US"/>
          </a:p>
        </p:txBody>
      </p:sp>
      <p:sp>
        <p:nvSpPr>
          <p:cNvPr id="10" name="Text 8"/>
          <p:cNvSpPr/>
          <p:nvPr/>
        </p:nvSpPr>
        <p:spPr>
          <a:xfrm>
            <a:off x="5550408" y="3685032"/>
            <a:ext cx="1097280" cy="585216"/>
          </a:xfrm>
          <a:prstGeom prst="rect">
            <a:avLst/>
          </a:prstGeom>
          <a:noFill/>
          <a:ln/>
        </p:spPr>
        <p:txBody>
          <a:bodyPr wrap="square" lIns="0" tIns="0" rIns="0" bIns="0" rtlCol="0" anchor="ctr"/>
          <a:lstStyle/>
          <a:p>
            <a:pPr marL="0" indent="0" algn="ctr">
              <a:buNone/>
            </a:pPr>
            <a:r>
              <a:rPr lang="en-US" sz="1200" b="1" kern="0" spc="200" dirty="0">
                <a:solidFill>
                  <a:srgbClr val="14192A"/>
                </a:solidFill>
                <a:latin typeface="Arial Black" pitchFamily="34" charset="0"/>
                <a:ea typeface="Arial Black" pitchFamily="34" charset="-122"/>
                <a:cs typeface="Arial Black" pitchFamily="34" charset="-120"/>
              </a:rPr>
              <a:t>COACH</a:t>
            </a:r>
            <a:endParaRPr lang="en-US" sz="1200" dirty="0"/>
          </a:p>
        </p:txBody>
      </p:sp>
      <p:sp>
        <p:nvSpPr>
          <p:cNvPr id="11" name="Shape 9"/>
          <p:cNvSpPr/>
          <p:nvPr/>
        </p:nvSpPr>
        <p:spPr>
          <a:xfrm>
            <a:off x="3035808" y="2084832"/>
            <a:ext cx="1371600" cy="1371600"/>
          </a:xfrm>
          <a:prstGeom prst="ellipse">
            <a:avLst/>
          </a:prstGeom>
          <a:solidFill>
            <a:srgbClr val="F5F0EB"/>
          </a:solidFill>
          <a:ln w="25400">
            <a:solidFill>
              <a:srgbClr val="A0824E"/>
            </a:solidFill>
            <a:prstDash val="solid"/>
          </a:ln>
        </p:spPr>
        <p:txBody>
          <a:bodyPr/>
          <a:lstStyle/>
          <a:p>
            <a:endParaRPr lang="en-US"/>
          </a:p>
        </p:txBody>
      </p:sp>
      <p:sp>
        <p:nvSpPr>
          <p:cNvPr id="12" name="Shape 10"/>
          <p:cNvSpPr/>
          <p:nvPr/>
        </p:nvSpPr>
        <p:spPr>
          <a:xfrm>
            <a:off x="3639312" y="2331720"/>
            <a:ext cx="164592" cy="164592"/>
          </a:xfrm>
          <a:prstGeom prst="ellipse">
            <a:avLst/>
          </a:prstGeom>
          <a:solidFill>
            <a:srgbClr val="A0824E"/>
          </a:solidFill>
          <a:ln/>
        </p:spPr>
        <p:txBody>
          <a:bodyPr/>
          <a:lstStyle/>
          <a:p>
            <a:endParaRPr lang="en-US"/>
          </a:p>
        </p:txBody>
      </p:sp>
      <p:sp>
        <p:nvSpPr>
          <p:cNvPr id="13" name="Text 11"/>
          <p:cNvSpPr/>
          <p:nvPr/>
        </p:nvSpPr>
        <p:spPr>
          <a:xfrm>
            <a:off x="3035808" y="2569464"/>
            <a:ext cx="1371600" cy="320040"/>
          </a:xfrm>
          <a:prstGeom prst="rect">
            <a:avLst/>
          </a:prstGeom>
          <a:noFill/>
          <a:ln/>
        </p:spPr>
        <p:txBody>
          <a:bodyPr wrap="square" lIns="0" tIns="0" rIns="0" bIns="0" rtlCol="0" anchor="ctr"/>
          <a:lstStyle/>
          <a:p>
            <a:pPr marL="0" indent="0" algn="ctr">
              <a:buNone/>
            </a:pPr>
            <a:r>
              <a:rPr lang="en-US" sz="1400" b="1" kern="0" spc="200" dirty="0">
                <a:solidFill>
                  <a:srgbClr val="14192A"/>
                </a:solidFill>
                <a:latin typeface="Arial Black" pitchFamily="34" charset="0"/>
                <a:ea typeface="Arial Black" pitchFamily="34" charset="-122"/>
                <a:cs typeface="Arial Black" pitchFamily="34" charset="-120"/>
              </a:rPr>
              <a:t>BRAIN</a:t>
            </a:r>
            <a:endParaRPr lang="en-US" sz="1400" dirty="0"/>
          </a:p>
        </p:txBody>
      </p:sp>
      <p:sp>
        <p:nvSpPr>
          <p:cNvPr id="14" name="Text 12"/>
          <p:cNvSpPr/>
          <p:nvPr/>
        </p:nvSpPr>
        <p:spPr>
          <a:xfrm>
            <a:off x="2807208" y="2898648"/>
            <a:ext cx="1828800" cy="365760"/>
          </a:xfrm>
          <a:prstGeom prst="rect">
            <a:avLst/>
          </a:prstGeom>
          <a:noFill/>
          <a:ln/>
        </p:spPr>
        <p:txBody>
          <a:bodyPr wrap="square" lIns="0" tIns="0" rIns="0" bIns="0" rtlCol="0" anchor="t"/>
          <a:lstStyle/>
          <a:p>
            <a:pPr marL="0" indent="0" algn="ctr">
              <a:buNone/>
            </a:pPr>
            <a:r>
              <a:rPr lang="en-US" sz="1000" i="1" dirty="0">
                <a:solidFill>
                  <a:srgbClr val="6B6457"/>
                </a:solidFill>
                <a:latin typeface="Helvetica" pitchFamily="34" charset="0"/>
                <a:ea typeface="Helvetica" pitchFamily="34" charset="-122"/>
                <a:cs typeface="Helvetica" pitchFamily="34" charset="-120"/>
              </a:rPr>
              <a:t>Intelligence</a:t>
            </a:r>
            <a:endParaRPr lang="en-US" sz="1000" dirty="0"/>
          </a:p>
        </p:txBody>
      </p:sp>
      <p:sp>
        <p:nvSpPr>
          <p:cNvPr id="15" name="Shape 13"/>
          <p:cNvSpPr/>
          <p:nvPr/>
        </p:nvSpPr>
        <p:spPr>
          <a:xfrm>
            <a:off x="7790688" y="2084832"/>
            <a:ext cx="1371600" cy="1371600"/>
          </a:xfrm>
          <a:prstGeom prst="ellipse">
            <a:avLst/>
          </a:prstGeom>
          <a:solidFill>
            <a:srgbClr val="F5F0EB"/>
          </a:solidFill>
          <a:ln w="25400">
            <a:solidFill>
              <a:srgbClr val="1B2A4A"/>
            </a:solidFill>
            <a:prstDash val="solid"/>
          </a:ln>
        </p:spPr>
        <p:txBody>
          <a:bodyPr/>
          <a:lstStyle/>
          <a:p>
            <a:endParaRPr lang="en-US"/>
          </a:p>
        </p:txBody>
      </p:sp>
      <p:sp>
        <p:nvSpPr>
          <p:cNvPr id="16" name="Shape 14"/>
          <p:cNvSpPr/>
          <p:nvPr/>
        </p:nvSpPr>
        <p:spPr>
          <a:xfrm>
            <a:off x="8394192" y="2331720"/>
            <a:ext cx="164592" cy="164592"/>
          </a:xfrm>
          <a:prstGeom prst="ellipse">
            <a:avLst/>
          </a:prstGeom>
          <a:solidFill>
            <a:srgbClr val="1B2A4A"/>
          </a:solidFill>
          <a:ln/>
        </p:spPr>
        <p:txBody>
          <a:bodyPr/>
          <a:lstStyle/>
          <a:p>
            <a:endParaRPr lang="en-US"/>
          </a:p>
        </p:txBody>
      </p:sp>
      <p:sp>
        <p:nvSpPr>
          <p:cNvPr id="17" name="Text 15"/>
          <p:cNvSpPr/>
          <p:nvPr/>
        </p:nvSpPr>
        <p:spPr>
          <a:xfrm>
            <a:off x="7790688" y="2569464"/>
            <a:ext cx="1371600" cy="320040"/>
          </a:xfrm>
          <a:prstGeom prst="rect">
            <a:avLst/>
          </a:prstGeom>
          <a:noFill/>
          <a:ln/>
        </p:spPr>
        <p:txBody>
          <a:bodyPr wrap="square" lIns="0" tIns="0" rIns="0" bIns="0" rtlCol="0" anchor="ctr"/>
          <a:lstStyle/>
          <a:p>
            <a:pPr marL="0" indent="0" algn="ctr">
              <a:buNone/>
            </a:pPr>
            <a:r>
              <a:rPr lang="en-US" sz="1400" b="1" kern="0" spc="200" dirty="0">
                <a:solidFill>
                  <a:srgbClr val="14192A"/>
                </a:solidFill>
                <a:latin typeface="Arial Black" pitchFamily="34" charset="0"/>
                <a:ea typeface="Arial Black" pitchFamily="34" charset="-122"/>
                <a:cs typeface="Arial Black" pitchFamily="34" charset="-120"/>
              </a:rPr>
              <a:t>MUSCLE</a:t>
            </a:r>
            <a:endParaRPr lang="en-US" sz="1400" dirty="0"/>
          </a:p>
        </p:txBody>
      </p:sp>
      <p:sp>
        <p:nvSpPr>
          <p:cNvPr id="18" name="Text 16"/>
          <p:cNvSpPr/>
          <p:nvPr/>
        </p:nvSpPr>
        <p:spPr>
          <a:xfrm>
            <a:off x="7562088" y="2898648"/>
            <a:ext cx="1828800" cy="365760"/>
          </a:xfrm>
          <a:prstGeom prst="rect">
            <a:avLst/>
          </a:prstGeom>
          <a:noFill/>
          <a:ln/>
        </p:spPr>
        <p:txBody>
          <a:bodyPr wrap="square" lIns="0" tIns="0" rIns="0" bIns="0" rtlCol="0" anchor="t"/>
          <a:lstStyle/>
          <a:p>
            <a:pPr marL="0" indent="0" algn="ctr">
              <a:buNone/>
            </a:pPr>
            <a:r>
              <a:rPr lang="en-US" sz="1000" i="1" dirty="0">
                <a:solidFill>
                  <a:srgbClr val="6B6457"/>
                </a:solidFill>
                <a:latin typeface="Helvetica" pitchFamily="34" charset="0"/>
                <a:ea typeface="Helvetica" pitchFamily="34" charset="-122"/>
                <a:cs typeface="Helvetica" pitchFamily="34" charset="-120"/>
              </a:rPr>
              <a:t>Agentic workflows</a:t>
            </a:r>
            <a:endParaRPr lang="en-US" sz="1000" dirty="0"/>
          </a:p>
        </p:txBody>
      </p:sp>
      <p:sp>
        <p:nvSpPr>
          <p:cNvPr id="19" name="Shape 17"/>
          <p:cNvSpPr/>
          <p:nvPr/>
        </p:nvSpPr>
        <p:spPr>
          <a:xfrm>
            <a:off x="7790688" y="4498848"/>
            <a:ext cx="1371600" cy="1371600"/>
          </a:xfrm>
          <a:prstGeom prst="ellipse">
            <a:avLst/>
          </a:prstGeom>
          <a:solidFill>
            <a:srgbClr val="F5F0EB"/>
          </a:solidFill>
          <a:ln w="25400">
            <a:solidFill>
              <a:srgbClr val="A0824E"/>
            </a:solidFill>
            <a:prstDash val="solid"/>
          </a:ln>
        </p:spPr>
        <p:txBody>
          <a:bodyPr/>
          <a:lstStyle/>
          <a:p>
            <a:endParaRPr lang="en-US"/>
          </a:p>
        </p:txBody>
      </p:sp>
      <p:sp>
        <p:nvSpPr>
          <p:cNvPr id="20" name="Shape 18"/>
          <p:cNvSpPr/>
          <p:nvPr/>
        </p:nvSpPr>
        <p:spPr>
          <a:xfrm>
            <a:off x="8394192" y="4745736"/>
            <a:ext cx="164592" cy="164592"/>
          </a:xfrm>
          <a:prstGeom prst="ellipse">
            <a:avLst/>
          </a:prstGeom>
          <a:solidFill>
            <a:srgbClr val="A0824E"/>
          </a:solidFill>
          <a:ln/>
        </p:spPr>
        <p:txBody>
          <a:bodyPr/>
          <a:lstStyle/>
          <a:p>
            <a:endParaRPr lang="en-US"/>
          </a:p>
        </p:txBody>
      </p:sp>
      <p:sp>
        <p:nvSpPr>
          <p:cNvPr id="21" name="Text 19"/>
          <p:cNvSpPr/>
          <p:nvPr/>
        </p:nvSpPr>
        <p:spPr>
          <a:xfrm>
            <a:off x="7790688" y="4983480"/>
            <a:ext cx="1371600" cy="320040"/>
          </a:xfrm>
          <a:prstGeom prst="rect">
            <a:avLst/>
          </a:prstGeom>
          <a:noFill/>
          <a:ln/>
        </p:spPr>
        <p:txBody>
          <a:bodyPr wrap="square" lIns="0" tIns="0" rIns="0" bIns="0" rtlCol="0" anchor="ctr"/>
          <a:lstStyle/>
          <a:p>
            <a:pPr marL="0" indent="0" algn="ctr">
              <a:buNone/>
            </a:pPr>
            <a:r>
              <a:rPr lang="en-US" sz="1400" b="1" kern="0" spc="200" dirty="0">
                <a:solidFill>
                  <a:srgbClr val="14192A"/>
                </a:solidFill>
                <a:latin typeface="Arial Black" pitchFamily="34" charset="0"/>
                <a:ea typeface="Arial Black" pitchFamily="34" charset="-122"/>
                <a:cs typeface="Arial Black" pitchFamily="34" charset="-120"/>
              </a:rPr>
              <a:t>MEMORY</a:t>
            </a:r>
            <a:endParaRPr lang="en-US" sz="1400" dirty="0"/>
          </a:p>
        </p:txBody>
      </p:sp>
      <p:sp>
        <p:nvSpPr>
          <p:cNvPr id="22" name="Text 20"/>
          <p:cNvSpPr/>
          <p:nvPr/>
        </p:nvSpPr>
        <p:spPr>
          <a:xfrm>
            <a:off x="7562088" y="5312664"/>
            <a:ext cx="1828800" cy="365760"/>
          </a:xfrm>
          <a:prstGeom prst="rect">
            <a:avLst/>
          </a:prstGeom>
          <a:noFill/>
          <a:ln/>
        </p:spPr>
        <p:txBody>
          <a:bodyPr wrap="square" lIns="0" tIns="0" rIns="0" bIns="0" rtlCol="0" anchor="t"/>
          <a:lstStyle/>
          <a:p>
            <a:pPr marL="0" indent="0" algn="ctr">
              <a:buNone/>
            </a:pPr>
            <a:r>
              <a:rPr lang="en-US" sz="1000" i="1" dirty="0">
                <a:solidFill>
                  <a:srgbClr val="6B6457"/>
                </a:solidFill>
                <a:latin typeface="Helvetica" pitchFamily="34" charset="0"/>
                <a:ea typeface="Helvetica" pitchFamily="34" charset="-122"/>
                <a:cs typeface="Helvetica" pitchFamily="34" charset="-120"/>
              </a:rPr>
              <a:t>The data hive</a:t>
            </a:r>
            <a:endParaRPr lang="en-US" sz="1000" dirty="0"/>
          </a:p>
        </p:txBody>
      </p:sp>
      <p:sp>
        <p:nvSpPr>
          <p:cNvPr id="23" name="Shape 21"/>
          <p:cNvSpPr/>
          <p:nvPr/>
        </p:nvSpPr>
        <p:spPr>
          <a:xfrm>
            <a:off x="3035808" y="4498848"/>
            <a:ext cx="1371600" cy="1371600"/>
          </a:xfrm>
          <a:prstGeom prst="ellipse">
            <a:avLst/>
          </a:prstGeom>
          <a:solidFill>
            <a:srgbClr val="F5F0EB"/>
          </a:solidFill>
          <a:ln w="25400">
            <a:solidFill>
              <a:srgbClr val="1B2A4A"/>
            </a:solidFill>
            <a:prstDash val="solid"/>
          </a:ln>
        </p:spPr>
        <p:txBody>
          <a:bodyPr/>
          <a:lstStyle/>
          <a:p>
            <a:endParaRPr lang="en-US"/>
          </a:p>
        </p:txBody>
      </p:sp>
      <p:sp>
        <p:nvSpPr>
          <p:cNvPr id="24" name="Shape 22"/>
          <p:cNvSpPr/>
          <p:nvPr/>
        </p:nvSpPr>
        <p:spPr>
          <a:xfrm>
            <a:off x="3639312" y="4745736"/>
            <a:ext cx="164592" cy="164592"/>
          </a:xfrm>
          <a:prstGeom prst="ellipse">
            <a:avLst/>
          </a:prstGeom>
          <a:solidFill>
            <a:srgbClr val="1B2A4A"/>
          </a:solidFill>
          <a:ln/>
        </p:spPr>
        <p:txBody>
          <a:bodyPr/>
          <a:lstStyle/>
          <a:p>
            <a:endParaRPr lang="en-US"/>
          </a:p>
        </p:txBody>
      </p:sp>
      <p:sp>
        <p:nvSpPr>
          <p:cNvPr id="25" name="Text 23"/>
          <p:cNvSpPr/>
          <p:nvPr/>
        </p:nvSpPr>
        <p:spPr>
          <a:xfrm>
            <a:off x="3035808" y="4983480"/>
            <a:ext cx="1371600" cy="320040"/>
          </a:xfrm>
          <a:prstGeom prst="rect">
            <a:avLst/>
          </a:prstGeom>
          <a:noFill/>
          <a:ln/>
        </p:spPr>
        <p:txBody>
          <a:bodyPr wrap="square" lIns="0" tIns="0" rIns="0" bIns="0" rtlCol="0" anchor="ctr"/>
          <a:lstStyle/>
          <a:p>
            <a:pPr marL="0" indent="0" algn="ctr">
              <a:buNone/>
            </a:pPr>
            <a:r>
              <a:rPr lang="en-US" sz="1400" b="1" kern="0" spc="200" dirty="0">
                <a:solidFill>
                  <a:srgbClr val="14192A"/>
                </a:solidFill>
                <a:latin typeface="Arial Black" pitchFamily="34" charset="0"/>
                <a:ea typeface="Arial Black" pitchFamily="34" charset="-122"/>
                <a:cs typeface="Arial Black" pitchFamily="34" charset="-120"/>
              </a:rPr>
              <a:t>BUILDER</a:t>
            </a:r>
            <a:endParaRPr lang="en-US" sz="1400" dirty="0"/>
          </a:p>
        </p:txBody>
      </p:sp>
      <p:sp>
        <p:nvSpPr>
          <p:cNvPr id="26" name="Text 24"/>
          <p:cNvSpPr/>
          <p:nvPr/>
        </p:nvSpPr>
        <p:spPr>
          <a:xfrm>
            <a:off x="2807208" y="5312664"/>
            <a:ext cx="1828800" cy="365760"/>
          </a:xfrm>
          <a:prstGeom prst="rect">
            <a:avLst/>
          </a:prstGeom>
          <a:noFill/>
          <a:ln/>
        </p:spPr>
        <p:txBody>
          <a:bodyPr wrap="square" lIns="0" tIns="0" rIns="0" bIns="0" rtlCol="0" anchor="t"/>
          <a:lstStyle/>
          <a:p>
            <a:pPr marL="0" indent="0" algn="ctr">
              <a:buNone/>
            </a:pPr>
            <a:r>
              <a:rPr lang="en-US" sz="1000" i="1" dirty="0">
                <a:solidFill>
                  <a:srgbClr val="6B6457"/>
                </a:solidFill>
                <a:latin typeface="Helvetica" pitchFamily="34" charset="0"/>
                <a:ea typeface="Helvetica" pitchFamily="34" charset="-122"/>
                <a:cs typeface="Helvetica" pitchFamily="34" charset="-120"/>
              </a:rPr>
              <a:t>Coding agents</a:t>
            </a:r>
            <a:endParaRPr lang="en-US" sz="1000" dirty="0"/>
          </a:p>
        </p:txBody>
      </p:sp>
      <p:sp>
        <p:nvSpPr>
          <p:cNvPr id="27" name="Text 25"/>
          <p:cNvSpPr/>
          <p:nvPr/>
        </p:nvSpPr>
        <p:spPr>
          <a:xfrm>
            <a:off x="685800" y="6126480"/>
            <a:ext cx="10972800" cy="274320"/>
          </a:xfrm>
          <a:prstGeom prst="rect">
            <a:avLst/>
          </a:prstGeom>
          <a:noFill/>
          <a:ln/>
        </p:spPr>
        <p:txBody>
          <a:bodyPr wrap="square" lIns="0" tIns="0" rIns="0" bIns="0" rtlCol="0" anchor="ctr"/>
          <a:lstStyle/>
          <a:p>
            <a:pPr marL="0" indent="0" algn="ctr">
              <a:buNone/>
            </a:pPr>
            <a:r>
              <a:rPr lang="en-US" sz="1200" i="1" dirty="0">
                <a:solidFill>
                  <a:srgbClr val="6B6457"/>
                </a:solidFill>
                <a:latin typeface="Helvetica" pitchFamily="34" charset="0"/>
                <a:ea typeface="Helvetica" pitchFamily="34" charset="-122"/>
                <a:cs typeface="Helvetica" pitchFamily="34" charset="-120"/>
              </a:rPr>
              <a:t>Every advisor interaction feeds the loop. The loop compounds.</a:t>
            </a:r>
            <a:endParaRPr lang="en-US" sz="1200" dirty="0"/>
          </a:p>
        </p:txBody>
      </p:sp>
      <p:sp>
        <p:nvSpPr>
          <p:cNvPr id="28" name="Text 26"/>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29" name="Text 27"/>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04  /  19</a:t>
            </a:r>
            <a:endParaRPr lang="en-US" sz="800" dirty="0"/>
          </a:p>
        </p:txBody>
      </p:sp>
      <p:sp>
        <p:nvSpPr>
          <p:cNvPr id="30" name="Text 28"/>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31" name="Shape 29"/>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BRAIN</a:t>
            </a:r>
            <a:endParaRPr lang="en-US" sz="900" dirty="0"/>
          </a:p>
        </p:txBody>
      </p:sp>
      <p:sp>
        <p:nvSpPr>
          <p:cNvPr id="3" name="Text 1"/>
          <p:cNvSpPr/>
          <p:nvPr/>
        </p:nvSpPr>
        <p:spPr>
          <a:xfrm>
            <a:off x="685800" y="868680"/>
            <a:ext cx="10789920" cy="914400"/>
          </a:xfrm>
          <a:prstGeom prst="rect">
            <a:avLst/>
          </a:prstGeom>
          <a:noFill/>
          <a:ln/>
        </p:spPr>
        <p:txBody>
          <a:bodyPr wrap="square" lIns="0" tIns="0" rIns="0" bIns="0" rtlCol="0" anchor="t"/>
          <a:lstStyle/>
          <a:p>
            <a:pPr marL="0" indent="0" algn="l">
              <a:buNone/>
            </a:pPr>
            <a:r>
              <a:rPr lang="en-US" sz="4000" b="1" dirty="0">
                <a:solidFill>
                  <a:srgbClr val="14192A"/>
                </a:solidFill>
                <a:latin typeface="Arial Black" pitchFamily="34" charset="0"/>
                <a:ea typeface="Arial Black" pitchFamily="34" charset="-122"/>
                <a:cs typeface="Arial Black" pitchFamily="34" charset="-120"/>
              </a:rPr>
              <a:t>Coach is the intelligence layer.</a:t>
            </a:r>
            <a:endParaRPr lang="en-US" sz="4000" dirty="0"/>
          </a:p>
        </p:txBody>
      </p:sp>
      <p:sp>
        <p:nvSpPr>
          <p:cNvPr id="4" name="Text 2"/>
          <p:cNvSpPr/>
          <p:nvPr/>
        </p:nvSpPr>
        <p:spPr>
          <a:xfrm>
            <a:off x="685800" y="1874520"/>
            <a:ext cx="10789920" cy="73152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Research, planning, client context, and workflow — one surface. The goal: make every advisor operate like our best one.</a:t>
            </a:r>
            <a:endParaRPr lang="en-US" sz="1300" dirty="0"/>
          </a:p>
        </p:txBody>
      </p:sp>
      <p:sp>
        <p:nvSpPr>
          <p:cNvPr id="5" name="Shape 3"/>
          <p:cNvSpPr/>
          <p:nvPr/>
        </p:nvSpPr>
        <p:spPr>
          <a:xfrm>
            <a:off x="586588" y="3063240"/>
            <a:ext cx="3520440" cy="2880360"/>
          </a:xfrm>
          <a:prstGeom prst="rect">
            <a:avLst/>
          </a:prstGeom>
          <a:solidFill>
            <a:srgbClr val="FAF7F1"/>
          </a:solidFill>
          <a:ln w="9525">
            <a:solidFill>
              <a:srgbClr val="D6D0C2"/>
            </a:solidFill>
            <a:prstDash val="solid"/>
          </a:ln>
          <a:effectLst>
            <a:outerShdw blurRad="127000" dist="25400" dir="5400000" algn="bl" rotWithShape="0">
              <a:srgbClr val="000000">
                <a:alpha val="8000"/>
              </a:srgbClr>
            </a:outerShdw>
          </a:effectLst>
        </p:spPr>
        <p:txBody>
          <a:bodyPr/>
          <a:lstStyle/>
          <a:p>
            <a:endParaRPr lang="en-US"/>
          </a:p>
        </p:txBody>
      </p:sp>
      <p:sp>
        <p:nvSpPr>
          <p:cNvPr id="6" name="Shape 4"/>
          <p:cNvSpPr/>
          <p:nvPr/>
        </p:nvSpPr>
        <p:spPr>
          <a:xfrm>
            <a:off x="586588" y="3063240"/>
            <a:ext cx="3520440" cy="73152"/>
          </a:xfrm>
          <a:prstGeom prst="rect">
            <a:avLst/>
          </a:prstGeom>
          <a:solidFill>
            <a:srgbClr val="A0824E"/>
          </a:solidFill>
          <a:ln/>
        </p:spPr>
        <p:txBody>
          <a:bodyPr/>
          <a:lstStyle/>
          <a:p>
            <a:endParaRPr lang="en-US"/>
          </a:p>
        </p:txBody>
      </p:sp>
      <p:sp>
        <p:nvSpPr>
          <p:cNvPr id="7" name="Text 5"/>
          <p:cNvSpPr/>
          <p:nvPr/>
        </p:nvSpPr>
        <p:spPr>
          <a:xfrm>
            <a:off x="998068" y="3383280"/>
            <a:ext cx="914400" cy="320040"/>
          </a:xfrm>
          <a:prstGeom prst="rect">
            <a:avLst/>
          </a:prstGeom>
          <a:noFill/>
          <a:ln/>
        </p:spPr>
        <p:txBody>
          <a:bodyPr wrap="square" lIns="0" tIns="0" rIns="0" bIns="0" rtlCol="0" anchor="ctr"/>
          <a:lstStyle/>
          <a:p>
            <a:pPr marL="0" indent="0">
              <a:buNone/>
            </a:pPr>
            <a:r>
              <a:rPr lang="en-US" sz="1000" b="1" kern="0" spc="300" dirty="0">
                <a:solidFill>
                  <a:srgbClr val="A0824E"/>
                </a:solidFill>
                <a:latin typeface="Helvetica" pitchFamily="34" charset="0"/>
                <a:ea typeface="Helvetica" pitchFamily="34" charset="-122"/>
                <a:cs typeface="Helvetica" pitchFamily="34" charset="-120"/>
              </a:rPr>
              <a:t>01</a:t>
            </a:r>
            <a:endParaRPr lang="en-US" sz="1000" dirty="0"/>
          </a:p>
        </p:txBody>
      </p:sp>
      <p:sp>
        <p:nvSpPr>
          <p:cNvPr id="8" name="Text 6"/>
          <p:cNvSpPr/>
          <p:nvPr/>
        </p:nvSpPr>
        <p:spPr>
          <a:xfrm>
            <a:off x="998068" y="3840480"/>
            <a:ext cx="2697480" cy="502920"/>
          </a:xfrm>
          <a:prstGeom prst="rect">
            <a:avLst/>
          </a:prstGeom>
          <a:noFill/>
          <a:ln/>
        </p:spPr>
        <p:txBody>
          <a:bodyPr wrap="square" lIns="0" tIns="0" rIns="0" bIns="0" rtlCol="0" anchor="ctr"/>
          <a:lstStyle/>
          <a:p>
            <a:pPr marL="0" indent="0">
              <a:buNone/>
            </a:pPr>
            <a:r>
              <a:rPr lang="en-US" sz="2600" b="1" dirty="0">
                <a:solidFill>
                  <a:srgbClr val="14192A"/>
                </a:solidFill>
                <a:latin typeface="Arial Black" pitchFamily="34" charset="0"/>
                <a:ea typeface="Arial Black" pitchFamily="34" charset="-122"/>
                <a:cs typeface="Arial Black" pitchFamily="34" charset="-120"/>
              </a:rPr>
              <a:t>ANSWERS</a:t>
            </a:r>
            <a:endParaRPr lang="en-US" sz="2600" dirty="0"/>
          </a:p>
        </p:txBody>
      </p:sp>
      <p:sp>
        <p:nvSpPr>
          <p:cNvPr id="9" name="Shape 7"/>
          <p:cNvSpPr/>
          <p:nvPr/>
        </p:nvSpPr>
        <p:spPr>
          <a:xfrm>
            <a:off x="998068" y="4480560"/>
            <a:ext cx="548640" cy="914"/>
          </a:xfrm>
          <a:prstGeom prst="line">
            <a:avLst/>
          </a:prstGeom>
          <a:noFill/>
          <a:ln w="19050">
            <a:solidFill>
              <a:srgbClr val="A0824E"/>
            </a:solidFill>
            <a:prstDash val="solid"/>
          </a:ln>
        </p:spPr>
        <p:txBody>
          <a:bodyPr/>
          <a:lstStyle/>
          <a:p>
            <a:endParaRPr lang="en-US"/>
          </a:p>
        </p:txBody>
      </p:sp>
      <p:sp>
        <p:nvSpPr>
          <p:cNvPr id="10" name="Text 8"/>
          <p:cNvSpPr/>
          <p:nvPr/>
        </p:nvSpPr>
        <p:spPr>
          <a:xfrm>
            <a:off x="998068" y="4663440"/>
            <a:ext cx="2697480" cy="1051560"/>
          </a:xfrm>
          <a:prstGeom prst="rect">
            <a:avLst/>
          </a:prstGeom>
          <a:noFill/>
          <a:ln/>
        </p:spPr>
        <p:txBody>
          <a:bodyPr wrap="square" lIns="0" tIns="0" rIns="0" bIns="0" rtlCol="0" anchor="t"/>
          <a:lstStyle/>
          <a:p>
            <a:pPr marL="0" indent="0" algn="l">
              <a:spcAft>
                <a:spcPts val="200"/>
              </a:spcAft>
              <a:buNone/>
            </a:pPr>
            <a:r>
              <a:rPr lang="en-US" sz="1300" dirty="0">
                <a:solidFill>
                  <a:srgbClr val="3D3830"/>
                </a:solidFill>
                <a:latin typeface="Helvetica" pitchFamily="34" charset="0"/>
                <a:ea typeface="Helvetica" pitchFamily="34" charset="-122"/>
                <a:cs typeface="Helvetica" pitchFamily="34" charset="-120"/>
              </a:rPr>
              <a:t>Every question — market, product, client, policy — answered from the firm's full knowledge, cited, in seconds.</a:t>
            </a:r>
            <a:endParaRPr lang="en-US" sz="1300" dirty="0"/>
          </a:p>
        </p:txBody>
      </p:sp>
      <p:sp>
        <p:nvSpPr>
          <p:cNvPr id="11" name="Shape 9"/>
          <p:cNvSpPr/>
          <p:nvPr/>
        </p:nvSpPr>
        <p:spPr>
          <a:xfrm>
            <a:off x="4335628" y="3063240"/>
            <a:ext cx="3520440" cy="2880360"/>
          </a:xfrm>
          <a:prstGeom prst="rect">
            <a:avLst/>
          </a:prstGeom>
          <a:solidFill>
            <a:srgbClr val="FAF7F1"/>
          </a:solidFill>
          <a:ln w="9525">
            <a:solidFill>
              <a:srgbClr val="D6D0C2"/>
            </a:solidFill>
            <a:prstDash val="solid"/>
          </a:ln>
          <a:effectLst>
            <a:outerShdw blurRad="127000" dist="25400" dir="5400000" algn="bl" rotWithShape="0">
              <a:srgbClr val="000000">
                <a:alpha val="8000"/>
              </a:srgbClr>
            </a:outerShdw>
          </a:effectLst>
        </p:spPr>
        <p:txBody>
          <a:bodyPr/>
          <a:lstStyle/>
          <a:p>
            <a:endParaRPr lang="en-US"/>
          </a:p>
        </p:txBody>
      </p:sp>
      <p:sp>
        <p:nvSpPr>
          <p:cNvPr id="12" name="Shape 10"/>
          <p:cNvSpPr/>
          <p:nvPr/>
        </p:nvSpPr>
        <p:spPr>
          <a:xfrm>
            <a:off x="4335628" y="3063240"/>
            <a:ext cx="3520440" cy="73152"/>
          </a:xfrm>
          <a:prstGeom prst="rect">
            <a:avLst/>
          </a:prstGeom>
          <a:solidFill>
            <a:srgbClr val="1B2A4A"/>
          </a:solidFill>
          <a:ln/>
        </p:spPr>
        <p:txBody>
          <a:bodyPr/>
          <a:lstStyle/>
          <a:p>
            <a:endParaRPr lang="en-US"/>
          </a:p>
        </p:txBody>
      </p:sp>
      <p:sp>
        <p:nvSpPr>
          <p:cNvPr id="13" name="Text 11"/>
          <p:cNvSpPr/>
          <p:nvPr/>
        </p:nvSpPr>
        <p:spPr>
          <a:xfrm>
            <a:off x="4747108" y="3383280"/>
            <a:ext cx="914400" cy="320040"/>
          </a:xfrm>
          <a:prstGeom prst="rect">
            <a:avLst/>
          </a:prstGeom>
          <a:noFill/>
          <a:ln/>
        </p:spPr>
        <p:txBody>
          <a:bodyPr wrap="square" lIns="0" tIns="0" rIns="0" bIns="0" rtlCol="0" anchor="ctr"/>
          <a:lstStyle/>
          <a:p>
            <a:pPr marL="0" indent="0">
              <a:buNone/>
            </a:pPr>
            <a:r>
              <a:rPr lang="en-US" sz="1000" b="1" kern="0" spc="300" dirty="0">
                <a:solidFill>
                  <a:srgbClr val="1B2A4A"/>
                </a:solidFill>
                <a:latin typeface="Helvetica" pitchFamily="34" charset="0"/>
                <a:ea typeface="Helvetica" pitchFamily="34" charset="-122"/>
                <a:cs typeface="Helvetica" pitchFamily="34" charset="-120"/>
              </a:rPr>
              <a:t>02</a:t>
            </a:r>
            <a:endParaRPr lang="en-US" sz="1000" dirty="0"/>
          </a:p>
        </p:txBody>
      </p:sp>
      <p:sp>
        <p:nvSpPr>
          <p:cNvPr id="14" name="Text 12"/>
          <p:cNvSpPr/>
          <p:nvPr/>
        </p:nvSpPr>
        <p:spPr>
          <a:xfrm>
            <a:off x="4747108" y="3840480"/>
            <a:ext cx="2697480" cy="502920"/>
          </a:xfrm>
          <a:prstGeom prst="rect">
            <a:avLst/>
          </a:prstGeom>
          <a:noFill/>
          <a:ln/>
        </p:spPr>
        <p:txBody>
          <a:bodyPr wrap="square" lIns="0" tIns="0" rIns="0" bIns="0" rtlCol="0" anchor="ctr"/>
          <a:lstStyle/>
          <a:p>
            <a:pPr marL="0" indent="0">
              <a:buNone/>
            </a:pPr>
            <a:r>
              <a:rPr lang="en-US" sz="2600" b="1" dirty="0">
                <a:solidFill>
                  <a:srgbClr val="14192A"/>
                </a:solidFill>
                <a:latin typeface="Arial Black" pitchFamily="34" charset="0"/>
                <a:ea typeface="Arial Black" pitchFamily="34" charset="-122"/>
                <a:cs typeface="Arial Black" pitchFamily="34" charset="-120"/>
              </a:rPr>
              <a:t>IDEAS</a:t>
            </a:r>
            <a:endParaRPr lang="en-US" sz="2600" dirty="0"/>
          </a:p>
        </p:txBody>
      </p:sp>
      <p:sp>
        <p:nvSpPr>
          <p:cNvPr id="15" name="Shape 13"/>
          <p:cNvSpPr/>
          <p:nvPr/>
        </p:nvSpPr>
        <p:spPr>
          <a:xfrm>
            <a:off x="4747108" y="4480560"/>
            <a:ext cx="548640" cy="914"/>
          </a:xfrm>
          <a:prstGeom prst="line">
            <a:avLst/>
          </a:prstGeom>
          <a:noFill/>
          <a:ln w="19050">
            <a:solidFill>
              <a:srgbClr val="1B2A4A"/>
            </a:solidFill>
            <a:prstDash val="solid"/>
          </a:ln>
        </p:spPr>
        <p:txBody>
          <a:bodyPr/>
          <a:lstStyle/>
          <a:p>
            <a:endParaRPr lang="en-US"/>
          </a:p>
        </p:txBody>
      </p:sp>
      <p:sp>
        <p:nvSpPr>
          <p:cNvPr id="16" name="Text 14"/>
          <p:cNvSpPr/>
          <p:nvPr/>
        </p:nvSpPr>
        <p:spPr>
          <a:xfrm>
            <a:off x="4747108" y="4663440"/>
            <a:ext cx="2697480" cy="1051560"/>
          </a:xfrm>
          <a:prstGeom prst="rect">
            <a:avLst/>
          </a:prstGeom>
          <a:noFill/>
          <a:ln/>
        </p:spPr>
        <p:txBody>
          <a:bodyPr wrap="square" lIns="0" tIns="0" rIns="0" bIns="0" rtlCol="0" anchor="t"/>
          <a:lstStyle/>
          <a:p>
            <a:pPr marL="0" indent="0" algn="l">
              <a:spcAft>
                <a:spcPts val="200"/>
              </a:spcAft>
              <a:buNone/>
            </a:pPr>
            <a:r>
              <a:rPr lang="en-US" sz="1300" dirty="0">
                <a:solidFill>
                  <a:srgbClr val="3D3830"/>
                </a:solidFill>
                <a:latin typeface="Helvetica" pitchFamily="34" charset="0"/>
                <a:ea typeface="Helvetica" pitchFamily="34" charset="-122"/>
                <a:cs typeface="Helvetica" pitchFamily="34" charset="-120"/>
              </a:rPr>
              <a:t>Proactive recommendations tailored to each book. Coach reads the market, reads the book, and proposes the next move.</a:t>
            </a:r>
            <a:endParaRPr lang="en-US" sz="1300" dirty="0"/>
          </a:p>
        </p:txBody>
      </p:sp>
      <p:sp>
        <p:nvSpPr>
          <p:cNvPr id="17" name="Shape 15"/>
          <p:cNvSpPr/>
          <p:nvPr/>
        </p:nvSpPr>
        <p:spPr>
          <a:xfrm>
            <a:off x="8084668" y="3063240"/>
            <a:ext cx="3520440" cy="2880360"/>
          </a:xfrm>
          <a:prstGeom prst="rect">
            <a:avLst/>
          </a:prstGeom>
          <a:solidFill>
            <a:srgbClr val="FAF7F1"/>
          </a:solidFill>
          <a:ln w="9525">
            <a:solidFill>
              <a:srgbClr val="D6D0C2"/>
            </a:solidFill>
            <a:prstDash val="solid"/>
          </a:ln>
          <a:effectLst>
            <a:outerShdw blurRad="127000" dist="25400" dir="5400000" algn="bl" rotWithShape="0">
              <a:srgbClr val="000000">
                <a:alpha val="8000"/>
              </a:srgbClr>
            </a:outerShdw>
          </a:effectLst>
        </p:spPr>
        <p:txBody>
          <a:bodyPr/>
          <a:lstStyle/>
          <a:p>
            <a:endParaRPr lang="en-US"/>
          </a:p>
        </p:txBody>
      </p:sp>
      <p:sp>
        <p:nvSpPr>
          <p:cNvPr id="18" name="Shape 16"/>
          <p:cNvSpPr/>
          <p:nvPr/>
        </p:nvSpPr>
        <p:spPr>
          <a:xfrm>
            <a:off x="8084668" y="3063240"/>
            <a:ext cx="3520440" cy="73152"/>
          </a:xfrm>
          <a:prstGeom prst="rect">
            <a:avLst/>
          </a:prstGeom>
          <a:solidFill>
            <a:srgbClr val="A0824E"/>
          </a:solidFill>
          <a:ln/>
        </p:spPr>
        <p:txBody>
          <a:bodyPr/>
          <a:lstStyle/>
          <a:p>
            <a:endParaRPr lang="en-US"/>
          </a:p>
        </p:txBody>
      </p:sp>
      <p:sp>
        <p:nvSpPr>
          <p:cNvPr id="19" name="Text 17"/>
          <p:cNvSpPr/>
          <p:nvPr/>
        </p:nvSpPr>
        <p:spPr>
          <a:xfrm>
            <a:off x="8496148" y="3383280"/>
            <a:ext cx="914400" cy="320040"/>
          </a:xfrm>
          <a:prstGeom prst="rect">
            <a:avLst/>
          </a:prstGeom>
          <a:noFill/>
          <a:ln/>
        </p:spPr>
        <p:txBody>
          <a:bodyPr wrap="square" lIns="0" tIns="0" rIns="0" bIns="0" rtlCol="0" anchor="ctr"/>
          <a:lstStyle/>
          <a:p>
            <a:pPr marL="0" indent="0">
              <a:buNone/>
            </a:pPr>
            <a:r>
              <a:rPr lang="en-US" sz="1000" b="1" kern="0" spc="300" dirty="0">
                <a:solidFill>
                  <a:srgbClr val="A0824E"/>
                </a:solidFill>
                <a:latin typeface="Helvetica" pitchFamily="34" charset="0"/>
                <a:ea typeface="Helvetica" pitchFamily="34" charset="-122"/>
                <a:cs typeface="Helvetica" pitchFamily="34" charset="-120"/>
              </a:rPr>
              <a:t>03</a:t>
            </a:r>
            <a:endParaRPr lang="en-US" sz="1000" dirty="0"/>
          </a:p>
        </p:txBody>
      </p:sp>
      <p:sp>
        <p:nvSpPr>
          <p:cNvPr id="20" name="Text 18"/>
          <p:cNvSpPr/>
          <p:nvPr/>
        </p:nvSpPr>
        <p:spPr>
          <a:xfrm>
            <a:off x="8496148" y="3840480"/>
            <a:ext cx="2697480" cy="502920"/>
          </a:xfrm>
          <a:prstGeom prst="rect">
            <a:avLst/>
          </a:prstGeom>
          <a:noFill/>
          <a:ln/>
        </p:spPr>
        <p:txBody>
          <a:bodyPr wrap="square" lIns="0" tIns="0" rIns="0" bIns="0" rtlCol="0" anchor="ctr"/>
          <a:lstStyle/>
          <a:p>
            <a:pPr marL="0" indent="0">
              <a:buNone/>
            </a:pPr>
            <a:r>
              <a:rPr lang="en-US" sz="2600" b="1" dirty="0">
                <a:solidFill>
                  <a:srgbClr val="14192A"/>
                </a:solidFill>
                <a:latin typeface="Arial Black" pitchFamily="34" charset="0"/>
                <a:ea typeface="Arial Black" pitchFamily="34" charset="-122"/>
                <a:cs typeface="Arial Black" pitchFamily="34" charset="-120"/>
              </a:rPr>
              <a:t>ACTIONS</a:t>
            </a:r>
            <a:endParaRPr lang="en-US" sz="2600" dirty="0"/>
          </a:p>
        </p:txBody>
      </p:sp>
      <p:sp>
        <p:nvSpPr>
          <p:cNvPr id="21" name="Shape 19"/>
          <p:cNvSpPr/>
          <p:nvPr/>
        </p:nvSpPr>
        <p:spPr>
          <a:xfrm>
            <a:off x="8496148" y="4480560"/>
            <a:ext cx="548640" cy="914"/>
          </a:xfrm>
          <a:prstGeom prst="line">
            <a:avLst/>
          </a:prstGeom>
          <a:noFill/>
          <a:ln w="19050">
            <a:solidFill>
              <a:srgbClr val="A0824E"/>
            </a:solidFill>
            <a:prstDash val="solid"/>
          </a:ln>
        </p:spPr>
        <p:txBody>
          <a:bodyPr/>
          <a:lstStyle/>
          <a:p>
            <a:endParaRPr lang="en-US"/>
          </a:p>
        </p:txBody>
      </p:sp>
      <p:sp>
        <p:nvSpPr>
          <p:cNvPr id="22" name="Text 20"/>
          <p:cNvSpPr/>
          <p:nvPr/>
        </p:nvSpPr>
        <p:spPr>
          <a:xfrm>
            <a:off x="8496148" y="4663440"/>
            <a:ext cx="2697480" cy="1051560"/>
          </a:xfrm>
          <a:prstGeom prst="rect">
            <a:avLst/>
          </a:prstGeom>
          <a:noFill/>
          <a:ln/>
        </p:spPr>
        <p:txBody>
          <a:bodyPr wrap="square" lIns="0" tIns="0" rIns="0" bIns="0" rtlCol="0" anchor="t"/>
          <a:lstStyle/>
          <a:p>
            <a:pPr marL="0" indent="0" algn="l">
              <a:spcAft>
                <a:spcPts val="200"/>
              </a:spcAft>
              <a:buNone/>
            </a:pPr>
            <a:r>
              <a:rPr lang="en-US" sz="1300" dirty="0">
                <a:solidFill>
                  <a:srgbClr val="3D3830"/>
                </a:solidFill>
                <a:latin typeface="Helvetica" pitchFamily="34" charset="0"/>
                <a:ea typeface="Helvetica" pitchFamily="34" charset="-122"/>
                <a:cs typeface="Helvetica" pitchFamily="34" charset="-120"/>
              </a:rPr>
              <a:t>Plans drafted, materials built, follow-ups scheduled. The work that used to take a team, done while the advisor is on the call.</a:t>
            </a:r>
            <a:endParaRPr lang="en-US" sz="1300" dirty="0"/>
          </a:p>
        </p:txBody>
      </p:sp>
      <p:sp>
        <p:nvSpPr>
          <p:cNvPr id="23" name="Text 21"/>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24" name="Text 22"/>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05  /  19</a:t>
            </a:r>
            <a:endParaRPr lang="en-US" sz="800" dirty="0"/>
          </a:p>
        </p:txBody>
      </p:sp>
      <p:sp>
        <p:nvSpPr>
          <p:cNvPr id="25" name="Text 23"/>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26" name="Shape 24"/>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MUSCLE</a:t>
            </a:r>
            <a:endParaRPr lang="en-US" sz="900" dirty="0"/>
          </a:p>
        </p:txBody>
      </p:sp>
      <p:sp>
        <p:nvSpPr>
          <p:cNvPr id="3" name="Text 1"/>
          <p:cNvSpPr/>
          <p:nvPr/>
        </p:nvSpPr>
        <p:spPr>
          <a:xfrm>
            <a:off x="685800" y="868680"/>
            <a:ext cx="10789920" cy="822960"/>
          </a:xfrm>
          <a:prstGeom prst="rect">
            <a:avLst/>
          </a:prstGeom>
          <a:noFill/>
          <a:ln/>
        </p:spPr>
        <p:txBody>
          <a:bodyPr wrap="square" lIns="0" tIns="0" rIns="0" bIns="0" rtlCol="0" anchor="t"/>
          <a:lstStyle/>
          <a:p>
            <a:pPr marL="0" indent="0" algn="l">
              <a:buNone/>
            </a:pPr>
            <a:r>
              <a:rPr lang="en-US" sz="3400" b="1" dirty="0">
                <a:solidFill>
                  <a:srgbClr val="14192A"/>
                </a:solidFill>
                <a:latin typeface="Arial Black" pitchFamily="34" charset="0"/>
                <a:ea typeface="Arial Black" pitchFamily="34" charset="-122"/>
                <a:cs typeface="Arial Black" pitchFamily="34" charset="-120"/>
              </a:rPr>
              <a:t>From Coach to an agentic Private Bank.</a:t>
            </a:r>
            <a:endParaRPr lang="en-US" sz="3400" dirty="0"/>
          </a:p>
        </p:txBody>
      </p:sp>
      <p:sp>
        <p:nvSpPr>
          <p:cNvPr id="4" name="Text 2"/>
          <p:cNvSpPr/>
          <p:nvPr/>
        </p:nvSpPr>
        <p:spPr>
          <a:xfrm>
            <a:off x="685800" y="1783080"/>
            <a:ext cx="10789920" cy="45720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Coach doesn't just answer. It acts — across systems, across teams, end to end.</a:t>
            </a:r>
            <a:endParaRPr lang="en-US" sz="1300" dirty="0"/>
          </a:p>
        </p:txBody>
      </p:sp>
      <p:sp>
        <p:nvSpPr>
          <p:cNvPr id="5" name="Shape 3"/>
          <p:cNvSpPr/>
          <p:nvPr/>
        </p:nvSpPr>
        <p:spPr>
          <a:xfrm>
            <a:off x="685800" y="2606040"/>
            <a:ext cx="5394960" cy="3429000"/>
          </a:xfrm>
          <a:prstGeom prst="rect">
            <a:avLst/>
          </a:prstGeom>
          <a:solidFill>
            <a:srgbClr val="EAE3D5"/>
          </a:solidFill>
          <a:ln w="9525">
            <a:solidFill>
              <a:srgbClr val="D6D0C2"/>
            </a:solidFill>
            <a:prstDash val="solid"/>
          </a:ln>
        </p:spPr>
        <p:txBody>
          <a:bodyPr/>
          <a:lstStyle/>
          <a:p>
            <a:endParaRPr lang="en-US"/>
          </a:p>
        </p:txBody>
      </p:sp>
      <p:sp>
        <p:nvSpPr>
          <p:cNvPr id="6" name="Text 4"/>
          <p:cNvSpPr/>
          <p:nvPr/>
        </p:nvSpPr>
        <p:spPr>
          <a:xfrm>
            <a:off x="1051560" y="2971800"/>
            <a:ext cx="2743200" cy="320040"/>
          </a:xfrm>
          <a:prstGeom prst="rect">
            <a:avLst/>
          </a:prstGeom>
          <a:noFill/>
          <a:ln/>
        </p:spPr>
        <p:txBody>
          <a:bodyPr wrap="square" lIns="0" tIns="0" rIns="0" bIns="0" rtlCol="0" anchor="ctr"/>
          <a:lstStyle/>
          <a:p>
            <a:pPr marL="0" indent="0">
              <a:buNone/>
            </a:pPr>
            <a:r>
              <a:rPr lang="en-US" sz="1000" b="1" kern="0" spc="400" dirty="0">
                <a:solidFill>
                  <a:srgbClr val="6B5D44"/>
                </a:solidFill>
                <a:latin typeface="Helvetica" pitchFamily="34" charset="0"/>
                <a:ea typeface="Helvetica" pitchFamily="34" charset="-122"/>
                <a:cs typeface="Helvetica" pitchFamily="34" charset="-120"/>
              </a:rPr>
              <a:t>TODAY</a:t>
            </a:r>
            <a:endParaRPr lang="en-US" sz="1000" dirty="0"/>
          </a:p>
        </p:txBody>
      </p:sp>
      <p:sp>
        <p:nvSpPr>
          <p:cNvPr id="7" name="Text 5"/>
          <p:cNvSpPr/>
          <p:nvPr/>
        </p:nvSpPr>
        <p:spPr>
          <a:xfrm>
            <a:off x="1051560" y="3383280"/>
            <a:ext cx="4663440" cy="54864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Humans navigate the system.</a:t>
            </a:r>
            <a:endParaRPr lang="en-US" sz="2200" dirty="0"/>
          </a:p>
        </p:txBody>
      </p:sp>
      <p:sp>
        <p:nvSpPr>
          <p:cNvPr id="8" name="Text 6"/>
          <p:cNvSpPr/>
          <p:nvPr/>
        </p:nvSpPr>
        <p:spPr>
          <a:xfrm>
            <a:off x="1051560" y="4297680"/>
            <a:ext cx="4663440" cy="1645920"/>
          </a:xfrm>
          <a:prstGeom prst="rect">
            <a:avLst/>
          </a:prstGeom>
          <a:noFill/>
          <a:ln/>
        </p:spPr>
        <p:txBody>
          <a:bodyPr wrap="square" lIns="0" tIns="0" rIns="0" bIns="0" rtlCol="0" anchor="t"/>
          <a:lstStyle/>
          <a:p>
            <a:pPr marL="0" indent="0" algn="l">
              <a:spcAft>
                <a:spcPts val="400"/>
              </a:spcAft>
              <a:buNone/>
            </a:pPr>
            <a:r>
              <a:rPr lang="en-US" sz="1400" dirty="0">
                <a:solidFill>
                  <a:srgbClr val="3D3830"/>
                </a:solidFill>
                <a:latin typeface="Helvetica" pitchFamily="34" charset="0"/>
                <a:ea typeface="Helvetica" pitchFamily="34" charset="-122"/>
                <a:cs typeface="Helvetica" pitchFamily="34" charset="-120"/>
              </a:rPr>
              <a:t>Screens, logins, spreadsheets, handoffs.</a:t>
            </a:r>
            <a:endParaRPr lang="en-US" sz="1400" dirty="0"/>
          </a:p>
          <a:p>
            <a:pPr marL="0" indent="0" algn="l">
              <a:spcAft>
                <a:spcPts val="400"/>
              </a:spcAft>
              <a:buNone/>
            </a:pPr>
            <a:r>
              <a:rPr lang="en-US" sz="1400" dirty="0">
                <a:solidFill>
                  <a:srgbClr val="3D3830"/>
                </a:solidFill>
                <a:latin typeface="Helvetica" pitchFamily="34" charset="0"/>
                <a:ea typeface="Helvetica" pitchFamily="34" charset="-122"/>
                <a:cs typeface="Helvetica" pitchFamily="34" charset="-120"/>
              </a:rPr>
              <a:t>Advisors become routers.</a:t>
            </a:r>
            <a:endParaRPr lang="en-US" sz="1400" dirty="0"/>
          </a:p>
          <a:p>
            <a:pPr marL="0" indent="0" algn="l">
              <a:spcAft>
                <a:spcPts val="400"/>
              </a:spcAft>
              <a:buNone/>
            </a:pPr>
            <a:r>
              <a:rPr lang="en-US" sz="1400" dirty="0">
                <a:solidFill>
                  <a:srgbClr val="3D3830"/>
                </a:solidFill>
                <a:latin typeface="Helvetica" pitchFamily="34" charset="0"/>
                <a:ea typeface="Helvetica" pitchFamily="34" charset="-122"/>
                <a:cs typeface="Helvetica" pitchFamily="34" charset="-120"/>
              </a:rPr>
              <a:t>Most of their day is moving information,</a:t>
            </a:r>
            <a:endParaRPr lang="en-US" sz="1400" dirty="0"/>
          </a:p>
          <a:p>
            <a:pPr marL="0" indent="0" algn="l">
              <a:spcAft>
                <a:spcPts val="400"/>
              </a:spcAft>
              <a:buNone/>
            </a:pPr>
            <a:r>
              <a:rPr lang="en-US" sz="1400" dirty="0">
                <a:solidFill>
                  <a:srgbClr val="3D3830"/>
                </a:solidFill>
                <a:latin typeface="Helvetica" pitchFamily="34" charset="0"/>
                <a:ea typeface="Helvetica" pitchFamily="34" charset="-122"/>
                <a:cs typeface="Helvetica" pitchFamily="34" charset="-120"/>
              </a:rPr>
              <a:t>not creating it.</a:t>
            </a:r>
            <a:endParaRPr lang="en-US" sz="1400" dirty="0"/>
          </a:p>
        </p:txBody>
      </p:sp>
      <p:sp>
        <p:nvSpPr>
          <p:cNvPr id="9" name="Shape 7"/>
          <p:cNvSpPr/>
          <p:nvPr/>
        </p:nvSpPr>
        <p:spPr>
          <a:xfrm>
            <a:off x="6400800" y="2606040"/>
            <a:ext cx="5394960" cy="3429000"/>
          </a:xfrm>
          <a:prstGeom prst="rect">
            <a:avLst/>
          </a:prstGeom>
          <a:solidFill>
            <a:srgbClr val="EDE2CE"/>
          </a:solidFill>
          <a:ln w="12700">
            <a:solidFill>
              <a:srgbClr val="A0824E"/>
            </a:solidFill>
            <a:prstDash val="solid"/>
          </a:ln>
        </p:spPr>
        <p:txBody>
          <a:bodyPr/>
          <a:lstStyle/>
          <a:p>
            <a:endParaRPr lang="en-US"/>
          </a:p>
        </p:txBody>
      </p:sp>
      <p:sp>
        <p:nvSpPr>
          <p:cNvPr id="10" name="Text 8"/>
          <p:cNvSpPr/>
          <p:nvPr/>
        </p:nvSpPr>
        <p:spPr>
          <a:xfrm>
            <a:off x="6766560" y="2971800"/>
            <a:ext cx="2743200" cy="320040"/>
          </a:xfrm>
          <a:prstGeom prst="rect">
            <a:avLst/>
          </a:prstGeom>
          <a:noFill/>
          <a:ln/>
        </p:spPr>
        <p:txBody>
          <a:bodyPr wrap="square" lIns="0" tIns="0" rIns="0" bIns="0" rtlCol="0" anchor="ctr"/>
          <a:lstStyle/>
          <a:p>
            <a:pPr marL="0" indent="0">
              <a:buNone/>
            </a:pPr>
            <a:r>
              <a:rPr lang="en-US" sz="1000" b="1" kern="0" spc="400" dirty="0">
                <a:solidFill>
                  <a:srgbClr val="A0824E"/>
                </a:solidFill>
                <a:latin typeface="Helvetica" pitchFamily="34" charset="0"/>
                <a:ea typeface="Helvetica" pitchFamily="34" charset="-122"/>
                <a:cs typeface="Helvetica" pitchFamily="34" charset="-120"/>
              </a:rPr>
              <a:t>TOMORROW</a:t>
            </a:r>
            <a:endParaRPr lang="en-US" sz="1000" dirty="0"/>
          </a:p>
        </p:txBody>
      </p:sp>
      <p:sp>
        <p:nvSpPr>
          <p:cNvPr id="11" name="Text 9"/>
          <p:cNvSpPr/>
          <p:nvPr/>
        </p:nvSpPr>
        <p:spPr>
          <a:xfrm>
            <a:off x="6766560" y="3383280"/>
            <a:ext cx="4663440" cy="54864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Agents orchestrate. Humans judge.</a:t>
            </a:r>
            <a:endParaRPr lang="en-US" sz="2200" dirty="0"/>
          </a:p>
        </p:txBody>
      </p:sp>
      <p:sp>
        <p:nvSpPr>
          <p:cNvPr id="12" name="Text 10"/>
          <p:cNvSpPr/>
          <p:nvPr/>
        </p:nvSpPr>
        <p:spPr>
          <a:xfrm>
            <a:off x="6766560" y="4297680"/>
            <a:ext cx="4663440" cy="1645920"/>
          </a:xfrm>
          <a:prstGeom prst="rect">
            <a:avLst/>
          </a:prstGeom>
          <a:noFill/>
          <a:ln/>
        </p:spPr>
        <p:txBody>
          <a:bodyPr wrap="square" lIns="0" tIns="0" rIns="0" bIns="0" rtlCol="0" anchor="t"/>
          <a:lstStyle/>
          <a:p>
            <a:pPr marL="0" indent="0" algn="l">
              <a:spcAft>
                <a:spcPts val="400"/>
              </a:spcAft>
              <a:buNone/>
            </a:pPr>
            <a:r>
              <a:rPr lang="en-US" sz="1400" dirty="0">
                <a:solidFill>
                  <a:srgbClr val="14192A"/>
                </a:solidFill>
                <a:latin typeface="Helvetica" pitchFamily="34" charset="0"/>
                <a:ea typeface="Helvetica" pitchFamily="34" charset="-122"/>
                <a:cs typeface="Helvetica" pitchFamily="34" charset="-120"/>
              </a:rPr>
              <a:t>Coach drives the workflow end-to-end.</a:t>
            </a:r>
            <a:endParaRPr lang="en-US" sz="1400" dirty="0"/>
          </a:p>
          <a:p>
            <a:pPr marL="0" indent="0" algn="l">
              <a:spcAft>
                <a:spcPts val="400"/>
              </a:spcAft>
              <a:buNone/>
            </a:pPr>
            <a:r>
              <a:rPr lang="en-US" sz="1400" dirty="0">
                <a:solidFill>
                  <a:srgbClr val="14192A"/>
                </a:solidFill>
                <a:latin typeface="Helvetica" pitchFamily="34" charset="0"/>
                <a:ea typeface="Helvetica" pitchFamily="34" charset="-122"/>
                <a:cs typeface="Helvetica" pitchFamily="34" charset="-120"/>
              </a:rPr>
              <a:t>Advisors own decisions, relationships,</a:t>
            </a:r>
            <a:endParaRPr lang="en-US" sz="1400" dirty="0"/>
          </a:p>
          <a:p>
            <a:pPr marL="0" indent="0" algn="l">
              <a:spcAft>
                <a:spcPts val="400"/>
              </a:spcAft>
              <a:buNone/>
            </a:pPr>
            <a:r>
              <a:rPr lang="en-US" sz="1400" dirty="0">
                <a:solidFill>
                  <a:srgbClr val="14192A"/>
                </a:solidFill>
                <a:latin typeface="Helvetica" pitchFamily="34" charset="0"/>
                <a:ea typeface="Helvetica" pitchFamily="34" charset="-122"/>
                <a:cs typeface="Helvetica" pitchFamily="34" charset="-120"/>
              </a:rPr>
              <a:t>judgment — the things that actually</a:t>
            </a:r>
            <a:endParaRPr lang="en-US" sz="1400" dirty="0"/>
          </a:p>
          <a:p>
            <a:pPr marL="0" indent="0" algn="l">
              <a:spcAft>
                <a:spcPts val="400"/>
              </a:spcAft>
              <a:buNone/>
            </a:pPr>
            <a:r>
              <a:rPr lang="en-US" sz="1400" dirty="0">
                <a:solidFill>
                  <a:srgbClr val="14192A"/>
                </a:solidFill>
                <a:latin typeface="Helvetica" pitchFamily="34" charset="0"/>
                <a:ea typeface="Helvetica" pitchFamily="34" charset="-122"/>
                <a:cs typeface="Helvetica" pitchFamily="34" charset="-120"/>
              </a:rPr>
              <a:t>compound client trust.</a:t>
            </a:r>
            <a:endParaRPr lang="en-US" sz="1400" dirty="0"/>
          </a:p>
        </p:txBody>
      </p:sp>
      <p:sp>
        <p:nvSpPr>
          <p:cNvPr id="13" name="Text 11"/>
          <p:cNvSpPr/>
          <p:nvPr/>
        </p:nvSpPr>
        <p:spPr>
          <a:xfrm>
            <a:off x="685800" y="6172200"/>
            <a:ext cx="10972800" cy="274320"/>
          </a:xfrm>
          <a:prstGeom prst="rect">
            <a:avLst/>
          </a:prstGeom>
          <a:noFill/>
          <a:ln/>
        </p:spPr>
        <p:txBody>
          <a:bodyPr wrap="square" lIns="0" tIns="0" rIns="0" bIns="0" rtlCol="0" anchor="ctr"/>
          <a:lstStyle/>
          <a:p>
            <a:pPr marL="0" indent="0" algn="ctr">
              <a:buNone/>
            </a:pPr>
            <a:r>
              <a:rPr lang="en-US" sz="1100" b="1" kern="0" spc="400" dirty="0">
                <a:solidFill>
                  <a:srgbClr val="A0824E"/>
                </a:solidFill>
                <a:latin typeface="Helvetica" pitchFamily="34" charset="0"/>
                <a:ea typeface="Helvetica" pitchFamily="34" charset="-122"/>
                <a:cs typeface="Helvetica" pitchFamily="34" charset="-120"/>
              </a:rPr>
              <a:t>BEACHHEAD   </a:t>
            </a:r>
            <a:r>
              <a:rPr lang="en-US" sz="1100" dirty="0">
                <a:solidFill>
                  <a:srgbClr val="3D3830"/>
                </a:solidFill>
                <a:latin typeface="Helvetica" pitchFamily="34" charset="0"/>
                <a:ea typeface="Helvetica" pitchFamily="34" charset="-122"/>
                <a:cs typeface="Helvetica" pitchFamily="34" charset="-120"/>
              </a:rPr>
              <a:t>Mortgages and trusts — high-volume, high-friction, high-leverage.</a:t>
            </a:r>
            <a:endParaRPr lang="en-US" sz="1100" dirty="0"/>
          </a:p>
        </p:txBody>
      </p:sp>
      <p:sp>
        <p:nvSpPr>
          <p:cNvPr id="14" name="Text 12"/>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15" name="Text 13"/>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06  /  19</a:t>
            </a:r>
            <a:endParaRPr lang="en-US" sz="800" dirty="0"/>
          </a:p>
        </p:txBody>
      </p:sp>
      <p:sp>
        <p:nvSpPr>
          <p:cNvPr id="16" name="Text 14"/>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17" name="Shape 15"/>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THRESHOLD</a:t>
            </a:r>
            <a:endParaRPr lang="en-US" sz="900" dirty="0"/>
          </a:p>
        </p:txBody>
      </p:sp>
      <p:sp>
        <p:nvSpPr>
          <p:cNvPr id="3" name="Text 1"/>
          <p:cNvSpPr/>
          <p:nvPr/>
        </p:nvSpPr>
        <p:spPr>
          <a:xfrm>
            <a:off x="685800" y="868680"/>
            <a:ext cx="10789920" cy="1463040"/>
          </a:xfrm>
          <a:prstGeom prst="rect">
            <a:avLst/>
          </a:prstGeom>
          <a:noFill/>
          <a:ln/>
        </p:spPr>
        <p:txBody>
          <a:bodyPr wrap="square" lIns="0" tIns="0" rIns="0" bIns="0" rtlCol="0" anchor="t"/>
          <a:lstStyle/>
          <a:p>
            <a:pPr marL="0" indent="0" algn="l">
              <a:buNone/>
            </a:pPr>
            <a:r>
              <a:rPr lang="en-US" sz="3400" b="1" dirty="0">
                <a:solidFill>
                  <a:srgbClr val="14192A"/>
                </a:solidFill>
                <a:latin typeface="Arial Black" pitchFamily="34" charset="0"/>
                <a:ea typeface="Arial Black" pitchFamily="34" charset="-122"/>
                <a:cs typeface="Arial Black" pitchFamily="34" charset="-120"/>
              </a:rPr>
              <a:t>We've crossed a threshold</a:t>
            </a:r>
            <a:endParaRPr lang="en-US" sz="3400" dirty="0"/>
          </a:p>
          <a:p>
            <a:pPr marL="0" indent="0" algn="l">
              <a:buNone/>
            </a:pPr>
            <a:r>
              <a:rPr lang="en-US" sz="3400" b="1" dirty="0">
                <a:solidFill>
                  <a:srgbClr val="14192A"/>
                </a:solidFill>
                <a:latin typeface="Arial Black" pitchFamily="34" charset="0"/>
                <a:ea typeface="Arial Black" pitchFamily="34" charset="-122"/>
                <a:cs typeface="Arial Black" pitchFamily="34" charset="-120"/>
              </a:rPr>
              <a:t>on coding agents.</a:t>
            </a:r>
            <a:endParaRPr lang="en-US" sz="3400" dirty="0"/>
          </a:p>
        </p:txBody>
      </p:sp>
      <p:sp>
        <p:nvSpPr>
          <p:cNvPr id="4" name="Text 2"/>
          <p:cNvSpPr/>
          <p:nvPr/>
        </p:nvSpPr>
        <p:spPr>
          <a:xfrm>
            <a:off x="685800" y="2606040"/>
            <a:ext cx="10789920" cy="82296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What used to require a quant team and a week now takes an advisor and an afternoon. The analysis layer of the firm just became elastic.</a:t>
            </a:r>
            <a:endParaRPr lang="en-US" sz="1300" dirty="0"/>
          </a:p>
        </p:txBody>
      </p:sp>
      <p:sp>
        <p:nvSpPr>
          <p:cNvPr id="5" name="Shape 3"/>
          <p:cNvSpPr/>
          <p:nvPr/>
        </p:nvSpPr>
        <p:spPr>
          <a:xfrm>
            <a:off x="685800" y="3611880"/>
            <a:ext cx="5394960" cy="2331720"/>
          </a:xfrm>
          <a:prstGeom prst="rect">
            <a:avLst/>
          </a:prstGeom>
          <a:solidFill>
            <a:srgbClr val="F5F0EB"/>
          </a:solidFill>
          <a:ln w="12700">
            <a:solidFill>
              <a:srgbClr val="A0824E"/>
            </a:solidFill>
            <a:prstDash val="solid"/>
          </a:ln>
        </p:spPr>
        <p:txBody>
          <a:bodyPr/>
          <a:lstStyle/>
          <a:p>
            <a:endParaRPr lang="en-US"/>
          </a:p>
        </p:txBody>
      </p:sp>
      <p:sp>
        <p:nvSpPr>
          <p:cNvPr id="6" name="Shape 4"/>
          <p:cNvSpPr/>
          <p:nvPr/>
        </p:nvSpPr>
        <p:spPr>
          <a:xfrm>
            <a:off x="685800" y="3611880"/>
            <a:ext cx="5394960" cy="73152"/>
          </a:xfrm>
          <a:prstGeom prst="rect">
            <a:avLst/>
          </a:prstGeom>
          <a:solidFill>
            <a:srgbClr val="A0824E"/>
          </a:solidFill>
          <a:ln/>
        </p:spPr>
        <p:txBody>
          <a:bodyPr/>
          <a:lstStyle/>
          <a:p>
            <a:endParaRPr lang="en-US"/>
          </a:p>
        </p:txBody>
      </p:sp>
      <p:sp>
        <p:nvSpPr>
          <p:cNvPr id="7" name="Text 5"/>
          <p:cNvSpPr/>
          <p:nvPr/>
        </p:nvSpPr>
        <p:spPr>
          <a:xfrm>
            <a:off x="1051560" y="3886200"/>
            <a:ext cx="1828800" cy="274320"/>
          </a:xfrm>
          <a:prstGeom prst="rect">
            <a:avLst/>
          </a:prstGeom>
          <a:noFill/>
          <a:ln/>
        </p:spPr>
        <p:txBody>
          <a:bodyPr wrap="square" lIns="0" tIns="0" rIns="0" bIns="0" rtlCol="0" anchor="ctr"/>
          <a:lstStyle/>
          <a:p>
            <a:pPr marL="0" indent="0">
              <a:buNone/>
            </a:pPr>
            <a:r>
              <a:rPr lang="en-US" sz="1000" b="1" kern="0" spc="400" dirty="0">
                <a:solidFill>
                  <a:srgbClr val="A0824E"/>
                </a:solidFill>
                <a:latin typeface="Helvetica" pitchFamily="34" charset="0"/>
                <a:ea typeface="Helvetica" pitchFamily="34" charset="-122"/>
                <a:cs typeface="Helvetica" pitchFamily="34" charset="-120"/>
              </a:rPr>
              <a:t>FROM</a:t>
            </a:r>
            <a:endParaRPr lang="en-US" sz="1000" dirty="0"/>
          </a:p>
        </p:txBody>
      </p:sp>
      <p:sp>
        <p:nvSpPr>
          <p:cNvPr id="8" name="Text 6"/>
          <p:cNvSpPr/>
          <p:nvPr/>
        </p:nvSpPr>
        <p:spPr>
          <a:xfrm>
            <a:off x="1051560" y="4114800"/>
            <a:ext cx="4663440" cy="640080"/>
          </a:xfrm>
          <a:prstGeom prst="rect">
            <a:avLst/>
          </a:prstGeom>
          <a:noFill/>
          <a:ln/>
        </p:spPr>
        <p:txBody>
          <a:bodyPr wrap="square" lIns="0" tIns="0" rIns="0" bIns="0" rtlCol="0" anchor="ctr"/>
          <a:lstStyle/>
          <a:p>
            <a:pPr marL="0" indent="0">
              <a:buNone/>
            </a:pPr>
            <a:r>
              <a:rPr lang="en-US" sz="3200" b="1" i="1" strike="sngStrike" dirty="0">
                <a:solidFill>
                  <a:srgbClr val="8A8374"/>
                </a:solidFill>
                <a:latin typeface="Arial Black" pitchFamily="34" charset="0"/>
                <a:ea typeface="Arial Black" pitchFamily="34" charset="-122"/>
                <a:cs typeface="Arial Black" pitchFamily="34" charset="-120"/>
              </a:rPr>
              <a:t>team-week</a:t>
            </a:r>
            <a:endParaRPr lang="en-US" sz="3200" dirty="0"/>
          </a:p>
        </p:txBody>
      </p:sp>
      <p:sp>
        <p:nvSpPr>
          <p:cNvPr id="9" name="Text 7"/>
          <p:cNvSpPr/>
          <p:nvPr/>
        </p:nvSpPr>
        <p:spPr>
          <a:xfrm>
            <a:off x="1051560" y="4846320"/>
            <a:ext cx="1828800" cy="274320"/>
          </a:xfrm>
          <a:prstGeom prst="rect">
            <a:avLst/>
          </a:prstGeom>
          <a:noFill/>
          <a:ln/>
        </p:spPr>
        <p:txBody>
          <a:bodyPr wrap="square" lIns="0" tIns="0" rIns="0" bIns="0" rtlCol="0" anchor="ctr"/>
          <a:lstStyle/>
          <a:p>
            <a:pPr marL="0" indent="0">
              <a:buNone/>
            </a:pPr>
            <a:r>
              <a:rPr lang="en-US" sz="1000" b="1" kern="0" spc="400" dirty="0">
                <a:solidFill>
                  <a:srgbClr val="A0824E"/>
                </a:solidFill>
                <a:latin typeface="Helvetica" pitchFamily="34" charset="0"/>
                <a:ea typeface="Helvetica" pitchFamily="34" charset="-122"/>
                <a:cs typeface="Helvetica" pitchFamily="34" charset="-120"/>
              </a:rPr>
              <a:t>TO</a:t>
            </a:r>
            <a:endParaRPr lang="en-US" sz="1000" dirty="0"/>
          </a:p>
        </p:txBody>
      </p:sp>
      <p:sp>
        <p:nvSpPr>
          <p:cNvPr id="10" name="Text 8"/>
          <p:cNvSpPr/>
          <p:nvPr/>
        </p:nvSpPr>
        <p:spPr>
          <a:xfrm>
            <a:off x="1051560" y="5074920"/>
            <a:ext cx="4663440" cy="777240"/>
          </a:xfrm>
          <a:prstGeom prst="rect">
            <a:avLst/>
          </a:prstGeom>
          <a:noFill/>
          <a:ln/>
        </p:spPr>
        <p:txBody>
          <a:bodyPr wrap="square" lIns="0" tIns="0" rIns="0" bIns="0" rtlCol="0" anchor="ctr"/>
          <a:lstStyle/>
          <a:p>
            <a:pPr marL="0" indent="0">
              <a:buNone/>
            </a:pPr>
            <a:r>
              <a:rPr lang="en-US" sz="3600" b="1" dirty="0">
                <a:solidFill>
                  <a:srgbClr val="A0824E"/>
                </a:solidFill>
                <a:latin typeface="Arial Black" pitchFamily="34" charset="0"/>
                <a:ea typeface="Arial Black" pitchFamily="34" charset="-122"/>
                <a:cs typeface="Arial Black" pitchFamily="34" charset="-120"/>
              </a:rPr>
              <a:t>advisor-afternoon</a:t>
            </a:r>
            <a:endParaRPr lang="en-US" sz="3600" dirty="0"/>
          </a:p>
        </p:txBody>
      </p:sp>
      <p:sp>
        <p:nvSpPr>
          <p:cNvPr id="11" name="Shape 9"/>
          <p:cNvSpPr/>
          <p:nvPr/>
        </p:nvSpPr>
        <p:spPr>
          <a:xfrm>
            <a:off x="6400800" y="3611880"/>
            <a:ext cx="5394960" cy="2331720"/>
          </a:xfrm>
          <a:prstGeom prst="rect">
            <a:avLst/>
          </a:prstGeom>
          <a:solidFill>
            <a:srgbClr val="F5F0EB"/>
          </a:solidFill>
          <a:ln w="12700">
            <a:solidFill>
              <a:srgbClr val="1B2A4A"/>
            </a:solidFill>
            <a:prstDash val="solid"/>
          </a:ln>
        </p:spPr>
        <p:txBody>
          <a:bodyPr/>
          <a:lstStyle/>
          <a:p>
            <a:endParaRPr lang="en-US"/>
          </a:p>
        </p:txBody>
      </p:sp>
      <p:sp>
        <p:nvSpPr>
          <p:cNvPr id="12" name="Shape 10"/>
          <p:cNvSpPr/>
          <p:nvPr/>
        </p:nvSpPr>
        <p:spPr>
          <a:xfrm>
            <a:off x="6400800" y="3611880"/>
            <a:ext cx="5394960" cy="73152"/>
          </a:xfrm>
          <a:prstGeom prst="rect">
            <a:avLst/>
          </a:prstGeom>
          <a:solidFill>
            <a:srgbClr val="1B2A4A"/>
          </a:solidFill>
          <a:ln/>
        </p:spPr>
        <p:txBody>
          <a:bodyPr/>
          <a:lstStyle/>
          <a:p>
            <a:endParaRPr lang="en-US"/>
          </a:p>
        </p:txBody>
      </p:sp>
      <p:sp>
        <p:nvSpPr>
          <p:cNvPr id="13" name="Text 11"/>
          <p:cNvSpPr/>
          <p:nvPr/>
        </p:nvSpPr>
        <p:spPr>
          <a:xfrm>
            <a:off x="6766560" y="3886200"/>
            <a:ext cx="1828800" cy="274320"/>
          </a:xfrm>
          <a:prstGeom prst="rect">
            <a:avLst/>
          </a:prstGeom>
          <a:noFill/>
          <a:ln/>
        </p:spPr>
        <p:txBody>
          <a:bodyPr wrap="square" lIns="0" tIns="0" rIns="0" bIns="0" rtlCol="0" anchor="ctr"/>
          <a:lstStyle/>
          <a:p>
            <a:pPr marL="0" indent="0">
              <a:buNone/>
            </a:pPr>
            <a:r>
              <a:rPr lang="en-US" sz="1000" b="1" kern="0" spc="400" dirty="0">
                <a:solidFill>
                  <a:srgbClr val="1B2A4A"/>
                </a:solidFill>
                <a:latin typeface="Helvetica" pitchFamily="34" charset="0"/>
                <a:ea typeface="Helvetica" pitchFamily="34" charset="-122"/>
                <a:cs typeface="Helvetica" pitchFamily="34" charset="-120"/>
              </a:rPr>
              <a:t>FROM</a:t>
            </a:r>
            <a:endParaRPr lang="en-US" sz="1000" dirty="0"/>
          </a:p>
        </p:txBody>
      </p:sp>
      <p:sp>
        <p:nvSpPr>
          <p:cNvPr id="14" name="Text 12"/>
          <p:cNvSpPr/>
          <p:nvPr/>
        </p:nvSpPr>
        <p:spPr>
          <a:xfrm>
            <a:off x="6766560" y="4114800"/>
            <a:ext cx="4663440" cy="640080"/>
          </a:xfrm>
          <a:prstGeom prst="rect">
            <a:avLst/>
          </a:prstGeom>
          <a:noFill/>
          <a:ln/>
        </p:spPr>
        <p:txBody>
          <a:bodyPr wrap="square" lIns="0" tIns="0" rIns="0" bIns="0" rtlCol="0" anchor="ctr"/>
          <a:lstStyle/>
          <a:p>
            <a:pPr marL="0" indent="0">
              <a:buNone/>
            </a:pPr>
            <a:r>
              <a:rPr lang="en-US" sz="3200" b="1" i="1" strike="sngStrike" dirty="0">
                <a:solidFill>
                  <a:srgbClr val="8A8374"/>
                </a:solidFill>
                <a:latin typeface="Arial Black" pitchFamily="34" charset="0"/>
                <a:ea typeface="Arial Black" pitchFamily="34" charset="-122"/>
                <a:cs typeface="Arial Black" pitchFamily="34" charset="-120"/>
              </a:rPr>
              <a:t>top 1% only</a:t>
            </a:r>
            <a:endParaRPr lang="en-US" sz="3200" dirty="0"/>
          </a:p>
        </p:txBody>
      </p:sp>
      <p:sp>
        <p:nvSpPr>
          <p:cNvPr id="15" name="Text 13"/>
          <p:cNvSpPr/>
          <p:nvPr/>
        </p:nvSpPr>
        <p:spPr>
          <a:xfrm>
            <a:off x="6766560" y="4846320"/>
            <a:ext cx="1828800" cy="274320"/>
          </a:xfrm>
          <a:prstGeom prst="rect">
            <a:avLst/>
          </a:prstGeom>
          <a:noFill/>
          <a:ln/>
        </p:spPr>
        <p:txBody>
          <a:bodyPr wrap="square" lIns="0" tIns="0" rIns="0" bIns="0" rtlCol="0" anchor="ctr"/>
          <a:lstStyle/>
          <a:p>
            <a:pPr marL="0" indent="0">
              <a:buNone/>
            </a:pPr>
            <a:r>
              <a:rPr lang="en-US" sz="1000" b="1" kern="0" spc="400" dirty="0">
                <a:solidFill>
                  <a:srgbClr val="1B2A4A"/>
                </a:solidFill>
                <a:latin typeface="Helvetica" pitchFamily="34" charset="0"/>
                <a:ea typeface="Helvetica" pitchFamily="34" charset="-122"/>
                <a:cs typeface="Helvetica" pitchFamily="34" charset="-120"/>
              </a:rPr>
              <a:t>TO</a:t>
            </a:r>
            <a:endParaRPr lang="en-US" sz="1000" dirty="0"/>
          </a:p>
        </p:txBody>
      </p:sp>
      <p:sp>
        <p:nvSpPr>
          <p:cNvPr id="16" name="Text 14"/>
          <p:cNvSpPr/>
          <p:nvPr/>
        </p:nvSpPr>
        <p:spPr>
          <a:xfrm>
            <a:off x="6766560" y="5074920"/>
            <a:ext cx="4663440" cy="777240"/>
          </a:xfrm>
          <a:prstGeom prst="rect">
            <a:avLst/>
          </a:prstGeom>
          <a:noFill/>
          <a:ln/>
        </p:spPr>
        <p:txBody>
          <a:bodyPr wrap="square" lIns="0" tIns="0" rIns="0" bIns="0" rtlCol="0" anchor="ctr"/>
          <a:lstStyle/>
          <a:p>
            <a:pPr marL="0" indent="0">
              <a:buNone/>
            </a:pPr>
            <a:r>
              <a:rPr lang="en-US" sz="3600" b="1" dirty="0">
                <a:solidFill>
                  <a:srgbClr val="1B2A4A"/>
                </a:solidFill>
                <a:latin typeface="Arial Black" pitchFamily="34" charset="0"/>
                <a:ea typeface="Arial Black" pitchFamily="34" charset="-122"/>
                <a:cs typeface="Arial Black" pitchFamily="34" charset="-120"/>
              </a:rPr>
              <a:t>every client</a:t>
            </a:r>
            <a:endParaRPr lang="en-US" sz="3600" dirty="0"/>
          </a:p>
        </p:txBody>
      </p:sp>
      <p:sp>
        <p:nvSpPr>
          <p:cNvPr id="17" name="Text 15"/>
          <p:cNvSpPr/>
          <p:nvPr/>
        </p:nvSpPr>
        <p:spPr>
          <a:xfrm>
            <a:off x="685800" y="6172200"/>
            <a:ext cx="10972800" cy="274320"/>
          </a:xfrm>
          <a:prstGeom prst="rect">
            <a:avLst/>
          </a:prstGeom>
          <a:noFill/>
          <a:ln/>
        </p:spPr>
        <p:txBody>
          <a:bodyPr wrap="square" lIns="0" tIns="0" rIns="0" bIns="0" rtlCol="0" anchor="ctr"/>
          <a:lstStyle/>
          <a:p>
            <a:pPr marL="0" indent="0" algn="ctr">
              <a:buNone/>
            </a:pPr>
            <a:r>
              <a:rPr lang="en-US" sz="1200" b="1" i="1" dirty="0">
                <a:solidFill>
                  <a:srgbClr val="3D3830"/>
                </a:solidFill>
                <a:latin typeface="Helvetica" pitchFamily="34" charset="0"/>
                <a:ea typeface="Helvetica" pitchFamily="34" charset="-122"/>
                <a:cs typeface="Helvetica" pitchFamily="34" charset="-120"/>
              </a:rPr>
              <a:t>We are democratizing bespoke.</a:t>
            </a:r>
            <a:endParaRPr lang="en-US" sz="1200" dirty="0"/>
          </a:p>
        </p:txBody>
      </p:sp>
      <p:sp>
        <p:nvSpPr>
          <p:cNvPr id="18" name="Text 16"/>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19" name="Text 17"/>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07  /  19</a:t>
            </a:r>
            <a:endParaRPr lang="en-US" sz="800" dirty="0"/>
          </a:p>
        </p:txBody>
      </p:sp>
      <p:sp>
        <p:nvSpPr>
          <p:cNvPr id="20" name="Text 18"/>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21" name="Shape 19"/>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FUTURE ADVISOR — PART I</a:t>
            </a:r>
            <a:endParaRPr lang="en-US" sz="900" dirty="0"/>
          </a:p>
        </p:txBody>
      </p:sp>
      <p:sp>
        <p:nvSpPr>
          <p:cNvPr id="3" name="Text 1"/>
          <p:cNvSpPr/>
          <p:nvPr/>
        </p:nvSpPr>
        <p:spPr>
          <a:xfrm>
            <a:off x="685800" y="868680"/>
            <a:ext cx="10789920" cy="1463040"/>
          </a:xfrm>
          <a:prstGeom prst="rect">
            <a:avLst/>
          </a:prstGeom>
          <a:noFill/>
          <a:ln/>
        </p:spPr>
        <p:txBody>
          <a:bodyPr wrap="square" lIns="0" tIns="0" rIns="0" bIns="0" rtlCol="0" anchor="t"/>
          <a:lstStyle/>
          <a:p>
            <a:pPr marL="0" indent="0" algn="l">
              <a:buNone/>
            </a:pPr>
            <a:r>
              <a:rPr lang="en-US" sz="3000" b="1" dirty="0">
                <a:solidFill>
                  <a:srgbClr val="14192A"/>
                </a:solidFill>
                <a:latin typeface="Arial Black" pitchFamily="34" charset="0"/>
                <a:ea typeface="Arial Black" pitchFamily="34" charset="-122"/>
                <a:cs typeface="Arial Black" pitchFamily="34" charset="-120"/>
              </a:rPr>
              <a:t>Your best advisor's instincts</a:t>
            </a:r>
            <a:endParaRPr lang="en-US" sz="3000" dirty="0"/>
          </a:p>
          <a:p>
            <a:pPr marL="0" indent="0" algn="l">
              <a:buNone/>
            </a:pPr>
            <a:r>
              <a:rPr lang="en-US" sz="3000" b="1" dirty="0">
                <a:solidFill>
                  <a:srgbClr val="14192A"/>
                </a:solidFill>
                <a:latin typeface="Arial Black" pitchFamily="34" charset="0"/>
                <a:ea typeface="Arial Black" pitchFamily="34" charset="-122"/>
                <a:cs typeface="Arial Black" pitchFamily="34" charset="-120"/>
              </a:rPr>
              <a:t>become every advisor's instincts.</a:t>
            </a:r>
            <a:endParaRPr lang="en-US" sz="3000" dirty="0"/>
          </a:p>
        </p:txBody>
      </p:sp>
      <p:sp>
        <p:nvSpPr>
          <p:cNvPr id="4" name="Shape 2"/>
          <p:cNvSpPr/>
          <p:nvPr/>
        </p:nvSpPr>
        <p:spPr>
          <a:xfrm>
            <a:off x="5458968" y="3474720"/>
            <a:ext cx="1280160" cy="1280160"/>
          </a:xfrm>
          <a:prstGeom prst="ellipse">
            <a:avLst/>
          </a:prstGeom>
          <a:solidFill>
            <a:srgbClr val="A0824E"/>
          </a:solidFill>
          <a:ln/>
        </p:spPr>
        <p:txBody>
          <a:bodyPr/>
          <a:lstStyle/>
          <a:p>
            <a:endParaRPr lang="en-US"/>
          </a:p>
        </p:txBody>
      </p:sp>
      <p:sp>
        <p:nvSpPr>
          <p:cNvPr id="5" name="Text 3"/>
          <p:cNvSpPr/>
          <p:nvPr/>
        </p:nvSpPr>
        <p:spPr>
          <a:xfrm>
            <a:off x="5458968" y="3931920"/>
            <a:ext cx="1280160" cy="365760"/>
          </a:xfrm>
          <a:prstGeom prst="rect">
            <a:avLst/>
          </a:prstGeom>
          <a:noFill/>
          <a:ln/>
        </p:spPr>
        <p:txBody>
          <a:bodyPr wrap="square" lIns="0" tIns="0" rIns="0" bIns="0" rtlCol="0" anchor="ctr"/>
          <a:lstStyle/>
          <a:p>
            <a:pPr marL="0" indent="0" algn="ctr">
              <a:buNone/>
            </a:pPr>
            <a:r>
              <a:rPr lang="en-US" sz="1400" b="1" kern="0" spc="200" dirty="0">
                <a:solidFill>
                  <a:srgbClr val="FFFFFF"/>
                </a:solidFill>
                <a:latin typeface="Arial Black" pitchFamily="34" charset="0"/>
                <a:ea typeface="Arial Black" pitchFamily="34" charset="-122"/>
                <a:cs typeface="Arial Black" pitchFamily="34" charset="-120"/>
              </a:rPr>
              <a:t>ADVISOR</a:t>
            </a:r>
            <a:endParaRPr lang="en-US" sz="1400" dirty="0"/>
          </a:p>
        </p:txBody>
      </p:sp>
      <p:sp>
        <p:nvSpPr>
          <p:cNvPr id="6" name="Shape 4"/>
          <p:cNvSpPr/>
          <p:nvPr/>
        </p:nvSpPr>
        <p:spPr>
          <a:xfrm flipH="1" flipV="1">
            <a:off x="4727448" y="3243717"/>
            <a:ext cx="1028700" cy="277163"/>
          </a:xfrm>
          <a:prstGeom prst="line">
            <a:avLst/>
          </a:prstGeom>
          <a:noFill/>
          <a:ln w="9525">
            <a:solidFill>
              <a:srgbClr val="A0824E">
                <a:alpha val="45000"/>
              </a:srgbClr>
            </a:solidFill>
            <a:prstDash val="solid"/>
          </a:ln>
        </p:spPr>
        <p:txBody>
          <a:bodyPr/>
          <a:lstStyle/>
          <a:p>
            <a:endParaRPr lang="en-US"/>
          </a:p>
        </p:txBody>
      </p:sp>
      <p:sp>
        <p:nvSpPr>
          <p:cNvPr id="7" name="Shape 5"/>
          <p:cNvSpPr/>
          <p:nvPr/>
        </p:nvSpPr>
        <p:spPr>
          <a:xfrm>
            <a:off x="4544568" y="2993898"/>
            <a:ext cx="182880" cy="182880"/>
          </a:xfrm>
          <a:prstGeom prst="ellipse">
            <a:avLst/>
          </a:prstGeom>
          <a:solidFill>
            <a:srgbClr val="A0824E"/>
          </a:solidFill>
          <a:ln/>
        </p:spPr>
        <p:txBody>
          <a:bodyPr/>
          <a:lstStyle/>
          <a:p>
            <a:endParaRPr lang="en-US"/>
          </a:p>
        </p:txBody>
      </p:sp>
      <p:sp>
        <p:nvSpPr>
          <p:cNvPr id="8" name="Text 6"/>
          <p:cNvSpPr/>
          <p:nvPr/>
        </p:nvSpPr>
        <p:spPr>
          <a:xfrm>
            <a:off x="2148840" y="2628138"/>
            <a:ext cx="2286000" cy="502920"/>
          </a:xfrm>
          <a:prstGeom prst="rect">
            <a:avLst/>
          </a:prstGeom>
          <a:noFill/>
          <a:ln/>
        </p:spPr>
        <p:txBody>
          <a:bodyPr wrap="square" lIns="0" tIns="0" rIns="0" bIns="0" rtlCol="0" anchor="ctr"/>
          <a:lstStyle/>
          <a:p>
            <a:pPr marL="0" indent="0" algn="r">
              <a:buNone/>
            </a:pPr>
            <a:r>
              <a:rPr lang="en-US" sz="1200" b="1" dirty="0">
                <a:solidFill>
                  <a:srgbClr val="14192A"/>
                </a:solidFill>
                <a:latin typeface="Arial Black" pitchFamily="34" charset="0"/>
                <a:ea typeface="Arial Black" pitchFamily="34" charset="-122"/>
                <a:cs typeface="Arial Black" pitchFamily="34" charset="-120"/>
              </a:rPr>
              <a:t>Personalized</a:t>
            </a:r>
            <a:endParaRPr lang="en-US" sz="1200" dirty="0"/>
          </a:p>
          <a:p>
            <a:pPr marL="0" indent="0" algn="r">
              <a:buNone/>
            </a:pPr>
            <a:r>
              <a:rPr lang="en-US" sz="1200" b="1" dirty="0">
                <a:solidFill>
                  <a:srgbClr val="14192A"/>
                </a:solidFill>
                <a:latin typeface="Arial Black" pitchFamily="34" charset="0"/>
                <a:ea typeface="Arial Black" pitchFamily="34" charset="-122"/>
                <a:cs typeface="Arial Black" pitchFamily="34" charset="-120"/>
              </a:rPr>
              <a:t>AI teammate</a:t>
            </a:r>
            <a:endParaRPr lang="en-US" sz="1200" dirty="0"/>
          </a:p>
        </p:txBody>
      </p:sp>
      <p:sp>
        <p:nvSpPr>
          <p:cNvPr id="9" name="Text 7"/>
          <p:cNvSpPr/>
          <p:nvPr/>
        </p:nvSpPr>
        <p:spPr>
          <a:xfrm>
            <a:off x="2148840" y="3131058"/>
            <a:ext cx="2286000" cy="411480"/>
          </a:xfrm>
          <a:prstGeom prst="rect">
            <a:avLst/>
          </a:prstGeom>
          <a:noFill/>
          <a:ln/>
        </p:spPr>
        <p:txBody>
          <a:bodyPr wrap="square" lIns="0" tIns="0" rIns="0" bIns="0" rtlCol="0" anchor="t"/>
          <a:lstStyle/>
          <a:p>
            <a:pPr marL="0" indent="0" algn="r">
              <a:buNone/>
            </a:pPr>
            <a:r>
              <a:rPr lang="en-US" sz="1000" i="1" dirty="0">
                <a:solidFill>
                  <a:srgbClr val="6B6457"/>
                </a:solidFill>
                <a:latin typeface="Helvetica" pitchFamily="34" charset="0"/>
                <a:ea typeface="Helvetica" pitchFamily="34" charset="-122"/>
                <a:cs typeface="Helvetica" pitchFamily="34" charset="-120"/>
              </a:rPr>
              <a:t>Learns their voice, their book, their judgment.</a:t>
            </a:r>
            <a:endParaRPr lang="en-US" sz="1000" dirty="0"/>
          </a:p>
        </p:txBody>
      </p:sp>
      <p:sp>
        <p:nvSpPr>
          <p:cNvPr id="10" name="Shape 8"/>
          <p:cNvSpPr/>
          <p:nvPr/>
        </p:nvSpPr>
        <p:spPr>
          <a:xfrm flipV="1">
            <a:off x="6441948" y="3243717"/>
            <a:ext cx="1028700" cy="277163"/>
          </a:xfrm>
          <a:prstGeom prst="line">
            <a:avLst/>
          </a:prstGeom>
          <a:noFill/>
          <a:ln w="9525">
            <a:solidFill>
              <a:srgbClr val="A0824E">
                <a:alpha val="45000"/>
              </a:srgbClr>
            </a:solidFill>
            <a:prstDash val="solid"/>
          </a:ln>
        </p:spPr>
        <p:txBody>
          <a:bodyPr/>
          <a:lstStyle/>
          <a:p>
            <a:endParaRPr lang="en-US"/>
          </a:p>
        </p:txBody>
      </p:sp>
      <p:sp>
        <p:nvSpPr>
          <p:cNvPr id="11" name="Shape 9"/>
          <p:cNvSpPr/>
          <p:nvPr/>
        </p:nvSpPr>
        <p:spPr>
          <a:xfrm>
            <a:off x="7470648" y="2993898"/>
            <a:ext cx="182880" cy="182880"/>
          </a:xfrm>
          <a:prstGeom prst="ellipse">
            <a:avLst/>
          </a:prstGeom>
          <a:solidFill>
            <a:srgbClr val="A0824E"/>
          </a:solidFill>
          <a:ln/>
        </p:spPr>
        <p:txBody>
          <a:bodyPr/>
          <a:lstStyle/>
          <a:p>
            <a:endParaRPr lang="en-US"/>
          </a:p>
        </p:txBody>
      </p:sp>
      <p:sp>
        <p:nvSpPr>
          <p:cNvPr id="12" name="Text 10"/>
          <p:cNvSpPr/>
          <p:nvPr/>
        </p:nvSpPr>
        <p:spPr>
          <a:xfrm>
            <a:off x="7763256" y="2628138"/>
            <a:ext cx="2286000" cy="502920"/>
          </a:xfrm>
          <a:prstGeom prst="rect">
            <a:avLst/>
          </a:prstGeom>
          <a:noFill/>
          <a:ln/>
        </p:spPr>
        <p:txBody>
          <a:bodyPr wrap="square" lIns="0" tIns="0" rIns="0" bIns="0" rtlCol="0" anchor="ctr"/>
          <a:lstStyle/>
          <a:p>
            <a:pPr marL="0" indent="0" algn="l">
              <a:buNone/>
            </a:pPr>
            <a:r>
              <a:rPr lang="en-US" sz="1200" b="1" dirty="0">
                <a:solidFill>
                  <a:srgbClr val="14192A"/>
                </a:solidFill>
                <a:latin typeface="Arial Black" pitchFamily="34" charset="0"/>
                <a:ea typeface="Arial Black" pitchFamily="34" charset="-122"/>
                <a:cs typeface="Arial Black" pitchFamily="34" charset="-120"/>
              </a:rPr>
              <a:t>Ambient meeting</a:t>
            </a:r>
            <a:endParaRPr lang="en-US" sz="1200" dirty="0"/>
          </a:p>
          <a:p>
            <a:pPr marL="0" indent="0" algn="l">
              <a:buNone/>
            </a:pPr>
            <a:r>
              <a:rPr lang="en-US" sz="1200" b="1" dirty="0">
                <a:solidFill>
                  <a:srgbClr val="14192A"/>
                </a:solidFill>
                <a:latin typeface="Arial Black" pitchFamily="34" charset="0"/>
                <a:ea typeface="Arial Black" pitchFamily="34" charset="-122"/>
                <a:cs typeface="Arial Black" pitchFamily="34" charset="-120"/>
              </a:rPr>
              <a:t>intelligence</a:t>
            </a:r>
            <a:endParaRPr lang="en-US" sz="1200" dirty="0"/>
          </a:p>
        </p:txBody>
      </p:sp>
      <p:sp>
        <p:nvSpPr>
          <p:cNvPr id="13" name="Text 11"/>
          <p:cNvSpPr/>
          <p:nvPr/>
        </p:nvSpPr>
        <p:spPr>
          <a:xfrm>
            <a:off x="7763256" y="3131058"/>
            <a:ext cx="2286000" cy="411480"/>
          </a:xfrm>
          <a:prstGeom prst="rect">
            <a:avLst/>
          </a:prstGeom>
          <a:noFill/>
          <a:ln/>
        </p:spPr>
        <p:txBody>
          <a:bodyPr wrap="square" lIns="0" tIns="0" rIns="0" bIns="0" rtlCol="0" anchor="t"/>
          <a:lstStyle/>
          <a:p>
            <a:pPr marL="0" indent="0" algn="l">
              <a:buNone/>
            </a:pPr>
            <a:r>
              <a:rPr lang="en-US" sz="1000" i="1" dirty="0">
                <a:solidFill>
                  <a:srgbClr val="6B6457"/>
                </a:solidFill>
                <a:latin typeface="Helvetica" pitchFamily="34" charset="0"/>
                <a:ea typeface="Helvetica" pitchFamily="34" charset="-122"/>
                <a:cs typeface="Helvetica" pitchFamily="34" charset="-120"/>
              </a:rPr>
              <a:t>Listens, captures, files, follows up.</a:t>
            </a:r>
            <a:endParaRPr lang="en-US" sz="1000" dirty="0"/>
          </a:p>
        </p:txBody>
      </p:sp>
      <p:sp>
        <p:nvSpPr>
          <p:cNvPr id="14" name="Shape 12"/>
          <p:cNvSpPr/>
          <p:nvPr/>
        </p:nvSpPr>
        <p:spPr>
          <a:xfrm>
            <a:off x="6784848" y="4114800"/>
            <a:ext cx="2057400" cy="914"/>
          </a:xfrm>
          <a:prstGeom prst="line">
            <a:avLst/>
          </a:prstGeom>
          <a:noFill/>
          <a:ln w="9525">
            <a:solidFill>
              <a:srgbClr val="A0824E">
                <a:alpha val="45000"/>
              </a:srgbClr>
            </a:solidFill>
            <a:prstDash val="solid"/>
          </a:ln>
        </p:spPr>
        <p:txBody>
          <a:bodyPr/>
          <a:lstStyle/>
          <a:p>
            <a:endParaRPr lang="en-US"/>
          </a:p>
        </p:txBody>
      </p:sp>
      <p:sp>
        <p:nvSpPr>
          <p:cNvPr id="15" name="Shape 13"/>
          <p:cNvSpPr/>
          <p:nvPr/>
        </p:nvSpPr>
        <p:spPr>
          <a:xfrm>
            <a:off x="8933688" y="4023360"/>
            <a:ext cx="182880" cy="182880"/>
          </a:xfrm>
          <a:prstGeom prst="ellipse">
            <a:avLst/>
          </a:prstGeom>
          <a:solidFill>
            <a:srgbClr val="A0824E"/>
          </a:solidFill>
          <a:ln/>
        </p:spPr>
        <p:txBody>
          <a:bodyPr/>
          <a:lstStyle/>
          <a:p>
            <a:endParaRPr lang="en-US"/>
          </a:p>
        </p:txBody>
      </p:sp>
      <p:sp>
        <p:nvSpPr>
          <p:cNvPr id="16" name="Text 14"/>
          <p:cNvSpPr/>
          <p:nvPr/>
        </p:nvSpPr>
        <p:spPr>
          <a:xfrm>
            <a:off x="9226296" y="3858768"/>
            <a:ext cx="2286000" cy="502920"/>
          </a:xfrm>
          <a:prstGeom prst="rect">
            <a:avLst/>
          </a:prstGeom>
          <a:noFill/>
          <a:ln/>
        </p:spPr>
        <p:txBody>
          <a:bodyPr wrap="square" lIns="0" tIns="0" rIns="0" bIns="0" rtlCol="0" anchor="ctr"/>
          <a:lstStyle/>
          <a:p>
            <a:pPr marL="0" indent="0" algn="l">
              <a:buNone/>
            </a:pPr>
            <a:r>
              <a:rPr lang="en-US" sz="1200" b="1" dirty="0">
                <a:solidFill>
                  <a:srgbClr val="14192A"/>
                </a:solidFill>
                <a:latin typeface="Arial Black" pitchFamily="34" charset="0"/>
                <a:ea typeface="Arial Black" pitchFamily="34" charset="-122"/>
                <a:cs typeface="Arial Black" pitchFamily="34" charset="-120"/>
              </a:rPr>
              <a:t>On-call</a:t>
            </a:r>
            <a:endParaRPr lang="en-US" sz="1200" dirty="0"/>
          </a:p>
          <a:p>
            <a:pPr marL="0" indent="0" algn="l">
              <a:buNone/>
            </a:pPr>
            <a:r>
              <a:rPr lang="en-US" sz="1200" b="1" dirty="0">
                <a:solidFill>
                  <a:srgbClr val="14192A"/>
                </a:solidFill>
                <a:latin typeface="Arial Black" pitchFamily="34" charset="0"/>
                <a:ea typeface="Arial Black" pitchFamily="34" charset="-122"/>
                <a:cs typeface="Arial Black" pitchFamily="34" charset="-120"/>
              </a:rPr>
              <a:t>coding agent</a:t>
            </a:r>
            <a:endParaRPr lang="en-US" sz="1200" dirty="0"/>
          </a:p>
        </p:txBody>
      </p:sp>
      <p:sp>
        <p:nvSpPr>
          <p:cNvPr id="17" name="Text 15"/>
          <p:cNvSpPr/>
          <p:nvPr/>
        </p:nvSpPr>
        <p:spPr>
          <a:xfrm>
            <a:off x="9226296" y="4361688"/>
            <a:ext cx="2286000" cy="411480"/>
          </a:xfrm>
          <a:prstGeom prst="rect">
            <a:avLst/>
          </a:prstGeom>
          <a:noFill/>
          <a:ln/>
        </p:spPr>
        <p:txBody>
          <a:bodyPr wrap="square" lIns="0" tIns="0" rIns="0" bIns="0" rtlCol="0" anchor="t"/>
          <a:lstStyle/>
          <a:p>
            <a:pPr marL="0" indent="0" algn="l">
              <a:buNone/>
            </a:pPr>
            <a:r>
              <a:rPr lang="en-US" sz="1000" i="1" dirty="0">
                <a:solidFill>
                  <a:srgbClr val="6B6457"/>
                </a:solidFill>
                <a:latin typeface="Helvetica" pitchFamily="34" charset="0"/>
                <a:ea typeface="Helvetica" pitchFamily="34" charset="-122"/>
                <a:cs typeface="Helvetica" pitchFamily="34" charset="-120"/>
              </a:rPr>
              <a:t>Any analysis, any moment, any client.</a:t>
            </a:r>
            <a:endParaRPr lang="en-US" sz="1000" dirty="0"/>
          </a:p>
        </p:txBody>
      </p:sp>
      <p:sp>
        <p:nvSpPr>
          <p:cNvPr id="18" name="Shape 16"/>
          <p:cNvSpPr/>
          <p:nvPr/>
        </p:nvSpPr>
        <p:spPr>
          <a:xfrm>
            <a:off x="6441948" y="4708720"/>
            <a:ext cx="1028700" cy="277163"/>
          </a:xfrm>
          <a:prstGeom prst="line">
            <a:avLst/>
          </a:prstGeom>
          <a:noFill/>
          <a:ln w="9525">
            <a:solidFill>
              <a:srgbClr val="A0824E">
                <a:alpha val="45000"/>
              </a:srgbClr>
            </a:solidFill>
            <a:prstDash val="solid"/>
          </a:ln>
        </p:spPr>
        <p:txBody>
          <a:bodyPr/>
          <a:lstStyle/>
          <a:p>
            <a:endParaRPr lang="en-US"/>
          </a:p>
        </p:txBody>
      </p:sp>
      <p:sp>
        <p:nvSpPr>
          <p:cNvPr id="19" name="Shape 17"/>
          <p:cNvSpPr/>
          <p:nvPr/>
        </p:nvSpPr>
        <p:spPr>
          <a:xfrm>
            <a:off x="7470648" y="5052822"/>
            <a:ext cx="182880" cy="182880"/>
          </a:xfrm>
          <a:prstGeom prst="ellipse">
            <a:avLst/>
          </a:prstGeom>
          <a:solidFill>
            <a:srgbClr val="A0824E"/>
          </a:solidFill>
          <a:ln/>
        </p:spPr>
        <p:txBody>
          <a:bodyPr/>
          <a:lstStyle/>
          <a:p>
            <a:endParaRPr lang="en-US"/>
          </a:p>
        </p:txBody>
      </p:sp>
      <p:sp>
        <p:nvSpPr>
          <p:cNvPr id="20" name="Text 18"/>
          <p:cNvSpPr/>
          <p:nvPr/>
        </p:nvSpPr>
        <p:spPr>
          <a:xfrm>
            <a:off x="7763256" y="5098542"/>
            <a:ext cx="2286000" cy="502920"/>
          </a:xfrm>
          <a:prstGeom prst="rect">
            <a:avLst/>
          </a:prstGeom>
          <a:noFill/>
          <a:ln/>
        </p:spPr>
        <p:txBody>
          <a:bodyPr wrap="square" lIns="0" tIns="0" rIns="0" bIns="0" rtlCol="0" anchor="ctr"/>
          <a:lstStyle/>
          <a:p>
            <a:pPr marL="0" indent="0" algn="l">
              <a:buNone/>
            </a:pPr>
            <a:r>
              <a:rPr lang="en-US" sz="1200" b="1" dirty="0">
                <a:solidFill>
                  <a:srgbClr val="14192A"/>
                </a:solidFill>
                <a:latin typeface="Arial Black" pitchFamily="34" charset="0"/>
                <a:ea typeface="Arial Black" pitchFamily="34" charset="-122"/>
                <a:cs typeface="Arial Black" pitchFamily="34" charset="-120"/>
              </a:rPr>
              <a:t>Proactive</a:t>
            </a:r>
            <a:endParaRPr lang="en-US" sz="1200" dirty="0"/>
          </a:p>
          <a:p>
            <a:pPr marL="0" indent="0" algn="l">
              <a:buNone/>
            </a:pPr>
            <a:r>
              <a:rPr lang="en-US" sz="1200" b="1" dirty="0">
                <a:solidFill>
                  <a:srgbClr val="14192A"/>
                </a:solidFill>
                <a:latin typeface="Arial Black" pitchFamily="34" charset="0"/>
                <a:ea typeface="Arial Black" pitchFamily="34" charset="-122"/>
                <a:cs typeface="Arial Black" pitchFamily="34" charset="-120"/>
              </a:rPr>
              <a:t>discovery</a:t>
            </a:r>
            <a:endParaRPr lang="en-US" sz="1200" dirty="0"/>
          </a:p>
        </p:txBody>
      </p:sp>
      <p:sp>
        <p:nvSpPr>
          <p:cNvPr id="21" name="Text 19"/>
          <p:cNvSpPr/>
          <p:nvPr/>
        </p:nvSpPr>
        <p:spPr>
          <a:xfrm>
            <a:off x="7763256" y="5601462"/>
            <a:ext cx="2286000" cy="411480"/>
          </a:xfrm>
          <a:prstGeom prst="rect">
            <a:avLst/>
          </a:prstGeom>
          <a:noFill/>
          <a:ln/>
        </p:spPr>
        <p:txBody>
          <a:bodyPr wrap="square" lIns="0" tIns="0" rIns="0" bIns="0" rtlCol="0" anchor="t"/>
          <a:lstStyle/>
          <a:p>
            <a:pPr marL="0" indent="0" algn="l">
              <a:buNone/>
            </a:pPr>
            <a:r>
              <a:rPr lang="en-US" sz="1000" i="1" dirty="0">
                <a:solidFill>
                  <a:srgbClr val="6B6457"/>
                </a:solidFill>
                <a:latin typeface="Helvetica" pitchFamily="34" charset="0"/>
                <a:ea typeface="Helvetica" pitchFamily="34" charset="-122"/>
                <a:cs typeface="Helvetica" pitchFamily="34" charset="-120"/>
              </a:rPr>
              <a:t>Finds opportunities before the advisor does.</a:t>
            </a:r>
            <a:endParaRPr lang="en-US" sz="1000" dirty="0"/>
          </a:p>
        </p:txBody>
      </p:sp>
      <p:sp>
        <p:nvSpPr>
          <p:cNvPr id="22" name="Shape 20"/>
          <p:cNvSpPr/>
          <p:nvPr/>
        </p:nvSpPr>
        <p:spPr>
          <a:xfrm flipH="1">
            <a:off x="4727448" y="4708720"/>
            <a:ext cx="1028700" cy="277163"/>
          </a:xfrm>
          <a:prstGeom prst="line">
            <a:avLst/>
          </a:prstGeom>
          <a:noFill/>
          <a:ln w="9525">
            <a:solidFill>
              <a:srgbClr val="A0824E">
                <a:alpha val="45000"/>
              </a:srgbClr>
            </a:solidFill>
            <a:prstDash val="solid"/>
          </a:ln>
        </p:spPr>
        <p:txBody>
          <a:bodyPr/>
          <a:lstStyle/>
          <a:p>
            <a:endParaRPr lang="en-US"/>
          </a:p>
        </p:txBody>
      </p:sp>
      <p:sp>
        <p:nvSpPr>
          <p:cNvPr id="23" name="Shape 21"/>
          <p:cNvSpPr/>
          <p:nvPr/>
        </p:nvSpPr>
        <p:spPr>
          <a:xfrm>
            <a:off x="4544568" y="5052822"/>
            <a:ext cx="182880" cy="182880"/>
          </a:xfrm>
          <a:prstGeom prst="ellipse">
            <a:avLst/>
          </a:prstGeom>
          <a:solidFill>
            <a:srgbClr val="A0824E"/>
          </a:solidFill>
          <a:ln/>
        </p:spPr>
        <p:txBody>
          <a:bodyPr/>
          <a:lstStyle/>
          <a:p>
            <a:endParaRPr lang="en-US"/>
          </a:p>
        </p:txBody>
      </p:sp>
      <p:sp>
        <p:nvSpPr>
          <p:cNvPr id="24" name="Text 22"/>
          <p:cNvSpPr/>
          <p:nvPr/>
        </p:nvSpPr>
        <p:spPr>
          <a:xfrm>
            <a:off x="2148840" y="5098542"/>
            <a:ext cx="2286000" cy="502920"/>
          </a:xfrm>
          <a:prstGeom prst="rect">
            <a:avLst/>
          </a:prstGeom>
          <a:noFill/>
          <a:ln/>
        </p:spPr>
        <p:txBody>
          <a:bodyPr wrap="square" lIns="0" tIns="0" rIns="0" bIns="0" rtlCol="0" anchor="ctr"/>
          <a:lstStyle/>
          <a:p>
            <a:pPr marL="0" indent="0" algn="r">
              <a:buNone/>
            </a:pPr>
            <a:r>
              <a:rPr lang="en-US" sz="1200" b="1" dirty="0">
                <a:solidFill>
                  <a:srgbClr val="14192A"/>
                </a:solidFill>
                <a:latin typeface="Arial Black" pitchFamily="34" charset="0"/>
                <a:ea typeface="Arial Black" pitchFamily="34" charset="-122"/>
                <a:cs typeface="Arial Black" pitchFamily="34" charset="-120"/>
              </a:rPr>
              <a:t>Infinite</a:t>
            </a:r>
            <a:endParaRPr lang="en-US" sz="1200" dirty="0"/>
          </a:p>
          <a:p>
            <a:pPr marL="0" indent="0" algn="r">
              <a:buNone/>
            </a:pPr>
            <a:r>
              <a:rPr lang="en-US" sz="1200" b="1" dirty="0">
                <a:solidFill>
                  <a:srgbClr val="14192A"/>
                </a:solidFill>
                <a:latin typeface="Arial Black" pitchFamily="34" charset="0"/>
                <a:ea typeface="Arial Black" pitchFamily="34" charset="-122"/>
                <a:cs typeface="Arial Black" pitchFamily="34" charset="-120"/>
              </a:rPr>
              <a:t>memory</a:t>
            </a:r>
            <a:endParaRPr lang="en-US" sz="1200" dirty="0"/>
          </a:p>
        </p:txBody>
      </p:sp>
      <p:sp>
        <p:nvSpPr>
          <p:cNvPr id="25" name="Text 23"/>
          <p:cNvSpPr/>
          <p:nvPr/>
        </p:nvSpPr>
        <p:spPr>
          <a:xfrm>
            <a:off x="2148840" y="5601462"/>
            <a:ext cx="2286000" cy="411480"/>
          </a:xfrm>
          <a:prstGeom prst="rect">
            <a:avLst/>
          </a:prstGeom>
          <a:noFill/>
          <a:ln/>
        </p:spPr>
        <p:txBody>
          <a:bodyPr wrap="square" lIns="0" tIns="0" rIns="0" bIns="0" rtlCol="0" anchor="t"/>
          <a:lstStyle/>
          <a:p>
            <a:pPr marL="0" indent="0" algn="r">
              <a:buNone/>
            </a:pPr>
            <a:r>
              <a:rPr lang="en-US" sz="1000" i="1" dirty="0">
                <a:solidFill>
                  <a:srgbClr val="6B6457"/>
                </a:solidFill>
                <a:latin typeface="Helvetica" pitchFamily="34" charset="0"/>
                <a:ea typeface="Helvetica" pitchFamily="34" charset="-122"/>
                <a:cs typeface="Helvetica" pitchFamily="34" charset="-120"/>
              </a:rPr>
              <a:t>Every promise, every preference, remembered.</a:t>
            </a:r>
            <a:endParaRPr lang="en-US" sz="1000" dirty="0"/>
          </a:p>
        </p:txBody>
      </p:sp>
      <p:sp>
        <p:nvSpPr>
          <p:cNvPr id="26" name="Shape 24"/>
          <p:cNvSpPr/>
          <p:nvPr/>
        </p:nvSpPr>
        <p:spPr>
          <a:xfrm flipH="1">
            <a:off x="3355848" y="4114800"/>
            <a:ext cx="2057400" cy="914"/>
          </a:xfrm>
          <a:prstGeom prst="line">
            <a:avLst/>
          </a:prstGeom>
          <a:noFill/>
          <a:ln w="9525">
            <a:solidFill>
              <a:srgbClr val="A0824E">
                <a:alpha val="45000"/>
              </a:srgbClr>
            </a:solidFill>
            <a:prstDash val="solid"/>
          </a:ln>
        </p:spPr>
        <p:txBody>
          <a:bodyPr/>
          <a:lstStyle/>
          <a:p>
            <a:endParaRPr lang="en-US"/>
          </a:p>
        </p:txBody>
      </p:sp>
      <p:sp>
        <p:nvSpPr>
          <p:cNvPr id="27" name="Shape 25"/>
          <p:cNvSpPr/>
          <p:nvPr/>
        </p:nvSpPr>
        <p:spPr>
          <a:xfrm>
            <a:off x="3081528" y="4023360"/>
            <a:ext cx="182880" cy="182880"/>
          </a:xfrm>
          <a:prstGeom prst="ellipse">
            <a:avLst/>
          </a:prstGeom>
          <a:solidFill>
            <a:srgbClr val="A0824E"/>
          </a:solidFill>
          <a:ln/>
        </p:spPr>
        <p:txBody>
          <a:bodyPr/>
          <a:lstStyle/>
          <a:p>
            <a:endParaRPr lang="en-US"/>
          </a:p>
        </p:txBody>
      </p:sp>
      <p:sp>
        <p:nvSpPr>
          <p:cNvPr id="28" name="Text 26"/>
          <p:cNvSpPr/>
          <p:nvPr/>
        </p:nvSpPr>
        <p:spPr>
          <a:xfrm>
            <a:off x="685800" y="3858768"/>
            <a:ext cx="2286000" cy="502920"/>
          </a:xfrm>
          <a:prstGeom prst="rect">
            <a:avLst/>
          </a:prstGeom>
          <a:noFill/>
          <a:ln/>
        </p:spPr>
        <p:txBody>
          <a:bodyPr wrap="square" lIns="0" tIns="0" rIns="0" bIns="0" rtlCol="0" anchor="ctr"/>
          <a:lstStyle/>
          <a:p>
            <a:pPr marL="0" indent="0" algn="r">
              <a:buNone/>
            </a:pPr>
            <a:r>
              <a:rPr lang="en-US" sz="1200" b="1" dirty="0">
                <a:solidFill>
                  <a:srgbClr val="14192A"/>
                </a:solidFill>
                <a:latin typeface="Arial Black" pitchFamily="34" charset="0"/>
                <a:ea typeface="Arial Black" pitchFamily="34" charset="-122"/>
                <a:cs typeface="Arial Black" pitchFamily="34" charset="-120"/>
              </a:rPr>
              <a:t>Whole firm</a:t>
            </a:r>
            <a:endParaRPr lang="en-US" sz="1200" dirty="0"/>
          </a:p>
          <a:p>
            <a:pPr marL="0" indent="0" algn="r">
              <a:buNone/>
            </a:pPr>
            <a:r>
              <a:rPr lang="en-US" sz="1200" b="1" dirty="0">
                <a:solidFill>
                  <a:srgbClr val="14192A"/>
                </a:solidFill>
                <a:latin typeface="Arial Black" pitchFamily="34" charset="0"/>
                <a:ea typeface="Arial Black" pitchFamily="34" charset="-122"/>
                <a:cs typeface="Arial Black" pitchFamily="34" charset="-120"/>
              </a:rPr>
              <a:t>at their fingertips</a:t>
            </a:r>
            <a:endParaRPr lang="en-US" sz="1200" dirty="0"/>
          </a:p>
        </p:txBody>
      </p:sp>
      <p:sp>
        <p:nvSpPr>
          <p:cNvPr id="29" name="Text 27"/>
          <p:cNvSpPr/>
          <p:nvPr/>
        </p:nvSpPr>
        <p:spPr>
          <a:xfrm>
            <a:off x="685800" y="4361688"/>
            <a:ext cx="2286000" cy="411480"/>
          </a:xfrm>
          <a:prstGeom prst="rect">
            <a:avLst/>
          </a:prstGeom>
          <a:noFill/>
          <a:ln/>
        </p:spPr>
        <p:txBody>
          <a:bodyPr wrap="square" lIns="0" tIns="0" rIns="0" bIns="0" rtlCol="0" anchor="t"/>
          <a:lstStyle/>
          <a:p>
            <a:pPr marL="0" indent="0" algn="r">
              <a:buNone/>
            </a:pPr>
            <a:r>
              <a:rPr lang="en-US" sz="1000" i="1" dirty="0">
                <a:solidFill>
                  <a:srgbClr val="6B6457"/>
                </a:solidFill>
                <a:latin typeface="Helvetica" pitchFamily="34" charset="0"/>
                <a:ea typeface="Helvetica" pitchFamily="34" charset="-122"/>
                <a:cs typeface="Helvetica" pitchFamily="34" charset="-120"/>
              </a:rPr>
              <a:t>Every specialist, every product, one surface.</a:t>
            </a:r>
            <a:endParaRPr lang="en-US" sz="1000" dirty="0"/>
          </a:p>
        </p:txBody>
      </p:sp>
      <p:sp>
        <p:nvSpPr>
          <p:cNvPr id="30" name="Text 28"/>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31" name="Text 29"/>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08  /  19</a:t>
            </a:r>
            <a:endParaRPr lang="en-US" sz="800" dirty="0"/>
          </a:p>
        </p:txBody>
      </p:sp>
      <p:sp>
        <p:nvSpPr>
          <p:cNvPr id="32" name="Text 30"/>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33" name="Shape 31"/>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FUTURE ADVISOR — PART II</a:t>
            </a:r>
            <a:endParaRPr lang="en-US" sz="900" dirty="0"/>
          </a:p>
        </p:txBody>
      </p:sp>
      <p:sp>
        <p:nvSpPr>
          <p:cNvPr id="3" name="Text 1"/>
          <p:cNvSpPr/>
          <p:nvPr/>
        </p:nvSpPr>
        <p:spPr>
          <a:xfrm>
            <a:off x="685800" y="868680"/>
            <a:ext cx="10789920" cy="1463040"/>
          </a:xfrm>
          <a:prstGeom prst="rect">
            <a:avLst/>
          </a:prstGeom>
          <a:noFill/>
          <a:ln/>
        </p:spPr>
        <p:txBody>
          <a:bodyPr wrap="square" lIns="0" tIns="0" rIns="0" bIns="0" rtlCol="0" anchor="t"/>
          <a:lstStyle/>
          <a:p>
            <a:pPr marL="0" indent="0" algn="l">
              <a:buNone/>
            </a:pPr>
            <a:r>
              <a:rPr lang="en-US" sz="3000" b="1" dirty="0">
                <a:solidFill>
                  <a:srgbClr val="14192A"/>
                </a:solidFill>
                <a:latin typeface="Arial Black" pitchFamily="34" charset="0"/>
                <a:ea typeface="Arial Black" pitchFamily="34" charset="-122"/>
                <a:cs typeface="Arial Black" pitchFamily="34" charset="-120"/>
              </a:rPr>
              <a:t>The assembly work goes away.</a:t>
            </a:r>
            <a:endParaRPr lang="en-US" sz="3000" dirty="0"/>
          </a:p>
          <a:p>
            <a:pPr marL="0" indent="0" algn="l">
              <a:buNone/>
            </a:pPr>
            <a:r>
              <a:rPr lang="en-US" sz="3000" b="1" dirty="0">
                <a:solidFill>
                  <a:srgbClr val="14192A"/>
                </a:solidFill>
                <a:latin typeface="Arial Black" pitchFamily="34" charset="0"/>
                <a:ea typeface="Arial Black" pitchFamily="34" charset="-122"/>
                <a:cs typeface="Arial Black" pitchFamily="34" charset="-120"/>
              </a:rPr>
              <a:t>The judgment work expands.</a:t>
            </a:r>
            <a:endParaRPr lang="en-US" sz="3000" dirty="0"/>
          </a:p>
        </p:txBody>
      </p:sp>
      <p:sp>
        <p:nvSpPr>
          <p:cNvPr id="4" name="Shape 2"/>
          <p:cNvSpPr/>
          <p:nvPr/>
        </p:nvSpPr>
        <p:spPr>
          <a:xfrm>
            <a:off x="685800" y="2468880"/>
            <a:ext cx="5394960" cy="3794760"/>
          </a:xfrm>
          <a:prstGeom prst="rect">
            <a:avLst/>
          </a:prstGeom>
          <a:solidFill>
            <a:srgbClr val="EAE3D5"/>
          </a:solidFill>
          <a:ln w="9525">
            <a:solidFill>
              <a:srgbClr val="D6D0C2"/>
            </a:solidFill>
            <a:prstDash val="solid"/>
          </a:ln>
        </p:spPr>
        <p:txBody>
          <a:bodyPr/>
          <a:lstStyle/>
          <a:p>
            <a:endParaRPr lang="en-US"/>
          </a:p>
        </p:txBody>
      </p:sp>
      <p:sp>
        <p:nvSpPr>
          <p:cNvPr id="5" name="Text 3"/>
          <p:cNvSpPr/>
          <p:nvPr/>
        </p:nvSpPr>
        <p:spPr>
          <a:xfrm>
            <a:off x="1143000" y="2788920"/>
            <a:ext cx="4572000" cy="274320"/>
          </a:xfrm>
          <a:prstGeom prst="rect">
            <a:avLst/>
          </a:prstGeom>
          <a:noFill/>
          <a:ln/>
        </p:spPr>
        <p:txBody>
          <a:bodyPr wrap="square" lIns="0" tIns="0" rIns="0" bIns="0" rtlCol="0" anchor="ctr"/>
          <a:lstStyle/>
          <a:p>
            <a:pPr marL="0" indent="0">
              <a:buNone/>
            </a:pPr>
            <a:r>
              <a:rPr lang="en-US" sz="1000" b="1" kern="0" spc="400" dirty="0">
                <a:solidFill>
                  <a:srgbClr val="6B5D44"/>
                </a:solidFill>
                <a:latin typeface="Helvetica" pitchFamily="34" charset="0"/>
                <a:ea typeface="Helvetica" pitchFamily="34" charset="-122"/>
                <a:cs typeface="Helvetica" pitchFamily="34" charset="-120"/>
              </a:rPr>
              <a:t>WHAT GOES AWAY</a:t>
            </a:r>
            <a:endParaRPr lang="en-US" sz="1000" dirty="0"/>
          </a:p>
        </p:txBody>
      </p:sp>
      <p:sp>
        <p:nvSpPr>
          <p:cNvPr id="6" name="Text 4"/>
          <p:cNvSpPr/>
          <p:nvPr/>
        </p:nvSpPr>
        <p:spPr>
          <a:xfrm>
            <a:off x="1143000" y="3310128"/>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Searching</a:t>
            </a:r>
            <a:endParaRPr lang="en-US" sz="1700" dirty="0"/>
          </a:p>
        </p:txBody>
      </p:sp>
      <p:sp>
        <p:nvSpPr>
          <p:cNvPr id="7" name="Text 5"/>
          <p:cNvSpPr/>
          <p:nvPr/>
        </p:nvSpPr>
        <p:spPr>
          <a:xfrm>
            <a:off x="1143000" y="3712464"/>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Summarizing</a:t>
            </a:r>
            <a:endParaRPr lang="en-US" sz="1700" dirty="0"/>
          </a:p>
        </p:txBody>
      </p:sp>
      <p:sp>
        <p:nvSpPr>
          <p:cNvPr id="8" name="Text 6"/>
          <p:cNvSpPr/>
          <p:nvPr/>
        </p:nvSpPr>
        <p:spPr>
          <a:xfrm>
            <a:off x="1143000" y="4114800"/>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Coordinating</a:t>
            </a:r>
            <a:endParaRPr lang="en-US" sz="1700" dirty="0"/>
          </a:p>
        </p:txBody>
      </p:sp>
      <p:sp>
        <p:nvSpPr>
          <p:cNvPr id="9" name="Text 7"/>
          <p:cNvSpPr/>
          <p:nvPr/>
        </p:nvSpPr>
        <p:spPr>
          <a:xfrm>
            <a:off x="1143000" y="4517136"/>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Reformatting</a:t>
            </a:r>
            <a:endParaRPr lang="en-US" sz="1700" dirty="0"/>
          </a:p>
        </p:txBody>
      </p:sp>
      <p:sp>
        <p:nvSpPr>
          <p:cNvPr id="10" name="Text 8"/>
          <p:cNvSpPr/>
          <p:nvPr/>
        </p:nvSpPr>
        <p:spPr>
          <a:xfrm>
            <a:off x="1143000" y="4919472"/>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Chasing ops</a:t>
            </a:r>
            <a:endParaRPr lang="en-US" sz="1700" dirty="0"/>
          </a:p>
        </p:txBody>
      </p:sp>
      <p:sp>
        <p:nvSpPr>
          <p:cNvPr id="11" name="Text 9"/>
          <p:cNvSpPr/>
          <p:nvPr/>
        </p:nvSpPr>
        <p:spPr>
          <a:xfrm>
            <a:off x="1143000" y="5321808"/>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Hunting for documents</a:t>
            </a:r>
            <a:endParaRPr lang="en-US" sz="1700" dirty="0"/>
          </a:p>
        </p:txBody>
      </p:sp>
      <p:sp>
        <p:nvSpPr>
          <p:cNvPr id="12" name="Text 10"/>
          <p:cNvSpPr/>
          <p:nvPr/>
        </p:nvSpPr>
        <p:spPr>
          <a:xfrm>
            <a:off x="1143000" y="5724144"/>
            <a:ext cx="4480560" cy="365760"/>
          </a:xfrm>
          <a:prstGeom prst="rect">
            <a:avLst/>
          </a:prstGeom>
          <a:noFill/>
          <a:ln/>
        </p:spPr>
        <p:txBody>
          <a:bodyPr wrap="square" lIns="0" tIns="0" rIns="0" bIns="0" rtlCol="0" anchor="ctr"/>
          <a:lstStyle/>
          <a:p>
            <a:pPr marL="0" indent="0">
              <a:buNone/>
            </a:pPr>
            <a:r>
              <a:rPr lang="en-US" sz="1700" b="1" strike="sngStrike" dirty="0">
                <a:solidFill>
                  <a:srgbClr val="8A8374"/>
                </a:solidFill>
                <a:latin typeface="Arial Black" pitchFamily="34" charset="0"/>
                <a:ea typeface="Arial Black" pitchFamily="34" charset="-122"/>
                <a:cs typeface="Arial Black" pitchFamily="34" charset="-120"/>
              </a:rPr>
              <a:t>Re-explaining</a:t>
            </a:r>
            <a:endParaRPr lang="en-US" sz="1700" dirty="0"/>
          </a:p>
        </p:txBody>
      </p:sp>
      <p:sp>
        <p:nvSpPr>
          <p:cNvPr id="13" name="Shape 11"/>
          <p:cNvSpPr/>
          <p:nvPr/>
        </p:nvSpPr>
        <p:spPr>
          <a:xfrm>
            <a:off x="6400800" y="2468880"/>
            <a:ext cx="5394960" cy="3794760"/>
          </a:xfrm>
          <a:prstGeom prst="rect">
            <a:avLst/>
          </a:prstGeom>
          <a:solidFill>
            <a:srgbClr val="EDE2CE"/>
          </a:solidFill>
          <a:ln w="12700">
            <a:solidFill>
              <a:srgbClr val="A0824E"/>
            </a:solidFill>
            <a:prstDash val="solid"/>
          </a:ln>
        </p:spPr>
        <p:txBody>
          <a:bodyPr/>
          <a:lstStyle/>
          <a:p>
            <a:endParaRPr lang="en-US"/>
          </a:p>
        </p:txBody>
      </p:sp>
      <p:sp>
        <p:nvSpPr>
          <p:cNvPr id="14" name="Text 12"/>
          <p:cNvSpPr/>
          <p:nvPr/>
        </p:nvSpPr>
        <p:spPr>
          <a:xfrm>
            <a:off x="6858000" y="2788920"/>
            <a:ext cx="4572000" cy="274320"/>
          </a:xfrm>
          <a:prstGeom prst="rect">
            <a:avLst/>
          </a:prstGeom>
          <a:noFill/>
          <a:ln/>
        </p:spPr>
        <p:txBody>
          <a:bodyPr wrap="square" lIns="0" tIns="0" rIns="0" bIns="0" rtlCol="0" anchor="ctr"/>
          <a:lstStyle/>
          <a:p>
            <a:pPr marL="0" indent="0">
              <a:buNone/>
            </a:pPr>
            <a:r>
              <a:rPr lang="en-US" sz="1000" b="1" kern="0" spc="400" dirty="0">
                <a:solidFill>
                  <a:srgbClr val="A0824E"/>
                </a:solidFill>
                <a:latin typeface="Helvetica" pitchFamily="34" charset="0"/>
                <a:ea typeface="Helvetica" pitchFamily="34" charset="-122"/>
                <a:cs typeface="Helvetica" pitchFamily="34" charset="-120"/>
              </a:rPr>
              <a:t>WHAT EXPANDS</a:t>
            </a:r>
            <a:endParaRPr lang="en-US" sz="1000" dirty="0"/>
          </a:p>
        </p:txBody>
      </p:sp>
      <p:sp>
        <p:nvSpPr>
          <p:cNvPr id="15" name="Text 13"/>
          <p:cNvSpPr/>
          <p:nvPr/>
        </p:nvSpPr>
        <p:spPr>
          <a:xfrm>
            <a:off x="6858000" y="3383280"/>
            <a:ext cx="4480560" cy="502920"/>
          </a:xfrm>
          <a:prstGeom prst="rect">
            <a:avLst/>
          </a:prstGeom>
          <a:noFill/>
          <a:ln/>
        </p:spPr>
        <p:txBody>
          <a:bodyPr wrap="square" lIns="0" tIns="0" rIns="0" bIns="0" rtlCol="0" anchor="ctr"/>
          <a:lstStyle/>
          <a:p>
            <a:pPr marL="0" indent="0">
              <a:buNone/>
            </a:pPr>
            <a:r>
              <a:rPr lang="en-US" sz="1800" b="1" dirty="0">
                <a:solidFill>
                  <a:srgbClr val="14192A"/>
                </a:solidFill>
                <a:latin typeface="Arial Black" pitchFamily="34" charset="0"/>
                <a:ea typeface="Arial Black" pitchFamily="34" charset="-122"/>
                <a:cs typeface="Arial Black" pitchFamily="34" charset="-120"/>
              </a:rPr>
              <a:t>Deeper relationships</a:t>
            </a:r>
            <a:endParaRPr lang="en-US" sz="1800" dirty="0"/>
          </a:p>
        </p:txBody>
      </p:sp>
      <p:sp>
        <p:nvSpPr>
          <p:cNvPr id="16" name="Text 14"/>
          <p:cNvSpPr/>
          <p:nvPr/>
        </p:nvSpPr>
        <p:spPr>
          <a:xfrm>
            <a:off x="6858000" y="3931920"/>
            <a:ext cx="4480560" cy="502920"/>
          </a:xfrm>
          <a:prstGeom prst="rect">
            <a:avLst/>
          </a:prstGeom>
          <a:noFill/>
          <a:ln/>
        </p:spPr>
        <p:txBody>
          <a:bodyPr wrap="square" lIns="0" tIns="0" rIns="0" bIns="0" rtlCol="0" anchor="ctr"/>
          <a:lstStyle/>
          <a:p>
            <a:pPr marL="0" indent="0">
              <a:buNone/>
            </a:pPr>
            <a:r>
              <a:rPr lang="en-US" sz="1800" b="1" dirty="0">
                <a:solidFill>
                  <a:srgbClr val="14192A"/>
                </a:solidFill>
                <a:latin typeface="Arial Black" pitchFamily="34" charset="0"/>
                <a:ea typeface="Arial Black" pitchFamily="34" charset="-122"/>
                <a:cs typeface="Arial Black" pitchFamily="34" charset="-120"/>
              </a:rPr>
              <a:t>Creative structuring</a:t>
            </a:r>
            <a:endParaRPr lang="en-US" sz="1800" dirty="0"/>
          </a:p>
        </p:txBody>
      </p:sp>
      <p:sp>
        <p:nvSpPr>
          <p:cNvPr id="17" name="Text 15"/>
          <p:cNvSpPr/>
          <p:nvPr/>
        </p:nvSpPr>
        <p:spPr>
          <a:xfrm>
            <a:off x="6858000" y="4480560"/>
            <a:ext cx="4480560" cy="502920"/>
          </a:xfrm>
          <a:prstGeom prst="rect">
            <a:avLst/>
          </a:prstGeom>
          <a:noFill/>
          <a:ln/>
        </p:spPr>
        <p:txBody>
          <a:bodyPr wrap="square" lIns="0" tIns="0" rIns="0" bIns="0" rtlCol="0" anchor="ctr"/>
          <a:lstStyle/>
          <a:p>
            <a:pPr marL="0" indent="0">
              <a:buNone/>
            </a:pPr>
            <a:r>
              <a:rPr lang="en-US" sz="1800" b="1" dirty="0">
                <a:solidFill>
                  <a:srgbClr val="14192A"/>
                </a:solidFill>
                <a:latin typeface="Arial Black" pitchFamily="34" charset="0"/>
                <a:ea typeface="Arial Black" pitchFamily="34" charset="-122"/>
                <a:cs typeface="Arial Black" pitchFamily="34" charset="-120"/>
              </a:rPr>
              <a:t>Proactive outreach</a:t>
            </a:r>
            <a:endParaRPr lang="en-US" sz="1800" dirty="0"/>
          </a:p>
        </p:txBody>
      </p:sp>
      <p:sp>
        <p:nvSpPr>
          <p:cNvPr id="18" name="Text 16"/>
          <p:cNvSpPr/>
          <p:nvPr/>
        </p:nvSpPr>
        <p:spPr>
          <a:xfrm>
            <a:off x="6858000" y="5029200"/>
            <a:ext cx="4480560" cy="502920"/>
          </a:xfrm>
          <a:prstGeom prst="rect">
            <a:avLst/>
          </a:prstGeom>
          <a:noFill/>
          <a:ln/>
        </p:spPr>
        <p:txBody>
          <a:bodyPr wrap="square" lIns="0" tIns="0" rIns="0" bIns="0" rtlCol="0" anchor="ctr"/>
          <a:lstStyle/>
          <a:p>
            <a:pPr marL="0" indent="0">
              <a:buNone/>
            </a:pPr>
            <a:r>
              <a:rPr lang="en-US" sz="1800" b="1" dirty="0">
                <a:solidFill>
                  <a:srgbClr val="14192A"/>
                </a:solidFill>
                <a:latin typeface="Arial Black" pitchFamily="34" charset="0"/>
                <a:ea typeface="Arial Black" pitchFamily="34" charset="-122"/>
                <a:cs typeface="Arial Black" pitchFamily="34" charset="-120"/>
              </a:rPr>
              <a:t>Bigger books, served</a:t>
            </a:r>
            <a:endParaRPr lang="en-US" sz="1800" dirty="0"/>
          </a:p>
        </p:txBody>
      </p:sp>
      <p:sp>
        <p:nvSpPr>
          <p:cNvPr id="19" name="Text 17"/>
          <p:cNvSpPr/>
          <p:nvPr/>
        </p:nvSpPr>
        <p:spPr>
          <a:xfrm>
            <a:off x="6858000" y="5577840"/>
            <a:ext cx="4480560" cy="502920"/>
          </a:xfrm>
          <a:prstGeom prst="rect">
            <a:avLst/>
          </a:prstGeom>
          <a:noFill/>
          <a:ln/>
        </p:spPr>
        <p:txBody>
          <a:bodyPr wrap="square" lIns="0" tIns="0" rIns="0" bIns="0" rtlCol="0" anchor="ctr"/>
          <a:lstStyle/>
          <a:p>
            <a:pPr marL="0" indent="0">
              <a:buNone/>
            </a:pPr>
            <a:r>
              <a:rPr lang="en-US" sz="1800" b="1" dirty="0">
                <a:solidFill>
                  <a:srgbClr val="14192A"/>
                </a:solidFill>
                <a:latin typeface="Arial Black" pitchFamily="34" charset="0"/>
                <a:ea typeface="Arial Black" pitchFamily="34" charset="-122"/>
                <a:cs typeface="Arial Black" pitchFamily="34" charset="-120"/>
              </a:rPr>
              <a:t>Strategic judgment</a:t>
            </a:r>
            <a:endParaRPr lang="en-US" sz="1800" dirty="0"/>
          </a:p>
        </p:txBody>
      </p:sp>
      <p:sp>
        <p:nvSpPr>
          <p:cNvPr id="20" name="Text 18"/>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21" name="Text 19"/>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09  /  19</a:t>
            </a:r>
            <a:endParaRPr lang="en-US" sz="800" dirty="0"/>
          </a:p>
        </p:txBody>
      </p:sp>
      <p:sp>
        <p:nvSpPr>
          <p:cNvPr id="22" name="Text 20"/>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23" name="Shape 21"/>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MOAT</a:t>
            </a:r>
            <a:endParaRPr lang="en-US" sz="900" dirty="0"/>
          </a:p>
        </p:txBody>
      </p:sp>
      <p:sp>
        <p:nvSpPr>
          <p:cNvPr id="3" name="Text 1"/>
          <p:cNvSpPr/>
          <p:nvPr/>
        </p:nvSpPr>
        <p:spPr>
          <a:xfrm>
            <a:off x="685800" y="868680"/>
            <a:ext cx="10789920" cy="914400"/>
          </a:xfrm>
          <a:prstGeom prst="rect">
            <a:avLst/>
          </a:prstGeom>
          <a:noFill/>
          <a:ln/>
        </p:spPr>
        <p:txBody>
          <a:bodyPr wrap="square" lIns="0" tIns="0" rIns="0" bIns="0" rtlCol="0" anchor="t"/>
          <a:lstStyle/>
          <a:p>
            <a:pPr marL="0" indent="0" algn="l">
              <a:buNone/>
            </a:pPr>
            <a:r>
              <a:rPr lang="en-US" sz="4000" b="1" dirty="0">
                <a:solidFill>
                  <a:srgbClr val="14192A"/>
                </a:solidFill>
                <a:latin typeface="Arial Black" pitchFamily="34" charset="0"/>
                <a:ea typeface="Arial Black" pitchFamily="34" charset="-122"/>
                <a:cs typeface="Arial Black" pitchFamily="34" charset="-120"/>
              </a:rPr>
              <a:t>Our real moat is the data hive.</a:t>
            </a:r>
            <a:endParaRPr lang="en-US" sz="4000" dirty="0"/>
          </a:p>
        </p:txBody>
      </p:sp>
      <p:sp>
        <p:nvSpPr>
          <p:cNvPr id="4" name="Text 2"/>
          <p:cNvSpPr/>
          <p:nvPr/>
        </p:nvSpPr>
        <p:spPr>
          <a:xfrm>
            <a:off x="685800" y="1874520"/>
            <a:ext cx="10789920" cy="82296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Every interaction — every conversation, portfolio move, plan, ticket — wires into one client intelligence graph. Competitors starting now are already years behind.</a:t>
            </a:r>
            <a:endParaRPr lang="en-US" sz="1300" dirty="0"/>
          </a:p>
        </p:txBody>
      </p:sp>
      <p:sp>
        <p:nvSpPr>
          <p:cNvPr id="5" name="Shape 3"/>
          <p:cNvSpPr/>
          <p:nvPr/>
        </p:nvSpPr>
        <p:spPr>
          <a:xfrm>
            <a:off x="1687319" y="3684142"/>
            <a:ext cx="3783748" cy="763996"/>
          </a:xfrm>
          <a:prstGeom prst="line">
            <a:avLst/>
          </a:prstGeom>
          <a:noFill/>
          <a:ln w="9525">
            <a:solidFill>
              <a:srgbClr val="A0824E">
                <a:alpha val="55000"/>
              </a:srgbClr>
            </a:solidFill>
            <a:prstDash val="solid"/>
            <a:tailEnd type="triangle"/>
          </a:ln>
        </p:spPr>
        <p:txBody>
          <a:bodyPr/>
          <a:lstStyle/>
          <a:p>
            <a:endParaRPr lang="en-US"/>
          </a:p>
        </p:txBody>
      </p:sp>
      <p:sp>
        <p:nvSpPr>
          <p:cNvPr id="6" name="Shape 4"/>
          <p:cNvSpPr/>
          <p:nvPr/>
        </p:nvSpPr>
        <p:spPr>
          <a:xfrm flipV="1">
            <a:off x="2239767" y="4614862"/>
            <a:ext cx="3220638" cy="222273"/>
          </a:xfrm>
          <a:prstGeom prst="line">
            <a:avLst/>
          </a:prstGeom>
          <a:noFill/>
          <a:ln w="9525">
            <a:solidFill>
              <a:srgbClr val="A0824E">
                <a:alpha val="55000"/>
              </a:srgbClr>
            </a:solidFill>
            <a:prstDash val="solid"/>
            <a:tailEnd type="triangle"/>
          </a:ln>
        </p:spPr>
        <p:txBody>
          <a:bodyPr/>
          <a:lstStyle/>
          <a:p>
            <a:endParaRPr lang="en-US"/>
          </a:p>
        </p:txBody>
      </p:sp>
      <p:sp>
        <p:nvSpPr>
          <p:cNvPr id="7" name="Shape 5"/>
          <p:cNvSpPr/>
          <p:nvPr/>
        </p:nvSpPr>
        <p:spPr>
          <a:xfrm flipV="1">
            <a:off x="2047772" y="4755805"/>
            <a:ext cx="3438154" cy="1056968"/>
          </a:xfrm>
          <a:prstGeom prst="line">
            <a:avLst/>
          </a:prstGeom>
          <a:noFill/>
          <a:ln w="9525">
            <a:solidFill>
              <a:srgbClr val="A0824E">
                <a:alpha val="55000"/>
              </a:srgbClr>
            </a:solidFill>
            <a:prstDash val="solid"/>
            <a:tailEnd type="triangle"/>
          </a:ln>
        </p:spPr>
        <p:txBody>
          <a:bodyPr/>
          <a:lstStyle/>
          <a:p>
            <a:endParaRPr lang="en-US"/>
          </a:p>
        </p:txBody>
      </p:sp>
      <p:sp>
        <p:nvSpPr>
          <p:cNvPr id="8" name="Shape 6"/>
          <p:cNvSpPr/>
          <p:nvPr/>
        </p:nvSpPr>
        <p:spPr>
          <a:xfrm flipH="1">
            <a:off x="6724701" y="3686556"/>
            <a:ext cx="3384571" cy="750313"/>
          </a:xfrm>
          <a:prstGeom prst="line">
            <a:avLst/>
          </a:prstGeom>
          <a:noFill/>
          <a:ln w="9525">
            <a:solidFill>
              <a:srgbClr val="A0824E">
                <a:alpha val="55000"/>
              </a:srgbClr>
            </a:solidFill>
            <a:prstDash val="solid"/>
            <a:tailEnd type="triangle"/>
          </a:ln>
        </p:spPr>
        <p:txBody>
          <a:bodyPr/>
          <a:lstStyle/>
          <a:p>
            <a:endParaRPr lang="en-US"/>
          </a:p>
        </p:txBody>
      </p:sp>
      <p:sp>
        <p:nvSpPr>
          <p:cNvPr id="9" name="Shape 7"/>
          <p:cNvSpPr/>
          <p:nvPr/>
        </p:nvSpPr>
        <p:spPr>
          <a:xfrm flipH="1" flipV="1">
            <a:off x="6737946" y="4610878"/>
            <a:ext cx="3640916" cy="227111"/>
          </a:xfrm>
          <a:prstGeom prst="line">
            <a:avLst/>
          </a:prstGeom>
          <a:noFill/>
          <a:ln w="9525">
            <a:solidFill>
              <a:srgbClr val="A0824E">
                <a:alpha val="55000"/>
              </a:srgbClr>
            </a:solidFill>
            <a:prstDash val="solid"/>
            <a:tailEnd type="triangle"/>
          </a:ln>
        </p:spPr>
        <p:txBody>
          <a:bodyPr/>
          <a:lstStyle/>
          <a:p>
            <a:endParaRPr lang="en-US"/>
          </a:p>
        </p:txBody>
      </p:sp>
      <p:sp>
        <p:nvSpPr>
          <p:cNvPr id="10" name="Shape 8"/>
          <p:cNvSpPr/>
          <p:nvPr/>
        </p:nvSpPr>
        <p:spPr>
          <a:xfrm flipH="1" flipV="1">
            <a:off x="6708085" y="4768917"/>
            <a:ext cx="3132802" cy="1041046"/>
          </a:xfrm>
          <a:prstGeom prst="line">
            <a:avLst/>
          </a:prstGeom>
          <a:noFill/>
          <a:ln w="9525">
            <a:solidFill>
              <a:srgbClr val="A0824E">
                <a:alpha val="55000"/>
              </a:srgbClr>
            </a:solidFill>
            <a:prstDash val="solid"/>
            <a:tailEnd type="triangle"/>
          </a:ln>
        </p:spPr>
        <p:txBody>
          <a:bodyPr/>
          <a:lstStyle/>
          <a:p>
            <a:endParaRPr lang="en-US"/>
          </a:p>
        </p:txBody>
      </p:sp>
      <p:sp>
        <p:nvSpPr>
          <p:cNvPr id="11" name="Shape 9"/>
          <p:cNvSpPr/>
          <p:nvPr/>
        </p:nvSpPr>
        <p:spPr>
          <a:xfrm>
            <a:off x="6099048" y="3154680"/>
            <a:ext cx="914" cy="777240"/>
          </a:xfrm>
          <a:prstGeom prst="line">
            <a:avLst/>
          </a:prstGeom>
          <a:noFill/>
          <a:ln w="9525">
            <a:solidFill>
              <a:srgbClr val="A0824E">
                <a:alpha val="55000"/>
              </a:srgbClr>
            </a:solidFill>
            <a:prstDash val="solid"/>
            <a:tailEnd type="triangle"/>
          </a:ln>
        </p:spPr>
        <p:txBody>
          <a:bodyPr/>
          <a:lstStyle/>
          <a:p>
            <a:endParaRPr lang="en-US"/>
          </a:p>
        </p:txBody>
      </p:sp>
      <p:sp>
        <p:nvSpPr>
          <p:cNvPr id="12" name="Shape 10"/>
          <p:cNvSpPr/>
          <p:nvPr/>
        </p:nvSpPr>
        <p:spPr>
          <a:xfrm>
            <a:off x="1380744" y="3575304"/>
            <a:ext cx="164592" cy="164592"/>
          </a:xfrm>
          <a:prstGeom prst="ellipse">
            <a:avLst/>
          </a:prstGeom>
          <a:solidFill>
            <a:srgbClr val="14192A"/>
          </a:solidFill>
          <a:ln/>
        </p:spPr>
        <p:txBody>
          <a:bodyPr/>
          <a:lstStyle/>
          <a:p>
            <a:endParaRPr lang="en-US"/>
          </a:p>
        </p:txBody>
      </p:sp>
      <p:sp>
        <p:nvSpPr>
          <p:cNvPr id="13" name="Text 11"/>
          <p:cNvSpPr/>
          <p:nvPr/>
        </p:nvSpPr>
        <p:spPr>
          <a:xfrm>
            <a:off x="-640080" y="3566160"/>
            <a:ext cx="1828800" cy="274320"/>
          </a:xfrm>
          <a:prstGeom prst="rect">
            <a:avLst/>
          </a:prstGeom>
          <a:noFill/>
          <a:ln/>
        </p:spPr>
        <p:txBody>
          <a:bodyPr wrap="square" lIns="0" tIns="0" rIns="0" bIns="0" rtlCol="0" anchor="ctr"/>
          <a:lstStyle/>
          <a:p>
            <a:pPr marL="0" indent="0" algn="r">
              <a:buNone/>
            </a:pPr>
            <a:r>
              <a:rPr lang="en-US" sz="1100" b="1" dirty="0">
                <a:solidFill>
                  <a:srgbClr val="14192A"/>
                </a:solidFill>
                <a:latin typeface="Arial Black" pitchFamily="34" charset="0"/>
                <a:ea typeface="Arial Black" pitchFamily="34" charset="-122"/>
                <a:cs typeface="Arial Black" pitchFamily="34" charset="-120"/>
              </a:rPr>
              <a:t>Conversations</a:t>
            </a:r>
            <a:endParaRPr lang="en-US" sz="1100" dirty="0"/>
          </a:p>
        </p:txBody>
      </p:sp>
      <p:sp>
        <p:nvSpPr>
          <p:cNvPr id="14" name="Shape 12"/>
          <p:cNvSpPr/>
          <p:nvPr/>
        </p:nvSpPr>
        <p:spPr>
          <a:xfrm>
            <a:off x="1929384" y="4764024"/>
            <a:ext cx="164592" cy="164592"/>
          </a:xfrm>
          <a:prstGeom prst="ellipse">
            <a:avLst/>
          </a:prstGeom>
          <a:solidFill>
            <a:srgbClr val="14192A"/>
          </a:solidFill>
          <a:ln/>
        </p:spPr>
        <p:txBody>
          <a:bodyPr/>
          <a:lstStyle/>
          <a:p>
            <a:endParaRPr lang="en-US"/>
          </a:p>
        </p:txBody>
      </p:sp>
      <p:sp>
        <p:nvSpPr>
          <p:cNvPr id="15" name="Text 13"/>
          <p:cNvSpPr/>
          <p:nvPr/>
        </p:nvSpPr>
        <p:spPr>
          <a:xfrm>
            <a:off x="-91440" y="4754880"/>
            <a:ext cx="1828800" cy="274320"/>
          </a:xfrm>
          <a:prstGeom prst="rect">
            <a:avLst/>
          </a:prstGeom>
          <a:noFill/>
          <a:ln/>
        </p:spPr>
        <p:txBody>
          <a:bodyPr wrap="square" lIns="0" tIns="0" rIns="0" bIns="0" rtlCol="0" anchor="ctr"/>
          <a:lstStyle/>
          <a:p>
            <a:pPr marL="0" indent="0" algn="r">
              <a:buNone/>
            </a:pPr>
            <a:r>
              <a:rPr lang="en-US" sz="1100" b="1" dirty="0">
                <a:solidFill>
                  <a:srgbClr val="14192A"/>
                </a:solidFill>
                <a:latin typeface="Arial Black" pitchFamily="34" charset="0"/>
                <a:ea typeface="Arial Black" pitchFamily="34" charset="-122"/>
                <a:cs typeface="Arial Black" pitchFamily="34" charset="-120"/>
              </a:rPr>
              <a:t>Portfolios</a:t>
            </a:r>
            <a:endParaRPr lang="en-US" sz="1100" dirty="0"/>
          </a:p>
        </p:txBody>
      </p:sp>
      <p:sp>
        <p:nvSpPr>
          <p:cNvPr id="16" name="Shape 14"/>
          <p:cNvSpPr/>
          <p:nvPr/>
        </p:nvSpPr>
        <p:spPr>
          <a:xfrm>
            <a:off x="1746504" y="5769864"/>
            <a:ext cx="164592" cy="164592"/>
          </a:xfrm>
          <a:prstGeom prst="ellipse">
            <a:avLst/>
          </a:prstGeom>
          <a:solidFill>
            <a:srgbClr val="14192A"/>
          </a:solidFill>
          <a:ln/>
        </p:spPr>
        <p:txBody>
          <a:bodyPr/>
          <a:lstStyle/>
          <a:p>
            <a:endParaRPr lang="en-US"/>
          </a:p>
        </p:txBody>
      </p:sp>
      <p:sp>
        <p:nvSpPr>
          <p:cNvPr id="17" name="Text 15"/>
          <p:cNvSpPr/>
          <p:nvPr/>
        </p:nvSpPr>
        <p:spPr>
          <a:xfrm>
            <a:off x="-274320" y="5760720"/>
            <a:ext cx="1828800" cy="274320"/>
          </a:xfrm>
          <a:prstGeom prst="rect">
            <a:avLst/>
          </a:prstGeom>
          <a:noFill/>
          <a:ln/>
        </p:spPr>
        <p:txBody>
          <a:bodyPr wrap="square" lIns="0" tIns="0" rIns="0" bIns="0" rtlCol="0" anchor="ctr"/>
          <a:lstStyle/>
          <a:p>
            <a:pPr marL="0" indent="0" algn="r">
              <a:buNone/>
            </a:pPr>
            <a:r>
              <a:rPr lang="en-US" sz="1100" b="1" dirty="0">
                <a:solidFill>
                  <a:srgbClr val="14192A"/>
                </a:solidFill>
                <a:latin typeface="Arial Black" pitchFamily="34" charset="0"/>
                <a:ea typeface="Arial Black" pitchFamily="34" charset="-122"/>
                <a:cs typeface="Arial Black" pitchFamily="34" charset="-120"/>
              </a:rPr>
              <a:t>Transactions</a:t>
            </a:r>
            <a:endParaRPr lang="en-US" sz="1100" dirty="0"/>
          </a:p>
        </p:txBody>
      </p:sp>
      <p:sp>
        <p:nvSpPr>
          <p:cNvPr id="18" name="Shape 16"/>
          <p:cNvSpPr/>
          <p:nvPr/>
        </p:nvSpPr>
        <p:spPr>
          <a:xfrm>
            <a:off x="10250424" y="3575304"/>
            <a:ext cx="164592" cy="164592"/>
          </a:xfrm>
          <a:prstGeom prst="ellipse">
            <a:avLst/>
          </a:prstGeom>
          <a:solidFill>
            <a:srgbClr val="14192A"/>
          </a:solidFill>
          <a:ln/>
        </p:spPr>
        <p:txBody>
          <a:bodyPr/>
          <a:lstStyle/>
          <a:p>
            <a:endParaRPr lang="en-US"/>
          </a:p>
        </p:txBody>
      </p:sp>
      <p:sp>
        <p:nvSpPr>
          <p:cNvPr id="19" name="Text 17"/>
          <p:cNvSpPr/>
          <p:nvPr/>
        </p:nvSpPr>
        <p:spPr>
          <a:xfrm>
            <a:off x="10561320" y="3566160"/>
            <a:ext cx="1828800" cy="274320"/>
          </a:xfrm>
          <a:prstGeom prst="rect">
            <a:avLst/>
          </a:prstGeom>
          <a:noFill/>
          <a:ln/>
        </p:spPr>
        <p:txBody>
          <a:bodyPr wrap="square" lIns="0" tIns="0" rIns="0" bIns="0" rtlCol="0" anchor="ctr"/>
          <a:lstStyle/>
          <a:p>
            <a:pPr marL="0" indent="0" algn="l">
              <a:buNone/>
            </a:pPr>
            <a:r>
              <a:rPr lang="en-US" sz="1100" b="1" dirty="0">
                <a:solidFill>
                  <a:srgbClr val="14192A"/>
                </a:solidFill>
                <a:latin typeface="Arial Black" pitchFamily="34" charset="0"/>
                <a:ea typeface="Arial Black" pitchFamily="34" charset="-122"/>
                <a:cs typeface="Arial Black" pitchFamily="34" charset="-120"/>
              </a:rPr>
              <a:t>Planning</a:t>
            </a:r>
            <a:endParaRPr lang="en-US" sz="1100" dirty="0"/>
          </a:p>
        </p:txBody>
      </p:sp>
      <p:sp>
        <p:nvSpPr>
          <p:cNvPr id="20" name="Shape 18"/>
          <p:cNvSpPr/>
          <p:nvPr/>
        </p:nvSpPr>
        <p:spPr>
          <a:xfrm>
            <a:off x="10524744" y="4764024"/>
            <a:ext cx="164592" cy="164592"/>
          </a:xfrm>
          <a:prstGeom prst="ellipse">
            <a:avLst/>
          </a:prstGeom>
          <a:solidFill>
            <a:srgbClr val="14192A"/>
          </a:solidFill>
          <a:ln/>
        </p:spPr>
        <p:txBody>
          <a:bodyPr/>
          <a:lstStyle/>
          <a:p>
            <a:endParaRPr lang="en-US"/>
          </a:p>
        </p:txBody>
      </p:sp>
      <p:sp>
        <p:nvSpPr>
          <p:cNvPr id="21" name="Text 19"/>
          <p:cNvSpPr/>
          <p:nvPr/>
        </p:nvSpPr>
        <p:spPr>
          <a:xfrm>
            <a:off x="10835640" y="4754880"/>
            <a:ext cx="1828800" cy="274320"/>
          </a:xfrm>
          <a:prstGeom prst="rect">
            <a:avLst/>
          </a:prstGeom>
          <a:noFill/>
          <a:ln/>
        </p:spPr>
        <p:txBody>
          <a:bodyPr wrap="square" lIns="0" tIns="0" rIns="0" bIns="0" rtlCol="0" anchor="ctr"/>
          <a:lstStyle/>
          <a:p>
            <a:pPr marL="0" indent="0" algn="l">
              <a:buNone/>
            </a:pPr>
            <a:r>
              <a:rPr lang="en-US" sz="1100" b="1" dirty="0">
                <a:solidFill>
                  <a:srgbClr val="14192A"/>
                </a:solidFill>
                <a:latin typeface="Arial Black" pitchFamily="34" charset="0"/>
                <a:ea typeface="Arial Black" pitchFamily="34" charset="-122"/>
                <a:cs typeface="Arial Black" pitchFamily="34" charset="-120"/>
              </a:rPr>
              <a:t>Lending</a:t>
            </a:r>
            <a:endParaRPr lang="en-US" sz="1100" dirty="0"/>
          </a:p>
        </p:txBody>
      </p:sp>
      <p:sp>
        <p:nvSpPr>
          <p:cNvPr id="22" name="Shape 20"/>
          <p:cNvSpPr/>
          <p:nvPr/>
        </p:nvSpPr>
        <p:spPr>
          <a:xfrm>
            <a:off x="9976104" y="5769864"/>
            <a:ext cx="164592" cy="164592"/>
          </a:xfrm>
          <a:prstGeom prst="ellipse">
            <a:avLst/>
          </a:prstGeom>
          <a:solidFill>
            <a:srgbClr val="14192A"/>
          </a:solidFill>
          <a:ln/>
        </p:spPr>
        <p:txBody>
          <a:bodyPr/>
          <a:lstStyle/>
          <a:p>
            <a:endParaRPr lang="en-US"/>
          </a:p>
        </p:txBody>
      </p:sp>
      <p:sp>
        <p:nvSpPr>
          <p:cNvPr id="23" name="Text 21"/>
          <p:cNvSpPr/>
          <p:nvPr/>
        </p:nvSpPr>
        <p:spPr>
          <a:xfrm>
            <a:off x="10287000" y="5760720"/>
            <a:ext cx="1828800" cy="274320"/>
          </a:xfrm>
          <a:prstGeom prst="rect">
            <a:avLst/>
          </a:prstGeom>
          <a:noFill/>
          <a:ln/>
        </p:spPr>
        <p:txBody>
          <a:bodyPr wrap="square" lIns="0" tIns="0" rIns="0" bIns="0" rtlCol="0" anchor="ctr"/>
          <a:lstStyle/>
          <a:p>
            <a:pPr marL="0" indent="0" algn="l">
              <a:buNone/>
            </a:pPr>
            <a:r>
              <a:rPr lang="en-US" sz="1100" b="1" dirty="0">
                <a:solidFill>
                  <a:srgbClr val="14192A"/>
                </a:solidFill>
                <a:latin typeface="Arial Black" pitchFamily="34" charset="0"/>
                <a:ea typeface="Arial Black" pitchFamily="34" charset="-122"/>
                <a:cs typeface="Arial Black" pitchFamily="34" charset="-120"/>
              </a:rPr>
              <a:t>Service</a:t>
            </a:r>
            <a:endParaRPr lang="en-US" sz="1100" dirty="0"/>
          </a:p>
        </p:txBody>
      </p:sp>
      <p:sp>
        <p:nvSpPr>
          <p:cNvPr id="24" name="Shape 22"/>
          <p:cNvSpPr/>
          <p:nvPr/>
        </p:nvSpPr>
        <p:spPr>
          <a:xfrm>
            <a:off x="6016752" y="2935224"/>
            <a:ext cx="164592" cy="164592"/>
          </a:xfrm>
          <a:prstGeom prst="ellipse">
            <a:avLst/>
          </a:prstGeom>
          <a:solidFill>
            <a:srgbClr val="14192A"/>
          </a:solidFill>
          <a:ln/>
        </p:spPr>
        <p:txBody>
          <a:bodyPr/>
          <a:lstStyle/>
          <a:p>
            <a:endParaRPr lang="en-US"/>
          </a:p>
        </p:txBody>
      </p:sp>
      <p:sp>
        <p:nvSpPr>
          <p:cNvPr id="25" name="Text 23"/>
          <p:cNvSpPr/>
          <p:nvPr/>
        </p:nvSpPr>
        <p:spPr>
          <a:xfrm>
            <a:off x="5184648" y="2697480"/>
            <a:ext cx="1828800" cy="274320"/>
          </a:xfrm>
          <a:prstGeom prst="rect">
            <a:avLst/>
          </a:prstGeom>
          <a:noFill/>
          <a:ln/>
        </p:spPr>
        <p:txBody>
          <a:bodyPr wrap="square" lIns="0" tIns="0" rIns="0" bIns="0" rtlCol="0" anchor="ctr"/>
          <a:lstStyle/>
          <a:p>
            <a:pPr marL="0" indent="0" algn="ctr">
              <a:buNone/>
            </a:pPr>
            <a:r>
              <a:rPr lang="en-US" sz="1100" b="1" dirty="0">
                <a:solidFill>
                  <a:srgbClr val="14192A"/>
                </a:solidFill>
                <a:latin typeface="Arial Black" pitchFamily="34" charset="0"/>
                <a:ea typeface="Arial Black" pitchFamily="34" charset="-122"/>
                <a:cs typeface="Arial Black" pitchFamily="34" charset="-120"/>
              </a:rPr>
              <a:t>Market behavior</a:t>
            </a:r>
            <a:endParaRPr lang="en-US" sz="1100" dirty="0"/>
          </a:p>
        </p:txBody>
      </p:sp>
      <p:sp>
        <p:nvSpPr>
          <p:cNvPr id="26" name="Shape 24"/>
          <p:cNvSpPr/>
          <p:nvPr/>
        </p:nvSpPr>
        <p:spPr>
          <a:xfrm>
            <a:off x="5367528" y="3840480"/>
            <a:ext cx="1463040" cy="1463040"/>
          </a:xfrm>
          <a:prstGeom prst="ellipse">
            <a:avLst/>
          </a:prstGeom>
          <a:solidFill>
            <a:srgbClr val="EDE2CE"/>
          </a:solidFill>
          <a:ln/>
        </p:spPr>
        <p:txBody>
          <a:bodyPr/>
          <a:lstStyle/>
          <a:p>
            <a:endParaRPr lang="en-US"/>
          </a:p>
        </p:txBody>
      </p:sp>
      <p:sp>
        <p:nvSpPr>
          <p:cNvPr id="27" name="Shape 25"/>
          <p:cNvSpPr/>
          <p:nvPr/>
        </p:nvSpPr>
        <p:spPr>
          <a:xfrm>
            <a:off x="5504688" y="3977640"/>
            <a:ext cx="1188720" cy="1188720"/>
          </a:xfrm>
          <a:prstGeom prst="ellipse">
            <a:avLst/>
          </a:prstGeom>
          <a:solidFill>
            <a:srgbClr val="A0824E"/>
          </a:solidFill>
          <a:ln/>
        </p:spPr>
        <p:txBody>
          <a:bodyPr/>
          <a:lstStyle/>
          <a:p>
            <a:endParaRPr lang="en-US"/>
          </a:p>
        </p:txBody>
      </p:sp>
      <p:sp>
        <p:nvSpPr>
          <p:cNvPr id="28" name="Text 26"/>
          <p:cNvSpPr/>
          <p:nvPr/>
        </p:nvSpPr>
        <p:spPr>
          <a:xfrm>
            <a:off x="5504688" y="3977640"/>
            <a:ext cx="1188720" cy="1188720"/>
          </a:xfrm>
          <a:prstGeom prst="rect">
            <a:avLst/>
          </a:prstGeom>
          <a:noFill/>
          <a:ln/>
        </p:spPr>
        <p:txBody>
          <a:bodyPr wrap="square" lIns="0" tIns="0" rIns="0" bIns="0" rtlCol="0" anchor="ctr"/>
          <a:lstStyle/>
          <a:p>
            <a:pPr marL="0" indent="0" algn="ctr">
              <a:spcAft>
                <a:spcPts val="100"/>
              </a:spcAft>
              <a:buNone/>
            </a:pPr>
            <a:r>
              <a:rPr lang="en-US" sz="1000" b="1" kern="0" spc="100" dirty="0">
                <a:solidFill>
                  <a:srgbClr val="FFFFFF"/>
                </a:solidFill>
                <a:latin typeface="Arial Black" pitchFamily="34" charset="0"/>
                <a:ea typeface="Arial Black" pitchFamily="34" charset="-122"/>
                <a:cs typeface="Arial Black" pitchFamily="34" charset="-120"/>
              </a:rPr>
              <a:t>CLIENT</a:t>
            </a:r>
            <a:endParaRPr lang="en-US" sz="1000" dirty="0"/>
          </a:p>
          <a:p>
            <a:pPr marL="0" indent="0" algn="ctr">
              <a:spcAft>
                <a:spcPts val="100"/>
              </a:spcAft>
              <a:buNone/>
            </a:pPr>
            <a:r>
              <a:rPr lang="en-US" sz="1000" b="1" kern="0" spc="100" dirty="0">
                <a:solidFill>
                  <a:srgbClr val="FFFFFF"/>
                </a:solidFill>
                <a:latin typeface="Arial Black" pitchFamily="34" charset="0"/>
                <a:ea typeface="Arial Black" pitchFamily="34" charset="-122"/>
                <a:cs typeface="Arial Black" pitchFamily="34" charset="-120"/>
              </a:rPr>
              <a:t>INTELLIGENCE</a:t>
            </a:r>
            <a:endParaRPr lang="en-US" sz="1000" dirty="0"/>
          </a:p>
          <a:p>
            <a:pPr marL="0" indent="0" algn="ctr">
              <a:spcAft>
                <a:spcPts val="100"/>
              </a:spcAft>
              <a:buNone/>
            </a:pPr>
            <a:r>
              <a:rPr lang="en-US" sz="1000" b="1" kern="0" spc="100" dirty="0">
                <a:solidFill>
                  <a:srgbClr val="FFFFFF"/>
                </a:solidFill>
                <a:latin typeface="Arial Black" pitchFamily="34" charset="0"/>
                <a:ea typeface="Arial Black" pitchFamily="34" charset="-122"/>
                <a:cs typeface="Arial Black" pitchFamily="34" charset="-120"/>
              </a:rPr>
              <a:t>GRAPH</a:t>
            </a:r>
            <a:endParaRPr lang="en-US" sz="1000" dirty="0"/>
          </a:p>
        </p:txBody>
      </p:sp>
      <p:sp>
        <p:nvSpPr>
          <p:cNvPr id="29" name="Text 27"/>
          <p:cNvSpPr/>
          <p:nvPr/>
        </p:nvSpPr>
        <p:spPr>
          <a:xfrm>
            <a:off x="685800" y="6199632"/>
            <a:ext cx="10972800" cy="256032"/>
          </a:xfrm>
          <a:prstGeom prst="rect">
            <a:avLst/>
          </a:prstGeom>
          <a:noFill/>
          <a:ln/>
        </p:spPr>
        <p:txBody>
          <a:bodyPr wrap="square" lIns="0" tIns="0" rIns="0" bIns="0" rtlCol="0" anchor="ctr"/>
          <a:lstStyle/>
          <a:p>
            <a:pPr marL="0" indent="0" algn="ctr">
              <a:buNone/>
            </a:pPr>
            <a:r>
              <a:rPr lang="en-US" sz="1100" i="1" dirty="0">
                <a:solidFill>
                  <a:srgbClr val="6B6457"/>
                </a:solidFill>
                <a:latin typeface="Helvetica" pitchFamily="34" charset="0"/>
                <a:ea typeface="Helvetica" pitchFamily="34" charset="-122"/>
                <a:cs typeface="Helvetica" pitchFamily="34" charset="-120"/>
              </a:rPr>
              <a:t>Every interaction makes Coach smarter. The hive is the compounding asset.</a:t>
            </a:r>
            <a:endParaRPr lang="en-US" sz="1100" dirty="0"/>
          </a:p>
        </p:txBody>
      </p:sp>
      <p:sp>
        <p:nvSpPr>
          <p:cNvPr id="30" name="Text 28"/>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31" name="Text 29"/>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10  /  19</a:t>
            </a:r>
            <a:endParaRPr lang="en-US" sz="800" dirty="0"/>
          </a:p>
        </p:txBody>
      </p:sp>
      <p:sp>
        <p:nvSpPr>
          <p:cNvPr id="32" name="Text 30"/>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33" name="Shape 31"/>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COMPOUNDING ASSET</a:t>
            </a:r>
            <a:endParaRPr lang="en-US" sz="900" dirty="0"/>
          </a:p>
        </p:txBody>
      </p:sp>
      <p:sp>
        <p:nvSpPr>
          <p:cNvPr id="3" name="Text 1"/>
          <p:cNvSpPr/>
          <p:nvPr/>
        </p:nvSpPr>
        <p:spPr>
          <a:xfrm>
            <a:off x="685800" y="868680"/>
            <a:ext cx="10789920" cy="914400"/>
          </a:xfrm>
          <a:prstGeom prst="rect">
            <a:avLst/>
          </a:prstGeom>
          <a:noFill/>
          <a:ln/>
        </p:spPr>
        <p:txBody>
          <a:bodyPr wrap="square" lIns="0" tIns="0" rIns="0" bIns="0" rtlCol="0" anchor="t"/>
          <a:lstStyle/>
          <a:p>
            <a:pPr marL="0" indent="0" algn="l">
              <a:buNone/>
            </a:pPr>
            <a:r>
              <a:rPr lang="en-US" sz="4000" b="1" dirty="0">
                <a:solidFill>
                  <a:srgbClr val="14192A"/>
                </a:solidFill>
                <a:latin typeface="Arial Black" pitchFamily="34" charset="0"/>
                <a:ea typeface="Arial Black" pitchFamily="34" charset="-122"/>
                <a:cs typeface="Arial Black" pitchFamily="34" charset="-120"/>
              </a:rPr>
              <a:t>Every interaction is a deposit.</a:t>
            </a:r>
            <a:endParaRPr lang="en-US" sz="4000" dirty="0"/>
          </a:p>
        </p:txBody>
      </p:sp>
      <p:sp>
        <p:nvSpPr>
          <p:cNvPr id="4" name="Text 2"/>
          <p:cNvSpPr/>
          <p:nvPr/>
        </p:nvSpPr>
        <p:spPr>
          <a:xfrm>
            <a:off x="685800" y="1874520"/>
            <a:ext cx="10789920" cy="59436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The platform is an asset that grows from the work itself. Every day we run, we know more — and the gap with everyone else widens.</a:t>
            </a:r>
            <a:endParaRPr lang="en-US" sz="1300" dirty="0"/>
          </a:p>
        </p:txBody>
      </p:sp>
      <p:sp>
        <p:nvSpPr>
          <p:cNvPr id="5" name="Shape 3"/>
          <p:cNvSpPr/>
          <p:nvPr/>
        </p:nvSpPr>
        <p:spPr>
          <a:xfrm>
            <a:off x="3154299" y="3785616"/>
            <a:ext cx="91440" cy="91440"/>
          </a:xfrm>
          <a:prstGeom prst="ellipse">
            <a:avLst/>
          </a:prstGeom>
          <a:solidFill>
            <a:srgbClr val="C4A96A"/>
          </a:solidFill>
          <a:ln/>
        </p:spPr>
        <p:txBody>
          <a:bodyPr/>
          <a:lstStyle/>
          <a:p>
            <a:endParaRPr lang="en-US"/>
          </a:p>
        </p:txBody>
      </p:sp>
      <p:sp>
        <p:nvSpPr>
          <p:cNvPr id="6" name="Shape 4"/>
          <p:cNvSpPr/>
          <p:nvPr/>
        </p:nvSpPr>
        <p:spPr>
          <a:xfrm>
            <a:off x="3473577" y="3858768"/>
            <a:ext cx="109728" cy="109728"/>
          </a:xfrm>
          <a:prstGeom prst="ellipse">
            <a:avLst/>
          </a:prstGeom>
          <a:solidFill>
            <a:srgbClr val="C4A96A"/>
          </a:solidFill>
          <a:ln/>
        </p:spPr>
        <p:txBody>
          <a:bodyPr/>
          <a:lstStyle/>
          <a:p>
            <a:endParaRPr lang="en-US"/>
          </a:p>
        </p:txBody>
      </p:sp>
      <p:sp>
        <p:nvSpPr>
          <p:cNvPr id="7" name="Shape 5"/>
          <p:cNvSpPr/>
          <p:nvPr/>
        </p:nvSpPr>
        <p:spPr>
          <a:xfrm>
            <a:off x="3792855" y="3767328"/>
            <a:ext cx="128016" cy="128016"/>
          </a:xfrm>
          <a:prstGeom prst="ellipse">
            <a:avLst/>
          </a:prstGeom>
          <a:solidFill>
            <a:srgbClr val="C4A96A"/>
          </a:solidFill>
          <a:ln/>
        </p:spPr>
        <p:txBody>
          <a:bodyPr/>
          <a:lstStyle/>
          <a:p>
            <a:endParaRPr lang="en-US"/>
          </a:p>
        </p:txBody>
      </p:sp>
      <p:sp>
        <p:nvSpPr>
          <p:cNvPr id="8" name="Shape 6"/>
          <p:cNvSpPr/>
          <p:nvPr/>
        </p:nvSpPr>
        <p:spPr>
          <a:xfrm>
            <a:off x="4121277" y="3602736"/>
            <a:ext cx="128016" cy="128016"/>
          </a:xfrm>
          <a:prstGeom prst="ellipse">
            <a:avLst/>
          </a:prstGeom>
          <a:solidFill>
            <a:srgbClr val="C4A96A"/>
          </a:solidFill>
          <a:ln/>
        </p:spPr>
        <p:txBody>
          <a:bodyPr/>
          <a:lstStyle/>
          <a:p>
            <a:endParaRPr lang="en-US"/>
          </a:p>
        </p:txBody>
      </p:sp>
      <p:sp>
        <p:nvSpPr>
          <p:cNvPr id="9" name="Shape 7"/>
          <p:cNvSpPr/>
          <p:nvPr/>
        </p:nvSpPr>
        <p:spPr>
          <a:xfrm>
            <a:off x="4458843" y="3529584"/>
            <a:ext cx="109728" cy="109728"/>
          </a:xfrm>
          <a:prstGeom prst="ellipse">
            <a:avLst/>
          </a:prstGeom>
          <a:solidFill>
            <a:srgbClr val="C4A96A"/>
          </a:solidFill>
          <a:ln/>
        </p:spPr>
        <p:txBody>
          <a:bodyPr/>
          <a:lstStyle/>
          <a:p>
            <a:endParaRPr lang="en-US"/>
          </a:p>
        </p:txBody>
      </p:sp>
      <p:sp>
        <p:nvSpPr>
          <p:cNvPr id="10" name="Shape 8"/>
          <p:cNvSpPr/>
          <p:nvPr/>
        </p:nvSpPr>
        <p:spPr>
          <a:xfrm>
            <a:off x="4796409" y="3621024"/>
            <a:ext cx="91440" cy="91440"/>
          </a:xfrm>
          <a:prstGeom prst="ellipse">
            <a:avLst/>
          </a:prstGeom>
          <a:solidFill>
            <a:srgbClr val="C4A96A"/>
          </a:solidFill>
          <a:ln/>
        </p:spPr>
        <p:txBody>
          <a:bodyPr/>
          <a:lstStyle/>
          <a:p>
            <a:endParaRPr lang="en-US"/>
          </a:p>
        </p:txBody>
      </p:sp>
      <p:sp>
        <p:nvSpPr>
          <p:cNvPr id="11" name="Shape 9"/>
          <p:cNvSpPr/>
          <p:nvPr/>
        </p:nvSpPr>
        <p:spPr>
          <a:xfrm>
            <a:off x="7248144" y="3785616"/>
            <a:ext cx="91440" cy="91440"/>
          </a:xfrm>
          <a:prstGeom prst="ellipse">
            <a:avLst/>
          </a:prstGeom>
          <a:solidFill>
            <a:srgbClr val="C4A96A"/>
          </a:solidFill>
          <a:ln/>
        </p:spPr>
        <p:txBody>
          <a:bodyPr/>
          <a:lstStyle/>
          <a:p>
            <a:endParaRPr lang="en-US"/>
          </a:p>
        </p:txBody>
      </p:sp>
      <p:sp>
        <p:nvSpPr>
          <p:cNvPr id="12" name="Shape 10"/>
          <p:cNvSpPr/>
          <p:nvPr/>
        </p:nvSpPr>
        <p:spPr>
          <a:xfrm>
            <a:off x="7443216" y="3858768"/>
            <a:ext cx="109728" cy="109728"/>
          </a:xfrm>
          <a:prstGeom prst="ellipse">
            <a:avLst/>
          </a:prstGeom>
          <a:solidFill>
            <a:srgbClr val="C4A96A"/>
          </a:solidFill>
          <a:ln/>
        </p:spPr>
        <p:txBody>
          <a:bodyPr/>
          <a:lstStyle/>
          <a:p>
            <a:endParaRPr lang="en-US"/>
          </a:p>
        </p:txBody>
      </p:sp>
      <p:sp>
        <p:nvSpPr>
          <p:cNvPr id="13" name="Shape 11"/>
          <p:cNvSpPr/>
          <p:nvPr/>
        </p:nvSpPr>
        <p:spPr>
          <a:xfrm>
            <a:off x="7638288" y="3767328"/>
            <a:ext cx="128016" cy="128016"/>
          </a:xfrm>
          <a:prstGeom prst="ellipse">
            <a:avLst/>
          </a:prstGeom>
          <a:solidFill>
            <a:srgbClr val="C4A96A"/>
          </a:solidFill>
          <a:ln/>
        </p:spPr>
        <p:txBody>
          <a:bodyPr/>
          <a:lstStyle/>
          <a:p>
            <a:endParaRPr lang="en-US"/>
          </a:p>
        </p:txBody>
      </p:sp>
      <p:sp>
        <p:nvSpPr>
          <p:cNvPr id="14" name="Shape 12"/>
          <p:cNvSpPr/>
          <p:nvPr/>
        </p:nvSpPr>
        <p:spPr>
          <a:xfrm>
            <a:off x="7842504" y="3602736"/>
            <a:ext cx="128016" cy="128016"/>
          </a:xfrm>
          <a:prstGeom prst="ellipse">
            <a:avLst/>
          </a:prstGeom>
          <a:solidFill>
            <a:srgbClr val="C4A96A"/>
          </a:solidFill>
          <a:ln/>
        </p:spPr>
        <p:txBody>
          <a:bodyPr/>
          <a:lstStyle/>
          <a:p>
            <a:endParaRPr lang="en-US"/>
          </a:p>
        </p:txBody>
      </p:sp>
      <p:sp>
        <p:nvSpPr>
          <p:cNvPr id="15" name="Shape 13"/>
          <p:cNvSpPr/>
          <p:nvPr/>
        </p:nvSpPr>
        <p:spPr>
          <a:xfrm>
            <a:off x="8055864" y="3529584"/>
            <a:ext cx="109728" cy="109728"/>
          </a:xfrm>
          <a:prstGeom prst="ellipse">
            <a:avLst/>
          </a:prstGeom>
          <a:solidFill>
            <a:srgbClr val="C4A96A"/>
          </a:solidFill>
          <a:ln/>
        </p:spPr>
        <p:txBody>
          <a:bodyPr/>
          <a:lstStyle/>
          <a:p>
            <a:endParaRPr lang="en-US"/>
          </a:p>
        </p:txBody>
      </p:sp>
      <p:sp>
        <p:nvSpPr>
          <p:cNvPr id="16" name="Shape 14"/>
          <p:cNvSpPr/>
          <p:nvPr/>
        </p:nvSpPr>
        <p:spPr>
          <a:xfrm>
            <a:off x="8269224" y="3621024"/>
            <a:ext cx="91440" cy="91440"/>
          </a:xfrm>
          <a:prstGeom prst="ellipse">
            <a:avLst/>
          </a:prstGeom>
          <a:solidFill>
            <a:srgbClr val="C4A96A"/>
          </a:solidFill>
          <a:ln/>
        </p:spPr>
        <p:txBody>
          <a:bodyPr/>
          <a:lstStyle/>
          <a:p>
            <a:endParaRPr lang="en-US"/>
          </a:p>
        </p:txBody>
      </p:sp>
      <p:sp>
        <p:nvSpPr>
          <p:cNvPr id="17" name="Shape 15"/>
          <p:cNvSpPr/>
          <p:nvPr/>
        </p:nvSpPr>
        <p:spPr>
          <a:xfrm>
            <a:off x="1577340" y="2994660"/>
            <a:ext cx="1508760" cy="1508760"/>
          </a:xfrm>
          <a:prstGeom prst="ellipse">
            <a:avLst/>
          </a:prstGeom>
          <a:solidFill>
            <a:srgbClr val="EAE3D5"/>
          </a:solidFill>
          <a:ln/>
        </p:spPr>
        <p:txBody>
          <a:bodyPr/>
          <a:lstStyle/>
          <a:p>
            <a:endParaRPr lang="en-US"/>
          </a:p>
        </p:txBody>
      </p:sp>
      <p:sp>
        <p:nvSpPr>
          <p:cNvPr id="18" name="Shape 16"/>
          <p:cNvSpPr/>
          <p:nvPr/>
        </p:nvSpPr>
        <p:spPr>
          <a:xfrm>
            <a:off x="1737360" y="3154680"/>
            <a:ext cx="1188720" cy="1188720"/>
          </a:xfrm>
          <a:prstGeom prst="ellipse">
            <a:avLst/>
          </a:prstGeom>
          <a:solidFill>
            <a:srgbClr val="F0E7D4"/>
          </a:solidFill>
          <a:ln w="19050">
            <a:solidFill>
              <a:srgbClr val="C4A96A"/>
            </a:solidFill>
            <a:prstDash val="solid"/>
          </a:ln>
        </p:spPr>
        <p:txBody>
          <a:bodyPr/>
          <a:lstStyle/>
          <a:p>
            <a:endParaRPr lang="en-US"/>
          </a:p>
        </p:txBody>
      </p:sp>
      <p:sp>
        <p:nvSpPr>
          <p:cNvPr id="19" name="Text 17"/>
          <p:cNvSpPr/>
          <p:nvPr/>
        </p:nvSpPr>
        <p:spPr>
          <a:xfrm>
            <a:off x="1828800" y="3547872"/>
            <a:ext cx="1005840" cy="457200"/>
          </a:xfrm>
          <a:prstGeom prst="rect">
            <a:avLst/>
          </a:prstGeom>
          <a:noFill/>
          <a:ln/>
        </p:spPr>
        <p:txBody>
          <a:bodyPr wrap="none" lIns="0" tIns="0" rIns="0" bIns="0" rtlCol="0" anchor="ctr"/>
          <a:lstStyle/>
          <a:p>
            <a:pPr marL="0" indent="0" algn="ctr">
              <a:buNone/>
            </a:pPr>
            <a:r>
              <a:rPr lang="en-US" sz="1400" b="1" dirty="0">
                <a:solidFill>
                  <a:srgbClr val="14192A"/>
                </a:solidFill>
                <a:latin typeface="Arial Black" pitchFamily="34" charset="0"/>
                <a:ea typeface="Arial Black" pitchFamily="34" charset="-122"/>
                <a:cs typeface="Arial Black" pitchFamily="34" charset="-120"/>
              </a:rPr>
              <a:t>Helpful.</a:t>
            </a:r>
            <a:endParaRPr lang="en-US" sz="1400" dirty="0"/>
          </a:p>
        </p:txBody>
      </p:sp>
      <p:sp>
        <p:nvSpPr>
          <p:cNvPr id="20" name="Shape 18"/>
          <p:cNvSpPr/>
          <p:nvPr/>
        </p:nvSpPr>
        <p:spPr>
          <a:xfrm>
            <a:off x="4956048" y="2606040"/>
            <a:ext cx="2286000" cy="2286000"/>
          </a:xfrm>
          <a:prstGeom prst="ellipse">
            <a:avLst/>
          </a:prstGeom>
          <a:solidFill>
            <a:srgbClr val="EAE3D5"/>
          </a:solidFill>
          <a:ln/>
        </p:spPr>
        <p:txBody>
          <a:bodyPr/>
          <a:lstStyle/>
          <a:p>
            <a:endParaRPr lang="en-US"/>
          </a:p>
        </p:txBody>
      </p:sp>
      <p:sp>
        <p:nvSpPr>
          <p:cNvPr id="21" name="Shape 19"/>
          <p:cNvSpPr/>
          <p:nvPr/>
        </p:nvSpPr>
        <p:spPr>
          <a:xfrm>
            <a:off x="5116068" y="2766060"/>
            <a:ext cx="1965960" cy="1965960"/>
          </a:xfrm>
          <a:prstGeom prst="ellipse">
            <a:avLst/>
          </a:prstGeom>
          <a:solidFill>
            <a:srgbClr val="EDE2CE"/>
          </a:solidFill>
          <a:ln w="19050">
            <a:solidFill>
              <a:srgbClr val="A0824E"/>
            </a:solidFill>
            <a:prstDash val="solid"/>
          </a:ln>
        </p:spPr>
        <p:txBody>
          <a:bodyPr/>
          <a:lstStyle/>
          <a:p>
            <a:endParaRPr lang="en-US"/>
          </a:p>
        </p:txBody>
      </p:sp>
      <p:sp>
        <p:nvSpPr>
          <p:cNvPr id="22" name="Text 20"/>
          <p:cNvSpPr/>
          <p:nvPr/>
        </p:nvSpPr>
        <p:spPr>
          <a:xfrm>
            <a:off x="5207508" y="3547872"/>
            <a:ext cx="1783080" cy="457200"/>
          </a:xfrm>
          <a:prstGeom prst="rect">
            <a:avLst/>
          </a:prstGeom>
          <a:noFill/>
          <a:ln/>
        </p:spPr>
        <p:txBody>
          <a:bodyPr wrap="none" lIns="0" tIns="0" rIns="0" bIns="0" rtlCol="0" anchor="ctr"/>
          <a:lstStyle/>
          <a:p>
            <a:pPr marL="0" indent="0" algn="ctr">
              <a:buNone/>
            </a:pPr>
            <a:r>
              <a:rPr lang="en-US" sz="1600" b="1" dirty="0">
                <a:solidFill>
                  <a:srgbClr val="14192A"/>
                </a:solidFill>
                <a:latin typeface="Arial Black" pitchFamily="34" charset="0"/>
                <a:ea typeface="Arial Black" pitchFamily="34" charset="-122"/>
                <a:cs typeface="Arial Black" pitchFamily="34" charset="-120"/>
              </a:rPr>
              <a:t>Knows the book.</a:t>
            </a:r>
            <a:endParaRPr lang="en-US" sz="1600" dirty="0"/>
          </a:p>
        </p:txBody>
      </p:sp>
      <p:sp>
        <p:nvSpPr>
          <p:cNvPr id="23" name="Shape 21"/>
          <p:cNvSpPr/>
          <p:nvPr/>
        </p:nvSpPr>
        <p:spPr>
          <a:xfrm>
            <a:off x="8366760" y="2240280"/>
            <a:ext cx="3017520" cy="3017520"/>
          </a:xfrm>
          <a:prstGeom prst="ellipse">
            <a:avLst/>
          </a:prstGeom>
          <a:solidFill>
            <a:srgbClr val="EAE3D5"/>
          </a:solidFill>
          <a:ln/>
        </p:spPr>
        <p:txBody>
          <a:bodyPr/>
          <a:lstStyle/>
          <a:p>
            <a:endParaRPr lang="en-US"/>
          </a:p>
        </p:txBody>
      </p:sp>
      <p:sp>
        <p:nvSpPr>
          <p:cNvPr id="24" name="Shape 22"/>
          <p:cNvSpPr/>
          <p:nvPr/>
        </p:nvSpPr>
        <p:spPr>
          <a:xfrm>
            <a:off x="8526780" y="2400300"/>
            <a:ext cx="2697480" cy="2697480"/>
          </a:xfrm>
          <a:prstGeom prst="ellipse">
            <a:avLst/>
          </a:prstGeom>
          <a:solidFill>
            <a:srgbClr val="A0824E"/>
          </a:solidFill>
          <a:ln w="19050">
            <a:solidFill>
              <a:srgbClr val="A0824E"/>
            </a:solidFill>
            <a:prstDash val="solid"/>
          </a:ln>
        </p:spPr>
        <p:txBody>
          <a:bodyPr/>
          <a:lstStyle/>
          <a:p>
            <a:endParaRPr lang="en-US"/>
          </a:p>
        </p:txBody>
      </p:sp>
      <p:sp>
        <p:nvSpPr>
          <p:cNvPr id="25" name="Text 23"/>
          <p:cNvSpPr/>
          <p:nvPr/>
        </p:nvSpPr>
        <p:spPr>
          <a:xfrm>
            <a:off x="8618220" y="3547872"/>
            <a:ext cx="2514600" cy="457200"/>
          </a:xfrm>
          <a:prstGeom prst="rect">
            <a:avLst/>
          </a:prstGeom>
          <a:noFill/>
          <a:ln/>
        </p:spPr>
        <p:txBody>
          <a:bodyPr wrap="non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Sees the patterns.</a:t>
            </a:r>
            <a:endParaRPr lang="en-US" sz="2000" dirty="0"/>
          </a:p>
        </p:txBody>
      </p:sp>
      <p:sp>
        <p:nvSpPr>
          <p:cNvPr id="26" name="Text 24"/>
          <p:cNvSpPr/>
          <p:nvPr/>
        </p:nvSpPr>
        <p:spPr>
          <a:xfrm>
            <a:off x="868680" y="5212080"/>
            <a:ext cx="2926080" cy="274320"/>
          </a:xfrm>
          <a:prstGeom prst="rect">
            <a:avLst/>
          </a:prstGeom>
          <a:noFill/>
          <a:ln/>
        </p:spPr>
        <p:txBody>
          <a:bodyPr wrap="square" lIns="0" tIns="0" rIns="0" bIns="0" rtlCol="0" anchor="ctr"/>
          <a:lstStyle/>
          <a:p>
            <a:pPr marL="0" indent="0" algn="ctr">
              <a:buNone/>
            </a:pPr>
            <a:r>
              <a:rPr lang="en-US" sz="1000" b="1" kern="0" spc="500" dirty="0">
                <a:solidFill>
                  <a:srgbClr val="A0824E"/>
                </a:solidFill>
                <a:latin typeface="Helvetica" pitchFamily="34" charset="0"/>
                <a:ea typeface="Helvetica" pitchFamily="34" charset="-122"/>
                <a:cs typeface="Helvetica" pitchFamily="34" charset="-120"/>
              </a:rPr>
              <a:t>DAY ONE</a:t>
            </a:r>
            <a:endParaRPr lang="en-US" sz="1000" dirty="0"/>
          </a:p>
        </p:txBody>
      </p:sp>
      <p:sp>
        <p:nvSpPr>
          <p:cNvPr id="27" name="Text 25"/>
          <p:cNvSpPr/>
          <p:nvPr/>
        </p:nvSpPr>
        <p:spPr>
          <a:xfrm>
            <a:off x="731520" y="5468112"/>
            <a:ext cx="3200400" cy="411480"/>
          </a:xfrm>
          <a:prstGeom prst="rect">
            <a:avLst/>
          </a:prstGeom>
          <a:noFill/>
          <a:ln/>
        </p:spPr>
        <p:txBody>
          <a:bodyPr wrap="square" lIns="0" tIns="0" rIns="0" bIns="0" rtlCol="0" anchor="t"/>
          <a:lstStyle/>
          <a:p>
            <a:pPr marL="0" indent="0" algn="ctr">
              <a:buNone/>
            </a:pPr>
            <a:r>
              <a:rPr lang="en-US" sz="1100" i="1" dirty="0">
                <a:solidFill>
                  <a:srgbClr val="3D3830"/>
                </a:solidFill>
                <a:latin typeface="Helvetica" pitchFamily="34" charset="0"/>
                <a:ea typeface="Helvetica" pitchFamily="34" charset="-122"/>
                <a:cs typeface="Helvetica" pitchFamily="34" charset="-120"/>
              </a:rPr>
              <a:t>Firm content at hand. Instant answers.</a:t>
            </a:r>
            <a:endParaRPr lang="en-US" sz="1100" dirty="0"/>
          </a:p>
        </p:txBody>
      </p:sp>
      <p:sp>
        <p:nvSpPr>
          <p:cNvPr id="28" name="Text 26"/>
          <p:cNvSpPr/>
          <p:nvPr/>
        </p:nvSpPr>
        <p:spPr>
          <a:xfrm>
            <a:off x="4636008" y="5212080"/>
            <a:ext cx="2926080" cy="274320"/>
          </a:xfrm>
          <a:prstGeom prst="rect">
            <a:avLst/>
          </a:prstGeom>
          <a:noFill/>
          <a:ln/>
        </p:spPr>
        <p:txBody>
          <a:bodyPr wrap="square" lIns="0" tIns="0" rIns="0" bIns="0" rtlCol="0" anchor="ctr"/>
          <a:lstStyle/>
          <a:p>
            <a:pPr marL="0" indent="0" algn="ctr">
              <a:buNone/>
            </a:pPr>
            <a:r>
              <a:rPr lang="en-US" sz="1000" b="1" kern="0" spc="500" dirty="0">
                <a:solidFill>
                  <a:srgbClr val="A0824E"/>
                </a:solidFill>
                <a:latin typeface="Helvetica" pitchFamily="34" charset="0"/>
                <a:ea typeface="Helvetica" pitchFamily="34" charset="-122"/>
                <a:cs typeface="Helvetica" pitchFamily="34" charset="-120"/>
              </a:rPr>
              <a:t>THREE  MONTHS</a:t>
            </a:r>
            <a:endParaRPr lang="en-US" sz="1000" dirty="0"/>
          </a:p>
        </p:txBody>
      </p:sp>
      <p:sp>
        <p:nvSpPr>
          <p:cNvPr id="29" name="Text 27"/>
          <p:cNvSpPr/>
          <p:nvPr/>
        </p:nvSpPr>
        <p:spPr>
          <a:xfrm>
            <a:off x="4498848" y="5468112"/>
            <a:ext cx="3200400" cy="411480"/>
          </a:xfrm>
          <a:prstGeom prst="rect">
            <a:avLst/>
          </a:prstGeom>
          <a:noFill/>
          <a:ln/>
        </p:spPr>
        <p:txBody>
          <a:bodyPr wrap="square" lIns="0" tIns="0" rIns="0" bIns="0" rtlCol="0" anchor="t"/>
          <a:lstStyle/>
          <a:p>
            <a:pPr marL="0" indent="0" algn="ctr">
              <a:buNone/>
            </a:pPr>
            <a:r>
              <a:rPr lang="en-US" sz="1100" i="1" dirty="0">
                <a:solidFill>
                  <a:srgbClr val="3D3830"/>
                </a:solidFill>
                <a:latin typeface="Helvetica" pitchFamily="34" charset="0"/>
                <a:ea typeface="Helvetica" pitchFamily="34" charset="-122"/>
                <a:cs typeface="Helvetica" pitchFamily="34" charset="-120"/>
              </a:rPr>
              <a:t>Every call, every question, every preference — wired in.</a:t>
            </a:r>
            <a:endParaRPr lang="en-US" sz="1100" dirty="0"/>
          </a:p>
        </p:txBody>
      </p:sp>
      <p:sp>
        <p:nvSpPr>
          <p:cNvPr id="30" name="Text 28"/>
          <p:cNvSpPr/>
          <p:nvPr/>
        </p:nvSpPr>
        <p:spPr>
          <a:xfrm>
            <a:off x="8412480" y="5212080"/>
            <a:ext cx="2926080" cy="274320"/>
          </a:xfrm>
          <a:prstGeom prst="rect">
            <a:avLst/>
          </a:prstGeom>
          <a:noFill/>
          <a:ln/>
        </p:spPr>
        <p:txBody>
          <a:bodyPr wrap="square" lIns="0" tIns="0" rIns="0" bIns="0" rtlCol="0" anchor="ctr"/>
          <a:lstStyle/>
          <a:p>
            <a:pPr marL="0" indent="0" algn="ctr">
              <a:buNone/>
            </a:pPr>
            <a:r>
              <a:rPr lang="en-US" sz="1000" b="1" kern="0" spc="500" dirty="0">
                <a:solidFill>
                  <a:srgbClr val="A0824E"/>
                </a:solidFill>
                <a:latin typeface="Helvetica" pitchFamily="34" charset="0"/>
                <a:ea typeface="Helvetica" pitchFamily="34" charset="-122"/>
                <a:cs typeface="Helvetica" pitchFamily="34" charset="-120"/>
              </a:rPr>
              <a:t>ONE  YEAR</a:t>
            </a:r>
            <a:endParaRPr lang="en-US" sz="1000" dirty="0"/>
          </a:p>
        </p:txBody>
      </p:sp>
      <p:sp>
        <p:nvSpPr>
          <p:cNvPr id="31" name="Text 29"/>
          <p:cNvSpPr/>
          <p:nvPr/>
        </p:nvSpPr>
        <p:spPr>
          <a:xfrm>
            <a:off x="8275320" y="5468112"/>
            <a:ext cx="3200400" cy="411480"/>
          </a:xfrm>
          <a:prstGeom prst="rect">
            <a:avLst/>
          </a:prstGeom>
          <a:noFill/>
          <a:ln/>
        </p:spPr>
        <p:txBody>
          <a:bodyPr wrap="square" lIns="0" tIns="0" rIns="0" bIns="0" rtlCol="0" anchor="t"/>
          <a:lstStyle/>
          <a:p>
            <a:pPr marL="0" indent="0" algn="ctr">
              <a:buNone/>
            </a:pPr>
            <a:r>
              <a:rPr lang="en-US" sz="1100" i="1" dirty="0">
                <a:solidFill>
                  <a:srgbClr val="3D3830"/>
                </a:solidFill>
                <a:latin typeface="Helvetica" pitchFamily="34" charset="0"/>
                <a:ea typeface="Helvetica" pitchFamily="34" charset="-122"/>
                <a:cs typeface="Helvetica" pitchFamily="34" charset="-120"/>
              </a:rPr>
              <a:t>Proactive. Personalized. The firm's memory.</a:t>
            </a:r>
            <a:endParaRPr lang="en-US" sz="1100" dirty="0"/>
          </a:p>
        </p:txBody>
      </p:sp>
      <p:sp>
        <p:nvSpPr>
          <p:cNvPr id="32" name="Shape 30"/>
          <p:cNvSpPr/>
          <p:nvPr/>
        </p:nvSpPr>
        <p:spPr>
          <a:xfrm>
            <a:off x="685800" y="5806440"/>
            <a:ext cx="10817352" cy="502920"/>
          </a:xfrm>
          <a:prstGeom prst="rect">
            <a:avLst/>
          </a:prstGeom>
          <a:solidFill>
            <a:srgbClr val="EDE2CE"/>
          </a:solidFill>
          <a:ln/>
        </p:spPr>
        <p:txBody>
          <a:bodyPr/>
          <a:lstStyle/>
          <a:p>
            <a:endParaRPr lang="en-US"/>
          </a:p>
        </p:txBody>
      </p:sp>
      <p:sp>
        <p:nvSpPr>
          <p:cNvPr id="33" name="Text 31"/>
          <p:cNvSpPr/>
          <p:nvPr/>
        </p:nvSpPr>
        <p:spPr>
          <a:xfrm>
            <a:off x="685800" y="5806440"/>
            <a:ext cx="10817352" cy="502920"/>
          </a:xfrm>
          <a:prstGeom prst="rect">
            <a:avLst/>
          </a:prstGeom>
          <a:noFill/>
          <a:ln/>
        </p:spPr>
        <p:txBody>
          <a:bodyPr wrap="square" lIns="0" tIns="0" rIns="0" bIns="0" rtlCol="0" anchor="ctr"/>
          <a:lstStyle/>
          <a:p>
            <a:pPr marL="0" indent="0" algn="ctr">
              <a:buNone/>
            </a:pPr>
            <a:r>
              <a:rPr lang="en-US" sz="1400" i="1" dirty="0">
                <a:solidFill>
                  <a:srgbClr val="14192A"/>
                </a:solidFill>
                <a:latin typeface="Helvetica" pitchFamily="34" charset="0"/>
                <a:ea typeface="Helvetica" pitchFamily="34" charset="-122"/>
                <a:cs typeface="Helvetica" pitchFamily="34" charset="-120"/>
              </a:rPr>
              <a:t>Every call, every question, every correction is a deposit. </a:t>
            </a:r>
            <a:r>
              <a:rPr lang="en-US" sz="1400" b="1" i="1" dirty="0">
                <a:solidFill>
                  <a:srgbClr val="A0824E"/>
                </a:solidFill>
                <a:latin typeface="Helvetica" pitchFamily="34" charset="0"/>
                <a:ea typeface="Helvetica" pitchFamily="34" charset="-122"/>
                <a:cs typeface="Helvetica" pitchFamily="34" charset="-120"/>
              </a:rPr>
              <a:t>The advantage compounds.</a:t>
            </a:r>
            <a:endParaRPr lang="en-US" sz="1400" dirty="0"/>
          </a:p>
        </p:txBody>
      </p:sp>
      <p:sp>
        <p:nvSpPr>
          <p:cNvPr id="34" name="Text 32"/>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35" name="Text 33"/>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11  /  19</a:t>
            </a:r>
            <a:endParaRPr lang="en-US" sz="800" dirty="0"/>
          </a:p>
        </p:txBody>
      </p:sp>
      <p:sp>
        <p:nvSpPr>
          <p:cNvPr id="36" name="Text 34"/>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37" name="Shape 35"/>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HOW IT COMPOUNDS</a:t>
            </a:r>
            <a:endParaRPr lang="en-US" sz="900" dirty="0"/>
          </a:p>
        </p:txBody>
      </p:sp>
      <p:sp>
        <p:nvSpPr>
          <p:cNvPr id="3" name="Text 1"/>
          <p:cNvSpPr/>
          <p:nvPr/>
        </p:nvSpPr>
        <p:spPr>
          <a:xfrm>
            <a:off x="685800" y="868680"/>
            <a:ext cx="10789920" cy="1280160"/>
          </a:xfrm>
          <a:prstGeom prst="rect">
            <a:avLst/>
          </a:prstGeom>
          <a:noFill/>
          <a:ln/>
        </p:spPr>
        <p:txBody>
          <a:bodyPr wrap="square" lIns="0" tIns="0" rIns="0" bIns="0" rtlCol="0" anchor="t"/>
          <a:lstStyle/>
          <a:p>
            <a:pPr marL="0" indent="0" algn="l">
              <a:buNone/>
            </a:pPr>
            <a:r>
              <a:rPr lang="en-US" sz="2800" b="1" dirty="0">
                <a:solidFill>
                  <a:srgbClr val="14192A"/>
                </a:solidFill>
                <a:latin typeface="Arial Black" pitchFamily="34" charset="0"/>
                <a:ea typeface="Arial Black" pitchFamily="34" charset="-122"/>
                <a:cs typeface="Arial Black" pitchFamily="34" charset="-120"/>
              </a:rPr>
              <a:t>What happens today becomes what we know tomorrow.</a:t>
            </a:r>
            <a:endParaRPr lang="en-US" sz="2800" dirty="0"/>
          </a:p>
        </p:txBody>
      </p:sp>
      <p:sp>
        <p:nvSpPr>
          <p:cNvPr id="4" name="Text 2"/>
          <p:cNvSpPr/>
          <p:nvPr/>
        </p:nvSpPr>
        <p:spPr>
          <a:xfrm>
            <a:off x="685800" y="2194560"/>
            <a:ext cx="10789920" cy="59436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Every question, every call, every trade flows into the hive. Patterns surface across the book. The firm acts — faster, smarter, together.</a:t>
            </a:r>
            <a:endParaRPr lang="en-US" sz="1300" dirty="0"/>
          </a:p>
        </p:txBody>
      </p:sp>
      <p:sp>
        <p:nvSpPr>
          <p:cNvPr id="5" name="Text 3"/>
          <p:cNvSpPr/>
          <p:nvPr/>
        </p:nvSpPr>
        <p:spPr>
          <a:xfrm>
            <a:off x="685800" y="3017520"/>
            <a:ext cx="3291840" cy="274320"/>
          </a:xfrm>
          <a:prstGeom prst="rect">
            <a:avLst/>
          </a:prstGeom>
          <a:noFill/>
          <a:ln/>
        </p:spPr>
        <p:txBody>
          <a:bodyPr wrap="square" lIns="0" tIns="0" rIns="0" bIns="0" rtlCol="0" anchor="ctr"/>
          <a:lstStyle/>
          <a:p>
            <a:pPr marL="0" indent="0" algn="l">
              <a:buNone/>
            </a:pPr>
            <a:r>
              <a:rPr lang="en-US" sz="1000" b="1" kern="0" spc="400" dirty="0">
                <a:solidFill>
                  <a:srgbClr val="6B6457"/>
                </a:solidFill>
                <a:latin typeface="Helvetica" pitchFamily="34" charset="0"/>
                <a:ea typeface="Helvetica" pitchFamily="34" charset="-122"/>
                <a:cs typeface="Helvetica" pitchFamily="34" charset="-120"/>
              </a:rPr>
              <a:t>A SIGNAL TODAY</a:t>
            </a:r>
            <a:endParaRPr lang="en-US" sz="1000" dirty="0"/>
          </a:p>
        </p:txBody>
      </p:sp>
      <p:sp>
        <p:nvSpPr>
          <p:cNvPr id="6" name="Text 4"/>
          <p:cNvSpPr/>
          <p:nvPr/>
        </p:nvSpPr>
        <p:spPr>
          <a:xfrm>
            <a:off x="4297680" y="3017520"/>
            <a:ext cx="3291840" cy="274320"/>
          </a:xfrm>
          <a:prstGeom prst="rect">
            <a:avLst/>
          </a:prstGeom>
          <a:noFill/>
          <a:ln/>
        </p:spPr>
        <p:txBody>
          <a:bodyPr wrap="square" lIns="0" tIns="0" rIns="0" bIns="0" rtlCol="0" anchor="ctr"/>
          <a:lstStyle/>
          <a:p>
            <a:pPr marL="0" indent="0" algn="l">
              <a:buNone/>
            </a:pPr>
            <a:r>
              <a:rPr lang="en-US" sz="1000" b="1" kern="0" spc="400" dirty="0">
                <a:solidFill>
                  <a:srgbClr val="A0824E"/>
                </a:solidFill>
                <a:latin typeface="Helvetica" pitchFamily="34" charset="0"/>
                <a:ea typeface="Helvetica" pitchFamily="34" charset="-122"/>
                <a:cs typeface="Helvetica" pitchFamily="34" charset="-120"/>
              </a:rPr>
              <a:t>A PATTERN COACH SEES</a:t>
            </a:r>
            <a:endParaRPr lang="en-US" sz="1000" dirty="0"/>
          </a:p>
        </p:txBody>
      </p:sp>
      <p:sp>
        <p:nvSpPr>
          <p:cNvPr id="7" name="Text 5"/>
          <p:cNvSpPr/>
          <p:nvPr/>
        </p:nvSpPr>
        <p:spPr>
          <a:xfrm>
            <a:off x="7909560" y="3017520"/>
            <a:ext cx="3291840" cy="274320"/>
          </a:xfrm>
          <a:prstGeom prst="rect">
            <a:avLst/>
          </a:prstGeom>
          <a:noFill/>
          <a:ln/>
        </p:spPr>
        <p:txBody>
          <a:bodyPr wrap="square" lIns="0" tIns="0" rIns="0" bIns="0" rtlCol="0" anchor="ctr"/>
          <a:lstStyle/>
          <a:p>
            <a:pPr marL="0" indent="0" algn="l">
              <a:buNone/>
            </a:pPr>
            <a:r>
              <a:rPr lang="en-US" sz="1000" b="1" kern="0" spc="400" dirty="0">
                <a:solidFill>
                  <a:srgbClr val="A0824E"/>
                </a:solidFill>
                <a:latin typeface="Helvetica" pitchFamily="34" charset="0"/>
                <a:ea typeface="Helvetica" pitchFamily="34" charset="-122"/>
                <a:cs typeface="Helvetica" pitchFamily="34" charset="-120"/>
              </a:rPr>
              <a:t>A COMPOUND ACTION</a:t>
            </a:r>
            <a:endParaRPr lang="en-US" sz="1000" dirty="0"/>
          </a:p>
        </p:txBody>
      </p:sp>
      <p:sp>
        <p:nvSpPr>
          <p:cNvPr id="8" name="Shape 6"/>
          <p:cNvSpPr/>
          <p:nvPr/>
        </p:nvSpPr>
        <p:spPr>
          <a:xfrm>
            <a:off x="685800" y="3291840"/>
            <a:ext cx="3291840" cy="749808"/>
          </a:xfrm>
          <a:prstGeom prst="rect">
            <a:avLst/>
          </a:prstGeom>
          <a:solidFill>
            <a:srgbClr val="F5F0EB"/>
          </a:solidFill>
          <a:ln w="6350">
            <a:solidFill>
              <a:srgbClr val="D6D0C2"/>
            </a:solidFill>
            <a:prstDash val="solid"/>
          </a:ln>
        </p:spPr>
        <p:txBody>
          <a:bodyPr/>
          <a:lstStyle/>
          <a:p>
            <a:endParaRPr lang="en-US"/>
          </a:p>
        </p:txBody>
      </p:sp>
      <p:sp>
        <p:nvSpPr>
          <p:cNvPr id="9" name="Shape 7"/>
          <p:cNvSpPr/>
          <p:nvPr/>
        </p:nvSpPr>
        <p:spPr>
          <a:xfrm>
            <a:off x="685800" y="3291840"/>
            <a:ext cx="54864" cy="749808"/>
          </a:xfrm>
          <a:prstGeom prst="rect">
            <a:avLst/>
          </a:prstGeom>
          <a:solidFill>
            <a:srgbClr val="6B6457"/>
          </a:solidFill>
          <a:ln/>
        </p:spPr>
        <p:txBody>
          <a:bodyPr/>
          <a:lstStyle/>
          <a:p>
            <a:endParaRPr lang="en-US"/>
          </a:p>
        </p:txBody>
      </p:sp>
      <p:sp>
        <p:nvSpPr>
          <p:cNvPr id="10" name="Text 8"/>
          <p:cNvSpPr/>
          <p:nvPr/>
        </p:nvSpPr>
        <p:spPr>
          <a:xfrm>
            <a:off x="850392" y="3364992"/>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"What's our view on private credit?"</a:t>
            </a:r>
            <a:endParaRPr lang="en-US" sz="1100" dirty="0"/>
          </a:p>
        </p:txBody>
      </p:sp>
      <p:sp>
        <p:nvSpPr>
          <p:cNvPr id="11" name="Text 9"/>
          <p:cNvSpPr/>
          <p:nvPr/>
        </p:nvSpPr>
        <p:spPr>
          <a:xfrm>
            <a:off x="850392" y="3730752"/>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Maria asks Coach before a client call.</a:t>
            </a:r>
            <a:endParaRPr lang="en-US" sz="950" dirty="0"/>
          </a:p>
        </p:txBody>
      </p:sp>
      <p:sp>
        <p:nvSpPr>
          <p:cNvPr id="12" name="Shape 10"/>
          <p:cNvSpPr/>
          <p:nvPr/>
        </p:nvSpPr>
        <p:spPr>
          <a:xfrm>
            <a:off x="4297680" y="3291840"/>
            <a:ext cx="3291840" cy="749808"/>
          </a:xfrm>
          <a:prstGeom prst="rect">
            <a:avLst/>
          </a:prstGeom>
          <a:solidFill>
            <a:srgbClr val="F5F0EB"/>
          </a:solidFill>
          <a:ln w="6350">
            <a:solidFill>
              <a:srgbClr val="D6D0C2"/>
            </a:solidFill>
            <a:prstDash val="solid"/>
          </a:ln>
        </p:spPr>
        <p:txBody>
          <a:bodyPr/>
          <a:lstStyle/>
          <a:p>
            <a:endParaRPr lang="en-US"/>
          </a:p>
        </p:txBody>
      </p:sp>
      <p:sp>
        <p:nvSpPr>
          <p:cNvPr id="13" name="Shape 11"/>
          <p:cNvSpPr/>
          <p:nvPr/>
        </p:nvSpPr>
        <p:spPr>
          <a:xfrm>
            <a:off x="4297680" y="3291840"/>
            <a:ext cx="54864" cy="749808"/>
          </a:xfrm>
          <a:prstGeom prst="rect">
            <a:avLst/>
          </a:prstGeom>
          <a:solidFill>
            <a:srgbClr val="C4A96A"/>
          </a:solidFill>
          <a:ln/>
        </p:spPr>
        <p:txBody>
          <a:bodyPr/>
          <a:lstStyle/>
          <a:p>
            <a:endParaRPr lang="en-US"/>
          </a:p>
        </p:txBody>
      </p:sp>
      <p:sp>
        <p:nvSpPr>
          <p:cNvPr id="14" name="Text 12"/>
          <p:cNvSpPr/>
          <p:nvPr/>
        </p:nvSpPr>
        <p:spPr>
          <a:xfrm>
            <a:off x="4462272" y="3364992"/>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38 advisors asked this week.</a:t>
            </a:r>
            <a:endParaRPr lang="en-US" sz="1100" dirty="0"/>
          </a:p>
        </p:txBody>
      </p:sp>
      <p:sp>
        <p:nvSpPr>
          <p:cNvPr id="15" name="Text 13"/>
          <p:cNvSpPr/>
          <p:nvPr/>
        </p:nvSpPr>
        <p:spPr>
          <a:xfrm>
            <a:off x="4462272" y="3730752"/>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Content hit-rate sitting at 61% — clear gap.</a:t>
            </a:r>
            <a:endParaRPr lang="en-US" sz="950" dirty="0"/>
          </a:p>
        </p:txBody>
      </p:sp>
      <p:sp>
        <p:nvSpPr>
          <p:cNvPr id="16" name="Shape 14"/>
          <p:cNvSpPr/>
          <p:nvPr/>
        </p:nvSpPr>
        <p:spPr>
          <a:xfrm>
            <a:off x="7909560" y="3291840"/>
            <a:ext cx="3291840" cy="749808"/>
          </a:xfrm>
          <a:prstGeom prst="rect">
            <a:avLst/>
          </a:prstGeom>
          <a:solidFill>
            <a:srgbClr val="EDE2CE"/>
          </a:solidFill>
          <a:ln w="6350">
            <a:solidFill>
              <a:srgbClr val="D6D0C2"/>
            </a:solidFill>
            <a:prstDash val="solid"/>
          </a:ln>
        </p:spPr>
        <p:txBody>
          <a:bodyPr/>
          <a:lstStyle/>
          <a:p>
            <a:endParaRPr lang="en-US"/>
          </a:p>
        </p:txBody>
      </p:sp>
      <p:sp>
        <p:nvSpPr>
          <p:cNvPr id="17" name="Shape 15"/>
          <p:cNvSpPr/>
          <p:nvPr/>
        </p:nvSpPr>
        <p:spPr>
          <a:xfrm>
            <a:off x="7909560" y="3291840"/>
            <a:ext cx="54864" cy="749808"/>
          </a:xfrm>
          <a:prstGeom prst="rect">
            <a:avLst/>
          </a:prstGeom>
          <a:solidFill>
            <a:srgbClr val="A0824E"/>
          </a:solidFill>
          <a:ln/>
        </p:spPr>
        <p:txBody>
          <a:bodyPr/>
          <a:lstStyle/>
          <a:p>
            <a:endParaRPr lang="en-US"/>
          </a:p>
        </p:txBody>
      </p:sp>
      <p:sp>
        <p:nvSpPr>
          <p:cNvPr id="18" name="Text 16"/>
          <p:cNvSpPr/>
          <p:nvPr/>
        </p:nvSpPr>
        <p:spPr>
          <a:xfrm>
            <a:off x="8074152" y="3364992"/>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Refreshed primer + talking points firm-wide.</a:t>
            </a:r>
            <a:endParaRPr lang="en-US" sz="1100" dirty="0"/>
          </a:p>
        </p:txBody>
      </p:sp>
      <p:sp>
        <p:nvSpPr>
          <p:cNvPr id="19" name="Text 17"/>
          <p:cNvSpPr/>
          <p:nvPr/>
        </p:nvSpPr>
        <p:spPr>
          <a:xfrm>
            <a:off x="8074152" y="3730752"/>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Live in 24 hours, not six weeks.</a:t>
            </a:r>
            <a:endParaRPr lang="en-US" sz="950" dirty="0"/>
          </a:p>
        </p:txBody>
      </p:sp>
      <p:sp>
        <p:nvSpPr>
          <p:cNvPr id="20" name="Text 18"/>
          <p:cNvSpPr/>
          <p:nvPr/>
        </p:nvSpPr>
        <p:spPr>
          <a:xfrm>
            <a:off x="4014216" y="3465576"/>
            <a:ext cx="246888" cy="411480"/>
          </a:xfrm>
          <a:prstGeom prst="rect">
            <a:avLst/>
          </a:prstGeom>
          <a:noFill/>
          <a:ln/>
        </p:spPr>
        <p:txBody>
          <a:bodyPr wrap="square" lIns="0" tIns="0" rIns="0" bIns="0" rtlCol="0" anchor="ctr"/>
          <a:lstStyle/>
          <a:p>
            <a:pPr marL="0" indent="0" algn="ctr">
              <a:buNone/>
            </a:pPr>
            <a:r>
              <a:rPr lang="en-US" sz="1600" b="1" dirty="0">
                <a:solidFill>
                  <a:srgbClr val="A0824E"/>
                </a:solidFill>
                <a:latin typeface="Arial Black" pitchFamily="34" charset="0"/>
                <a:ea typeface="Arial Black" pitchFamily="34" charset="-122"/>
                <a:cs typeface="Arial Black" pitchFamily="34" charset="-120"/>
              </a:rPr>
              <a:t>→</a:t>
            </a:r>
            <a:endParaRPr lang="en-US" sz="1600" dirty="0"/>
          </a:p>
        </p:txBody>
      </p:sp>
      <p:sp>
        <p:nvSpPr>
          <p:cNvPr id="21" name="Text 19"/>
          <p:cNvSpPr/>
          <p:nvPr/>
        </p:nvSpPr>
        <p:spPr>
          <a:xfrm>
            <a:off x="7626096" y="3465576"/>
            <a:ext cx="246888" cy="411480"/>
          </a:xfrm>
          <a:prstGeom prst="rect">
            <a:avLst/>
          </a:prstGeom>
          <a:noFill/>
          <a:ln/>
        </p:spPr>
        <p:txBody>
          <a:bodyPr wrap="square" lIns="0" tIns="0" rIns="0" bIns="0" rtlCol="0" anchor="ctr"/>
          <a:lstStyle/>
          <a:p>
            <a:pPr marL="0" indent="0" algn="ctr">
              <a:buNone/>
            </a:pPr>
            <a:r>
              <a:rPr lang="en-US" sz="1600" b="1" dirty="0">
                <a:solidFill>
                  <a:srgbClr val="A0824E"/>
                </a:solidFill>
                <a:latin typeface="Arial Black" pitchFamily="34" charset="0"/>
                <a:ea typeface="Arial Black" pitchFamily="34" charset="-122"/>
                <a:cs typeface="Arial Black" pitchFamily="34" charset="-120"/>
              </a:rPr>
              <a:t>→</a:t>
            </a:r>
            <a:endParaRPr lang="en-US" sz="1600" dirty="0"/>
          </a:p>
        </p:txBody>
      </p:sp>
      <p:sp>
        <p:nvSpPr>
          <p:cNvPr id="22" name="Shape 20"/>
          <p:cNvSpPr/>
          <p:nvPr/>
        </p:nvSpPr>
        <p:spPr>
          <a:xfrm>
            <a:off x="685800" y="4133088"/>
            <a:ext cx="3291840" cy="749808"/>
          </a:xfrm>
          <a:prstGeom prst="rect">
            <a:avLst/>
          </a:prstGeom>
          <a:solidFill>
            <a:srgbClr val="F5F0EB"/>
          </a:solidFill>
          <a:ln w="6350">
            <a:solidFill>
              <a:srgbClr val="D6D0C2"/>
            </a:solidFill>
            <a:prstDash val="solid"/>
          </a:ln>
        </p:spPr>
        <p:txBody>
          <a:bodyPr/>
          <a:lstStyle/>
          <a:p>
            <a:endParaRPr lang="en-US"/>
          </a:p>
        </p:txBody>
      </p:sp>
      <p:sp>
        <p:nvSpPr>
          <p:cNvPr id="23" name="Shape 21"/>
          <p:cNvSpPr/>
          <p:nvPr/>
        </p:nvSpPr>
        <p:spPr>
          <a:xfrm>
            <a:off x="685800" y="4133088"/>
            <a:ext cx="54864" cy="749808"/>
          </a:xfrm>
          <a:prstGeom prst="rect">
            <a:avLst/>
          </a:prstGeom>
          <a:solidFill>
            <a:srgbClr val="6B6457"/>
          </a:solidFill>
          <a:ln/>
        </p:spPr>
        <p:txBody>
          <a:bodyPr/>
          <a:lstStyle/>
          <a:p>
            <a:endParaRPr lang="en-US"/>
          </a:p>
        </p:txBody>
      </p:sp>
      <p:sp>
        <p:nvSpPr>
          <p:cNvPr id="24" name="Text 22"/>
          <p:cNvSpPr/>
          <p:nvPr/>
        </p:nvSpPr>
        <p:spPr>
          <a:xfrm>
            <a:off x="850392" y="4206240"/>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Call summary: "Wary of EM, bullish on munis post-Fed."</a:t>
            </a:r>
            <a:endParaRPr lang="en-US" sz="1100" dirty="0"/>
          </a:p>
        </p:txBody>
      </p:sp>
      <p:sp>
        <p:nvSpPr>
          <p:cNvPr id="25" name="Text 23"/>
          <p:cNvSpPr/>
          <p:nvPr/>
        </p:nvSpPr>
        <p:spPr>
          <a:xfrm>
            <a:off x="850392" y="4572000"/>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Captured automatically, filed to the client profile.</a:t>
            </a:r>
            <a:endParaRPr lang="en-US" sz="950" dirty="0"/>
          </a:p>
        </p:txBody>
      </p:sp>
      <p:sp>
        <p:nvSpPr>
          <p:cNvPr id="26" name="Shape 24"/>
          <p:cNvSpPr/>
          <p:nvPr/>
        </p:nvSpPr>
        <p:spPr>
          <a:xfrm>
            <a:off x="4297680" y="4133088"/>
            <a:ext cx="3291840" cy="749808"/>
          </a:xfrm>
          <a:prstGeom prst="rect">
            <a:avLst/>
          </a:prstGeom>
          <a:solidFill>
            <a:srgbClr val="F5F0EB"/>
          </a:solidFill>
          <a:ln w="6350">
            <a:solidFill>
              <a:srgbClr val="D6D0C2"/>
            </a:solidFill>
            <a:prstDash val="solid"/>
          </a:ln>
        </p:spPr>
        <p:txBody>
          <a:bodyPr/>
          <a:lstStyle/>
          <a:p>
            <a:endParaRPr lang="en-US"/>
          </a:p>
        </p:txBody>
      </p:sp>
      <p:sp>
        <p:nvSpPr>
          <p:cNvPr id="27" name="Shape 25"/>
          <p:cNvSpPr/>
          <p:nvPr/>
        </p:nvSpPr>
        <p:spPr>
          <a:xfrm>
            <a:off x="4297680" y="4133088"/>
            <a:ext cx="54864" cy="749808"/>
          </a:xfrm>
          <a:prstGeom prst="rect">
            <a:avLst/>
          </a:prstGeom>
          <a:solidFill>
            <a:srgbClr val="C4A96A"/>
          </a:solidFill>
          <a:ln/>
        </p:spPr>
        <p:txBody>
          <a:bodyPr/>
          <a:lstStyle/>
          <a:p>
            <a:endParaRPr lang="en-US"/>
          </a:p>
        </p:txBody>
      </p:sp>
      <p:sp>
        <p:nvSpPr>
          <p:cNvPr id="28" name="Text 26"/>
          <p:cNvSpPr/>
          <p:nvPr/>
        </p:nvSpPr>
        <p:spPr>
          <a:xfrm>
            <a:off x="4462272" y="4206240"/>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Muni sentiment +3× MoM across UHNW book.</a:t>
            </a:r>
            <a:endParaRPr lang="en-US" sz="1100" dirty="0"/>
          </a:p>
        </p:txBody>
      </p:sp>
      <p:sp>
        <p:nvSpPr>
          <p:cNvPr id="29" name="Text 27"/>
          <p:cNvSpPr/>
          <p:nvPr/>
        </p:nvSpPr>
        <p:spPr>
          <a:xfrm>
            <a:off x="4462272" y="4572000"/>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A shift no one advisor could see alone.</a:t>
            </a:r>
            <a:endParaRPr lang="en-US" sz="950" dirty="0"/>
          </a:p>
        </p:txBody>
      </p:sp>
      <p:sp>
        <p:nvSpPr>
          <p:cNvPr id="30" name="Shape 28"/>
          <p:cNvSpPr/>
          <p:nvPr/>
        </p:nvSpPr>
        <p:spPr>
          <a:xfrm>
            <a:off x="7909560" y="4133088"/>
            <a:ext cx="3291840" cy="749808"/>
          </a:xfrm>
          <a:prstGeom prst="rect">
            <a:avLst/>
          </a:prstGeom>
          <a:solidFill>
            <a:srgbClr val="EDE2CE"/>
          </a:solidFill>
          <a:ln w="6350">
            <a:solidFill>
              <a:srgbClr val="D6D0C2"/>
            </a:solidFill>
            <a:prstDash val="solid"/>
          </a:ln>
        </p:spPr>
        <p:txBody>
          <a:bodyPr/>
          <a:lstStyle/>
          <a:p>
            <a:endParaRPr lang="en-US"/>
          </a:p>
        </p:txBody>
      </p:sp>
      <p:sp>
        <p:nvSpPr>
          <p:cNvPr id="31" name="Shape 29"/>
          <p:cNvSpPr/>
          <p:nvPr/>
        </p:nvSpPr>
        <p:spPr>
          <a:xfrm>
            <a:off x="7909560" y="4133088"/>
            <a:ext cx="54864" cy="749808"/>
          </a:xfrm>
          <a:prstGeom prst="rect">
            <a:avLst/>
          </a:prstGeom>
          <a:solidFill>
            <a:srgbClr val="A0824E"/>
          </a:solidFill>
          <a:ln/>
        </p:spPr>
        <p:txBody>
          <a:bodyPr/>
          <a:lstStyle/>
          <a:p>
            <a:endParaRPr lang="en-US"/>
          </a:p>
        </p:txBody>
      </p:sp>
      <p:sp>
        <p:nvSpPr>
          <p:cNvPr id="32" name="Text 30"/>
          <p:cNvSpPr/>
          <p:nvPr/>
        </p:nvSpPr>
        <p:spPr>
          <a:xfrm>
            <a:off x="8074152" y="4206240"/>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PMs briefed. Muni outreach ready for 180 advisors.</a:t>
            </a:r>
            <a:endParaRPr lang="en-US" sz="1100" dirty="0"/>
          </a:p>
        </p:txBody>
      </p:sp>
      <p:sp>
        <p:nvSpPr>
          <p:cNvPr id="33" name="Text 31"/>
          <p:cNvSpPr/>
          <p:nvPr/>
        </p:nvSpPr>
        <p:spPr>
          <a:xfrm>
            <a:off x="8074152" y="4572000"/>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Every eligible client gets the call this week.</a:t>
            </a:r>
            <a:endParaRPr lang="en-US" sz="950" dirty="0"/>
          </a:p>
        </p:txBody>
      </p:sp>
      <p:sp>
        <p:nvSpPr>
          <p:cNvPr id="34" name="Text 32"/>
          <p:cNvSpPr/>
          <p:nvPr/>
        </p:nvSpPr>
        <p:spPr>
          <a:xfrm>
            <a:off x="4014216" y="4306824"/>
            <a:ext cx="246888" cy="411480"/>
          </a:xfrm>
          <a:prstGeom prst="rect">
            <a:avLst/>
          </a:prstGeom>
          <a:noFill/>
          <a:ln/>
        </p:spPr>
        <p:txBody>
          <a:bodyPr wrap="square" lIns="0" tIns="0" rIns="0" bIns="0" rtlCol="0" anchor="ctr"/>
          <a:lstStyle/>
          <a:p>
            <a:pPr marL="0" indent="0" algn="ctr">
              <a:buNone/>
            </a:pPr>
            <a:r>
              <a:rPr lang="en-US" sz="1600" b="1" dirty="0">
                <a:solidFill>
                  <a:srgbClr val="A0824E"/>
                </a:solidFill>
                <a:latin typeface="Arial Black" pitchFamily="34" charset="0"/>
                <a:ea typeface="Arial Black" pitchFamily="34" charset="-122"/>
                <a:cs typeface="Arial Black" pitchFamily="34" charset="-120"/>
              </a:rPr>
              <a:t>→</a:t>
            </a:r>
            <a:endParaRPr lang="en-US" sz="1600" dirty="0"/>
          </a:p>
        </p:txBody>
      </p:sp>
      <p:sp>
        <p:nvSpPr>
          <p:cNvPr id="35" name="Text 33"/>
          <p:cNvSpPr/>
          <p:nvPr/>
        </p:nvSpPr>
        <p:spPr>
          <a:xfrm>
            <a:off x="7626096" y="4306824"/>
            <a:ext cx="246888" cy="411480"/>
          </a:xfrm>
          <a:prstGeom prst="rect">
            <a:avLst/>
          </a:prstGeom>
          <a:noFill/>
          <a:ln/>
        </p:spPr>
        <p:txBody>
          <a:bodyPr wrap="square" lIns="0" tIns="0" rIns="0" bIns="0" rtlCol="0" anchor="ctr"/>
          <a:lstStyle/>
          <a:p>
            <a:pPr marL="0" indent="0" algn="ctr">
              <a:buNone/>
            </a:pPr>
            <a:r>
              <a:rPr lang="en-US" sz="1600" b="1" dirty="0">
                <a:solidFill>
                  <a:srgbClr val="A0824E"/>
                </a:solidFill>
                <a:latin typeface="Arial Black" pitchFamily="34" charset="0"/>
                <a:ea typeface="Arial Black" pitchFamily="34" charset="-122"/>
                <a:cs typeface="Arial Black" pitchFamily="34" charset="-120"/>
              </a:rPr>
              <a:t>→</a:t>
            </a:r>
            <a:endParaRPr lang="en-US" sz="1600" dirty="0"/>
          </a:p>
        </p:txBody>
      </p:sp>
      <p:sp>
        <p:nvSpPr>
          <p:cNvPr id="36" name="Shape 34"/>
          <p:cNvSpPr/>
          <p:nvPr/>
        </p:nvSpPr>
        <p:spPr>
          <a:xfrm>
            <a:off x="685800" y="4974336"/>
            <a:ext cx="3291840" cy="749808"/>
          </a:xfrm>
          <a:prstGeom prst="rect">
            <a:avLst/>
          </a:prstGeom>
          <a:solidFill>
            <a:srgbClr val="F5F0EB"/>
          </a:solidFill>
          <a:ln w="6350">
            <a:solidFill>
              <a:srgbClr val="D6D0C2"/>
            </a:solidFill>
            <a:prstDash val="solid"/>
          </a:ln>
        </p:spPr>
        <p:txBody>
          <a:bodyPr/>
          <a:lstStyle/>
          <a:p>
            <a:endParaRPr lang="en-US"/>
          </a:p>
        </p:txBody>
      </p:sp>
      <p:sp>
        <p:nvSpPr>
          <p:cNvPr id="37" name="Shape 35"/>
          <p:cNvSpPr/>
          <p:nvPr/>
        </p:nvSpPr>
        <p:spPr>
          <a:xfrm>
            <a:off x="685800" y="4974336"/>
            <a:ext cx="54864" cy="749808"/>
          </a:xfrm>
          <a:prstGeom prst="rect">
            <a:avLst/>
          </a:prstGeom>
          <a:solidFill>
            <a:srgbClr val="6B6457"/>
          </a:solidFill>
          <a:ln/>
        </p:spPr>
        <p:txBody>
          <a:bodyPr/>
          <a:lstStyle/>
          <a:p>
            <a:endParaRPr lang="en-US"/>
          </a:p>
        </p:txBody>
      </p:sp>
      <p:sp>
        <p:nvSpPr>
          <p:cNvPr id="38" name="Text 36"/>
          <p:cNvSpPr/>
          <p:nvPr/>
        </p:nvSpPr>
        <p:spPr>
          <a:xfrm>
            <a:off x="850392" y="5047488"/>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Trades logged: 73 clients rotated banks → tech.</a:t>
            </a:r>
            <a:endParaRPr lang="en-US" sz="1100" dirty="0"/>
          </a:p>
        </p:txBody>
      </p:sp>
      <p:sp>
        <p:nvSpPr>
          <p:cNvPr id="39" name="Text 37"/>
          <p:cNvSpPr/>
          <p:nvPr/>
        </p:nvSpPr>
        <p:spPr>
          <a:xfrm>
            <a:off x="850392" y="5413248"/>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Coach sees every book, every day.</a:t>
            </a:r>
            <a:endParaRPr lang="en-US" sz="950" dirty="0"/>
          </a:p>
        </p:txBody>
      </p:sp>
      <p:sp>
        <p:nvSpPr>
          <p:cNvPr id="40" name="Shape 38"/>
          <p:cNvSpPr/>
          <p:nvPr/>
        </p:nvSpPr>
        <p:spPr>
          <a:xfrm>
            <a:off x="4297680" y="4974336"/>
            <a:ext cx="3291840" cy="749808"/>
          </a:xfrm>
          <a:prstGeom prst="rect">
            <a:avLst/>
          </a:prstGeom>
          <a:solidFill>
            <a:srgbClr val="F5F0EB"/>
          </a:solidFill>
          <a:ln w="6350">
            <a:solidFill>
              <a:srgbClr val="D6D0C2"/>
            </a:solidFill>
            <a:prstDash val="solid"/>
          </a:ln>
        </p:spPr>
        <p:txBody>
          <a:bodyPr/>
          <a:lstStyle/>
          <a:p>
            <a:endParaRPr lang="en-US"/>
          </a:p>
        </p:txBody>
      </p:sp>
      <p:sp>
        <p:nvSpPr>
          <p:cNvPr id="41" name="Shape 39"/>
          <p:cNvSpPr/>
          <p:nvPr/>
        </p:nvSpPr>
        <p:spPr>
          <a:xfrm>
            <a:off x="4297680" y="4974336"/>
            <a:ext cx="54864" cy="749808"/>
          </a:xfrm>
          <a:prstGeom prst="rect">
            <a:avLst/>
          </a:prstGeom>
          <a:solidFill>
            <a:srgbClr val="C4A96A"/>
          </a:solidFill>
          <a:ln/>
        </p:spPr>
        <p:txBody>
          <a:bodyPr/>
          <a:lstStyle/>
          <a:p>
            <a:endParaRPr lang="en-US"/>
          </a:p>
        </p:txBody>
      </p:sp>
      <p:sp>
        <p:nvSpPr>
          <p:cNvPr id="42" name="Text 40"/>
          <p:cNvSpPr/>
          <p:nvPr/>
        </p:nvSpPr>
        <p:spPr>
          <a:xfrm>
            <a:off x="4462272" y="5047488"/>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$120M net-new into tech across the firm.</a:t>
            </a:r>
            <a:endParaRPr lang="en-US" sz="1100" dirty="0"/>
          </a:p>
        </p:txBody>
      </p:sp>
      <p:sp>
        <p:nvSpPr>
          <p:cNvPr id="43" name="Text 41"/>
          <p:cNvSpPr/>
          <p:nvPr/>
        </p:nvSpPr>
        <p:spPr>
          <a:xfrm>
            <a:off x="4462272" y="5413248"/>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Two products visibly underexposed.</a:t>
            </a:r>
            <a:endParaRPr lang="en-US" sz="950" dirty="0"/>
          </a:p>
        </p:txBody>
      </p:sp>
      <p:sp>
        <p:nvSpPr>
          <p:cNvPr id="44" name="Shape 42"/>
          <p:cNvSpPr/>
          <p:nvPr/>
        </p:nvSpPr>
        <p:spPr>
          <a:xfrm>
            <a:off x="7909560" y="4974336"/>
            <a:ext cx="3291840" cy="749808"/>
          </a:xfrm>
          <a:prstGeom prst="rect">
            <a:avLst/>
          </a:prstGeom>
          <a:solidFill>
            <a:srgbClr val="EDE2CE"/>
          </a:solidFill>
          <a:ln w="6350">
            <a:solidFill>
              <a:srgbClr val="D6D0C2"/>
            </a:solidFill>
            <a:prstDash val="solid"/>
          </a:ln>
        </p:spPr>
        <p:txBody>
          <a:bodyPr/>
          <a:lstStyle/>
          <a:p>
            <a:endParaRPr lang="en-US"/>
          </a:p>
        </p:txBody>
      </p:sp>
      <p:sp>
        <p:nvSpPr>
          <p:cNvPr id="45" name="Shape 43"/>
          <p:cNvSpPr/>
          <p:nvPr/>
        </p:nvSpPr>
        <p:spPr>
          <a:xfrm>
            <a:off x="7909560" y="4974336"/>
            <a:ext cx="54864" cy="749808"/>
          </a:xfrm>
          <a:prstGeom prst="rect">
            <a:avLst/>
          </a:prstGeom>
          <a:solidFill>
            <a:srgbClr val="A0824E"/>
          </a:solidFill>
          <a:ln/>
        </p:spPr>
        <p:txBody>
          <a:bodyPr/>
          <a:lstStyle/>
          <a:p>
            <a:endParaRPr lang="en-US"/>
          </a:p>
        </p:txBody>
      </p:sp>
      <p:sp>
        <p:nvSpPr>
          <p:cNvPr id="46" name="Text 44"/>
          <p:cNvSpPr/>
          <p:nvPr/>
        </p:nvSpPr>
        <p:spPr>
          <a:xfrm>
            <a:off x="8074152" y="5047488"/>
            <a:ext cx="3035808" cy="384048"/>
          </a:xfrm>
          <a:prstGeom prst="rect">
            <a:avLst/>
          </a:prstGeom>
          <a:noFill/>
          <a:ln/>
        </p:spPr>
        <p:txBody>
          <a:bodyPr wrap="square" lIns="0" tIns="0" rIns="0" bIns="0" rtlCol="0" anchor="t"/>
          <a:lstStyle/>
          <a:p>
            <a:pPr marL="0" indent="0" algn="l">
              <a:buNone/>
            </a:pPr>
            <a:r>
              <a:rPr lang="en-US" sz="1100" b="1" dirty="0">
                <a:solidFill>
                  <a:srgbClr val="14192A"/>
                </a:solidFill>
                <a:latin typeface="Helvetica" pitchFamily="34" charset="0"/>
                <a:ea typeface="Helvetica" pitchFamily="34" charset="-122"/>
                <a:cs typeface="Helvetica" pitchFamily="34" charset="-120"/>
              </a:rPr>
              <a:t>Tech-exposure lens auto-added to every review.</a:t>
            </a:r>
            <a:endParaRPr lang="en-US" sz="1100" dirty="0"/>
          </a:p>
        </p:txBody>
      </p:sp>
      <p:sp>
        <p:nvSpPr>
          <p:cNvPr id="47" name="Text 45"/>
          <p:cNvSpPr/>
          <p:nvPr/>
        </p:nvSpPr>
        <p:spPr>
          <a:xfrm>
            <a:off x="8074152" y="5413248"/>
            <a:ext cx="3035808" cy="320040"/>
          </a:xfrm>
          <a:prstGeom prst="rect">
            <a:avLst/>
          </a:prstGeom>
          <a:noFill/>
          <a:ln/>
        </p:spPr>
        <p:txBody>
          <a:bodyPr wrap="square" lIns="0" tIns="0" rIns="0" bIns="0" rtlCol="0" anchor="t"/>
          <a:lstStyle/>
          <a:p>
            <a:pPr marL="0" indent="0" algn="l">
              <a:buNone/>
            </a:pPr>
            <a:r>
              <a:rPr lang="en-US" sz="950" i="1" dirty="0">
                <a:solidFill>
                  <a:srgbClr val="6B6457"/>
                </a:solidFill>
                <a:latin typeface="Helvetica" pitchFamily="34" charset="0"/>
                <a:ea typeface="Helvetica" pitchFamily="34" charset="-122"/>
                <a:cs typeface="Helvetica" pitchFamily="34" charset="-120"/>
              </a:rPr>
              <a:t>Next client meeting, every advisor is ready.</a:t>
            </a:r>
            <a:endParaRPr lang="en-US" sz="950" dirty="0"/>
          </a:p>
        </p:txBody>
      </p:sp>
      <p:sp>
        <p:nvSpPr>
          <p:cNvPr id="48" name="Text 46"/>
          <p:cNvSpPr/>
          <p:nvPr/>
        </p:nvSpPr>
        <p:spPr>
          <a:xfrm>
            <a:off x="4014216" y="5148072"/>
            <a:ext cx="246888" cy="411480"/>
          </a:xfrm>
          <a:prstGeom prst="rect">
            <a:avLst/>
          </a:prstGeom>
          <a:noFill/>
          <a:ln/>
        </p:spPr>
        <p:txBody>
          <a:bodyPr wrap="square" lIns="0" tIns="0" rIns="0" bIns="0" rtlCol="0" anchor="ctr"/>
          <a:lstStyle/>
          <a:p>
            <a:pPr marL="0" indent="0" algn="ctr">
              <a:buNone/>
            </a:pPr>
            <a:r>
              <a:rPr lang="en-US" sz="1600" b="1" dirty="0">
                <a:solidFill>
                  <a:srgbClr val="A0824E"/>
                </a:solidFill>
                <a:latin typeface="Arial Black" pitchFamily="34" charset="0"/>
                <a:ea typeface="Arial Black" pitchFamily="34" charset="-122"/>
                <a:cs typeface="Arial Black" pitchFamily="34" charset="-120"/>
              </a:rPr>
              <a:t>→</a:t>
            </a:r>
            <a:endParaRPr lang="en-US" sz="1600" dirty="0"/>
          </a:p>
        </p:txBody>
      </p:sp>
      <p:sp>
        <p:nvSpPr>
          <p:cNvPr id="49" name="Text 47"/>
          <p:cNvSpPr/>
          <p:nvPr/>
        </p:nvSpPr>
        <p:spPr>
          <a:xfrm>
            <a:off x="7626096" y="5148072"/>
            <a:ext cx="246888" cy="411480"/>
          </a:xfrm>
          <a:prstGeom prst="rect">
            <a:avLst/>
          </a:prstGeom>
          <a:noFill/>
          <a:ln/>
        </p:spPr>
        <p:txBody>
          <a:bodyPr wrap="square" lIns="0" tIns="0" rIns="0" bIns="0" rtlCol="0" anchor="ctr"/>
          <a:lstStyle/>
          <a:p>
            <a:pPr marL="0" indent="0" algn="ctr">
              <a:buNone/>
            </a:pPr>
            <a:r>
              <a:rPr lang="en-US" sz="1600" b="1" dirty="0">
                <a:solidFill>
                  <a:srgbClr val="A0824E"/>
                </a:solidFill>
                <a:latin typeface="Arial Black" pitchFamily="34" charset="0"/>
                <a:ea typeface="Arial Black" pitchFamily="34" charset="-122"/>
                <a:cs typeface="Arial Black" pitchFamily="34" charset="-120"/>
              </a:rPr>
              <a:t>→</a:t>
            </a:r>
            <a:endParaRPr lang="en-US" sz="1600" dirty="0"/>
          </a:p>
        </p:txBody>
      </p:sp>
      <p:sp>
        <p:nvSpPr>
          <p:cNvPr id="50" name="Shape 48"/>
          <p:cNvSpPr/>
          <p:nvPr/>
        </p:nvSpPr>
        <p:spPr>
          <a:xfrm>
            <a:off x="685800" y="5806440"/>
            <a:ext cx="10817352" cy="502920"/>
          </a:xfrm>
          <a:prstGeom prst="rect">
            <a:avLst/>
          </a:prstGeom>
          <a:solidFill>
            <a:srgbClr val="EDE2CE"/>
          </a:solidFill>
          <a:ln/>
        </p:spPr>
        <p:txBody>
          <a:bodyPr/>
          <a:lstStyle/>
          <a:p>
            <a:endParaRPr lang="en-US"/>
          </a:p>
        </p:txBody>
      </p:sp>
      <p:sp>
        <p:nvSpPr>
          <p:cNvPr id="51" name="Text 49"/>
          <p:cNvSpPr/>
          <p:nvPr/>
        </p:nvSpPr>
        <p:spPr>
          <a:xfrm>
            <a:off x="685800" y="5806440"/>
            <a:ext cx="10817352" cy="502920"/>
          </a:xfrm>
          <a:prstGeom prst="rect">
            <a:avLst/>
          </a:prstGeom>
          <a:noFill/>
          <a:ln/>
        </p:spPr>
        <p:txBody>
          <a:bodyPr wrap="square" lIns="0" tIns="0" rIns="0" bIns="0" rtlCol="0" anchor="ctr"/>
          <a:lstStyle/>
          <a:p>
            <a:pPr marL="0" indent="0" algn="ctr">
              <a:buNone/>
            </a:pPr>
            <a:r>
              <a:rPr lang="en-US" sz="1300" i="1" dirty="0">
                <a:solidFill>
                  <a:srgbClr val="14192A"/>
                </a:solidFill>
                <a:latin typeface="Helvetica" pitchFamily="34" charset="0"/>
                <a:ea typeface="Helvetica" pitchFamily="34" charset="-122"/>
                <a:cs typeface="Helvetica" pitchFamily="34" charset="-120"/>
              </a:rPr>
              <a:t>Every interaction is a signal. Every signal is a pattern waiting. </a:t>
            </a:r>
            <a:r>
              <a:rPr lang="en-US" sz="1300" b="1" i="1" dirty="0">
                <a:solidFill>
                  <a:srgbClr val="A0824E"/>
                </a:solidFill>
                <a:latin typeface="Helvetica" pitchFamily="34" charset="0"/>
                <a:ea typeface="Helvetica" pitchFamily="34" charset="-122"/>
                <a:cs typeface="Helvetica" pitchFamily="34" charset="-120"/>
              </a:rPr>
              <a:t>Every pattern is a firm-wide move.</a:t>
            </a:r>
            <a:endParaRPr lang="en-US" sz="1300" dirty="0"/>
          </a:p>
        </p:txBody>
      </p:sp>
      <p:sp>
        <p:nvSpPr>
          <p:cNvPr id="52" name="Text 50"/>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53" name="Text 51"/>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12  /  19</a:t>
            </a:r>
            <a:endParaRPr lang="en-US" sz="800" dirty="0"/>
          </a:p>
        </p:txBody>
      </p:sp>
      <p:sp>
        <p:nvSpPr>
          <p:cNvPr id="54" name="Text 52"/>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55" name="Shape 53"/>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MOAT OVER TIME</a:t>
            </a:r>
            <a:endParaRPr lang="en-US" sz="900" dirty="0"/>
          </a:p>
        </p:txBody>
      </p:sp>
      <p:sp>
        <p:nvSpPr>
          <p:cNvPr id="3" name="Text 1"/>
          <p:cNvSpPr/>
          <p:nvPr/>
        </p:nvSpPr>
        <p:spPr>
          <a:xfrm>
            <a:off x="685800" y="868680"/>
            <a:ext cx="10789920" cy="1280160"/>
          </a:xfrm>
          <a:prstGeom prst="rect">
            <a:avLst/>
          </a:prstGeom>
          <a:noFill/>
          <a:ln/>
        </p:spPr>
        <p:txBody>
          <a:bodyPr wrap="square" lIns="0" tIns="0" rIns="0" bIns="0" rtlCol="0" anchor="t"/>
          <a:lstStyle/>
          <a:p>
            <a:pPr marL="0" indent="0" algn="l">
              <a:buNone/>
            </a:pPr>
            <a:r>
              <a:rPr lang="en-US" sz="3000" b="1" dirty="0">
                <a:solidFill>
                  <a:srgbClr val="14192A"/>
                </a:solidFill>
                <a:latin typeface="Arial Black" pitchFamily="34" charset="0"/>
                <a:ea typeface="Arial Black" pitchFamily="34" charset="-122"/>
                <a:cs typeface="Arial Black" pitchFamily="34" charset="-120"/>
              </a:rPr>
              <a:t>Today's small gap is tomorrow's unreachable lead.</a:t>
            </a:r>
            <a:endParaRPr lang="en-US" sz="3000" dirty="0"/>
          </a:p>
        </p:txBody>
      </p:sp>
      <p:sp>
        <p:nvSpPr>
          <p:cNvPr id="4" name="Text 2"/>
          <p:cNvSpPr/>
          <p:nvPr/>
        </p:nvSpPr>
        <p:spPr>
          <a:xfrm>
            <a:off x="685800" y="2194560"/>
            <a:ext cx="10789920" cy="64008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Our curve compounds. A competitor starting now climbs a shallower line. By year three it's a different game. By year five it's a different industry.</a:t>
            </a:r>
            <a:endParaRPr lang="en-US" sz="1300" dirty="0"/>
          </a:p>
        </p:txBody>
      </p:sp>
      <p:sp>
        <p:nvSpPr>
          <p:cNvPr id="5" name="Shape 3"/>
          <p:cNvSpPr/>
          <p:nvPr/>
        </p:nvSpPr>
        <p:spPr>
          <a:xfrm flipV="1">
            <a:off x="1119051" y="5278227"/>
            <a:ext cx="914" cy="108139"/>
          </a:xfrm>
          <a:prstGeom prst="line">
            <a:avLst/>
          </a:prstGeom>
          <a:noFill/>
          <a:ln w="27940">
            <a:solidFill>
              <a:srgbClr val="EDE2CE"/>
            </a:solidFill>
            <a:prstDash val="solid"/>
          </a:ln>
        </p:spPr>
        <p:txBody>
          <a:bodyPr/>
          <a:lstStyle/>
          <a:p>
            <a:endParaRPr lang="en-US"/>
          </a:p>
        </p:txBody>
      </p:sp>
      <p:sp>
        <p:nvSpPr>
          <p:cNvPr id="6" name="Shape 4"/>
          <p:cNvSpPr/>
          <p:nvPr/>
        </p:nvSpPr>
        <p:spPr>
          <a:xfrm flipV="1">
            <a:off x="1323703" y="5259320"/>
            <a:ext cx="914" cy="120529"/>
          </a:xfrm>
          <a:prstGeom prst="line">
            <a:avLst/>
          </a:prstGeom>
          <a:noFill/>
          <a:ln w="27940">
            <a:solidFill>
              <a:srgbClr val="EDE2CE"/>
            </a:solidFill>
            <a:prstDash val="solid"/>
          </a:ln>
        </p:spPr>
        <p:txBody>
          <a:bodyPr/>
          <a:lstStyle/>
          <a:p>
            <a:endParaRPr lang="en-US"/>
          </a:p>
        </p:txBody>
      </p:sp>
      <p:sp>
        <p:nvSpPr>
          <p:cNvPr id="7" name="Shape 5"/>
          <p:cNvSpPr/>
          <p:nvPr/>
        </p:nvSpPr>
        <p:spPr>
          <a:xfrm flipV="1">
            <a:off x="1528354" y="5239385"/>
            <a:ext cx="914" cy="133664"/>
          </a:xfrm>
          <a:prstGeom prst="line">
            <a:avLst/>
          </a:prstGeom>
          <a:noFill/>
          <a:ln w="27940">
            <a:solidFill>
              <a:srgbClr val="EDE2CE"/>
            </a:solidFill>
            <a:prstDash val="solid"/>
          </a:ln>
        </p:spPr>
        <p:txBody>
          <a:bodyPr/>
          <a:lstStyle/>
          <a:p>
            <a:endParaRPr lang="en-US"/>
          </a:p>
        </p:txBody>
      </p:sp>
      <p:sp>
        <p:nvSpPr>
          <p:cNvPr id="8" name="Shape 6"/>
          <p:cNvSpPr/>
          <p:nvPr/>
        </p:nvSpPr>
        <p:spPr>
          <a:xfrm flipV="1">
            <a:off x="1733006" y="5217569"/>
            <a:ext cx="914" cy="148160"/>
          </a:xfrm>
          <a:prstGeom prst="line">
            <a:avLst/>
          </a:prstGeom>
          <a:noFill/>
          <a:ln w="27940">
            <a:solidFill>
              <a:srgbClr val="EDE2CE"/>
            </a:solidFill>
            <a:prstDash val="solid"/>
          </a:ln>
        </p:spPr>
        <p:txBody>
          <a:bodyPr/>
          <a:lstStyle/>
          <a:p>
            <a:endParaRPr lang="en-US"/>
          </a:p>
        </p:txBody>
      </p:sp>
      <p:sp>
        <p:nvSpPr>
          <p:cNvPr id="9" name="Shape 7"/>
          <p:cNvSpPr/>
          <p:nvPr/>
        </p:nvSpPr>
        <p:spPr>
          <a:xfrm flipV="1">
            <a:off x="1937657" y="5193058"/>
            <a:ext cx="914" cy="164608"/>
          </a:xfrm>
          <a:prstGeom prst="line">
            <a:avLst/>
          </a:prstGeom>
          <a:noFill/>
          <a:ln w="27940">
            <a:solidFill>
              <a:srgbClr val="EDE2CE"/>
            </a:solidFill>
            <a:prstDash val="solid"/>
          </a:ln>
        </p:spPr>
        <p:txBody>
          <a:bodyPr/>
          <a:lstStyle/>
          <a:p>
            <a:endParaRPr lang="en-US"/>
          </a:p>
        </p:txBody>
      </p:sp>
      <p:sp>
        <p:nvSpPr>
          <p:cNvPr id="10" name="Shape 8"/>
          <p:cNvSpPr/>
          <p:nvPr/>
        </p:nvSpPr>
        <p:spPr>
          <a:xfrm flipV="1">
            <a:off x="2142309" y="5164709"/>
            <a:ext cx="914" cy="183835"/>
          </a:xfrm>
          <a:prstGeom prst="line">
            <a:avLst/>
          </a:prstGeom>
          <a:noFill/>
          <a:ln w="27940">
            <a:solidFill>
              <a:srgbClr val="EDE2CE"/>
            </a:solidFill>
            <a:prstDash val="solid"/>
          </a:ln>
        </p:spPr>
        <p:txBody>
          <a:bodyPr/>
          <a:lstStyle/>
          <a:p>
            <a:endParaRPr lang="en-US"/>
          </a:p>
        </p:txBody>
      </p:sp>
      <p:sp>
        <p:nvSpPr>
          <p:cNvPr id="11" name="Shape 9"/>
          <p:cNvSpPr/>
          <p:nvPr/>
        </p:nvSpPr>
        <p:spPr>
          <a:xfrm flipV="1">
            <a:off x="2346960" y="5131798"/>
            <a:ext cx="914" cy="206246"/>
          </a:xfrm>
          <a:prstGeom prst="line">
            <a:avLst/>
          </a:prstGeom>
          <a:noFill/>
          <a:ln w="27940">
            <a:solidFill>
              <a:srgbClr val="EDE2CE"/>
            </a:solidFill>
            <a:prstDash val="solid"/>
          </a:ln>
        </p:spPr>
        <p:txBody>
          <a:bodyPr/>
          <a:lstStyle/>
          <a:p>
            <a:endParaRPr lang="en-US"/>
          </a:p>
        </p:txBody>
      </p:sp>
      <p:sp>
        <p:nvSpPr>
          <p:cNvPr id="12" name="Shape 10"/>
          <p:cNvSpPr/>
          <p:nvPr/>
        </p:nvSpPr>
        <p:spPr>
          <a:xfrm flipV="1">
            <a:off x="2551611" y="5095954"/>
            <a:ext cx="914" cy="230480"/>
          </a:xfrm>
          <a:prstGeom prst="line">
            <a:avLst/>
          </a:prstGeom>
          <a:noFill/>
          <a:ln w="27940">
            <a:solidFill>
              <a:srgbClr val="EDE2CE"/>
            </a:solidFill>
            <a:prstDash val="solid"/>
          </a:ln>
        </p:spPr>
        <p:txBody>
          <a:bodyPr/>
          <a:lstStyle/>
          <a:p>
            <a:endParaRPr lang="en-US"/>
          </a:p>
        </p:txBody>
      </p:sp>
      <p:sp>
        <p:nvSpPr>
          <p:cNvPr id="13" name="Shape 11"/>
          <p:cNvSpPr/>
          <p:nvPr/>
        </p:nvSpPr>
        <p:spPr>
          <a:xfrm flipV="1">
            <a:off x="2756263" y="5057703"/>
            <a:ext cx="914" cy="256335"/>
          </a:xfrm>
          <a:prstGeom prst="line">
            <a:avLst/>
          </a:prstGeom>
          <a:noFill/>
          <a:ln w="27940">
            <a:solidFill>
              <a:srgbClr val="EDE2CE"/>
            </a:solidFill>
            <a:prstDash val="solid"/>
          </a:ln>
        </p:spPr>
        <p:txBody>
          <a:bodyPr/>
          <a:lstStyle/>
          <a:p>
            <a:endParaRPr lang="en-US"/>
          </a:p>
        </p:txBody>
      </p:sp>
      <p:sp>
        <p:nvSpPr>
          <p:cNvPr id="14" name="Shape 12"/>
          <p:cNvSpPr/>
          <p:nvPr/>
        </p:nvSpPr>
        <p:spPr>
          <a:xfrm flipV="1">
            <a:off x="2960914" y="5017334"/>
            <a:ext cx="914" cy="283795"/>
          </a:xfrm>
          <a:prstGeom prst="line">
            <a:avLst/>
          </a:prstGeom>
          <a:noFill/>
          <a:ln w="27940">
            <a:solidFill>
              <a:srgbClr val="EDE2CE"/>
            </a:solidFill>
            <a:prstDash val="solid"/>
          </a:ln>
        </p:spPr>
        <p:txBody>
          <a:bodyPr/>
          <a:lstStyle/>
          <a:p>
            <a:endParaRPr lang="en-US"/>
          </a:p>
        </p:txBody>
      </p:sp>
      <p:sp>
        <p:nvSpPr>
          <p:cNvPr id="15" name="Shape 13"/>
          <p:cNvSpPr/>
          <p:nvPr/>
        </p:nvSpPr>
        <p:spPr>
          <a:xfrm flipV="1">
            <a:off x="3165566" y="4975126"/>
            <a:ext cx="914" cy="312819"/>
          </a:xfrm>
          <a:prstGeom prst="line">
            <a:avLst/>
          </a:prstGeom>
          <a:noFill/>
          <a:ln w="27940">
            <a:solidFill>
              <a:srgbClr val="EDE2CE"/>
            </a:solidFill>
            <a:prstDash val="solid"/>
          </a:ln>
        </p:spPr>
        <p:txBody>
          <a:bodyPr/>
          <a:lstStyle/>
          <a:p>
            <a:endParaRPr lang="en-US"/>
          </a:p>
        </p:txBody>
      </p:sp>
      <p:sp>
        <p:nvSpPr>
          <p:cNvPr id="16" name="Shape 14"/>
          <p:cNvSpPr/>
          <p:nvPr/>
        </p:nvSpPr>
        <p:spPr>
          <a:xfrm flipV="1">
            <a:off x="3370217" y="4931262"/>
            <a:ext cx="914" cy="343436"/>
          </a:xfrm>
          <a:prstGeom prst="line">
            <a:avLst/>
          </a:prstGeom>
          <a:noFill/>
          <a:ln w="27940">
            <a:solidFill>
              <a:srgbClr val="EDE2CE"/>
            </a:solidFill>
            <a:prstDash val="solid"/>
          </a:ln>
        </p:spPr>
        <p:txBody>
          <a:bodyPr/>
          <a:lstStyle/>
          <a:p>
            <a:endParaRPr lang="en-US"/>
          </a:p>
        </p:txBody>
      </p:sp>
      <p:sp>
        <p:nvSpPr>
          <p:cNvPr id="17" name="Shape 15"/>
          <p:cNvSpPr/>
          <p:nvPr/>
        </p:nvSpPr>
        <p:spPr>
          <a:xfrm flipV="1">
            <a:off x="3574869" y="4886055"/>
            <a:ext cx="914" cy="375522"/>
          </a:xfrm>
          <a:prstGeom prst="line">
            <a:avLst/>
          </a:prstGeom>
          <a:noFill/>
          <a:ln w="27940">
            <a:solidFill>
              <a:srgbClr val="EDE2CE"/>
            </a:solidFill>
            <a:prstDash val="solid"/>
          </a:ln>
        </p:spPr>
        <p:txBody>
          <a:bodyPr/>
          <a:lstStyle/>
          <a:p>
            <a:endParaRPr lang="en-US"/>
          </a:p>
        </p:txBody>
      </p:sp>
      <p:sp>
        <p:nvSpPr>
          <p:cNvPr id="18" name="Shape 16"/>
          <p:cNvSpPr/>
          <p:nvPr/>
        </p:nvSpPr>
        <p:spPr>
          <a:xfrm flipV="1">
            <a:off x="3779520" y="4839801"/>
            <a:ext cx="914" cy="408882"/>
          </a:xfrm>
          <a:prstGeom prst="line">
            <a:avLst/>
          </a:prstGeom>
          <a:noFill/>
          <a:ln w="27940">
            <a:solidFill>
              <a:srgbClr val="EDE2CE"/>
            </a:solidFill>
            <a:prstDash val="solid"/>
          </a:ln>
        </p:spPr>
        <p:txBody>
          <a:bodyPr/>
          <a:lstStyle/>
          <a:p>
            <a:endParaRPr lang="en-US"/>
          </a:p>
        </p:txBody>
      </p:sp>
      <p:sp>
        <p:nvSpPr>
          <p:cNvPr id="19" name="Shape 17"/>
          <p:cNvSpPr/>
          <p:nvPr/>
        </p:nvSpPr>
        <p:spPr>
          <a:xfrm flipV="1">
            <a:off x="3984171" y="4793301"/>
            <a:ext cx="914" cy="442396"/>
          </a:xfrm>
          <a:prstGeom prst="line">
            <a:avLst/>
          </a:prstGeom>
          <a:noFill/>
          <a:ln w="27940">
            <a:solidFill>
              <a:srgbClr val="EDE2CE"/>
            </a:solidFill>
            <a:prstDash val="solid"/>
          </a:ln>
        </p:spPr>
        <p:txBody>
          <a:bodyPr/>
          <a:lstStyle/>
          <a:p>
            <a:endParaRPr lang="en-US"/>
          </a:p>
        </p:txBody>
      </p:sp>
      <p:sp>
        <p:nvSpPr>
          <p:cNvPr id="20" name="Shape 18"/>
          <p:cNvSpPr/>
          <p:nvPr/>
        </p:nvSpPr>
        <p:spPr>
          <a:xfrm flipV="1">
            <a:off x="4188823" y="4746657"/>
            <a:ext cx="914" cy="475779"/>
          </a:xfrm>
          <a:prstGeom prst="line">
            <a:avLst/>
          </a:prstGeom>
          <a:noFill/>
          <a:ln w="27940">
            <a:solidFill>
              <a:srgbClr val="EDE2CE"/>
            </a:solidFill>
            <a:prstDash val="solid"/>
          </a:ln>
        </p:spPr>
        <p:txBody>
          <a:bodyPr/>
          <a:lstStyle/>
          <a:p>
            <a:endParaRPr lang="en-US"/>
          </a:p>
        </p:txBody>
      </p:sp>
      <p:sp>
        <p:nvSpPr>
          <p:cNvPr id="21" name="Shape 19"/>
          <p:cNvSpPr/>
          <p:nvPr/>
        </p:nvSpPr>
        <p:spPr>
          <a:xfrm flipV="1">
            <a:off x="4393474" y="4699423"/>
            <a:ext cx="914" cy="509639"/>
          </a:xfrm>
          <a:prstGeom prst="line">
            <a:avLst/>
          </a:prstGeom>
          <a:noFill/>
          <a:ln w="27940">
            <a:solidFill>
              <a:srgbClr val="EDE2CE"/>
            </a:solidFill>
            <a:prstDash val="solid"/>
          </a:ln>
        </p:spPr>
        <p:txBody>
          <a:bodyPr/>
          <a:lstStyle/>
          <a:p>
            <a:endParaRPr lang="en-US"/>
          </a:p>
        </p:txBody>
      </p:sp>
      <p:sp>
        <p:nvSpPr>
          <p:cNvPr id="22" name="Shape 20"/>
          <p:cNvSpPr/>
          <p:nvPr/>
        </p:nvSpPr>
        <p:spPr>
          <a:xfrm flipV="1">
            <a:off x="4598126" y="4650964"/>
            <a:ext cx="914" cy="544732"/>
          </a:xfrm>
          <a:prstGeom prst="line">
            <a:avLst/>
          </a:prstGeom>
          <a:noFill/>
          <a:ln w="27940">
            <a:solidFill>
              <a:srgbClr val="EDE2CE"/>
            </a:solidFill>
            <a:prstDash val="solid"/>
          </a:ln>
        </p:spPr>
        <p:txBody>
          <a:bodyPr/>
          <a:lstStyle/>
          <a:p>
            <a:endParaRPr lang="en-US"/>
          </a:p>
        </p:txBody>
      </p:sp>
      <p:sp>
        <p:nvSpPr>
          <p:cNvPr id="23" name="Shape 21"/>
          <p:cNvSpPr/>
          <p:nvPr/>
        </p:nvSpPr>
        <p:spPr>
          <a:xfrm flipV="1">
            <a:off x="4802777" y="4601109"/>
            <a:ext cx="914" cy="581330"/>
          </a:xfrm>
          <a:prstGeom prst="line">
            <a:avLst/>
          </a:prstGeom>
          <a:noFill/>
          <a:ln w="27940">
            <a:solidFill>
              <a:srgbClr val="EDE2CE"/>
            </a:solidFill>
            <a:prstDash val="solid"/>
          </a:ln>
        </p:spPr>
        <p:txBody>
          <a:bodyPr/>
          <a:lstStyle/>
          <a:p>
            <a:endParaRPr lang="en-US"/>
          </a:p>
        </p:txBody>
      </p:sp>
      <p:sp>
        <p:nvSpPr>
          <p:cNvPr id="24" name="Shape 22"/>
          <p:cNvSpPr/>
          <p:nvPr/>
        </p:nvSpPr>
        <p:spPr>
          <a:xfrm flipV="1">
            <a:off x="5007429" y="4549081"/>
            <a:ext cx="914" cy="620349"/>
          </a:xfrm>
          <a:prstGeom prst="line">
            <a:avLst/>
          </a:prstGeom>
          <a:noFill/>
          <a:ln w="27940">
            <a:solidFill>
              <a:srgbClr val="EDE2CE"/>
            </a:solidFill>
            <a:prstDash val="solid"/>
          </a:ln>
        </p:spPr>
        <p:txBody>
          <a:bodyPr/>
          <a:lstStyle/>
          <a:p>
            <a:endParaRPr lang="en-US"/>
          </a:p>
        </p:txBody>
      </p:sp>
      <p:sp>
        <p:nvSpPr>
          <p:cNvPr id="25" name="Shape 23"/>
          <p:cNvSpPr/>
          <p:nvPr/>
        </p:nvSpPr>
        <p:spPr>
          <a:xfrm flipV="1">
            <a:off x="5212080" y="4494849"/>
            <a:ext cx="914" cy="661874"/>
          </a:xfrm>
          <a:prstGeom prst="line">
            <a:avLst/>
          </a:prstGeom>
          <a:noFill/>
          <a:ln w="27940">
            <a:solidFill>
              <a:srgbClr val="EDE2CE"/>
            </a:solidFill>
            <a:prstDash val="solid"/>
          </a:ln>
        </p:spPr>
        <p:txBody>
          <a:bodyPr/>
          <a:lstStyle/>
          <a:p>
            <a:endParaRPr lang="en-US"/>
          </a:p>
        </p:txBody>
      </p:sp>
      <p:sp>
        <p:nvSpPr>
          <p:cNvPr id="26" name="Shape 24"/>
          <p:cNvSpPr/>
          <p:nvPr/>
        </p:nvSpPr>
        <p:spPr>
          <a:xfrm flipV="1">
            <a:off x="5416731" y="4437517"/>
            <a:ext cx="914" cy="706969"/>
          </a:xfrm>
          <a:prstGeom prst="line">
            <a:avLst/>
          </a:prstGeom>
          <a:noFill/>
          <a:ln w="27940">
            <a:solidFill>
              <a:srgbClr val="EDE2CE"/>
            </a:solidFill>
            <a:prstDash val="solid"/>
          </a:ln>
        </p:spPr>
        <p:txBody>
          <a:bodyPr/>
          <a:lstStyle/>
          <a:p>
            <a:endParaRPr lang="en-US"/>
          </a:p>
        </p:txBody>
      </p:sp>
      <p:sp>
        <p:nvSpPr>
          <p:cNvPr id="27" name="Shape 25"/>
          <p:cNvSpPr/>
          <p:nvPr/>
        </p:nvSpPr>
        <p:spPr>
          <a:xfrm flipV="1">
            <a:off x="5621383" y="4376989"/>
            <a:ext cx="914" cy="755778"/>
          </a:xfrm>
          <a:prstGeom prst="line">
            <a:avLst/>
          </a:prstGeom>
          <a:noFill/>
          <a:ln w="27940">
            <a:solidFill>
              <a:srgbClr val="EDE2CE"/>
            </a:solidFill>
            <a:prstDash val="solid"/>
          </a:ln>
        </p:spPr>
        <p:txBody>
          <a:bodyPr/>
          <a:lstStyle/>
          <a:p>
            <a:endParaRPr lang="en-US"/>
          </a:p>
        </p:txBody>
      </p:sp>
      <p:sp>
        <p:nvSpPr>
          <p:cNvPr id="28" name="Shape 26"/>
          <p:cNvSpPr/>
          <p:nvPr/>
        </p:nvSpPr>
        <p:spPr>
          <a:xfrm flipV="1">
            <a:off x="5826034" y="4311602"/>
            <a:ext cx="914" cy="810007"/>
          </a:xfrm>
          <a:prstGeom prst="line">
            <a:avLst/>
          </a:prstGeom>
          <a:noFill/>
          <a:ln w="27940">
            <a:solidFill>
              <a:srgbClr val="EDE2CE"/>
            </a:solidFill>
            <a:prstDash val="solid"/>
          </a:ln>
        </p:spPr>
        <p:txBody>
          <a:bodyPr/>
          <a:lstStyle/>
          <a:p>
            <a:endParaRPr lang="en-US"/>
          </a:p>
        </p:txBody>
      </p:sp>
      <p:sp>
        <p:nvSpPr>
          <p:cNvPr id="29" name="Shape 27"/>
          <p:cNvSpPr/>
          <p:nvPr/>
        </p:nvSpPr>
        <p:spPr>
          <a:xfrm flipV="1">
            <a:off x="6030686" y="4241439"/>
            <a:ext cx="914" cy="869392"/>
          </a:xfrm>
          <a:prstGeom prst="line">
            <a:avLst/>
          </a:prstGeom>
          <a:noFill/>
          <a:ln w="27940">
            <a:solidFill>
              <a:srgbClr val="EDE2CE"/>
            </a:solidFill>
            <a:prstDash val="solid"/>
          </a:ln>
        </p:spPr>
        <p:txBody>
          <a:bodyPr/>
          <a:lstStyle/>
          <a:p>
            <a:endParaRPr lang="en-US"/>
          </a:p>
        </p:txBody>
      </p:sp>
      <p:sp>
        <p:nvSpPr>
          <p:cNvPr id="30" name="Shape 28"/>
          <p:cNvSpPr/>
          <p:nvPr/>
        </p:nvSpPr>
        <p:spPr>
          <a:xfrm flipV="1">
            <a:off x="6235337" y="4167512"/>
            <a:ext cx="914" cy="932886"/>
          </a:xfrm>
          <a:prstGeom prst="line">
            <a:avLst/>
          </a:prstGeom>
          <a:noFill/>
          <a:ln w="27940">
            <a:solidFill>
              <a:srgbClr val="EDE2CE"/>
            </a:solidFill>
            <a:prstDash val="solid"/>
          </a:ln>
        </p:spPr>
        <p:txBody>
          <a:bodyPr/>
          <a:lstStyle/>
          <a:p>
            <a:endParaRPr lang="en-US"/>
          </a:p>
        </p:txBody>
      </p:sp>
      <p:sp>
        <p:nvSpPr>
          <p:cNvPr id="31" name="Shape 29"/>
          <p:cNvSpPr/>
          <p:nvPr/>
        </p:nvSpPr>
        <p:spPr>
          <a:xfrm flipV="1">
            <a:off x="6439989" y="4091024"/>
            <a:ext cx="914" cy="999252"/>
          </a:xfrm>
          <a:prstGeom prst="line">
            <a:avLst/>
          </a:prstGeom>
          <a:noFill/>
          <a:ln w="27940">
            <a:solidFill>
              <a:srgbClr val="EDE2CE"/>
            </a:solidFill>
            <a:prstDash val="solid"/>
          </a:ln>
        </p:spPr>
        <p:txBody>
          <a:bodyPr/>
          <a:lstStyle/>
          <a:p>
            <a:endParaRPr lang="en-US"/>
          </a:p>
        </p:txBody>
      </p:sp>
      <p:sp>
        <p:nvSpPr>
          <p:cNvPr id="32" name="Shape 30"/>
          <p:cNvSpPr/>
          <p:nvPr/>
        </p:nvSpPr>
        <p:spPr>
          <a:xfrm flipV="1">
            <a:off x="6644640" y="4013196"/>
            <a:ext cx="914" cy="1067221"/>
          </a:xfrm>
          <a:prstGeom prst="line">
            <a:avLst/>
          </a:prstGeom>
          <a:noFill/>
          <a:ln w="27940">
            <a:solidFill>
              <a:srgbClr val="EDE2CE"/>
            </a:solidFill>
            <a:prstDash val="solid"/>
          </a:ln>
        </p:spPr>
        <p:txBody>
          <a:bodyPr/>
          <a:lstStyle/>
          <a:p>
            <a:endParaRPr lang="en-US"/>
          </a:p>
        </p:txBody>
      </p:sp>
      <p:sp>
        <p:nvSpPr>
          <p:cNvPr id="33" name="Shape 31"/>
          <p:cNvSpPr/>
          <p:nvPr/>
        </p:nvSpPr>
        <p:spPr>
          <a:xfrm flipV="1">
            <a:off x="6849291" y="3935041"/>
            <a:ext cx="914" cy="1135782"/>
          </a:xfrm>
          <a:prstGeom prst="line">
            <a:avLst/>
          </a:prstGeom>
          <a:noFill/>
          <a:ln w="27940">
            <a:solidFill>
              <a:srgbClr val="EDE2CE"/>
            </a:solidFill>
            <a:prstDash val="solid"/>
          </a:ln>
        </p:spPr>
        <p:txBody>
          <a:bodyPr/>
          <a:lstStyle/>
          <a:p>
            <a:endParaRPr lang="en-US"/>
          </a:p>
        </p:txBody>
      </p:sp>
      <p:sp>
        <p:nvSpPr>
          <p:cNvPr id="34" name="Shape 32"/>
          <p:cNvSpPr/>
          <p:nvPr/>
        </p:nvSpPr>
        <p:spPr>
          <a:xfrm flipV="1">
            <a:off x="7053943" y="3857600"/>
            <a:ext cx="914" cy="1203832"/>
          </a:xfrm>
          <a:prstGeom prst="line">
            <a:avLst/>
          </a:prstGeom>
          <a:noFill/>
          <a:ln w="27940">
            <a:solidFill>
              <a:srgbClr val="EDE2CE"/>
            </a:solidFill>
            <a:prstDash val="solid"/>
          </a:ln>
        </p:spPr>
        <p:txBody>
          <a:bodyPr/>
          <a:lstStyle/>
          <a:p>
            <a:endParaRPr lang="en-US"/>
          </a:p>
        </p:txBody>
      </p:sp>
      <p:sp>
        <p:nvSpPr>
          <p:cNvPr id="35" name="Shape 33"/>
          <p:cNvSpPr/>
          <p:nvPr/>
        </p:nvSpPr>
        <p:spPr>
          <a:xfrm flipV="1">
            <a:off x="7258594" y="3782290"/>
            <a:ext cx="914" cy="1269971"/>
          </a:xfrm>
          <a:prstGeom prst="line">
            <a:avLst/>
          </a:prstGeom>
          <a:noFill/>
          <a:ln w="27940">
            <a:solidFill>
              <a:srgbClr val="EDE2CE"/>
            </a:solidFill>
            <a:prstDash val="solid"/>
          </a:ln>
        </p:spPr>
        <p:txBody>
          <a:bodyPr/>
          <a:lstStyle/>
          <a:p>
            <a:endParaRPr lang="en-US"/>
          </a:p>
        </p:txBody>
      </p:sp>
      <p:sp>
        <p:nvSpPr>
          <p:cNvPr id="36" name="Shape 34"/>
          <p:cNvSpPr/>
          <p:nvPr/>
        </p:nvSpPr>
        <p:spPr>
          <a:xfrm flipV="1">
            <a:off x="7463246" y="3709839"/>
            <a:ext cx="914" cy="1333414"/>
          </a:xfrm>
          <a:prstGeom prst="line">
            <a:avLst/>
          </a:prstGeom>
          <a:noFill/>
          <a:ln w="27940">
            <a:solidFill>
              <a:srgbClr val="EDE2CE"/>
            </a:solidFill>
            <a:prstDash val="solid"/>
          </a:ln>
        </p:spPr>
        <p:txBody>
          <a:bodyPr/>
          <a:lstStyle/>
          <a:p>
            <a:endParaRPr lang="en-US"/>
          </a:p>
        </p:txBody>
      </p:sp>
      <p:sp>
        <p:nvSpPr>
          <p:cNvPr id="37" name="Shape 35"/>
          <p:cNvSpPr/>
          <p:nvPr/>
        </p:nvSpPr>
        <p:spPr>
          <a:xfrm flipV="1">
            <a:off x="7667897" y="3641891"/>
            <a:ext cx="914" cy="1392553"/>
          </a:xfrm>
          <a:prstGeom prst="line">
            <a:avLst/>
          </a:prstGeom>
          <a:noFill/>
          <a:ln w="27940">
            <a:solidFill>
              <a:srgbClr val="EDE2CE"/>
            </a:solidFill>
            <a:prstDash val="solid"/>
          </a:ln>
        </p:spPr>
        <p:txBody>
          <a:bodyPr/>
          <a:lstStyle/>
          <a:p>
            <a:endParaRPr lang="en-US"/>
          </a:p>
        </p:txBody>
      </p:sp>
      <p:sp>
        <p:nvSpPr>
          <p:cNvPr id="38" name="Shape 36"/>
          <p:cNvSpPr/>
          <p:nvPr/>
        </p:nvSpPr>
        <p:spPr>
          <a:xfrm flipV="1">
            <a:off x="7872549" y="3577560"/>
            <a:ext cx="914" cy="1448418"/>
          </a:xfrm>
          <a:prstGeom prst="line">
            <a:avLst/>
          </a:prstGeom>
          <a:noFill/>
          <a:ln w="27940">
            <a:solidFill>
              <a:srgbClr val="EDE2CE"/>
            </a:solidFill>
            <a:prstDash val="solid"/>
          </a:ln>
        </p:spPr>
        <p:txBody>
          <a:bodyPr/>
          <a:lstStyle/>
          <a:p>
            <a:endParaRPr lang="en-US"/>
          </a:p>
        </p:txBody>
      </p:sp>
      <p:sp>
        <p:nvSpPr>
          <p:cNvPr id="39" name="Shape 37"/>
          <p:cNvSpPr/>
          <p:nvPr/>
        </p:nvSpPr>
        <p:spPr>
          <a:xfrm flipV="1">
            <a:off x="8077200" y="3515594"/>
            <a:ext cx="914" cy="1502261"/>
          </a:xfrm>
          <a:prstGeom prst="line">
            <a:avLst/>
          </a:prstGeom>
          <a:noFill/>
          <a:ln w="27940">
            <a:solidFill>
              <a:srgbClr val="EDE2CE"/>
            </a:solidFill>
            <a:prstDash val="solid"/>
          </a:ln>
        </p:spPr>
        <p:txBody>
          <a:bodyPr/>
          <a:lstStyle/>
          <a:p>
            <a:endParaRPr lang="en-US"/>
          </a:p>
        </p:txBody>
      </p:sp>
      <p:sp>
        <p:nvSpPr>
          <p:cNvPr id="40" name="Shape 38"/>
          <p:cNvSpPr/>
          <p:nvPr/>
        </p:nvSpPr>
        <p:spPr>
          <a:xfrm flipV="1">
            <a:off x="8281851" y="3455493"/>
            <a:ext cx="914" cy="1554509"/>
          </a:xfrm>
          <a:prstGeom prst="line">
            <a:avLst/>
          </a:prstGeom>
          <a:noFill/>
          <a:ln w="27940">
            <a:solidFill>
              <a:srgbClr val="EDE2CE"/>
            </a:solidFill>
            <a:prstDash val="solid"/>
          </a:ln>
        </p:spPr>
        <p:txBody>
          <a:bodyPr/>
          <a:lstStyle/>
          <a:p>
            <a:endParaRPr lang="en-US"/>
          </a:p>
        </p:txBody>
      </p:sp>
      <p:sp>
        <p:nvSpPr>
          <p:cNvPr id="41" name="Shape 39"/>
          <p:cNvSpPr/>
          <p:nvPr/>
        </p:nvSpPr>
        <p:spPr>
          <a:xfrm flipV="1">
            <a:off x="8486503" y="3396611"/>
            <a:ext cx="914" cy="1605715"/>
          </a:xfrm>
          <a:prstGeom prst="line">
            <a:avLst/>
          </a:prstGeom>
          <a:noFill/>
          <a:ln w="27940">
            <a:solidFill>
              <a:srgbClr val="EDE2CE"/>
            </a:solidFill>
            <a:prstDash val="solid"/>
          </a:ln>
        </p:spPr>
        <p:txBody>
          <a:bodyPr/>
          <a:lstStyle/>
          <a:p>
            <a:endParaRPr lang="en-US"/>
          </a:p>
        </p:txBody>
      </p:sp>
      <p:sp>
        <p:nvSpPr>
          <p:cNvPr id="42" name="Shape 40"/>
          <p:cNvSpPr/>
          <p:nvPr/>
        </p:nvSpPr>
        <p:spPr>
          <a:xfrm flipV="1">
            <a:off x="8691154" y="3338688"/>
            <a:ext cx="914" cy="1656102"/>
          </a:xfrm>
          <a:prstGeom prst="line">
            <a:avLst/>
          </a:prstGeom>
          <a:noFill/>
          <a:ln w="27940">
            <a:solidFill>
              <a:srgbClr val="EDE2CE"/>
            </a:solidFill>
            <a:prstDash val="solid"/>
          </a:ln>
        </p:spPr>
        <p:txBody>
          <a:bodyPr/>
          <a:lstStyle/>
          <a:p>
            <a:endParaRPr lang="en-US"/>
          </a:p>
        </p:txBody>
      </p:sp>
      <p:sp>
        <p:nvSpPr>
          <p:cNvPr id="43" name="Shape 41"/>
          <p:cNvSpPr/>
          <p:nvPr/>
        </p:nvSpPr>
        <p:spPr>
          <a:xfrm flipV="1">
            <a:off x="8895806" y="3281582"/>
            <a:ext cx="914" cy="1705789"/>
          </a:xfrm>
          <a:prstGeom prst="line">
            <a:avLst/>
          </a:prstGeom>
          <a:noFill/>
          <a:ln w="27940">
            <a:solidFill>
              <a:srgbClr val="EDE2CE"/>
            </a:solidFill>
            <a:prstDash val="solid"/>
          </a:ln>
        </p:spPr>
        <p:txBody>
          <a:bodyPr/>
          <a:lstStyle/>
          <a:p>
            <a:endParaRPr lang="en-US"/>
          </a:p>
        </p:txBody>
      </p:sp>
      <p:sp>
        <p:nvSpPr>
          <p:cNvPr id="44" name="Shape 42"/>
          <p:cNvSpPr/>
          <p:nvPr/>
        </p:nvSpPr>
        <p:spPr>
          <a:xfrm flipV="1">
            <a:off x="9100457" y="3224900"/>
            <a:ext cx="914" cy="1755114"/>
          </a:xfrm>
          <a:prstGeom prst="line">
            <a:avLst/>
          </a:prstGeom>
          <a:noFill/>
          <a:ln w="27940">
            <a:solidFill>
              <a:srgbClr val="EDE2CE"/>
            </a:solidFill>
            <a:prstDash val="solid"/>
          </a:ln>
        </p:spPr>
        <p:txBody>
          <a:bodyPr/>
          <a:lstStyle/>
          <a:p>
            <a:endParaRPr lang="en-US"/>
          </a:p>
        </p:txBody>
      </p:sp>
      <p:sp>
        <p:nvSpPr>
          <p:cNvPr id="45" name="Shape 43"/>
          <p:cNvSpPr/>
          <p:nvPr/>
        </p:nvSpPr>
        <p:spPr>
          <a:xfrm flipV="1">
            <a:off x="9305109" y="3168311"/>
            <a:ext cx="914" cy="1804360"/>
          </a:xfrm>
          <a:prstGeom prst="line">
            <a:avLst/>
          </a:prstGeom>
          <a:noFill/>
          <a:ln w="27940">
            <a:solidFill>
              <a:srgbClr val="EDE2CE"/>
            </a:solidFill>
            <a:prstDash val="solid"/>
          </a:ln>
        </p:spPr>
        <p:txBody>
          <a:bodyPr/>
          <a:lstStyle/>
          <a:p>
            <a:endParaRPr lang="en-US"/>
          </a:p>
        </p:txBody>
      </p:sp>
      <p:sp>
        <p:nvSpPr>
          <p:cNvPr id="46" name="Shape 44"/>
          <p:cNvSpPr/>
          <p:nvPr/>
        </p:nvSpPr>
        <p:spPr>
          <a:xfrm flipV="1">
            <a:off x="9509760" y="3110789"/>
            <a:ext cx="914" cy="1854403"/>
          </a:xfrm>
          <a:prstGeom prst="line">
            <a:avLst/>
          </a:prstGeom>
          <a:noFill/>
          <a:ln w="27940">
            <a:solidFill>
              <a:srgbClr val="EDE2CE"/>
            </a:solidFill>
            <a:prstDash val="solid"/>
          </a:ln>
        </p:spPr>
        <p:txBody>
          <a:bodyPr/>
          <a:lstStyle/>
          <a:p>
            <a:endParaRPr lang="en-US"/>
          </a:p>
        </p:txBody>
      </p:sp>
      <p:sp>
        <p:nvSpPr>
          <p:cNvPr id="47" name="Shape 45"/>
          <p:cNvSpPr/>
          <p:nvPr/>
        </p:nvSpPr>
        <p:spPr>
          <a:xfrm>
            <a:off x="914400" y="5440680"/>
            <a:ext cx="8595360" cy="914"/>
          </a:xfrm>
          <a:prstGeom prst="line">
            <a:avLst/>
          </a:prstGeom>
          <a:noFill/>
          <a:ln w="6350">
            <a:solidFill>
              <a:srgbClr val="D6D0C2"/>
            </a:solidFill>
            <a:prstDash val="solid"/>
          </a:ln>
        </p:spPr>
        <p:txBody>
          <a:bodyPr/>
          <a:lstStyle/>
          <a:p>
            <a:endParaRPr lang="en-US"/>
          </a:p>
        </p:txBody>
      </p:sp>
      <p:sp>
        <p:nvSpPr>
          <p:cNvPr id="48" name="Shape 46"/>
          <p:cNvSpPr/>
          <p:nvPr/>
        </p:nvSpPr>
        <p:spPr>
          <a:xfrm flipV="1">
            <a:off x="914400" y="5390516"/>
            <a:ext cx="75553" cy="2615"/>
          </a:xfrm>
          <a:prstGeom prst="line">
            <a:avLst/>
          </a:prstGeom>
          <a:noFill/>
          <a:ln w="31750">
            <a:solidFill>
              <a:srgbClr val="6B6358"/>
            </a:solidFill>
            <a:prstDash val="solid"/>
          </a:ln>
        </p:spPr>
        <p:txBody>
          <a:bodyPr/>
          <a:lstStyle/>
          <a:p>
            <a:endParaRPr lang="en-US"/>
          </a:p>
        </p:txBody>
      </p:sp>
      <p:sp>
        <p:nvSpPr>
          <p:cNvPr id="49" name="Shape 47"/>
          <p:cNvSpPr/>
          <p:nvPr/>
        </p:nvSpPr>
        <p:spPr>
          <a:xfrm flipV="1">
            <a:off x="989953" y="5387425"/>
            <a:ext cx="95666" cy="3091"/>
          </a:xfrm>
          <a:prstGeom prst="line">
            <a:avLst/>
          </a:prstGeom>
          <a:noFill/>
          <a:ln w="31750">
            <a:solidFill>
              <a:srgbClr val="6B6358"/>
            </a:solidFill>
            <a:prstDash val="solid"/>
          </a:ln>
        </p:spPr>
        <p:txBody>
          <a:bodyPr/>
          <a:lstStyle/>
          <a:p>
            <a:endParaRPr lang="en-US"/>
          </a:p>
        </p:txBody>
      </p:sp>
      <p:sp>
        <p:nvSpPr>
          <p:cNvPr id="50" name="Shape 48"/>
          <p:cNvSpPr/>
          <p:nvPr/>
        </p:nvSpPr>
        <p:spPr>
          <a:xfrm flipV="1">
            <a:off x="1085620" y="5383859"/>
            <a:ext cx="112685" cy="3566"/>
          </a:xfrm>
          <a:prstGeom prst="line">
            <a:avLst/>
          </a:prstGeom>
          <a:noFill/>
          <a:ln w="31750">
            <a:solidFill>
              <a:srgbClr val="6B6358"/>
            </a:solidFill>
            <a:prstDash val="solid"/>
          </a:ln>
        </p:spPr>
        <p:txBody>
          <a:bodyPr/>
          <a:lstStyle/>
          <a:p>
            <a:endParaRPr lang="en-US"/>
          </a:p>
        </p:txBody>
      </p:sp>
      <p:sp>
        <p:nvSpPr>
          <p:cNvPr id="51" name="Shape 49"/>
          <p:cNvSpPr/>
          <p:nvPr/>
        </p:nvSpPr>
        <p:spPr>
          <a:xfrm flipV="1">
            <a:off x="1198305" y="5379818"/>
            <a:ext cx="126610" cy="4042"/>
          </a:xfrm>
          <a:prstGeom prst="line">
            <a:avLst/>
          </a:prstGeom>
          <a:noFill/>
          <a:ln w="31750">
            <a:solidFill>
              <a:srgbClr val="6B6358"/>
            </a:solidFill>
            <a:prstDash val="solid"/>
          </a:ln>
        </p:spPr>
        <p:txBody>
          <a:bodyPr/>
          <a:lstStyle/>
          <a:p>
            <a:endParaRPr lang="en-US"/>
          </a:p>
        </p:txBody>
      </p:sp>
      <p:sp>
        <p:nvSpPr>
          <p:cNvPr id="52" name="Shape 50"/>
          <p:cNvSpPr/>
          <p:nvPr/>
        </p:nvSpPr>
        <p:spPr>
          <a:xfrm flipV="1">
            <a:off x="1324914" y="5375300"/>
            <a:ext cx="137440" cy="4517"/>
          </a:xfrm>
          <a:prstGeom prst="line">
            <a:avLst/>
          </a:prstGeom>
          <a:noFill/>
          <a:ln w="31750">
            <a:solidFill>
              <a:srgbClr val="6B6358"/>
            </a:solidFill>
            <a:prstDash val="solid"/>
          </a:ln>
        </p:spPr>
        <p:txBody>
          <a:bodyPr/>
          <a:lstStyle/>
          <a:p>
            <a:endParaRPr lang="en-US"/>
          </a:p>
        </p:txBody>
      </p:sp>
      <p:sp>
        <p:nvSpPr>
          <p:cNvPr id="53" name="Shape 51"/>
          <p:cNvSpPr/>
          <p:nvPr/>
        </p:nvSpPr>
        <p:spPr>
          <a:xfrm flipV="1">
            <a:off x="1462354" y="5370308"/>
            <a:ext cx="145176" cy="4993"/>
          </a:xfrm>
          <a:prstGeom prst="line">
            <a:avLst/>
          </a:prstGeom>
          <a:noFill/>
          <a:ln w="31750">
            <a:solidFill>
              <a:srgbClr val="6B6358"/>
            </a:solidFill>
            <a:prstDash val="solid"/>
          </a:ln>
        </p:spPr>
        <p:txBody>
          <a:bodyPr/>
          <a:lstStyle/>
          <a:p>
            <a:endParaRPr lang="en-US"/>
          </a:p>
        </p:txBody>
      </p:sp>
      <p:sp>
        <p:nvSpPr>
          <p:cNvPr id="54" name="Shape 52"/>
          <p:cNvSpPr/>
          <p:nvPr/>
        </p:nvSpPr>
        <p:spPr>
          <a:xfrm flipV="1">
            <a:off x="1607530" y="5364840"/>
            <a:ext cx="149817" cy="5468"/>
          </a:xfrm>
          <a:prstGeom prst="line">
            <a:avLst/>
          </a:prstGeom>
          <a:noFill/>
          <a:ln w="31750">
            <a:solidFill>
              <a:srgbClr val="6B6358"/>
            </a:solidFill>
            <a:prstDash val="solid"/>
          </a:ln>
        </p:spPr>
        <p:txBody>
          <a:bodyPr/>
          <a:lstStyle/>
          <a:p>
            <a:endParaRPr lang="en-US"/>
          </a:p>
        </p:txBody>
      </p:sp>
      <p:sp>
        <p:nvSpPr>
          <p:cNvPr id="55" name="Shape 53"/>
          <p:cNvSpPr/>
          <p:nvPr/>
        </p:nvSpPr>
        <p:spPr>
          <a:xfrm flipV="1">
            <a:off x="1757347" y="5358896"/>
            <a:ext cx="151364" cy="5944"/>
          </a:xfrm>
          <a:prstGeom prst="line">
            <a:avLst/>
          </a:prstGeom>
          <a:noFill/>
          <a:ln w="31750">
            <a:solidFill>
              <a:srgbClr val="6B6358"/>
            </a:solidFill>
            <a:prstDash val="solid"/>
          </a:ln>
        </p:spPr>
        <p:txBody>
          <a:bodyPr/>
          <a:lstStyle/>
          <a:p>
            <a:endParaRPr lang="en-US"/>
          </a:p>
        </p:txBody>
      </p:sp>
      <p:sp>
        <p:nvSpPr>
          <p:cNvPr id="56" name="Shape 54"/>
          <p:cNvSpPr/>
          <p:nvPr/>
        </p:nvSpPr>
        <p:spPr>
          <a:xfrm flipV="1">
            <a:off x="1908711" y="5352477"/>
            <a:ext cx="149817" cy="6419"/>
          </a:xfrm>
          <a:prstGeom prst="line">
            <a:avLst/>
          </a:prstGeom>
          <a:noFill/>
          <a:ln w="31750">
            <a:solidFill>
              <a:srgbClr val="6B6358"/>
            </a:solidFill>
            <a:prstDash val="solid"/>
          </a:ln>
        </p:spPr>
        <p:txBody>
          <a:bodyPr/>
          <a:lstStyle/>
          <a:p>
            <a:endParaRPr lang="en-US"/>
          </a:p>
        </p:txBody>
      </p:sp>
      <p:sp>
        <p:nvSpPr>
          <p:cNvPr id="57" name="Shape 55"/>
          <p:cNvSpPr/>
          <p:nvPr/>
        </p:nvSpPr>
        <p:spPr>
          <a:xfrm flipV="1">
            <a:off x="2058528" y="5345582"/>
            <a:ext cx="145176" cy="6895"/>
          </a:xfrm>
          <a:prstGeom prst="line">
            <a:avLst/>
          </a:prstGeom>
          <a:noFill/>
          <a:ln w="31750">
            <a:solidFill>
              <a:srgbClr val="6B6358"/>
            </a:solidFill>
            <a:prstDash val="solid"/>
          </a:ln>
        </p:spPr>
        <p:txBody>
          <a:bodyPr/>
          <a:lstStyle/>
          <a:p>
            <a:endParaRPr lang="en-US"/>
          </a:p>
        </p:txBody>
      </p:sp>
      <p:sp>
        <p:nvSpPr>
          <p:cNvPr id="58" name="Shape 56"/>
          <p:cNvSpPr/>
          <p:nvPr/>
        </p:nvSpPr>
        <p:spPr>
          <a:xfrm flipV="1">
            <a:off x="2203704" y="5338105"/>
            <a:ext cx="142726" cy="7477"/>
          </a:xfrm>
          <a:prstGeom prst="line">
            <a:avLst/>
          </a:prstGeom>
          <a:noFill/>
          <a:ln w="31750">
            <a:solidFill>
              <a:srgbClr val="6B6358"/>
            </a:solidFill>
            <a:prstDash val="solid"/>
          </a:ln>
        </p:spPr>
        <p:txBody>
          <a:bodyPr/>
          <a:lstStyle/>
          <a:p>
            <a:endParaRPr lang="en-US"/>
          </a:p>
        </p:txBody>
      </p:sp>
      <p:sp>
        <p:nvSpPr>
          <p:cNvPr id="59" name="Shape 57"/>
          <p:cNvSpPr/>
          <p:nvPr/>
        </p:nvSpPr>
        <p:spPr>
          <a:xfrm flipV="1">
            <a:off x="2346430" y="5329986"/>
            <a:ext cx="144703" cy="8119"/>
          </a:xfrm>
          <a:prstGeom prst="line">
            <a:avLst/>
          </a:prstGeom>
          <a:noFill/>
          <a:ln w="31750">
            <a:solidFill>
              <a:srgbClr val="6B6358"/>
            </a:solidFill>
            <a:prstDash val="solid"/>
          </a:ln>
        </p:spPr>
        <p:txBody>
          <a:bodyPr/>
          <a:lstStyle/>
          <a:p>
            <a:endParaRPr lang="en-US"/>
          </a:p>
        </p:txBody>
      </p:sp>
      <p:sp>
        <p:nvSpPr>
          <p:cNvPr id="60" name="Shape 58"/>
          <p:cNvSpPr/>
          <p:nvPr/>
        </p:nvSpPr>
        <p:spPr>
          <a:xfrm flipV="1">
            <a:off x="2491133" y="5321297"/>
            <a:ext cx="146938" cy="8690"/>
          </a:xfrm>
          <a:prstGeom prst="line">
            <a:avLst/>
          </a:prstGeom>
          <a:noFill/>
          <a:ln w="31750">
            <a:solidFill>
              <a:srgbClr val="6B6358"/>
            </a:solidFill>
            <a:prstDash val="solid"/>
          </a:ln>
        </p:spPr>
        <p:txBody>
          <a:bodyPr/>
          <a:lstStyle/>
          <a:p>
            <a:endParaRPr lang="en-US"/>
          </a:p>
        </p:txBody>
      </p:sp>
      <p:sp>
        <p:nvSpPr>
          <p:cNvPr id="61" name="Shape 59"/>
          <p:cNvSpPr/>
          <p:nvPr/>
        </p:nvSpPr>
        <p:spPr>
          <a:xfrm flipV="1">
            <a:off x="2638071" y="5312108"/>
            <a:ext cx="149430" cy="9189"/>
          </a:xfrm>
          <a:prstGeom prst="line">
            <a:avLst/>
          </a:prstGeom>
          <a:noFill/>
          <a:ln w="31750">
            <a:solidFill>
              <a:srgbClr val="6B6358"/>
            </a:solidFill>
            <a:prstDash val="solid"/>
          </a:ln>
        </p:spPr>
        <p:txBody>
          <a:bodyPr/>
          <a:lstStyle/>
          <a:p>
            <a:endParaRPr lang="en-US"/>
          </a:p>
        </p:txBody>
      </p:sp>
      <p:sp>
        <p:nvSpPr>
          <p:cNvPr id="62" name="Shape 60"/>
          <p:cNvSpPr/>
          <p:nvPr/>
        </p:nvSpPr>
        <p:spPr>
          <a:xfrm flipV="1">
            <a:off x="2787501" y="5302491"/>
            <a:ext cx="152181" cy="9617"/>
          </a:xfrm>
          <a:prstGeom prst="line">
            <a:avLst/>
          </a:prstGeom>
          <a:noFill/>
          <a:ln w="31750">
            <a:solidFill>
              <a:srgbClr val="6B6358"/>
            </a:solidFill>
            <a:prstDash val="solid"/>
          </a:ln>
        </p:spPr>
        <p:txBody>
          <a:bodyPr/>
          <a:lstStyle/>
          <a:p>
            <a:endParaRPr lang="en-US"/>
          </a:p>
        </p:txBody>
      </p:sp>
      <p:sp>
        <p:nvSpPr>
          <p:cNvPr id="63" name="Shape 61"/>
          <p:cNvSpPr/>
          <p:nvPr/>
        </p:nvSpPr>
        <p:spPr>
          <a:xfrm flipV="1">
            <a:off x="2939682" y="5292518"/>
            <a:ext cx="155189" cy="9973"/>
          </a:xfrm>
          <a:prstGeom prst="line">
            <a:avLst/>
          </a:prstGeom>
          <a:noFill/>
          <a:ln w="31750">
            <a:solidFill>
              <a:srgbClr val="6B6358"/>
            </a:solidFill>
            <a:prstDash val="solid"/>
          </a:ln>
        </p:spPr>
        <p:txBody>
          <a:bodyPr/>
          <a:lstStyle/>
          <a:p>
            <a:endParaRPr lang="en-US"/>
          </a:p>
        </p:txBody>
      </p:sp>
      <p:sp>
        <p:nvSpPr>
          <p:cNvPr id="64" name="Shape 62"/>
          <p:cNvSpPr/>
          <p:nvPr/>
        </p:nvSpPr>
        <p:spPr>
          <a:xfrm flipV="1">
            <a:off x="3094871" y="5282259"/>
            <a:ext cx="158455" cy="10259"/>
          </a:xfrm>
          <a:prstGeom prst="line">
            <a:avLst/>
          </a:prstGeom>
          <a:noFill/>
          <a:ln w="31750">
            <a:solidFill>
              <a:srgbClr val="6B6358"/>
            </a:solidFill>
            <a:prstDash val="solid"/>
          </a:ln>
        </p:spPr>
        <p:txBody>
          <a:bodyPr/>
          <a:lstStyle/>
          <a:p>
            <a:endParaRPr lang="en-US"/>
          </a:p>
        </p:txBody>
      </p:sp>
      <p:sp>
        <p:nvSpPr>
          <p:cNvPr id="65" name="Shape 63"/>
          <p:cNvSpPr/>
          <p:nvPr/>
        </p:nvSpPr>
        <p:spPr>
          <a:xfrm flipV="1">
            <a:off x="3253326" y="5271787"/>
            <a:ext cx="161980" cy="10473"/>
          </a:xfrm>
          <a:prstGeom prst="line">
            <a:avLst/>
          </a:prstGeom>
          <a:noFill/>
          <a:ln w="31750">
            <a:solidFill>
              <a:srgbClr val="6B6358"/>
            </a:solidFill>
            <a:prstDash val="solid"/>
          </a:ln>
        </p:spPr>
        <p:txBody>
          <a:bodyPr/>
          <a:lstStyle/>
          <a:p>
            <a:endParaRPr lang="en-US"/>
          </a:p>
        </p:txBody>
      </p:sp>
      <p:sp>
        <p:nvSpPr>
          <p:cNvPr id="66" name="Shape 64"/>
          <p:cNvSpPr/>
          <p:nvPr/>
        </p:nvSpPr>
        <p:spPr>
          <a:xfrm flipV="1">
            <a:off x="3415306" y="5261171"/>
            <a:ext cx="165762" cy="10615"/>
          </a:xfrm>
          <a:prstGeom prst="line">
            <a:avLst/>
          </a:prstGeom>
          <a:noFill/>
          <a:ln w="31750">
            <a:solidFill>
              <a:srgbClr val="6B6358"/>
            </a:solidFill>
            <a:prstDash val="solid"/>
          </a:ln>
        </p:spPr>
        <p:txBody>
          <a:bodyPr/>
          <a:lstStyle/>
          <a:p>
            <a:endParaRPr lang="en-US"/>
          </a:p>
        </p:txBody>
      </p:sp>
      <p:sp>
        <p:nvSpPr>
          <p:cNvPr id="67" name="Shape 65"/>
          <p:cNvSpPr/>
          <p:nvPr/>
        </p:nvSpPr>
        <p:spPr>
          <a:xfrm flipV="1">
            <a:off x="3581067" y="5250485"/>
            <a:ext cx="169801" cy="10687"/>
          </a:xfrm>
          <a:prstGeom prst="line">
            <a:avLst/>
          </a:prstGeom>
          <a:noFill/>
          <a:ln w="31750">
            <a:solidFill>
              <a:srgbClr val="6B6358"/>
            </a:solidFill>
            <a:prstDash val="solid"/>
          </a:ln>
        </p:spPr>
        <p:txBody>
          <a:bodyPr/>
          <a:lstStyle/>
          <a:p>
            <a:endParaRPr lang="en-US"/>
          </a:p>
        </p:txBody>
      </p:sp>
      <p:sp>
        <p:nvSpPr>
          <p:cNvPr id="68" name="Shape 66"/>
          <p:cNvSpPr/>
          <p:nvPr/>
        </p:nvSpPr>
        <p:spPr>
          <a:xfrm flipV="1">
            <a:off x="3750869" y="5250485"/>
            <a:ext cx="914" cy="914"/>
          </a:xfrm>
          <a:prstGeom prst="line">
            <a:avLst/>
          </a:prstGeom>
          <a:noFill/>
          <a:ln w="31750">
            <a:solidFill>
              <a:srgbClr val="6B6358"/>
            </a:solidFill>
            <a:prstDash val="solid"/>
          </a:ln>
        </p:spPr>
        <p:txBody>
          <a:bodyPr/>
          <a:lstStyle/>
          <a:p>
            <a:endParaRPr lang="en-US"/>
          </a:p>
        </p:txBody>
      </p:sp>
      <p:sp>
        <p:nvSpPr>
          <p:cNvPr id="69" name="Shape 67"/>
          <p:cNvSpPr/>
          <p:nvPr/>
        </p:nvSpPr>
        <p:spPr>
          <a:xfrm flipV="1">
            <a:off x="3750869" y="5239453"/>
            <a:ext cx="174787" cy="11031"/>
          </a:xfrm>
          <a:prstGeom prst="line">
            <a:avLst/>
          </a:prstGeom>
          <a:noFill/>
          <a:ln w="31750">
            <a:solidFill>
              <a:srgbClr val="6B6358"/>
            </a:solidFill>
            <a:prstDash val="solid"/>
          </a:ln>
        </p:spPr>
        <p:txBody>
          <a:bodyPr/>
          <a:lstStyle/>
          <a:p>
            <a:endParaRPr lang="en-US"/>
          </a:p>
        </p:txBody>
      </p:sp>
      <p:sp>
        <p:nvSpPr>
          <p:cNvPr id="70" name="Shape 68"/>
          <p:cNvSpPr/>
          <p:nvPr/>
        </p:nvSpPr>
        <p:spPr>
          <a:xfrm flipV="1">
            <a:off x="3925655" y="5227852"/>
            <a:ext cx="180030" cy="11602"/>
          </a:xfrm>
          <a:prstGeom prst="line">
            <a:avLst/>
          </a:prstGeom>
          <a:noFill/>
          <a:ln w="31750">
            <a:solidFill>
              <a:srgbClr val="6B6358"/>
            </a:solidFill>
            <a:prstDash val="solid"/>
          </a:ln>
        </p:spPr>
        <p:txBody>
          <a:bodyPr/>
          <a:lstStyle/>
          <a:p>
            <a:endParaRPr lang="en-US"/>
          </a:p>
        </p:txBody>
      </p:sp>
      <p:sp>
        <p:nvSpPr>
          <p:cNvPr id="71" name="Shape 69"/>
          <p:cNvSpPr/>
          <p:nvPr/>
        </p:nvSpPr>
        <p:spPr>
          <a:xfrm flipV="1">
            <a:off x="4105685" y="5215822"/>
            <a:ext cx="184499" cy="12030"/>
          </a:xfrm>
          <a:prstGeom prst="line">
            <a:avLst/>
          </a:prstGeom>
          <a:noFill/>
          <a:ln w="31750">
            <a:solidFill>
              <a:srgbClr val="6B6358"/>
            </a:solidFill>
            <a:prstDash val="solid"/>
          </a:ln>
        </p:spPr>
        <p:txBody>
          <a:bodyPr/>
          <a:lstStyle/>
          <a:p>
            <a:endParaRPr lang="en-US"/>
          </a:p>
        </p:txBody>
      </p:sp>
      <p:sp>
        <p:nvSpPr>
          <p:cNvPr id="72" name="Shape 70"/>
          <p:cNvSpPr/>
          <p:nvPr/>
        </p:nvSpPr>
        <p:spPr>
          <a:xfrm flipV="1">
            <a:off x="4290185" y="5203507"/>
            <a:ext cx="188195" cy="12315"/>
          </a:xfrm>
          <a:prstGeom prst="line">
            <a:avLst/>
          </a:prstGeom>
          <a:noFill/>
          <a:ln w="31750">
            <a:solidFill>
              <a:srgbClr val="6B6358"/>
            </a:solidFill>
            <a:prstDash val="solid"/>
          </a:ln>
        </p:spPr>
        <p:txBody>
          <a:bodyPr/>
          <a:lstStyle/>
          <a:p>
            <a:endParaRPr lang="en-US"/>
          </a:p>
        </p:txBody>
      </p:sp>
      <p:sp>
        <p:nvSpPr>
          <p:cNvPr id="73" name="Shape 71"/>
          <p:cNvSpPr/>
          <p:nvPr/>
        </p:nvSpPr>
        <p:spPr>
          <a:xfrm flipV="1">
            <a:off x="4478380" y="5191049"/>
            <a:ext cx="191118" cy="12458"/>
          </a:xfrm>
          <a:prstGeom prst="line">
            <a:avLst/>
          </a:prstGeom>
          <a:noFill/>
          <a:ln w="31750">
            <a:solidFill>
              <a:srgbClr val="6B6358"/>
            </a:solidFill>
            <a:prstDash val="solid"/>
          </a:ln>
        </p:spPr>
        <p:txBody>
          <a:bodyPr/>
          <a:lstStyle/>
          <a:p>
            <a:endParaRPr lang="en-US"/>
          </a:p>
        </p:txBody>
      </p:sp>
      <p:sp>
        <p:nvSpPr>
          <p:cNvPr id="74" name="Shape 72"/>
          <p:cNvSpPr/>
          <p:nvPr/>
        </p:nvSpPr>
        <p:spPr>
          <a:xfrm flipV="1">
            <a:off x="4669498" y="5178591"/>
            <a:ext cx="193267" cy="12458"/>
          </a:xfrm>
          <a:prstGeom prst="line">
            <a:avLst/>
          </a:prstGeom>
          <a:noFill/>
          <a:ln w="31750">
            <a:solidFill>
              <a:srgbClr val="6B6358"/>
            </a:solidFill>
            <a:prstDash val="solid"/>
          </a:ln>
        </p:spPr>
        <p:txBody>
          <a:bodyPr/>
          <a:lstStyle/>
          <a:p>
            <a:endParaRPr lang="en-US"/>
          </a:p>
        </p:txBody>
      </p:sp>
      <p:sp>
        <p:nvSpPr>
          <p:cNvPr id="75" name="Shape 73"/>
          <p:cNvSpPr/>
          <p:nvPr/>
        </p:nvSpPr>
        <p:spPr>
          <a:xfrm flipV="1">
            <a:off x="4862765" y="5166276"/>
            <a:ext cx="194642" cy="12315"/>
          </a:xfrm>
          <a:prstGeom prst="line">
            <a:avLst/>
          </a:prstGeom>
          <a:noFill/>
          <a:ln w="31750">
            <a:solidFill>
              <a:srgbClr val="6B6358"/>
            </a:solidFill>
            <a:prstDash val="solid"/>
          </a:ln>
        </p:spPr>
        <p:txBody>
          <a:bodyPr/>
          <a:lstStyle/>
          <a:p>
            <a:endParaRPr lang="en-US"/>
          </a:p>
        </p:txBody>
      </p:sp>
      <p:sp>
        <p:nvSpPr>
          <p:cNvPr id="76" name="Shape 74"/>
          <p:cNvSpPr/>
          <p:nvPr/>
        </p:nvSpPr>
        <p:spPr>
          <a:xfrm flipV="1">
            <a:off x="5057406" y="5154246"/>
            <a:ext cx="195244" cy="12030"/>
          </a:xfrm>
          <a:prstGeom prst="line">
            <a:avLst/>
          </a:prstGeom>
          <a:noFill/>
          <a:ln w="31750">
            <a:solidFill>
              <a:srgbClr val="6B6358"/>
            </a:solidFill>
            <a:prstDash val="solid"/>
          </a:ln>
        </p:spPr>
        <p:txBody>
          <a:bodyPr/>
          <a:lstStyle/>
          <a:p>
            <a:endParaRPr lang="en-US"/>
          </a:p>
        </p:txBody>
      </p:sp>
      <p:sp>
        <p:nvSpPr>
          <p:cNvPr id="77" name="Shape 75"/>
          <p:cNvSpPr/>
          <p:nvPr/>
        </p:nvSpPr>
        <p:spPr>
          <a:xfrm flipV="1">
            <a:off x="5252650" y="5142644"/>
            <a:ext cx="195072" cy="11602"/>
          </a:xfrm>
          <a:prstGeom prst="line">
            <a:avLst/>
          </a:prstGeom>
          <a:noFill/>
          <a:ln w="31750">
            <a:solidFill>
              <a:srgbClr val="6B6358"/>
            </a:solidFill>
            <a:prstDash val="solid"/>
          </a:ln>
        </p:spPr>
        <p:txBody>
          <a:bodyPr/>
          <a:lstStyle/>
          <a:p>
            <a:endParaRPr lang="en-US"/>
          </a:p>
        </p:txBody>
      </p:sp>
      <p:sp>
        <p:nvSpPr>
          <p:cNvPr id="78" name="Shape 76"/>
          <p:cNvSpPr/>
          <p:nvPr/>
        </p:nvSpPr>
        <p:spPr>
          <a:xfrm flipV="1">
            <a:off x="5447722" y="5131613"/>
            <a:ext cx="194126" cy="11031"/>
          </a:xfrm>
          <a:prstGeom prst="line">
            <a:avLst/>
          </a:prstGeom>
          <a:noFill/>
          <a:ln w="31750">
            <a:solidFill>
              <a:srgbClr val="6B6358"/>
            </a:solidFill>
            <a:prstDash val="solid"/>
          </a:ln>
        </p:spPr>
        <p:txBody>
          <a:bodyPr/>
          <a:lstStyle/>
          <a:p>
            <a:endParaRPr lang="en-US"/>
          </a:p>
        </p:txBody>
      </p:sp>
      <p:sp>
        <p:nvSpPr>
          <p:cNvPr id="79" name="Shape 77"/>
          <p:cNvSpPr/>
          <p:nvPr/>
        </p:nvSpPr>
        <p:spPr>
          <a:xfrm flipH="1">
            <a:off x="5641848" y="5131613"/>
            <a:ext cx="914" cy="914"/>
          </a:xfrm>
          <a:prstGeom prst="line">
            <a:avLst/>
          </a:prstGeom>
          <a:noFill/>
          <a:ln w="31750">
            <a:solidFill>
              <a:srgbClr val="6B6358"/>
            </a:solidFill>
            <a:prstDash val="solid"/>
          </a:ln>
        </p:spPr>
        <p:txBody>
          <a:bodyPr/>
          <a:lstStyle/>
          <a:p>
            <a:endParaRPr lang="en-US"/>
          </a:p>
        </p:txBody>
      </p:sp>
      <p:sp>
        <p:nvSpPr>
          <p:cNvPr id="80" name="Shape 78"/>
          <p:cNvSpPr/>
          <p:nvPr/>
        </p:nvSpPr>
        <p:spPr>
          <a:xfrm flipV="1">
            <a:off x="5641848" y="5121033"/>
            <a:ext cx="194599" cy="10580"/>
          </a:xfrm>
          <a:prstGeom prst="line">
            <a:avLst/>
          </a:prstGeom>
          <a:noFill/>
          <a:ln w="31750">
            <a:solidFill>
              <a:srgbClr val="6B6358"/>
            </a:solidFill>
            <a:prstDash val="solid"/>
          </a:ln>
        </p:spPr>
        <p:txBody>
          <a:bodyPr/>
          <a:lstStyle/>
          <a:p>
            <a:endParaRPr lang="en-US"/>
          </a:p>
        </p:txBody>
      </p:sp>
      <p:sp>
        <p:nvSpPr>
          <p:cNvPr id="81" name="Shape 79"/>
          <p:cNvSpPr/>
          <p:nvPr/>
        </p:nvSpPr>
        <p:spPr>
          <a:xfrm flipV="1">
            <a:off x="5836447" y="5110691"/>
            <a:ext cx="196662" cy="10342"/>
          </a:xfrm>
          <a:prstGeom prst="line">
            <a:avLst/>
          </a:prstGeom>
          <a:noFill/>
          <a:ln w="31750">
            <a:solidFill>
              <a:srgbClr val="6B6358"/>
            </a:solidFill>
            <a:prstDash val="solid"/>
          </a:ln>
        </p:spPr>
        <p:txBody>
          <a:bodyPr/>
          <a:lstStyle/>
          <a:p>
            <a:endParaRPr lang="en-US"/>
          </a:p>
        </p:txBody>
      </p:sp>
      <p:sp>
        <p:nvSpPr>
          <p:cNvPr id="82" name="Shape 80"/>
          <p:cNvSpPr/>
          <p:nvPr/>
        </p:nvSpPr>
        <p:spPr>
          <a:xfrm flipV="1">
            <a:off x="6033109" y="5100587"/>
            <a:ext cx="198209" cy="10104"/>
          </a:xfrm>
          <a:prstGeom prst="line">
            <a:avLst/>
          </a:prstGeom>
          <a:noFill/>
          <a:ln w="31750">
            <a:solidFill>
              <a:srgbClr val="6B6358"/>
            </a:solidFill>
            <a:prstDash val="solid"/>
          </a:ln>
        </p:spPr>
        <p:txBody>
          <a:bodyPr/>
          <a:lstStyle/>
          <a:p>
            <a:endParaRPr lang="en-US"/>
          </a:p>
        </p:txBody>
      </p:sp>
      <p:sp>
        <p:nvSpPr>
          <p:cNvPr id="83" name="Shape 81"/>
          <p:cNvSpPr/>
          <p:nvPr/>
        </p:nvSpPr>
        <p:spPr>
          <a:xfrm flipV="1">
            <a:off x="6231318" y="5090721"/>
            <a:ext cx="199240" cy="9866"/>
          </a:xfrm>
          <a:prstGeom prst="line">
            <a:avLst/>
          </a:prstGeom>
          <a:noFill/>
          <a:ln w="31750">
            <a:solidFill>
              <a:srgbClr val="6B6358"/>
            </a:solidFill>
            <a:prstDash val="solid"/>
          </a:ln>
        </p:spPr>
        <p:txBody>
          <a:bodyPr/>
          <a:lstStyle/>
          <a:p>
            <a:endParaRPr lang="en-US"/>
          </a:p>
        </p:txBody>
      </p:sp>
      <p:sp>
        <p:nvSpPr>
          <p:cNvPr id="84" name="Shape 82"/>
          <p:cNvSpPr/>
          <p:nvPr/>
        </p:nvSpPr>
        <p:spPr>
          <a:xfrm flipV="1">
            <a:off x="6430558" y="5081092"/>
            <a:ext cx="199756" cy="9629"/>
          </a:xfrm>
          <a:prstGeom prst="line">
            <a:avLst/>
          </a:prstGeom>
          <a:noFill/>
          <a:ln w="31750">
            <a:solidFill>
              <a:srgbClr val="6B6358"/>
            </a:solidFill>
            <a:prstDash val="solid"/>
          </a:ln>
        </p:spPr>
        <p:txBody>
          <a:bodyPr/>
          <a:lstStyle/>
          <a:p>
            <a:endParaRPr lang="en-US"/>
          </a:p>
        </p:txBody>
      </p:sp>
      <p:sp>
        <p:nvSpPr>
          <p:cNvPr id="85" name="Shape 83"/>
          <p:cNvSpPr/>
          <p:nvPr/>
        </p:nvSpPr>
        <p:spPr>
          <a:xfrm flipV="1">
            <a:off x="6630314" y="5071701"/>
            <a:ext cx="199756" cy="9391"/>
          </a:xfrm>
          <a:prstGeom prst="line">
            <a:avLst/>
          </a:prstGeom>
          <a:noFill/>
          <a:ln w="31750">
            <a:solidFill>
              <a:srgbClr val="6B6358"/>
            </a:solidFill>
            <a:prstDash val="solid"/>
          </a:ln>
        </p:spPr>
        <p:txBody>
          <a:bodyPr/>
          <a:lstStyle/>
          <a:p>
            <a:endParaRPr lang="en-US"/>
          </a:p>
        </p:txBody>
      </p:sp>
      <p:sp>
        <p:nvSpPr>
          <p:cNvPr id="86" name="Shape 84"/>
          <p:cNvSpPr/>
          <p:nvPr/>
        </p:nvSpPr>
        <p:spPr>
          <a:xfrm flipV="1">
            <a:off x="6830071" y="5062548"/>
            <a:ext cx="199240" cy="9153"/>
          </a:xfrm>
          <a:prstGeom prst="line">
            <a:avLst/>
          </a:prstGeom>
          <a:noFill/>
          <a:ln w="31750">
            <a:solidFill>
              <a:srgbClr val="6B6358"/>
            </a:solidFill>
            <a:prstDash val="solid"/>
          </a:ln>
        </p:spPr>
        <p:txBody>
          <a:bodyPr/>
          <a:lstStyle/>
          <a:p>
            <a:endParaRPr lang="en-US"/>
          </a:p>
        </p:txBody>
      </p:sp>
      <p:sp>
        <p:nvSpPr>
          <p:cNvPr id="87" name="Shape 85"/>
          <p:cNvSpPr/>
          <p:nvPr/>
        </p:nvSpPr>
        <p:spPr>
          <a:xfrm flipV="1">
            <a:off x="7029311" y="5053633"/>
            <a:ext cx="198209" cy="8915"/>
          </a:xfrm>
          <a:prstGeom prst="line">
            <a:avLst/>
          </a:prstGeom>
          <a:noFill/>
          <a:ln w="31750">
            <a:solidFill>
              <a:srgbClr val="6B6358"/>
            </a:solidFill>
            <a:prstDash val="solid"/>
          </a:ln>
        </p:spPr>
        <p:txBody>
          <a:bodyPr/>
          <a:lstStyle/>
          <a:p>
            <a:endParaRPr lang="en-US"/>
          </a:p>
        </p:txBody>
      </p:sp>
      <p:sp>
        <p:nvSpPr>
          <p:cNvPr id="88" name="Shape 86"/>
          <p:cNvSpPr/>
          <p:nvPr/>
        </p:nvSpPr>
        <p:spPr>
          <a:xfrm flipV="1">
            <a:off x="7227520" y="5044955"/>
            <a:ext cx="196662" cy="8678"/>
          </a:xfrm>
          <a:prstGeom prst="line">
            <a:avLst/>
          </a:prstGeom>
          <a:noFill/>
          <a:ln w="31750">
            <a:solidFill>
              <a:srgbClr val="6B6358"/>
            </a:solidFill>
            <a:prstDash val="solid"/>
          </a:ln>
        </p:spPr>
        <p:txBody>
          <a:bodyPr/>
          <a:lstStyle/>
          <a:p>
            <a:endParaRPr lang="en-US"/>
          </a:p>
        </p:txBody>
      </p:sp>
      <p:sp>
        <p:nvSpPr>
          <p:cNvPr id="89" name="Shape 87"/>
          <p:cNvSpPr/>
          <p:nvPr/>
        </p:nvSpPr>
        <p:spPr>
          <a:xfrm flipV="1">
            <a:off x="7424182" y="5036515"/>
            <a:ext cx="194599" cy="8440"/>
          </a:xfrm>
          <a:prstGeom prst="line">
            <a:avLst/>
          </a:prstGeom>
          <a:noFill/>
          <a:ln w="31750">
            <a:solidFill>
              <a:srgbClr val="6B6358"/>
            </a:solidFill>
            <a:prstDash val="solid"/>
          </a:ln>
        </p:spPr>
        <p:txBody>
          <a:bodyPr/>
          <a:lstStyle/>
          <a:p>
            <a:endParaRPr lang="en-US"/>
          </a:p>
        </p:txBody>
      </p:sp>
      <p:sp>
        <p:nvSpPr>
          <p:cNvPr id="90" name="Shape 88"/>
          <p:cNvSpPr/>
          <p:nvPr/>
        </p:nvSpPr>
        <p:spPr>
          <a:xfrm>
            <a:off x="7618781" y="5036515"/>
            <a:ext cx="914" cy="914"/>
          </a:xfrm>
          <a:prstGeom prst="line">
            <a:avLst/>
          </a:prstGeom>
          <a:noFill/>
          <a:ln w="31750">
            <a:solidFill>
              <a:srgbClr val="6B6358"/>
            </a:solidFill>
            <a:prstDash val="solid"/>
          </a:ln>
        </p:spPr>
        <p:txBody>
          <a:bodyPr/>
          <a:lstStyle/>
          <a:p>
            <a:endParaRPr lang="en-US"/>
          </a:p>
        </p:txBody>
      </p:sp>
      <p:sp>
        <p:nvSpPr>
          <p:cNvPr id="91" name="Shape 89"/>
          <p:cNvSpPr/>
          <p:nvPr/>
        </p:nvSpPr>
        <p:spPr>
          <a:xfrm flipV="1">
            <a:off x="7618781" y="5028099"/>
            <a:ext cx="201088" cy="8416"/>
          </a:xfrm>
          <a:prstGeom prst="line">
            <a:avLst/>
          </a:prstGeom>
          <a:noFill/>
          <a:ln w="31750">
            <a:solidFill>
              <a:srgbClr val="6B6358"/>
            </a:solidFill>
            <a:prstDash val="solid"/>
          </a:ln>
        </p:spPr>
        <p:txBody>
          <a:bodyPr/>
          <a:lstStyle/>
          <a:p>
            <a:endParaRPr lang="en-US"/>
          </a:p>
        </p:txBody>
      </p:sp>
      <p:sp>
        <p:nvSpPr>
          <p:cNvPr id="92" name="Shape 90"/>
          <p:cNvSpPr/>
          <p:nvPr/>
        </p:nvSpPr>
        <p:spPr>
          <a:xfrm flipV="1">
            <a:off x="7819869" y="5019588"/>
            <a:ext cx="212864" cy="8511"/>
          </a:xfrm>
          <a:prstGeom prst="line">
            <a:avLst/>
          </a:prstGeom>
          <a:noFill/>
          <a:ln w="31750">
            <a:solidFill>
              <a:srgbClr val="6B6358"/>
            </a:solidFill>
            <a:prstDash val="solid"/>
          </a:ln>
        </p:spPr>
        <p:txBody>
          <a:bodyPr/>
          <a:lstStyle/>
          <a:p>
            <a:endParaRPr lang="en-US"/>
          </a:p>
        </p:txBody>
      </p:sp>
      <p:sp>
        <p:nvSpPr>
          <p:cNvPr id="93" name="Shape 91"/>
          <p:cNvSpPr/>
          <p:nvPr/>
        </p:nvSpPr>
        <p:spPr>
          <a:xfrm flipV="1">
            <a:off x="8032733" y="5011124"/>
            <a:ext cx="219225" cy="8464"/>
          </a:xfrm>
          <a:prstGeom prst="line">
            <a:avLst/>
          </a:prstGeom>
          <a:noFill/>
          <a:ln w="31750">
            <a:solidFill>
              <a:srgbClr val="6B6358"/>
            </a:solidFill>
            <a:prstDash val="solid"/>
          </a:ln>
        </p:spPr>
        <p:txBody>
          <a:bodyPr/>
          <a:lstStyle/>
          <a:p>
            <a:endParaRPr lang="en-US"/>
          </a:p>
        </p:txBody>
      </p:sp>
      <p:sp>
        <p:nvSpPr>
          <p:cNvPr id="94" name="Shape 92"/>
          <p:cNvSpPr/>
          <p:nvPr/>
        </p:nvSpPr>
        <p:spPr>
          <a:xfrm flipV="1">
            <a:off x="8251958" y="5002851"/>
            <a:ext cx="220170" cy="8273"/>
          </a:xfrm>
          <a:prstGeom prst="line">
            <a:avLst/>
          </a:prstGeom>
          <a:noFill/>
          <a:ln w="31750">
            <a:solidFill>
              <a:srgbClr val="6B6358"/>
            </a:solidFill>
            <a:prstDash val="solid"/>
          </a:ln>
        </p:spPr>
        <p:txBody>
          <a:bodyPr/>
          <a:lstStyle/>
          <a:p>
            <a:endParaRPr lang="en-US"/>
          </a:p>
        </p:txBody>
      </p:sp>
      <p:sp>
        <p:nvSpPr>
          <p:cNvPr id="95" name="Shape 93"/>
          <p:cNvSpPr/>
          <p:nvPr/>
        </p:nvSpPr>
        <p:spPr>
          <a:xfrm flipV="1">
            <a:off x="8472128" y="4994910"/>
            <a:ext cx="215701" cy="7941"/>
          </a:xfrm>
          <a:prstGeom prst="line">
            <a:avLst/>
          </a:prstGeom>
          <a:noFill/>
          <a:ln w="31750">
            <a:solidFill>
              <a:srgbClr val="6B6358"/>
            </a:solidFill>
            <a:prstDash val="solid"/>
          </a:ln>
        </p:spPr>
        <p:txBody>
          <a:bodyPr/>
          <a:lstStyle/>
          <a:p>
            <a:endParaRPr lang="en-US"/>
          </a:p>
        </p:txBody>
      </p:sp>
      <p:sp>
        <p:nvSpPr>
          <p:cNvPr id="96" name="Shape 94"/>
          <p:cNvSpPr/>
          <p:nvPr/>
        </p:nvSpPr>
        <p:spPr>
          <a:xfrm flipV="1">
            <a:off x="8687829" y="4987445"/>
            <a:ext cx="205816" cy="7465"/>
          </a:xfrm>
          <a:prstGeom prst="line">
            <a:avLst/>
          </a:prstGeom>
          <a:noFill/>
          <a:ln w="31750">
            <a:solidFill>
              <a:srgbClr val="6B6358"/>
            </a:solidFill>
            <a:prstDash val="solid"/>
          </a:ln>
        </p:spPr>
        <p:txBody>
          <a:bodyPr/>
          <a:lstStyle/>
          <a:p>
            <a:endParaRPr lang="en-US"/>
          </a:p>
        </p:txBody>
      </p:sp>
      <p:sp>
        <p:nvSpPr>
          <p:cNvPr id="97" name="Shape 95"/>
          <p:cNvSpPr/>
          <p:nvPr/>
        </p:nvSpPr>
        <p:spPr>
          <a:xfrm flipV="1">
            <a:off x="8893645" y="4980598"/>
            <a:ext cx="190516" cy="6847"/>
          </a:xfrm>
          <a:prstGeom prst="line">
            <a:avLst/>
          </a:prstGeom>
          <a:noFill/>
          <a:ln w="31750">
            <a:solidFill>
              <a:srgbClr val="6B6358"/>
            </a:solidFill>
            <a:prstDash val="solid"/>
          </a:ln>
        </p:spPr>
        <p:txBody>
          <a:bodyPr/>
          <a:lstStyle/>
          <a:p>
            <a:endParaRPr lang="en-US"/>
          </a:p>
        </p:txBody>
      </p:sp>
      <p:sp>
        <p:nvSpPr>
          <p:cNvPr id="98" name="Shape 96"/>
          <p:cNvSpPr/>
          <p:nvPr/>
        </p:nvSpPr>
        <p:spPr>
          <a:xfrm flipV="1">
            <a:off x="9084161" y="4974512"/>
            <a:ext cx="169801" cy="6086"/>
          </a:xfrm>
          <a:prstGeom prst="line">
            <a:avLst/>
          </a:prstGeom>
          <a:noFill/>
          <a:ln w="31750">
            <a:solidFill>
              <a:srgbClr val="6B6358"/>
            </a:solidFill>
            <a:prstDash val="solid"/>
          </a:ln>
        </p:spPr>
        <p:txBody>
          <a:bodyPr/>
          <a:lstStyle/>
          <a:p>
            <a:endParaRPr lang="en-US"/>
          </a:p>
        </p:txBody>
      </p:sp>
      <p:sp>
        <p:nvSpPr>
          <p:cNvPr id="99" name="Shape 97"/>
          <p:cNvSpPr/>
          <p:nvPr/>
        </p:nvSpPr>
        <p:spPr>
          <a:xfrm flipV="1">
            <a:off x="9253962" y="4969329"/>
            <a:ext cx="143671" cy="5183"/>
          </a:xfrm>
          <a:prstGeom prst="line">
            <a:avLst/>
          </a:prstGeom>
          <a:noFill/>
          <a:ln w="31750">
            <a:solidFill>
              <a:srgbClr val="6B6358"/>
            </a:solidFill>
            <a:prstDash val="solid"/>
          </a:ln>
        </p:spPr>
        <p:txBody>
          <a:bodyPr/>
          <a:lstStyle/>
          <a:p>
            <a:endParaRPr lang="en-US"/>
          </a:p>
        </p:txBody>
      </p:sp>
      <p:sp>
        <p:nvSpPr>
          <p:cNvPr id="100" name="Shape 98"/>
          <p:cNvSpPr/>
          <p:nvPr/>
        </p:nvSpPr>
        <p:spPr>
          <a:xfrm flipV="1">
            <a:off x="9397634" y="4965192"/>
            <a:ext cx="112126" cy="4137"/>
          </a:xfrm>
          <a:prstGeom prst="line">
            <a:avLst/>
          </a:prstGeom>
          <a:noFill/>
          <a:ln w="31750">
            <a:solidFill>
              <a:srgbClr val="6B6358"/>
            </a:solidFill>
            <a:prstDash val="solid"/>
          </a:ln>
        </p:spPr>
        <p:txBody>
          <a:bodyPr/>
          <a:lstStyle/>
          <a:p>
            <a:endParaRPr lang="en-US"/>
          </a:p>
        </p:txBody>
      </p:sp>
      <p:sp>
        <p:nvSpPr>
          <p:cNvPr id="101" name="Shape 99"/>
          <p:cNvSpPr/>
          <p:nvPr/>
        </p:nvSpPr>
        <p:spPr>
          <a:xfrm flipV="1">
            <a:off x="914400" y="5290295"/>
            <a:ext cx="75553" cy="7739"/>
          </a:xfrm>
          <a:prstGeom prst="line">
            <a:avLst/>
          </a:prstGeom>
          <a:noFill/>
          <a:ln w="47625">
            <a:solidFill>
              <a:srgbClr val="A0824E"/>
            </a:solidFill>
            <a:prstDash val="solid"/>
          </a:ln>
        </p:spPr>
        <p:txBody>
          <a:bodyPr/>
          <a:lstStyle/>
          <a:p>
            <a:endParaRPr lang="en-US"/>
          </a:p>
        </p:txBody>
      </p:sp>
      <p:sp>
        <p:nvSpPr>
          <p:cNvPr id="102" name="Shape 100"/>
          <p:cNvSpPr/>
          <p:nvPr/>
        </p:nvSpPr>
        <p:spPr>
          <a:xfrm flipV="1">
            <a:off x="989953" y="5281296"/>
            <a:ext cx="95666" cy="8999"/>
          </a:xfrm>
          <a:prstGeom prst="line">
            <a:avLst/>
          </a:prstGeom>
          <a:noFill/>
          <a:ln w="47625">
            <a:solidFill>
              <a:srgbClr val="A0824E"/>
            </a:solidFill>
            <a:prstDash val="solid"/>
          </a:ln>
        </p:spPr>
        <p:txBody>
          <a:bodyPr/>
          <a:lstStyle/>
          <a:p>
            <a:endParaRPr lang="en-US"/>
          </a:p>
        </p:txBody>
      </p:sp>
      <p:sp>
        <p:nvSpPr>
          <p:cNvPr id="103" name="Shape 101"/>
          <p:cNvSpPr/>
          <p:nvPr/>
        </p:nvSpPr>
        <p:spPr>
          <a:xfrm flipV="1">
            <a:off x="1085620" y="5270966"/>
            <a:ext cx="112685" cy="10330"/>
          </a:xfrm>
          <a:prstGeom prst="line">
            <a:avLst/>
          </a:prstGeom>
          <a:noFill/>
          <a:ln w="47625">
            <a:solidFill>
              <a:srgbClr val="A0824E"/>
            </a:solidFill>
            <a:prstDash val="solid"/>
          </a:ln>
        </p:spPr>
        <p:txBody>
          <a:bodyPr/>
          <a:lstStyle/>
          <a:p>
            <a:endParaRPr lang="en-US"/>
          </a:p>
        </p:txBody>
      </p:sp>
      <p:sp>
        <p:nvSpPr>
          <p:cNvPr id="104" name="Shape 102"/>
          <p:cNvSpPr/>
          <p:nvPr/>
        </p:nvSpPr>
        <p:spPr>
          <a:xfrm flipV="1">
            <a:off x="1198305" y="5259234"/>
            <a:ext cx="126610" cy="11733"/>
          </a:xfrm>
          <a:prstGeom prst="line">
            <a:avLst/>
          </a:prstGeom>
          <a:noFill/>
          <a:ln w="47625">
            <a:solidFill>
              <a:srgbClr val="A0824E"/>
            </a:solidFill>
            <a:prstDash val="solid"/>
          </a:ln>
        </p:spPr>
        <p:txBody>
          <a:bodyPr/>
          <a:lstStyle/>
          <a:p>
            <a:endParaRPr lang="en-US"/>
          </a:p>
        </p:txBody>
      </p:sp>
      <p:sp>
        <p:nvSpPr>
          <p:cNvPr id="105" name="Shape 103"/>
          <p:cNvSpPr/>
          <p:nvPr/>
        </p:nvSpPr>
        <p:spPr>
          <a:xfrm flipV="1">
            <a:off x="1324914" y="5246027"/>
            <a:ext cx="137440" cy="13207"/>
          </a:xfrm>
          <a:prstGeom prst="line">
            <a:avLst/>
          </a:prstGeom>
          <a:noFill/>
          <a:ln w="47625">
            <a:solidFill>
              <a:srgbClr val="A0824E"/>
            </a:solidFill>
            <a:prstDash val="solid"/>
          </a:ln>
        </p:spPr>
        <p:txBody>
          <a:bodyPr/>
          <a:lstStyle/>
          <a:p>
            <a:endParaRPr lang="en-US"/>
          </a:p>
        </p:txBody>
      </p:sp>
      <p:sp>
        <p:nvSpPr>
          <p:cNvPr id="106" name="Shape 104"/>
          <p:cNvSpPr/>
          <p:nvPr/>
        </p:nvSpPr>
        <p:spPr>
          <a:xfrm flipV="1">
            <a:off x="1462354" y="5231275"/>
            <a:ext cx="145176" cy="14752"/>
          </a:xfrm>
          <a:prstGeom prst="line">
            <a:avLst/>
          </a:prstGeom>
          <a:noFill/>
          <a:ln w="47625">
            <a:solidFill>
              <a:srgbClr val="A0824E"/>
            </a:solidFill>
            <a:prstDash val="solid"/>
          </a:ln>
        </p:spPr>
        <p:txBody>
          <a:bodyPr/>
          <a:lstStyle/>
          <a:p>
            <a:endParaRPr lang="en-US"/>
          </a:p>
        </p:txBody>
      </p:sp>
      <p:sp>
        <p:nvSpPr>
          <p:cNvPr id="107" name="Shape 105"/>
          <p:cNvSpPr/>
          <p:nvPr/>
        </p:nvSpPr>
        <p:spPr>
          <a:xfrm flipV="1">
            <a:off x="1607530" y="5214906"/>
            <a:ext cx="149817" cy="16369"/>
          </a:xfrm>
          <a:prstGeom prst="line">
            <a:avLst/>
          </a:prstGeom>
          <a:noFill/>
          <a:ln w="47625">
            <a:solidFill>
              <a:srgbClr val="A0824E"/>
            </a:solidFill>
            <a:prstDash val="solid"/>
          </a:ln>
        </p:spPr>
        <p:txBody>
          <a:bodyPr/>
          <a:lstStyle/>
          <a:p>
            <a:endParaRPr lang="en-US"/>
          </a:p>
        </p:txBody>
      </p:sp>
      <p:sp>
        <p:nvSpPr>
          <p:cNvPr id="108" name="Shape 106"/>
          <p:cNvSpPr/>
          <p:nvPr/>
        </p:nvSpPr>
        <p:spPr>
          <a:xfrm flipV="1">
            <a:off x="1757347" y="5196850"/>
            <a:ext cx="151364" cy="18057"/>
          </a:xfrm>
          <a:prstGeom prst="line">
            <a:avLst/>
          </a:prstGeom>
          <a:noFill/>
          <a:ln w="47625">
            <a:solidFill>
              <a:srgbClr val="A0824E"/>
            </a:solidFill>
            <a:prstDash val="solid"/>
          </a:ln>
        </p:spPr>
        <p:txBody>
          <a:bodyPr/>
          <a:lstStyle/>
          <a:p>
            <a:endParaRPr lang="en-US"/>
          </a:p>
        </p:txBody>
      </p:sp>
      <p:sp>
        <p:nvSpPr>
          <p:cNvPr id="109" name="Shape 107"/>
          <p:cNvSpPr/>
          <p:nvPr/>
        </p:nvSpPr>
        <p:spPr>
          <a:xfrm flipV="1">
            <a:off x="1908711" y="5177034"/>
            <a:ext cx="149817" cy="19816"/>
          </a:xfrm>
          <a:prstGeom prst="line">
            <a:avLst/>
          </a:prstGeom>
          <a:noFill/>
          <a:ln w="47625">
            <a:solidFill>
              <a:srgbClr val="A0824E"/>
            </a:solidFill>
            <a:prstDash val="solid"/>
          </a:ln>
        </p:spPr>
        <p:txBody>
          <a:bodyPr/>
          <a:lstStyle/>
          <a:p>
            <a:endParaRPr lang="en-US"/>
          </a:p>
        </p:txBody>
      </p:sp>
      <p:sp>
        <p:nvSpPr>
          <p:cNvPr id="110" name="Shape 108"/>
          <p:cNvSpPr/>
          <p:nvPr/>
        </p:nvSpPr>
        <p:spPr>
          <a:xfrm flipV="1">
            <a:off x="2058528" y="5155387"/>
            <a:ext cx="145176" cy="21647"/>
          </a:xfrm>
          <a:prstGeom prst="line">
            <a:avLst/>
          </a:prstGeom>
          <a:noFill/>
          <a:ln w="47625">
            <a:solidFill>
              <a:srgbClr val="A0824E"/>
            </a:solidFill>
            <a:prstDash val="solid"/>
          </a:ln>
        </p:spPr>
        <p:txBody>
          <a:bodyPr/>
          <a:lstStyle/>
          <a:p>
            <a:endParaRPr lang="en-US"/>
          </a:p>
        </p:txBody>
      </p:sp>
      <p:sp>
        <p:nvSpPr>
          <p:cNvPr id="111" name="Shape 109"/>
          <p:cNvSpPr/>
          <p:nvPr/>
        </p:nvSpPr>
        <p:spPr>
          <a:xfrm flipV="1">
            <a:off x="2203704" y="5131969"/>
            <a:ext cx="142726" cy="23418"/>
          </a:xfrm>
          <a:prstGeom prst="line">
            <a:avLst/>
          </a:prstGeom>
          <a:noFill/>
          <a:ln w="47625">
            <a:solidFill>
              <a:srgbClr val="A0824E"/>
            </a:solidFill>
            <a:prstDash val="solid"/>
          </a:ln>
        </p:spPr>
        <p:txBody>
          <a:bodyPr/>
          <a:lstStyle/>
          <a:p>
            <a:endParaRPr lang="en-US"/>
          </a:p>
        </p:txBody>
      </p:sp>
      <p:sp>
        <p:nvSpPr>
          <p:cNvPr id="112" name="Shape 110"/>
          <p:cNvSpPr/>
          <p:nvPr/>
        </p:nvSpPr>
        <p:spPr>
          <a:xfrm flipV="1">
            <a:off x="2346430" y="5106887"/>
            <a:ext cx="144703" cy="25082"/>
          </a:xfrm>
          <a:prstGeom prst="line">
            <a:avLst/>
          </a:prstGeom>
          <a:noFill/>
          <a:ln w="47625">
            <a:solidFill>
              <a:srgbClr val="A0824E"/>
            </a:solidFill>
            <a:prstDash val="solid"/>
          </a:ln>
        </p:spPr>
        <p:txBody>
          <a:bodyPr/>
          <a:lstStyle/>
          <a:p>
            <a:endParaRPr lang="en-US"/>
          </a:p>
        </p:txBody>
      </p:sp>
      <p:sp>
        <p:nvSpPr>
          <p:cNvPr id="113" name="Shape 111"/>
          <p:cNvSpPr/>
          <p:nvPr/>
        </p:nvSpPr>
        <p:spPr>
          <a:xfrm flipV="1">
            <a:off x="2491133" y="5080141"/>
            <a:ext cx="146938" cy="26746"/>
          </a:xfrm>
          <a:prstGeom prst="line">
            <a:avLst/>
          </a:prstGeom>
          <a:noFill/>
          <a:ln w="47625">
            <a:solidFill>
              <a:srgbClr val="A0824E"/>
            </a:solidFill>
            <a:prstDash val="solid"/>
          </a:ln>
        </p:spPr>
        <p:txBody>
          <a:bodyPr/>
          <a:lstStyle/>
          <a:p>
            <a:endParaRPr lang="en-US"/>
          </a:p>
        </p:txBody>
      </p:sp>
      <p:sp>
        <p:nvSpPr>
          <p:cNvPr id="114" name="Shape 112"/>
          <p:cNvSpPr/>
          <p:nvPr/>
        </p:nvSpPr>
        <p:spPr>
          <a:xfrm flipV="1">
            <a:off x="2638071" y="5051731"/>
            <a:ext cx="149430" cy="28410"/>
          </a:xfrm>
          <a:prstGeom prst="line">
            <a:avLst/>
          </a:prstGeom>
          <a:noFill/>
          <a:ln w="47625">
            <a:solidFill>
              <a:srgbClr val="A0824E"/>
            </a:solidFill>
            <a:prstDash val="solid"/>
          </a:ln>
        </p:spPr>
        <p:txBody>
          <a:bodyPr/>
          <a:lstStyle/>
          <a:p>
            <a:endParaRPr lang="en-US"/>
          </a:p>
        </p:txBody>
      </p:sp>
      <p:sp>
        <p:nvSpPr>
          <p:cNvPr id="115" name="Shape 113"/>
          <p:cNvSpPr/>
          <p:nvPr/>
        </p:nvSpPr>
        <p:spPr>
          <a:xfrm flipV="1">
            <a:off x="2787501" y="5021656"/>
            <a:ext cx="152181" cy="30075"/>
          </a:xfrm>
          <a:prstGeom prst="line">
            <a:avLst/>
          </a:prstGeom>
          <a:noFill/>
          <a:ln w="47625">
            <a:solidFill>
              <a:srgbClr val="A0824E"/>
            </a:solidFill>
            <a:prstDash val="solid"/>
          </a:ln>
        </p:spPr>
        <p:txBody>
          <a:bodyPr/>
          <a:lstStyle/>
          <a:p>
            <a:endParaRPr lang="en-US"/>
          </a:p>
        </p:txBody>
      </p:sp>
      <p:sp>
        <p:nvSpPr>
          <p:cNvPr id="116" name="Shape 114"/>
          <p:cNvSpPr/>
          <p:nvPr/>
        </p:nvSpPr>
        <p:spPr>
          <a:xfrm flipV="1">
            <a:off x="2939682" y="4989917"/>
            <a:ext cx="155189" cy="31739"/>
          </a:xfrm>
          <a:prstGeom prst="line">
            <a:avLst/>
          </a:prstGeom>
          <a:noFill/>
          <a:ln w="47625">
            <a:solidFill>
              <a:srgbClr val="A0824E"/>
            </a:solidFill>
            <a:prstDash val="solid"/>
          </a:ln>
        </p:spPr>
        <p:txBody>
          <a:bodyPr/>
          <a:lstStyle/>
          <a:p>
            <a:endParaRPr lang="en-US"/>
          </a:p>
        </p:txBody>
      </p:sp>
      <p:sp>
        <p:nvSpPr>
          <p:cNvPr id="117" name="Shape 115"/>
          <p:cNvSpPr/>
          <p:nvPr/>
        </p:nvSpPr>
        <p:spPr>
          <a:xfrm flipV="1">
            <a:off x="3094871" y="4956514"/>
            <a:ext cx="158455" cy="33403"/>
          </a:xfrm>
          <a:prstGeom prst="line">
            <a:avLst/>
          </a:prstGeom>
          <a:noFill/>
          <a:ln w="47625">
            <a:solidFill>
              <a:srgbClr val="A0824E"/>
            </a:solidFill>
            <a:prstDash val="solid"/>
          </a:ln>
        </p:spPr>
        <p:txBody>
          <a:bodyPr/>
          <a:lstStyle/>
          <a:p>
            <a:endParaRPr lang="en-US"/>
          </a:p>
        </p:txBody>
      </p:sp>
      <p:sp>
        <p:nvSpPr>
          <p:cNvPr id="118" name="Shape 116"/>
          <p:cNvSpPr/>
          <p:nvPr/>
        </p:nvSpPr>
        <p:spPr>
          <a:xfrm flipV="1">
            <a:off x="3253326" y="4921447"/>
            <a:ext cx="161980" cy="35067"/>
          </a:xfrm>
          <a:prstGeom prst="line">
            <a:avLst/>
          </a:prstGeom>
          <a:noFill/>
          <a:ln w="47625">
            <a:solidFill>
              <a:srgbClr val="A0824E"/>
            </a:solidFill>
            <a:prstDash val="solid"/>
          </a:ln>
        </p:spPr>
        <p:txBody>
          <a:bodyPr/>
          <a:lstStyle/>
          <a:p>
            <a:endParaRPr lang="en-US"/>
          </a:p>
        </p:txBody>
      </p:sp>
      <p:sp>
        <p:nvSpPr>
          <p:cNvPr id="119" name="Shape 117"/>
          <p:cNvSpPr/>
          <p:nvPr/>
        </p:nvSpPr>
        <p:spPr>
          <a:xfrm flipV="1">
            <a:off x="3415306" y="4884716"/>
            <a:ext cx="165762" cy="36731"/>
          </a:xfrm>
          <a:prstGeom prst="line">
            <a:avLst/>
          </a:prstGeom>
          <a:noFill/>
          <a:ln w="47625">
            <a:solidFill>
              <a:srgbClr val="A0824E"/>
            </a:solidFill>
            <a:prstDash val="solid"/>
          </a:ln>
        </p:spPr>
        <p:txBody>
          <a:bodyPr/>
          <a:lstStyle/>
          <a:p>
            <a:endParaRPr lang="en-US"/>
          </a:p>
        </p:txBody>
      </p:sp>
      <p:sp>
        <p:nvSpPr>
          <p:cNvPr id="120" name="Shape 118"/>
          <p:cNvSpPr/>
          <p:nvPr/>
        </p:nvSpPr>
        <p:spPr>
          <a:xfrm flipV="1">
            <a:off x="3581067" y="4846320"/>
            <a:ext cx="169801" cy="38396"/>
          </a:xfrm>
          <a:prstGeom prst="line">
            <a:avLst/>
          </a:prstGeom>
          <a:noFill/>
          <a:ln w="47625">
            <a:solidFill>
              <a:srgbClr val="A0824E"/>
            </a:solidFill>
            <a:prstDash val="solid"/>
          </a:ln>
        </p:spPr>
        <p:txBody>
          <a:bodyPr/>
          <a:lstStyle/>
          <a:p>
            <a:endParaRPr lang="en-US"/>
          </a:p>
        </p:txBody>
      </p:sp>
      <p:sp>
        <p:nvSpPr>
          <p:cNvPr id="121" name="Shape 119"/>
          <p:cNvSpPr/>
          <p:nvPr/>
        </p:nvSpPr>
        <p:spPr>
          <a:xfrm flipV="1">
            <a:off x="3750869" y="4846320"/>
            <a:ext cx="914" cy="914"/>
          </a:xfrm>
          <a:prstGeom prst="line">
            <a:avLst/>
          </a:prstGeom>
          <a:noFill/>
          <a:ln w="47625">
            <a:solidFill>
              <a:srgbClr val="A0824E"/>
            </a:solidFill>
            <a:prstDash val="solid"/>
          </a:ln>
        </p:spPr>
        <p:txBody>
          <a:bodyPr/>
          <a:lstStyle/>
          <a:p>
            <a:endParaRPr lang="en-US"/>
          </a:p>
        </p:txBody>
      </p:sp>
      <p:sp>
        <p:nvSpPr>
          <p:cNvPr id="122" name="Shape 120"/>
          <p:cNvSpPr/>
          <p:nvPr/>
        </p:nvSpPr>
        <p:spPr>
          <a:xfrm flipV="1">
            <a:off x="3750869" y="4806581"/>
            <a:ext cx="174787" cy="39739"/>
          </a:xfrm>
          <a:prstGeom prst="line">
            <a:avLst/>
          </a:prstGeom>
          <a:noFill/>
          <a:ln w="47625">
            <a:solidFill>
              <a:srgbClr val="A0824E"/>
            </a:solidFill>
            <a:prstDash val="solid"/>
          </a:ln>
        </p:spPr>
        <p:txBody>
          <a:bodyPr/>
          <a:lstStyle/>
          <a:p>
            <a:endParaRPr lang="en-US"/>
          </a:p>
        </p:txBody>
      </p:sp>
      <p:sp>
        <p:nvSpPr>
          <p:cNvPr id="123" name="Shape 121"/>
          <p:cNvSpPr/>
          <p:nvPr/>
        </p:nvSpPr>
        <p:spPr>
          <a:xfrm flipV="1">
            <a:off x="3925655" y="4765677"/>
            <a:ext cx="180030" cy="40904"/>
          </a:xfrm>
          <a:prstGeom prst="line">
            <a:avLst/>
          </a:prstGeom>
          <a:noFill/>
          <a:ln w="47625">
            <a:solidFill>
              <a:srgbClr val="A0824E"/>
            </a:solidFill>
            <a:prstDash val="solid"/>
          </a:ln>
        </p:spPr>
        <p:txBody>
          <a:bodyPr/>
          <a:lstStyle/>
          <a:p>
            <a:endParaRPr lang="en-US"/>
          </a:p>
        </p:txBody>
      </p:sp>
      <p:sp>
        <p:nvSpPr>
          <p:cNvPr id="124" name="Shape 122"/>
          <p:cNvSpPr/>
          <p:nvPr/>
        </p:nvSpPr>
        <p:spPr>
          <a:xfrm flipV="1">
            <a:off x="4105685" y="4723394"/>
            <a:ext cx="184499" cy="42283"/>
          </a:xfrm>
          <a:prstGeom prst="line">
            <a:avLst/>
          </a:prstGeom>
          <a:noFill/>
          <a:ln w="47625">
            <a:solidFill>
              <a:srgbClr val="A0824E"/>
            </a:solidFill>
            <a:prstDash val="solid"/>
          </a:ln>
        </p:spPr>
        <p:txBody>
          <a:bodyPr/>
          <a:lstStyle/>
          <a:p>
            <a:endParaRPr lang="en-US"/>
          </a:p>
        </p:txBody>
      </p:sp>
      <p:sp>
        <p:nvSpPr>
          <p:cNvPr id="125" name="Shape 123"/>
          <p:cNvSpPr/>
          <p:nvPr/>
        </p:nvSpPr>
        <p:spPr>
          <a:xfrm flipV="1">
            <a:off x="4290185" y="4679519"/>
            <a:ext cx="188195" cy="43876"/>
          </a:xfrm>
          <a:prstGeom prst="line">
            <a:avLst/>
          </a:prstGeom>
          <a:noFill/>
          <a:ln w="47625">
            <a:solidFill>
              <a:srgbClr val="A0824E"/>
            </a:solidFill>
            <a:prstDash val="solid"/>
          </a:ln>
        </p:spPr>
        <p:txBody>
          <a:bodyPr/>
          <a:lstStyle/>
          <a:p>
            <a:endParaRPr lang="en-US"/>
          </a:p>
        </p:txBody>
      </p:sp>
      <p:sp>
        <p:nvSpPr>
          <p:cNvPr id="126" name="Shape 124"/>
          <p:cNvSpPr/>
          <p:nvPr/>
        </p:nvSpPr>
        <p:spPr>
          <a:xfrm flipV="1">
            <a:off x="4478380" y="4633836"/>
            <a:ext cx="191118" cy="45683"/>
          </a:xfrm>
          <a:prstGeom prst="line">
            <a:avLst/>
          </a:prstGeom>
          <a:noFill/>
          <a:ln w="47625">
            <a:solidFill>
              <a:srgbClr val="A0824E"/>
            </a:solidFill>
            <a:prstDash val="solid"/>
          </a:ln>
        </p:spPr>
        <p:txBody>
          <a:bodyPr/>
          <a:lstStyle/>
          <a:p>
            <a:endParaRPr lang="en-US"/>
          </a:p>
        </p:txBody>
      </p:sp>
      <p:sp>
        <p:nvSpPr>
          <p:cNvPr id="127" name="Shape 125"/>
          <p:cNvSpPr/>
          <p:nvPr/>
        </p:nvSpPr>
        <p:spPr>
          <a:xfrm flipV="1">
            <a:off x="4669498" y="4586133"/>
            <a:ext cx="193267" cy="47703"/>
          </a:xfrm>
          <a:prstGeom prst="line">
            <a:avLst/>
          </a:prstGeom>
          <a:noFill/>
          <a:ln w="47625">
            <a:solidFill>
              <a:srgbClr val="A0824E"/>
            </a:solidFill>
            <a:prstDash val="solid"/>
          </a:ln>
        </p:spPr>
        <p:txBody>
          <a:bodyPr/>
          <a:lstStyle/>
          <a:p>
            <a:endParaRPr lang="en-US"/>
          </a:p>
        </p:txBody>
      </p:sp>
      <p:sp>
        <p:nvSpPr>
          <p:cNvPr id="128" name="Shape 126"/>
          <p:cNvSpPr/>
          <p:nvPr/>
        </p:nvSpPr>
        <p:spPr>
          <a:xfrm flipV="1">
            <a:off x="4862765" y="4536195"/>
            <a:ext cx="194642" cy="49938"/>
          </a:xfrm>
          <a:prstGeom prst="line">
            <a:avLst/>
          </a:prstGeom>
          <a:noFill/>
          <a:ln w="47625">
            <a:solidFill>
              <a:srgbClr val="A0824E"/>
            </a:solidFill>
            <a:prstDash val="solid"/>
          </a:ln>
        </p:spPr>
        <p:txBody>
          <a:bodyPr/>
          <a:lstStyle/>
          <a:p>
            <a:endParaRPr lang="en-US"/>
          </a:p>
        </p:txBody>
      </p:sp>
      <p:sp>
        <p:nvSpPr>
          <p:cNvPr id="129" name="Shape 127"/>
          <p:cNvSpPr/>
          <p:nvPr/>
        </p:nvSpPr>
        <p:spPr>
          <a:xfrm flipV="1">
            <a:off x="5057406" y="4483808"/>
            <a:ext cx="195244" cy="52387"/>
          </a:xfrm>
          <a:prstGeom prst="line">
            <a:avLst/>
          </a:prstGeom>
          <a:noFill/>
          <a:ln w="47625">
            <a:solidFill>
              <a:srgbClr val="A0824E"/>
            </a:solidFill>
            <a:prstDash val="solid"/>
          </a:ln>
        </p:spPr>
        <p:txBody>
          <a:bodyPr/>
          <a:lstStyle/>
          <a:p>
            <a:endParaRPr lang="en-US"/>
          </a:p>
        </p:txBody>
      </p:sp>
      <p:sp>
        <p:nvSpPr>
          <p:cNvPr id="130" name="Shape 128"/>
          <p:cNvSpPr/>
          <p:nvPr/>
        </p:nvSpPr>
        <p:spPr>
          <a:xfrm flipV="1">
            <a:off x="5252650" y="4428758"/>
            <a:ext cx="195072" cy="55050"/>
          </a:xfrm>
          <a:prstGeom prst="line">
            <a:avLst/>
          </a:prstGeom>
          <a:noFill/>
          <a:ln w="47625">
            <a:solidFill>
              <a:srgbClr val="A0824E"/>
            </a:solidFill>
            <a:prstDash val="solid"/>
          </a:ln>
        </p:spPr>
        <p:txBody>
          <a:bodyPr/>
          <a:lstStyle/>
          <a:p>
            <a:endParaRPr lang="en-US"/>
          </a:p>
        </p:txBody>
      </p:sp>
      <p:sp>
        <p:nvSpPr>
          <p:cNvPr id="131" name="Shape 129"/>
          <p:cNvSpPr/>
          <p:nvPr/>
        </p:nvSpPr>
        <p:spPr>
          <a:xfrm flipV="1">
            <a:off x="5447722" y="4370832"/>
            <a:ext cx="194126" cy="57926"/>
          </a:xfrm>
          <a:prstGeom prst="line">
            <a:avLst/>
          </a:prstGeom>
          <a:noFill/>
          <a:ln w="47625">
            <a:solidFill>
              <a:srgbClr val="A0824E"/>
            </a:solidFill>
            <a:prstDash val="solid"/>
          </a:ln>
        </p:spPr>
        <p:txBody>
          <a:bodyPr/>
          <a:lstStyle/>
          <a:p>
            <a:endParaRPr lang="en-US"/>
          </a:p>
        </p:txBody>
      </p:sp>
      <p:sp>
        <p:nvSpPr>
          <p:cNvPr id="132" name="Shape 130"/>
          <p:cNvSpPr/>
          <p:nvPr/>
        </p:nvSpPr>
        <p:spPr>
          <a:xfrm flipH="1">
            <a:off x="5641848" y="4370832"/>
            <a:ext cx="914" cy="914"/>
          </a:xfrm>
          <a:prstGeom prst="line">
            <a:avLst/>
          </a:prstGeom>
          <a:noFill/>
          <a:ln w="47625">
            <a:solidFill>
              <a:srgbClr val="A0824E"/>
            </a:solidFill>
            <a:prstDash val="solid"/>
          </a:ln>
        </p:spPr>
        <p:txBody>
          <a:bodyPr/>
          <a:lstStyle/>
          <a:p>
            <a:endParaRPr lang="en-US"/>
          </a:p>
        </p:txBody>
      </p:sp>
      <p:sp>
        <p:nvSpPr>
          <p:cNvPr id="133" name="Shape 131"/>
          <p:cNvSpPr/>
          <p:nvPr/>
        </p:nvSpPr>
        <p:spPr>
          <a:xfrm flipV="1">
            <a:off x="5641848" y="4308389"/>
            <a:ext cx="194599" cy="62443"/>
          </a:xfrm>
          <a:prstGeom prst="line">
            <a:avLst/>
          </a:prstGeom>
          <a:noFill/>
          <a:ln w="47625">
            <a:solidFill>
              <a:srgbClr val="A0824E"/>
            </a:solidFill>
            <a:prstDash val="solid"/>
          </a:ln>
        </p:spPr>
        <p:txBody>
          <a:bodyPr/>
          <a:lstStyle/>
          <a:p>
            <a:endParaRPr lang="en-US"/>
          </a:p>
        </p:txBody>
      </p:sp>
      <p:sp>
        <p:nvSpPr>
          <p:cNvPr id="134" name="Shape 132"/>
          <p:cNvSpPr/>
          <p:nvPr/>
        </p:nvSpPr>
        <p:spPr>
          <a:xfrm flipV="1">
            <a:off x="5836447" y="4240738"/>
            <a:ext cx="196662" cy="67650"/>
          </a:xfrm>
          <a:prstGeom prst="line">
            <a:avLst/>
          </a:prstGeom>
          <a:noFill/>
          <a:ln w="47625">
            <a:solidFill>
              <a:srgbClr val="A0824E"/>
            </a:solidFill>
            <a:prstDash val="solid"/>
          </a:ln>
        </p:spPr>
        <p:txBody>
          <a:bodyPr/>
          <a:lstStyle/>
          <a:p>
            <a:endParaRPr lang="en-US"/>
          </a:p>
        </p:txBody>
      </p:sp>
      <p:sp>
        <p:nvSpPr>
          <p:cNvPr id="135" name="Shape 133"/>
          <p:cNvSpPr/>
          <p:nvPr/>
        </p:nvSpPr>
        <p:spPr>
          <a:xfrm flipV="1">
            <a:off x="6033109" y="4169094"/>
            <a:ext cx="198209" cy="71644"/>
          </a:xfrm>
          <a:prstGeom prst="line">
            <a:avLst/>
          </a:prstGeom>
          <a:noFill/>
          <a:ln w="47625">
            <a:solidFill>
              <a:srgbClr val="A0824E"/>
            </a:solidFill>
            <a:prstDash val="solid"/>
          </a:ln>
        </p:spPr>
        <p:txBody>
          <a:bodyPr/>
          <a:lstStyle/>
          <a:p>
            <a:endParaRPr lang="en-US"/>
          </a:p>
        </p:txBody>
      </p:sp>
      <p:sp>
        <p:nvSpPr>
          <p:cNvPr id="136" name="Shape 134"/>
          <p:cNvSpPr/>
          <p:nvPr/>
        </p:nvSpPr>
        <p:spPr>
          <a:xfrm flipV="1">
            <a:off x="6231318" y="4094669"/>
            <a:ext cx="199240" cy="74426"/>
          </a:xfrm>
          <a:prstGeom prst="line">
            <a:avLst/>
          </a:prstGeom>
          <a:noFill/>
          <a:ln w="47625">
            <a:solidFill>
              <a:srgbClr val="A0824E"/>
            </a:solidFill>
            <a:prstDash val="solid"/>
          </a:ln>
        </p:spPr>
        <p:txBody>
          <a:bodyPr/>
          <a:lstStyle/>
          <a:p>
            <a:endParaRPr lang="en-US"/>
          </a:p>
        </p:txBody>
      </p:sp>
      <p:sp>
        <p:nvSpPr>
          <p:cNvPr id="137" name="Shape 135"/>
          <p:cNvSpPr/>
          <p:nvPr/>
        </p:nvSpPr>
        <p:spPr>
          <a:xfrm flipV="1">
            <a:off x="6430558" y="4018674"/>
            <a:ext cx="199756" cy="75995"/>
          </a:xfrm>
          <a:prstGeom prst="line">
            <a:avLst/>
          </a:prstGeom>
          <a:noFill/>
          <a:ln w="47625">
            <a:solidFill>
              <a:srgbClr val="A0824E"/>
            </a:solidFill>
            <a:prstDash val="solid"/>
          </a:ln>
        </p:spPr>
        <p:txBody>
          <a:bodyPr/>
          <a:lstStyle/>
          <a:p>
            <a:endParaRPr lang="en-US"/>
          </a:p>
        </p:txBody>
      </p:sp>
      <p:sp>
        <p:nvSpPr>
          <p:cNvPr id="138" name="Shape 136"/>
          <p:cNvSpPr/>
          <p:nvPr/>
        </p:nvSpPr>
        <p:spPr>
          <a:xfrm flipV="1">
            <a:off x="6630314" y="3942322"/>
            <a:ext cx="199756" cy="76351"/>
          </a:xfrm>
          <a:prstGeom prst="line">
            <a:avLst/>
          </a:prstGeom>
          <a:noFill/>
          <a:ln w="47625">
            <a:solidFill>
              <a:srgbClr val="A0824E"/>
            </a:solidFill>
            <a:prstDash val="solid"/>
          </a:ln>
        </p:spPr>
        <p:txBody>
          <a:bodyPr/>
          <a:lstStyle/>
          <a:p>
            <a:endParaRPr lang="en-US"/>
          </a:p>
        </p:txBody>
      </p:sp>
      <p:sp>
        <p:nvSpPr>
          <p:cNvPr id="139" name="Shape 137"/>
          <p:cNvSpPr/>
          <p:nvPr/>
        </p:nvSpPr>
        <p:spPr>
          <a:xfrm flipV="1">
            <a:off x="6830071" y="3866827"/>
            <a:ext cx="199240" cy="75496"/>
          </a:xfrm>
          <a:prstGeom prst="line">
            <a:avLst/>
          </a:prstGeom>
          <a:noFill/>
          <a:ln w="47625">
            <a:solidFill>
              <a:srgbClr val="A0824E"/>
            </a:solidFill>
            <a:prstDash val="solid"/>
          </a:ln>
        </p:spPr>
        <p:txBody>
          <a:bodyPr/>
          <a:lstStyle/>
          <a:p>
            <a:endParaRPr lang="en-US"/>
          </a:p>
        </p:txBody>
      </p:sp>
      <p:sp>
        <p:nvSpPr>
          <p:cNvPr id="140" name="Shape 138"/>
          <p:cNvSpPr/>
          <p:nvPr/>
        </p:nvSpPr>
        <p:spPr>
          <a:xfrm flipV="1">
            <a:off x="7029311" y="3793399"/>
            <a:ext cx="198209" cy="73427"/>
          </a:xfrm>
          <a:prstGeom prst="line">
            <a:avLst/>
          </a:prstGeom>
          <a:noFill/>
          <a:ln w="47625">
            <a:solidFill>
              <a:srgbClr val="A0824E"/>
            </a:solidFill>
            <a:prstDash val="solid"/>
          </a:ln>
        </p:spPr>
        <p:txBody>
          <a:bodyPr/>
          <a:lstStyle/>
          <a:p>
            <a:endParaRPr lang="en-US"/>
          </a:p>
        </p:txBody>
      </p:sp>
      <p:sp>
        <p:nvSpPr>
          <p:cNvPr id="141" name="Shape 139"/>
          <p:cNvSpPr/>
          <p:nvPr/>
        </p:nvSpPr>
        <p:spPr>
          <a:xfrm flipV="1">
            <a:off x="7227520" y="3723253"/>
            <a:ext cx="196662" cy="70146"/>
          </a:xfrm>
          <a:prstGeom prst="line">
            <a:avLst/>
          </a:prstGeom>
          <a:noFill/>
          <a:ln w="47625">
            <a:solidFill>
              <a:srgbClr val="A0824E"/>
            </a:solidFill>
            <a:prstDash val="solid"/>
          </a:ln>
        </p:spPr>
        <p:txBody>
          <a:bodyPr/>
          <a:lstStyle/>
          <a:p>
            <a:endParaRPr lang="en-US"/>
          </a:p>
        </p:txBody>
      </p:sp>
      <p:sp>
        <p:nvSpPr>
          <p:cNvPr id="142" name="Shape 140"/>
          <p:cNvSpPr/>
          <p:nvPr/>
        </p:nvSpPr>
        <p:spPr>
          <a:xfrm flipV="1">
            <a:off x="7424182" y="3657600"/>
            <a:ext cx="194599" cy="65653"/>
          </a:xfrm>
          <a:prstGeom prst="line">
            <a:avLst/>
          </a:prstGeom>
          <a:noFill/>
          <a:ln w="47625">
            <a:solidFill>
              <a:srgbClr val="A0824E"/>
            </a:solidFill>
            <a:prstDash val="solid"/>
          </a:ln>
        </p:spPr>
        <p:txBody>
          <a:bodyPr/>
          <a:lstStyle/>
          <a:p>
            <a:endParaRPr lang="en-US"/>
          </a:p>
        </p:txBody>
      </p:sp>
      <p:sp>
        <p:nvSpPr>
          <p:cNvPr id="143" name="Shape 141"/>
          <p:cNvSpPr/>
          <p:nvPr/>
        </p:nvSpPr>
        <p:spPr>
          <a:xfrm>
            <a:off x="7618781" y="3657600"/>
            <a:ext cx="914" cy="914"/>
          </a:xfrm>
          <a:prstGeom prst="line">
            <a:avLst/>
          </a:prstGeom>
          <a:noFill/>
          <a:ln w="47625">
            <a:solidFill>
              <a:srgbClr val="A0824E"/>
            </a:solidFill>
            <a:prstDash val="solid"/>
          </a:ln>
        </p:spPr>
        <p:txBody>
          <a:bodyPr/>
          <a:lstStyle/>
          <a:p>
            <a:endParaRPr lang="en-US"/>
          </a:p>
        </p:txBody>
      </p:sp>
      <p:sp>
        <p:nvSpPr>
          <p:cNvPr id="144" name="Shape 142"/>
          <p:cNvSpPr/>
          <p:nvPr/>
        </p:nvSpPr>
        <p:spPr>
          <a:xfrm flipV="1">
            <a:off x="7618781" y="3593718"/>
            <a:ext cx="201088" cy="63882"/>
          </a:xfrm>
          <a:prstGeom prst="line">
            <a:avLst/>
          </a:prstGeom>
          <a:noFill/>
          <a:ln w="47625">
            <a:solidFill>
              <a:srgbClr val="A0824E"/>
            </a:solidFill>
            <a:prstDash val="solid"/>
          </a:ln>
        </p:spPr>
        <p:txBody>
          <a:bodyPr/>
          <a:lstStyle/>
          <a:p>
            <a:endParaRPr lang="en-US"/>
          </a:p>
        </p:txBody>
      </p:sp>
      <p:sp>
        <p:nvSpPr>
          <p:cNvPr id="145" name="Shape 143"/>
          <p:cNvSpPr/>
          <p:nvPr/>
        </p:nvSpPr>
        <p:spPr>
          <a:xfrm flipV="1">
            <a:off x="7819869" y="3528838"/>
            <a:ext cx="212864" cy="64880"/>
          </a:xfrm>
          <a:prstGeom prst="line">
            <a:avLst/>
          </a:prstGeom>
          <a:noFill/>
          <a:ln w="47625">
            <a:solidFill>
              <a:srgbClr val="A0824E"/>
            </a:solidFill>
            <a:prstDash val="solid"/>
          </a:ln>
        </p:spPr>
        <p:txBody>
          <a:bodyPr/>
          <a:lstStyle/>
          <a:p>
            <a:endParaRPr lang="en-US"/>
          </a:p>
        </p:txBody>
      </p:sp>
      <p:sp>
        <p:nvSpPr>
          <p:cNvPr id="146" name="Shape 144"/>
          <p:cNvSpPr/>
          <p:nvPr/>
        </p:nvSpPr>
        <p:spPr>
          <a:xfrm flipV="1">
            <a:off x="8032733" y="3464100"/>
            <a:ext cx="219225" cy="64738"/>
          </a:xfrm>
          <a:prstGeom prst="line">
            <a:avLst/>
          </a:prstGeom>
          <a:noFill/>
          <a:ln w="47625">
            <a:solidFill>
              <a:srgbClr val="A0824E"/>
            </a:solidFill>
            <a:prstDash val="solid"/>
          </a:ln>
        </p:spPr>
        <p:txBody>
          <a:bodyPr/>
          <a:lstStyle/>
          <a:p>
            <a:endParaRPr lang="en-US"/>
          </a:p>
        </p:txBody>
      </p:sp>
      <p:sp>
        <p:nvSpPr>
          <p:cNvPr id="147" name="Shape 145"/>
          <p:cNvSpPr/>
          <p:nvPr/>
        </p:nvSpPr>
        <p:spPr>
          <a:xfrm flipV="1">
            <a:off x="8251958" y="3400646"/>
            <a:ext cx="220170" cy="63454"/>
          </a:xfrm>
          <a:prstGeom prst="line">
            <a:avLst/>
          </a:prstGeom>
          <a:noFill/>
          <a:ln w="47625">
            <a:solidFill>
              <a:srgbClr val="A0824E"/>
            </a:solidFill>
            <a:prstDash val="solid"/>
          </a:ln>
        </p:spPr>
        <p:txBody>
          <a:bodyPr/>
          <a:lstStyle/>
          <a:p>
            <a:endParaRPr lang="en-US"/>
          </a:p>
        </p:txBody>
      </p:sp>
      <p:sp>
        <p:nvSpPr>
          <p:cNvPr id="148" name="Shape 146"/>
          <p:cNvSpPr/>
          <p:nvPr/>
        </p:nvSpPr>
        <p:spPr>
          <a:xfrm flipV="1">
            <a:off x="8472128" y="3339617"/>
            <a:ext cx="215701" cy="61029"/>
          </a:xfrm>
          <a:prstGeom prst="line">
            <a:avLst/>
          </a:prstGeom>
          <a:noFill/>
          <a:ln w="47625">
            <a:solidFill>
              <a:srgbClr val="A0824E"/>
            </a:solidFill>
            <a:prstDash val="solid"/>
          </a:ln>
        </p:spPr>
        <p:txBody>
          <a:bodyPr/>
          <a:lstStyle/>
          <a:p>
            <a:endParaRPr lang="en-US"/>
          </a:p>
        </p:txBody>
      </p:sp>
      <p:sp>
        <p:nvSpPr>
          <p:cNvPr id="149" name="Shape 147"/>
          <p:cNvSpPr/>
          <p:nvPr/>
        </p:nvSpPr>
        <p:spPr>
          <a:xfrm flipV="1">
            <a:off x="8687829" y="3282155"/>
            <a:ext cx="205816" cy="57463"/>
          </a:xfrm>
          <a:prstGeom prst="line">
            <a:avLst/>
          </a:prstGeom>
          <a:noFill/>
          <a:ln w="47625">
            <a:solidFill>
              <a:srgbClr val="A0824E"/>
            </a:solidFill>
            <a:prstDash val="solid"/>
          </a:ln>
        </p:spPr>
        <p:txBody>
          <a:bodyPr/>
          <a:lstStyle/>
          <a:p>
            <a:endParaRPr lang="en-US"/>
          </a:p>
        </p:txBody>
      </p:sp>
      <p:sp>
        <p:nvSpPr>
          <p:cNvPr id="150" name="Shape 148"/>
          <p:cNvSpPr/>
          <p:nvPr/>
        </p:nvSpPr>
        <p:spPr>
          <a:xfrm flipV="1">
            <a:off x="8893645" y="3229399"/>
            <a:ext cx="190516" cy="52755"/>
          </a:xfrm>
          <a:prstGeom prst="line">
            <a:avLst/>
          </a:prstGeom>
          <a:noFill/>
          <a:ln w="47625">
            <a:solidFill>
              <a:srgbClr val="A0824E"/>
            </a:solidFill>
            <a:prstDash val="solid"/>
          </a:ln>
        </p:spPr>
        <p:txBody>
          <a:bodyPr/>
          <a:lstStyle/>
          <a:p>
            <a:endParaRPr lang="en-US"/>
          </a:p>
        </p:txBody>
      </p:sp>
      <p:sp>
        <p:nvSpPr>
          <p:cNvPr id="151" name="Shape 149"/>
          <p:cNvSpPr/>
          <p:nvPr/>
        </p:nvSpPr>
        <p:spPr>
          <a:xfrm flipV="1">
            <a:off x="9084161" y="3182492"/>
            <a:ext cx="169801" cy="46907"/>
          </a:xfrm>
          <a:prstGeom prst="line">
            <a:avLst/>
          </a:prstGeom>
          <a:noFill/>
          <a:ln w="47625">
            <a:solidFill>
              <a:srgbClr val="A0824E"/>
            </a:solidFill>
            <a:prstDash val="solid"/>
          </a:ln>
        </p:spPr>
        <p:txBody>
          <a:bodyPr/>
          <a:lstStyle/>
          <a:p>
            <a:endParaRPr lang="en-US"/>
          </a:p>
        </p:txBody>
      </p:sp>
      <p:sp>
        <p:nvSpPr>
          <p:cNvPr id="152" name="Shape 150"/>
          <p:cNvSpPr/>
          <p:nvPr/>
        </p:nvSpPr>
        <p:spPr>
          <a:xfrm flipV="1">
            <a:off x="9253962" y="3142575"/>
            <a:ext cx="143671" cy="39917"/>
          </a:xfrm>
          <a:prstGeom prst="line">
            <a:avLst/>
          </a:prstGeom>
          <a:noFill/>
          <a:ln w="47625">
            <a:solidFill>
              <a:srgbClr val="A0824E"/>
            </a:solidFill>
            <a:prstDash val="solid"/>
          </a:ln>
        </p:spPr>
        <p:txBody>
          <a:bodyPr/>
          <a:lstStyle/>
          <a:p>
            <a:endParaRPr lang="en-US"/>
          </a:p>
        </p:txBody>
      </p:sp>
      <p:sp>
        <p:nvSpPr>
          <p:cNvPr id="153" name="Shape 151"/>
          <p:cNvSpPr/>
          <p:nvPr/>
        </p:nvSpPr>
        <p:spPr>
          <a:xfrm flipV="1">
            <a:off x="9397634" y="3110789"/>
            <a:ext cx="112126" cy="31786"/>
          </a:xfrm>
          <a:prstGeom prst="line">
            <a:avLst/>
          </a:prstGeom>
          <a:noFill/>
          <a:ln w="47625">
            <a:solidFill>
              <a:srgbClr val="A0824E"/>
            </a:solidFill>
            <a:prstDash val="solid"/>
          </a:ln>
        </p:spPr>
        <p:txBody>
          <a:bodyPr/>
          <a:lstStyle/>
          <a:p>
            <a:endParaRPr lang="en-US"/>
          </a:p>
        </p:txBody>
      </p:sp>
      <p:sp>
        <p:nvSpPr>
          <p:cNvPr id="154" name="Text 152"/>
          <p:cNvSpPr/>
          <p:nvPr/>
        </p:nvSpPr>
        <p:spPr>
          <a:xfrm>
            <a:off x="457200" y="5513832"/>
            <a:ext cx="91440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TODAY</a:t>
            </a:r>
            <a:endParaRPr lang="en-US" sz="900" dirty="0"/>
          </a:p>
        </p:txBody>
      </p:sp>
      <p:sp>
        <p:nvSpPr>
          <p:cNvPr id="155" name="Text 153"/>
          <p:cNvSpPr/>
          <p:nvPr/>
        </p:nvSpPr>
        <p:spPr>
          <a:xfrm>
            <a:off x="1746504" y="5513832"/>
            <a:ext cx="91440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Y1</a:t>
            </a:r>
            <a:endParaRPr lang="en-US" sz="900" dirty="0"/>
          </a:p>
        </p:txBody>
      </p:sp>
      <p:sp>
        <p:nvSpPr>
          <p:cNvPr id="156" name="Text 154"/>
          <p:cNvSpPr/>
          <p:nvPr/>
        </p:nvSpPr>
        <p:spPr>
          <a:xfrm>
            <a:off x="3293669" y="5513832"/>
            <a:ext cx="91440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Y2</a:t>
            </a:r>
            <a:endParaRPr lang="en-US" sz="900" dirty="0"/>
          </a:p>
        </p:txBody>
      </p:sp>
      <p:sp>
        <p:nvSpPr>
          <p:cNvPr id="157" name="Text 155"/>
          <p:cNvSpPr/>
          <p:nvPr/>
        </p:nvSpPr>
        <p:spPr>
          <a:xfrm>
            <a:off x="5184648" y="5513832"/>
            <a:ext cx="91440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Y3</a:t>
            </a:r>
            <a:endParaRPr lang="en-US" sz="900" dirty="0"/>
          </a:p>
        </p:txBody>
      </p:sp>
      <p:sp>
        <p:nvSpPr>
          <p:cNvPr id="158" name="Text 156"/>
          <p:cNvSpPr/>
          <p:nvPr/>
        </p:nvSpPr>
        <p:spPr>
          <a:xfrm>
            <a:off x="7161581" y="5513832"/>
            <a:ext cx="91440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Y4</a:t>
            </a:r>
            <a:endParaRPr lang="en-US" sz="900" dirty="0"/>
          </a:p>
        </p:txBody>
      </p:sp>
      <p:sp>
        <p:nvSpPr>
          <p:cNvPr id="159" name="Text 157"/>
          <p:cNvSpPr/>
          <p:nvPr/>
        </p:nvSpPr>
        <p:spPr>
          <a:xfrm>
            <a:off x="9052560" y="5513832"/>
            <a:ext cx="914400" cy="228600"/>
          </a:xfrm>
          <a:prstGeom prst="rect">
            <a:avLst/>
          </a:prstGeom>
          <a:noFill/>
          <a:ln/>
        </p:spPr>
        <p:txBody>
          <a:bodyPr wrap="square" lIns="0" tIns="0" rIns="0" bIns="0" rtlCol="0" anchor="ctr"/>
          <a:lstStyle/>
          <a:p>
            <a:pPr marL="0" indent="0" algn="ctr">
              <a:buNone/>
            </a:pPr>
            <a:r>
              <a:rPr lang="en-US" sz="900" b="1" kern="0" spc="200" dirty="0">
                <a:solidFill>
                  <a:srgbClr val="6B6457"/>
                </a:solidFill>
                <a:latin typeface="Helvetica" pitchFamily="34" charset="0"/>
                <a:ea typeface="Helvetica" pitchFamily="34" charset="-122"/>
                <a:cs typeface="Helvetica" pitchFamily="34" charset="-120"/>
              </a:rPr>
              <a:t>Y5</a:t>
            </a:r>
            <a:endParaRPr lang="en-US" sz="900" dirty="0"/>
          </a:p>
        </p:txBody>
      </p:sp>
      <p:sp>
        <p:nvSpPr>
          <p:cNvPr id="160" name="Text 158"/>
          <p:cNvSpPr/>
          <p:nvPr/>
        </p:nvSpPr>
        <p:spPr>
          <a:xfrm>
            <a:off x="9646920" y="2854757"/>
            <a:ext cx="2377440" cy="274320"/>
          </a:xfrm>
          <a:prstGeom prst="rect">
            <a:avLst/>
          </a:prstGeom>
          <a:noFill/>
          <a:ln/>
        </p:spPr>
        <p:txBody>
          <a:bodyPr wrap="square" lIns="0" tIns="0" rIns="0" bIns="0" rtlCol="0" anchor="ctr"/>
          <a:lstStyle/>
          <a:p>
            <a:pPr marL="0" indent="0" algn="l">
              <a:buNone/>
            </a:pPr>
            <a:r>
              <a:rPr lang="en-US" sz="1000" b="1" kern="0" spc="200" dirty="0">
                <a:solidFill>
                  <a:srgbClr val="A0824E"/>
                </a:solidFill>
                <a:latin typeface="Helvetica" pitchFamily="34" charset="0"/>
                <a:ea typeface="Helvetica" pitchFamily="34" charset="-122"/>
                <a:cs typeface="Helvetica" pitchFamily="34" charset="-120"/>
              </a:rPr>
              <a:t>PRIVATE BANK</a:t>
            </a:r>
            <a:endParaRPr lang="en-US" sz="1000" dirty="0"/>
          </a:p>
        </p:txBody>
      </p:sp>
      <p:sp>
        <p:nvSpPr>
          <p:cNvPr id="161" name="Text 159"/>
          <p:cNvSpPr/>
          <p:nvPr/>
        </p:nvSpPr>
        <p:spPr>
          <a:xfrm>
            <a:off x="9646920" y="3101645"/>
            <a:ext cx="2377440" cy="274320"/>
          </a:xfrm>
          <a:prstGeom prst="rect">
            <a:avLst/>
          </a:prstGeom>
          <a:noFill/>
          <a:ln/>
        </p:spPr>
        <p:txBody>
          <a:bodyPr wrap="square" lIns="0" tIns="0" rIns="0" bIns="0" rtlCol="0" anchor="ctr"/>
          <a:lstStyle/>
          <a:p>
            <a:pPr marL="0" indent="0" algn="l">
              <a:buNone/>
            </a:pPr>
            <a:r>
              <a:rPr lang="en-US" sz="900" i="1" dirty="0">
                <a:solidFill>
                  <a:srgbClr val="6B6457"/>
                </a:solidFill>
                <a:latin typeface="Helvetica" pitchFamily="34" charset="0"/>
                <a:ea typeface="Helvetica" pitchFamily="34" charset="-122"/>
                <a:cs typeface="Helvetica" pitchFamily="34" charset="-120"/>
              </a:rPr>
              <a:t>with Coach — compounding</a:t>
            </a:r>
            <a:endParaRPr lang="en-US" sz="900" dirty="0"/>
          </a:p>
        </p:txBody>
      </p:sp>
      <p:sp>
        <p:nvSpPr>
          <p:cNvPr id="162" name="Text 160"/>
          <p:cNvSpPr/>
          <p:nvPr/>
        </p:nvSpPr>
        <p:spPr>
          <a:xfrm>
            <a:off x="9646920" y="4764024"/>
            <a:ext cx="2377440" cy="274320"/>
          </a:xfrm>
          <a:prstGeom prst="rect">
            <a:avLst/>
          </a:prstGeom>
          <a:noFill/>
          <a:ln/>
        </p:spPr>
        <p:txBody>
          <a:bodyPr wrap="square" lIns="0" tIns="0" rIns="0" bIns="0" rtlCol="0" anchor="ctr"/>
          <a:lstStyle/>
          <a:p>
            <a:pPr marL="0" indent="0" algn="l">
              <a:buNone/>
            </a:pPr>
            <a:r>
              <a:rPr lang="en-US" sz="1000" b="1" kern="0" spc="200" dirty="0">
                <a:solidFill>
                  <a:srgbClr val="14192A"/>
                </a:solidFill>
                <a:latin typeface="Helvetica" pitchFamily="34" charset="0"/>
                <a:ea typeface="Helvetica" pitchFamily="34" charset="-122"/>
                <a:cs typeface="Helvetica" pitchFamily="34" charset="-120"/>
              </a:rPr>
              <a:t>BEST COMPETITOR</a:t>
            </a:r>
            <a:endParaRPr lang="en-US" sz="1000" dirty="0"/>
          </a:p>
        </p:txBody>
      </p:sp>
      <p:sp>
        <p:nvSpPr>
          <p:cNvPr id="163" name="Text 161"/>
          <p:cNvSpPr/>
          <p:nvPr/>
        </p:nvSpPr>
        <p:spPr>
          <a:xfrm>
            <a:off x="9646920" y="5010912"/>
            <a:ext cx="2377440" cy="274320"/>
          </a:xfrm>
          <a:prstGeom prst="rect">
            <a:avLst/>
          </a:prstGeom>
          <a:noFill/>
          <a:ln/>
        </p:spPr>
        <p:txBody>
          <a:bodyPr wrap="square" lIns="0" tIns="0" rIns="0" bIns="0" rtlCol="0" anchor="ctr"/>
          <a:lstStyle/>
          <a:p>
            <a:pPr marL="0" indent="0" algn="l">
              <a:buNone/>
            </a:pPr>
            <a:r>
              <a:rPr lang="en-US" sz="900" i="1" dirty="0">
                <a:solidFill>
                  <a:srgbClr val="6B6457"/>
                </a:solidFill>
                <a:latin typeface="Helvetica" pitchFamily="34" charset="0"/>
                <a:ea typeface="Helvetica" pitchFamily="34" charset="-122"/>
                <a:cs typeface="Helvetica" pitchFamily="34" charset="-120"/>
              </a:rPr>
              <a:t>starts later, climbs slower</a:t>
            </a:r>
            <a:endParaRPr lang="en-US" sz="900" dirty="0"/>
          </a:p>
        </p:txBody>
      </p:sp>
      <p:sp>
        <p:nvSpPr>
          <p:cNvPr id="164" name="Shape 162"/>
          <p:cNvSpPr/>
          <p:nvPr/>
        </p:nvSpPr>
        <p:spPr>
          <a:xfrm>
            <a:off x="5890565" y="4357600"/>
            <a:ext cx="1737360" cy="329184"/>
          </a:xfrm>
          <a:prstGeom prst="rect">
            <a:avLst/>
          </a:prstGeom>
          <a:solidFill>
            <a:srgbClr val="F5F0EB"/>
          </a:solidFill>
          <a:ln/>
        </p:spPr>
        <p:txBody>
          <a:bodyPr/>
          <a:lstStyle/>
          <a:p>
            <a:endParaRPr lang="en-US"/>
          </a:p>
        </p:txBody>
      </p:sp>
      <p:sp>
        <p:nvSpPr>
          <p:cNvPr id="165" name="Text 163"/>
          <p:cNvSpPr/>
          <p:nvPr/>
        </p:nvSpPr>
        <p:spPr>
          <a:xfrm>
            <a:off x="5890565" y="4357600"/>
            <a:ext cx="1737360" cy="329184"/>
          </a:xfrm>
          <a:prstGeom prst="rect">
            <a:avLst/>
          </a:prstGeom>
          <a:noFill/>
          <a:ln/>
        </p:spPr>
        <p:txBody>
          <a:bodyPr wrap="square" lIns="0" tIns="0" rIns="0" bIns="0" rtlCol="0" anchor="ctr"/>
          <a:lstStyle/>
          <a:p>
            <a:pPr marL="0" indent="0" algn="ctr">
              <a:buNone/>
            </a:pPr>
            <a:r>
              <a:rPr lang="en-US" sz="1300" b="1" kern="0" spc="400" dirty="0">
                <a:solidFill>
                  <a:srgbClr val="A0824E"/>
                </a:solidFill>
                <a:latin typeface="Arial Black" pitchFamily="34" charset="0"/>
                <a:ea typeface="Arial Black" pitchFamily="34" charset="-122"/>
                <a:cs typeface="Arial Black" pitchFamily="34" charset="-120"/>
              </a:rPr>
              <a:t>THE MOAT</a:t>
            </a:r>
            <a:endParaRPr lang="en-US" sz="1300" dirty="0"/>
          </a:p>
        </p:txBody>
      </p:sp>
      <p:sp>
        <p:nvSpPr>
          <p:cNvPr id="166" name="Shape 164"/>
          <p:cNvSpPr/>
          <p:nvPr/>
        </p:nvSpPr>
        <p:spPr>
          <a:xfrm>
            <a:off x="3677717" y="4773168"/>
            <a:ext cx="146304" cy="146304"/>
          </a:xfrm>
          <a:prstGeom prst="ellipse">
            <a:avLst/>
          </a:prstGeom>
          <a:solidFill>
            <a:srgbClr val="A0824E"/>
          </a:solidFill>
          <a:ln w="19050">
            <a:solidFill>
              <a:srgbClr val="FFFFFF"/>
            </a:solidFill>
            <a:prstDash val="solid"/>
          </a:ln>
        </p:spPr>
        <p:txBody>
          <a:bodyPr/>
          <a:lstStyle/>
          <a:p>
            <a:endParaRPr lang="en-US"/>
          </a:p>
        </p:txBody>
      </p:sp>
      <p:sp>
        <p:nvSpPr>
          <p:cNvPr id="167" name="Text 165"/>
          <p:cNvSpPr/>
          <p:nvPr/>
        </p:nvSpPr>
        <p:spPr>
          <a:xfrm>
            <a:off x="2653589" y="4343400"/>
            <a:ext cx="2194560" cy="274320"/>
          </a:xfrm>
          <a:prstGeom prst="rect">
            <a:avLst/>
          </a:prstGeom>
          <a:noFill/>
          <a:ln/>
        </p:spPr>
        <p:txBody>
          <a:bodyPr wrap="square" lIns="0" tIns="0" rIns="0" bIns="0" rtlCol="0" anchor="ctr"/>
          <a:lstStyle/>
          <a:p>
            <a:pPr marL="0" indent="0" algn="ctr">
              <a:buNone/>
            </a:pPr>
            <a:r>
              <a:rPr lang="en-US" sz="1000" b="1" i="1" dirty="0">
                <a:solidFill>
                  <a:srgbClr val="14192A"/>
                </a:solidFill>
                <a:latin typeface="Helvetica" pitchFamily="34" charset="0"/>
                <a:ea typeface="Helvetica" pitchFamily="34" charset="-122"/>
                <a:cs typeface="Helvetica" pitchFamily="34" charset="-120"/>
              </a:rPr>
              <a:t>Patterns emerging</a:t>
            </a:r>
            <a:endParaRPr lang="en-US" sz="1000" dirty="0"/>
          </a:p>
        </p:txBody>
      </p:sp>
      <p:sp>
        <p:nvSpPr>
          <p:cNvPr id="168" name="Shape 166"/>
          <p:cNvSpPr/>
          <p:nvPr/>
        </p:nvSpPr>
        <p:spPr>
          <a:xfrm>
            <a:off x="5568696" y="4297680"/>
            <a:ext cx="146304" cy="146304"/>
          </a:xfrm>
          <a:prstGeom prst="ellipse">
            <a:avLst/>
          </a:prstGeom>
          <a:solidFill>
            <a:srgbClr val="A0824E"/>
          </a:solidFill>
          <a:ln w="19050">
            <a:solidFill>
              <a:srgbClr val="FFFFFF"/>
            </a:solidFill>
            <a:prstDash val="solid"/>
          </a:ln>
        </p:spPr>
        <p:txBody>
          <a:bodyPr/>
          <a:lstStyle/>
          <a:p>
            <a:endParaRPr lang="en-US"/>
          </a:p>
        </p:txBody>
      </p:sp>
      <p:sp>
        <p:nvSpPr>
          <p:cNvPr id="169" name="Text 167"/>
          <p:cNvSpPr/>
          <p:nvPr/>
        </p:nvSpPr>
        <p:spPr>
          <a:xfrm>
            <a:off x="4544568" y="3867912"/>
            <a:ext cx="2194560" cy="274320"/>
          </a:xfrm>
          <a:prstGeom prst="rect">
            <a:avLst/>
          </a:prstGeom>
          <a:noFill/>
          <a:ln/>
        </p:spPr>
        <p:txBody>
          <a:bodyPr wrap="square" lIns="0" tIns="0" rIns="0" bIns="0" rtlCol="0" anchor="ctr"/>
          <a:lstStyle/>
          <a:p>
            <a:pPr marL="0" indent="0" algn="ctr">
              <a:buNone/>
            </a:pPr>
            <a:r>
              <a:rPr lang="en-US" sz="1000" b="1" i="1" dirty="0">
                <a:solidFill>
                  <a:srgbClr val="14192A"/>
                </a:solidFill>
                <a:latin typeface="Helvetica" pitchFamily="34" charset="0"/>
                <a:ea typeface="Helvetica" pitchFamily="34" charset="-122"/>
                <a:cs typeface="Helvetica" pitchFamily="34" charset="-120"/>
              </a:rPr>
              <a:t>Decisively ahead</a:t>
            </a:r>
            <a:endParaRPr lang="en-US" sz="1000" dirty="0"/>
          </a:p>
        </p:txBody>
      </p:sp>
      <p:sp>
        <p:nvSpPr>
          <p:cNvPr id="170" name="Shape 168"/>
          <p:cNvSpPr/>
          <p:nvPr/>
        </p:nvSpPr>
        <p:spPr>
          <a:xfrm>
            <a:off x="8319211" y="3350355"/>
            <a:ext cx="146304" cy="146304"/>
          </a:xfrm>
          <a:prstGeom prst="ellipse">
            <a:avLst/>
          </a:prstGeom>
          <a:solidFill>
            <a:srgbClr val="A0824E"/>
          </a:solidFill>
          <a:ln w="19050">
            <a:solidFill>
              <a:srgbClr val="FFFFFF"/>
            </a:solidFill>
            <a:prstDash val="solid"/>
          </a:ln>
        </p:spPr>
        <p:txBody>
          <a:bodyPr/>
          <a:lstStyle/>
          <a:p>
            <a:endParaRPr lang="en-US"/>
          </a:p>
        </p:txBody>
      </p:sp>
      <p:sp>
        <p:nvSpPr>
          <p:cNvPr id="171" name="Text 169"/>
          <p:cNvSpPr/>
          <p:nvPr/>
        </p:nvSpPr>
        <p:spPr>
          <a:xfrm>
            <a:off x="7295083" y="2920587"/>
            <a:ext cx="2194560" cy="274320"/>
          </a:xfrm>
          <a:prstGeom prst="rect">
            <a:avLst/>
          </a:prstGeom>
          <a:noFill/>
          <a:ln/>
        </p:spPr>
        <p:txBody>
          <a:bodyPr wrap="square" lIns="0" tIns="0" rIns="0" bIns="0" rtlCol="0" anchor="ctr"/>
          <a:lstStyle/>
          <a:p>
            <a:pPr marL="0" indent="0" algn="ctr">
              <a:buNone/>
            </a:pPr>
            <a:r>
              <a:rPr lang="en-US" sz="1000" b="1" i="1" dirty="0">
                <a:solidFill>
                  <a:srgbClr val="14192A"/>
                </a:solidFill>
                <a:latin typeface="Helvetica" pitchFamily="34" charset="0"/>
                <a:ea typeface="Helvetica" pitchFamily="34" charset="-122"/>
                <a:cs typeface="Helvetica" pitchFamily="34" charset="-120"/>
              </a:rPr>
              <a:t>Industry-defining</a:t>
            </a:r>
            <a:endParaRPr lang="en-US" sz="1000" dirty="0"/>
          </a:p>
        </p:txBody>
      </p:sp>
      <p:sp>
        <p:nvSpPr>
          <p:cNvPr id="172" name="Shape 170"/>
          <p:cNvSpPr/>
          <p:nvPr/>
        </p:nvSpPr>
        <p:spPr>
          <a:xfrm>
            <a:off x="685800" y="5806440"/>
            <a:ext cx="10817352" cy="502920"/>
          </a:xfrm>
          <a:prstGeom prst="rect">
            <a:avLst/>
          </a:prstGeom>
          <a:solidFill>
            <a:srgbClr val="0E1626"/>
          </a:solidFill>
          <a:ln/>
        </p:spPr>
        <p:txBody>
          <a:bodyPr/>
          <a:lstStyle/>
          <a:p>
            <a:endParaRPr lang="en-US"/>
          </a:p>
        </p:txBody>
      </p:sp>
      <p:sp>
        <p:nvSpPr>
          <p:cNvPr id="173" name="Text 171"/>
          <p:cNvSpPr/>
          <p:nvPr/>
        </p:nvSpPr>
        <p:spPr>
          <a:xfrm>
            <a:off x="685800" y="5806440"/>
            <a:ext cx="10817352" cy="502920"/>
          </a:xfrm>
          <a:prstGeom prst="rect">
            <a:avLst/>
          </a:prstGeom>
          <a:noFill/>
          <a:ln/>
        </p:spPr>
        <p:txBody>
          <a:bodyPr wrap="square" lIns="0" tIns="0" rIns="0" bIns="0" rtlCol="0" anchor="ctr"/>
          <a:lstStyle/>
          <a:p>
            <a:pPr marL="0" indent="0" algn="ctr">
              <a:buNone/>
            </a:pPr>
            <a:r>
              <a:rPr lang="en-US" sz="1400" i="1" dirty="0">
                <a:solidFill>
                  <a:srgbClr val="E6E1D4"/>
                </a:solidFill>
                <a:latin typeface="Helvetica" pitchFamily="34" charset="0"/>
                <a:ea typeface="Helvetica" pitchFamily="34" charset="-122"/>
                <a:cs typeface="Helvetica" pitchFamily="34" charset="-120"/>
              </a:rPr>
              <a:t>We are not building a head start. </a:t>
            </a:r>
            <a:r>
              <a:rPr lang="en-US" sz="1400" b="1" i="1" dirty="0">
                <a:solidFill>
                  <a:srgbClr val="C4A96A"/>
                </a:solidFill>
                <a:latin typeface="Helvetica" pitchFamily="34" charset="0"/>
                <a:ea typeface="Helvetica" pitchFamily="34" charset="-122"/>
                <a:cs typeface="Helvetica" pitchFamily="34" charset="-120"/>
              </a:rPr>
              <a:t>We are building an unreachable lead.</a:t>
            </a:r>
            <a:endParaRPr lang="en-US" sz="1400" dirty="0"/>
          </a:p>
        </p:txBody>
      </p:sp>
      <p:sp>
        <p:nvSpPr>
          <p:cNvPr id="174" name="Text 172"/>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175" name="Text 173"/>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13  /  19</a:t>
            </a:r>
            <a:endParaRPr lang="en-US" sz="800" dirty="0"/>
          </a:p>
        </p:txBody>
      </p:sp>
      <p:sp>
        <p:nvSpPr>
          <p:cNvPr id="176" name="Text 174"/>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177" name="Shape 175"/>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COVERAGE MODEL</a:t>
            </a:r>
            <a:endParaRPr lang="en-US" sz="900" dirty="0"/>
          </a:p>
        </p:txBody>
      </p:sp>
      <p:sp>
        <p:nvSpPr>
          <p:cNvPr id="3" name="Text 1"/>
          <p:cNvSpPr/>
          <p:nvPr/>
        </p:nvSpPr>
        <p:spPr>
          <a:xfrm>
            <a:off x="685800" y="868680"/>
            <a:ext cx="10789920" cy="914400"/>
          </a:xfrm>
          <a:prstGeom prst="rect">
            <a:avLst/>
          </a:prstGeom>
          <a:noFill/>
          <a:ln/>
        </p:spPr>
        <p:txBody>
          <a:bodyPr wrap="square" lIns="0" tIns="0" rIns="0" bIns="0" rtlCol="0" anchor="t"/>
          <a:lstStyle/>
          <a:p>
            <a:pPr marL="0" indent="0" algn="l">
              <a:buNone/>
            </a:pPr>
            <a:r>
              <a:rPr lang="en-US" sz="4000" b="1" dirty="0">
                <a:solidFill>
                  <a:srgbClr val="14192A"/>
                </a:solidFill>
                <a:latin typeface="Arial Black" pitchFamily="34" charset="0"/>
                <a:ea typeface="Arial Black" pitchFamily="34" charset="-122"/>
                <a:cs typeface="Arial Black" pitchFamily="34" charset="-120"/>
              </a:rPr>
              <a:t>The tyranny of the calendar ends.</a:t>
            </a:r>
            <a:endParaRPr lang="en-US" sz="4000" dirty="0"/>
          </a:p>
        </p:txBody>
      </p:sp>
      <p:sp>
        <p:nvSpPr>
          <p:cNvPr id="4" name="Text 2"/>
          <p:cNvSpPr/>
          <p:nvPr/>
        </p:nvSpPr>
        <p:spPr>
          <a:xfrm>
            <a:off x="685800" y="1874520"/>
            <a:ext cx="10789920" cy="45720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Attention has always been rationed. It won't be much longer.</a:t>
            </a:r>
            <a:endParaRPr lang="en-US" sz="1300" dirty="0"/>
          </a:p>
        </p:txBody>
      </p:sp>
      <p:sp>
        <p:nvSpPr>
          <p:cNvPr id="5" name="Shape 3"/>
          <p:cNvSpPr/>
          <p:nvPr/>
        </p:nvSpPr>
        <p:spPr>
          <a:xfrm>
            <a:off x="685800" y="2697480"/>
            <a:ext cx="5394960" cy="3337560"/>
          </a:xfrm>
          <a:prstGeom prst="rect">
            <a:avLst/>
          </a:prstGeom>
          <a:solidFill>
            <a:srgbClr val="EAE3D5"/>
          </a:solidFill>
          <a:ln w="9525">
            <a:solidFill>
              <a:srgbClr val="D6D0C2"/>
            </a:solidFill>
            <a:prstDash val="solid"/>
          </a:ln>
        </p:spPr>
        <p:txBody>
          <a:bodyPr/>
          <a:lstStyle/>
          <a:p>
            <a:endParaRPr lang="en-US"/>
          </a:p>
        </p:txBody>
      </p:sp>
      <p:sp>
        <p:nvSpPr>
          <p:cNvPr id="6" name="Text 4"/>
          <p:cNvSpPr/>
          <p:nvPr/>
        </p:nvSpPr>
        <p:spPr>
          <a:xfrm>
            <a:off x="1143000" y="3063240"/>
            <a:ext cx="2743200" cy="274320"/>
          </a:xfrm>
          <a:prstGeom prst="rect">
            <a:avLst/>
          </a:prstGeom>
          <a:noFill/>
          <a:ln/>
        </p:spPr>
        <p:txBody>
          <a:bodyPr wrap="square" lIns="0" tIns="0" rIns="0" bIns="0" rtlCol="0" anchor="ctr"/>
          <a:lstStyle/>
          <a:p>
            <a:pPr marL="0" indent="0">
              <a:buNone/>
            </a:pPr>
            <a:r>
              <a:rPr lang="en-US" sz="1000" b="1" kern="0" spc="400" dirty="0">
                <a:solidFill>
                  <a:srgbClr val="6B5D44"/>
                </a:solidFill>
                <a:latin typeface="Helvetica" pitchFamily="34" charset="0"/>
                <a:ea typeface="Helvetica" pitchFamily="34" charset="-122"/>
                <a:cs typeface="Helvetica" pitchFamily="34" charset="-120"/>
              </a:rPr>
              <a:t>TODAY</a:t>
            </a:r>
            <a:endParaRPr lang="en-US" sz="1000" dirty="0"/>
          </a:p>
        </p:txBody>
      </p:sp>
      <p:sp>
        <p:nvSpPr>
          <p:cNvPr id="7" name="Text 5"/>
          <p:cNvSpPr/>
          <p:nvPr/>
        </p:nvSpPr>
        <p:spPr>
          <a:xfrm>
            <a:off x="1143000" y="3429000"/>
            <a:ext cx="4480560" cy="45720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Attention is rationed.</a:t>
            </a:r>
            <a:endParaRPr lang="en-US" sz="2200" dirty="0"/>
          </a:p>
        </p:txBody>
      </p:sp>
      <p:sp>
        <p:nvSpPr>
          <p:cNvPr id="8" name="Shape 6"/>
          <p:cNvSpPr/>
          <p:nvPr/>
        </p:nvSpPr>
        <p:spPr>
          <a:xfrm>
            <a:off x="1143000" y="4343400"/>
            <a:ext cx="2194560" cy="320040"/>
          </a:xfrm>
          <a:prstGeom prst="rect">
            <a:avLst/>
          </a:prstGeom>
          <a:solidFill>
            <a:srgbClr val="14192A"/>
          </a:solidFill>
          <a:ln/>
        </p:spPr>
        <p:txBody>
          <a:bodyPr/>
          <a:lstStyle/>
          <a:p>
            <a:endParaRPr lang="en-US"/>
          </a:p>
        </p:txBody>
      </p:sp>
      <p:sp>
        <p:nvSpPr>
          <p:cNvPr id="9" name="Text 7"/>
          <p:cNvSpPr/>
          <p:nvPr/>
        </p:nvSpPr>
        <p:spPr>
          <a:xfrm>
            <a:off x="3474720" y="4343400"/>
            <a:ext cx="2926080" cy="320040"/>
          </a:xfrm>
          <a:prstGeom prst="rect">
            <a:avLst/>
          </a:prstGeom>
          <a:noFill/>
          <a:ln/>
        </p:spPr>
        <p:txBody>
          <a:bodyPr wrap="square" lIns="0" tIns="0" rIns="0" bIns="0" rtlCol="0" anchor="ctr"/>
          <a:lstStyle/>
          <a:p>
            <a:pPr marL="0" indent="0">
              <a:buNone/>
            </a:pPr>
            <a:r>
              <a:rPr lang="en-US" sz="1000" b="1" dirty="0">
                <a:solidFill>
                  <a:srgbClr val="14192A"/>
                </a:solidFill>
                <a:latin typeface="Helvetica" pitchFamily="34" charset="0"/>
                <a:ea typeface="Helvetica" pitchFamily="34" charset="-122"/>
                <a:cs typeface="Helvetica" pitchFamily="34" charset="-120"/>
              </a:rPr>
              <a:t>Top clients — deep engagement</a:t>
            </a:r>
            <a:endParaRPr lang="en-US" sz="1000" dirty="0"/>
          </a:p>
        </p:txBody>
      </p:sp>
      <p:sp>
        <p:nvSpPr>
          <p:cNvPr id="10" name="Shape 8"/>
          <p:cNvSpPr/>
          <p:nvPr/>
        </p:nvSpPr>
        <p:spPr>
          <a:xfrm>
            <a:off x="1143000" y="4800600"/>
            <a:ext cx="1280160" cy="320040"/>
          </a:xfrm>
          <a:prstGeom prst="rect">
            <a:avLst/>
          </a:prstGeom>
          <a:solidFill>
            <a:srgbClr val="6E6658"/>
          </a:solidFill>
          <a:ln/>
        </p:spPr>
        <p:txBody>
          <a:bodyPr/>
          <a:lstStyle/>
          <a:p>
            <a:endParaRPr lang="en-US"/>
          </a:p>
        </p:txBody>
      </p:sp>
      <p:sp>
        <p:nvSpPr>
          <p:cNvPr id="11" name="Text 9"/>
          <p:cNvSpPr/>
          <p:nvPr/>
        </p:nvSpPr>
        <p:spPr>
          <a:xfrm>
            <a:off x="2560320" y="4800600"/>
            <a:ext cx="2926080" cy="320040"/>
          </a:xfrm>
          <a:prstGeom prst="rect">
            <a:avLst/>
          </a:prstGeom>
          <a:noFill/>
          <a:ln/>
        </p:spPr>
        <p:txBody>
          <a:bodyPr wrap="square" lIns="0" tIns="0" rIns="0" bIns="0" rtlCol="0" anchor="ctr"/>
          <a:lstStyle/>
          <a:p>
            <a:pPr marL="0" indent="0">
              <a:buNone/>
            </a:pPr>
            <a:r>
              <a:rPr lang="en-US" sz="1000" dirty="0">
                <a:solidFill>
                  <a:srgbClr val="3D3830"/>
                </a:solidFill>
                <a:latin typeface="Helvetica" pitchFamily="34" charset="0"/>
                <a:ea typeface="Helvetica" pitchFamily="34" charset="-122"/>
                <a:cs typeface="Helvetica" pitchFamily="34" charset="-120"/>
              </a:rPr>
              <a:t>Middle — episodic check-ins</a:t>
            </a:r>
            <a:endParaRPr lang="en-US" sz="1000" dirty="0"/>
          </a:p>
        </p:txBody>
      </p:sp>
      <p:sp>
        <p:nvSpPr>
          <p:cNvPr id="12" name="Shape 10"/>
          <p:cNvSpPr/>
          <p:nvPr/>
        </p:nvSpPr>
        <p:spPr>
          <a:xfrm>
            <a:off x="1143000" y="5257800"/>
            <a:ext cx="457200" cy="320040"/>
          </a:xfrm>
          <a:prstGeom prst="rect">
            <a:avLst/>
          </a:prstGeom>
          <a:solidFill>
            <a:srgbClr val="9A9078"/>
          </a:solidFill>
          <a:ln/>
        </p:spPr>
        <p:txBody>
          <a:bodyPr/>
          <a:lstStyle/>
          <a:p>
            <a:endParaRPr lang="en-US"/>
          </a:p>
        </p:txBody>
      </p:sp>
      <p:sp>
        <p:nvSpPr>
          <p:cNvPr id="13" name="Text 11"/>
          <p:cNvSpPr/>
          <p:nvPr/>
        </p:nvSpPr>
        <p:spPr>
          <a:xfrm>
            <a:off x="1737360" y="5257800"/>
            <a:ext cx="2926080" cy="320040"/>
          </a:xfrm>
          <a:prstGeom prst="rect">
            <a:avLst/>
          </a:prstGeom>
          <a:noFill/>
          <a:ln/>
        </p:spPr>
        <p:txBody>
          <a:bodyPr wrap="square" lIns="0" tIns="0" rIns="0" bIns="0" rtlCol="0" anchor="ctr"/>
          <a:lstStyle/>
          <a:p>
            <a:pPr marL="0" indent="0">
              <a:buNone/>
            </a:pPr>
            <a:r>
              <a:rPr lang="en-US" sz="1000" dirty="0">
                <a:solidFill>
                  <a:srgbClr val="6B6457"/>
                </a:solidFill>
                <a:latin typeface="Helvetica" pitchFamily="34" charset="0"/>
                <a:ea typeface="Helvetica" pitchFamily="34" charset="-122"/>
                <a:cs typeface="Helvetica" pitchFamily="34" charset="-120"/>
              </a:rPr>
              <a:t>Long tail — barely served</a:t>
            </a:r>
            <a:endParaRPr lang="en-US" sz="1000" dirty="0"/>
          </a:p>
        </p:txBody>
      </p:sp>
      <p:sp>
        <p:nvSpPr>
          <p:cNvPr id="14" name="Shape 12"/>
          <p:cNvSpPr/>
          <p:nvPr/>
        </p:nvSpPr>
        <p:spPr>
          <a:xfrm>
            <a:off x="6400800" y="2697480"/>
            <a:ext cx="5394960" cy="3337560"/>
          </a:xfrm>
          <a:prstGeom prst="rect">
            <a:avLst/>
          </a:prstGeom>
          <a:solidFill>
            <a:srgbClr val="EDE2CE"/>
          </a:solidFill>
          <a:ln w="12700">
            <a:solidFill>
              <a:srgbClr val="A0824E"/>
            </a:solidFill>
            <a:prstDash val="solid"/>
          </a:ln>
        </p:spPr>
        <p:txBody>
          <a:bodyPr/>
          <a:lstStyle/>
          <a:p>
            <a:endParaRPr lang="en-US"/>
          </a:p>
        </p:txBody>
      </p:sp>
      <p:sp>
        <p:nvSpPr>
          <p:cNvPr id="15" name="Text 13"/>
          <p:cNvSpPr/>
          <p:nvPr/>
        </p:nvSpPr>
        <p:spPr>
          <a:xfrm>
            <a:off x="6858000" y="3063240"/>
            <a:ext cx="2743200" cy="274320"/>
          </a:xfrm>
          <a:prstGeom prst="rect">
            <a:avLst/>
          </a:prstGeom>
          <a:noFill/>
          <a:ln/>
        </p:spPr>
        <p:txBody>
          <a:bodyPr wrap="square" lIns="0" tIns="0" rIns="0" bIns="0" rtlCol="0" anchor="ctr"/>
          <a:lstStyle/>
          <a:p>
            <a:pPr marL="0" indent="0">
              <a:buNone/>
            </a:pPr>
            <a:r>
              <a:rPr lang="en-US" sz="1000" b="1" kern="0" spc="400" dirty="0">
                <a:solidFill>
                  <a:srgbClr val="A0824E"/>
                </a:solidFill>
                <a:latin typeface="Helvetica" pitchFamily="34" charset="0"/>
                <a:ea typeface="Helvetica" pitchFamily="34" charset="-122"/>
                <a:cs typeface="Helvetica" pitchFamily="34" charset="-120"/>
              </a:rPr>
              <a:t>TOMORROW</a:t>
            </a:r>
            <a:endParaRPr lang="en-US" sz="1000" dirty="0"/>
          </a:p>
        </p:txBody>
      </p:sp>
      <p:sp>
        <p:nvSpPr>
          <p:cNvPr id="16" name="Text 14"/>
          <p:cNvSpPr/>
          <p:nvPr/>
        </p:nvSpPr>
        <p:spPr>
          <a:xfrm>
            <a:off x="6858000" y="3429000"/>
            <a:ext cx="4480560" cy="45720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Every client, every day.</a:t>
            </a:r>
            <a:endParaRPr lang="en-US" sz="2200" dirty="0"/>
          </a:p>
        </p:txBody>
      </p:sp>
      <p:sp>
        <p:nvSpPr>
          <p:cNvPr id="17" name="Shape 15"/>
          <p:cNvSpPr/>
          <p:nvPr/>
        </p:nvSpPr>
        <p:spPr>
          <a:xfrm>
            <a:off x="6858000" y="4389120"/>
            <a:ext cx="4480560" cy="320040"/>
          </a:xfrm>
          <a:prstGeom prst="rect">
            <a:avLst/>
          </a:prstGeom>
          <a:solidFill>
            <a:srgbClr val="A0824E"/>
          </a:solidFill>
          <a:ln/>
        </p:spPr>
        <p:txBody>
          <a:bodyPr/>
          <a:lstStyle/>
          <a:p>
            <a:endParaRPr lang="en-US"/>
          </a:p>
        </p:txBody>
      </p:sp>
      <p:sp>
        <p:nvSpPr>
          <p:cNvPr id="18" name="Text 16"/>
          <p:cNvSpPr/>
          <p:nvPr/>
        </p:nvSpPr>
        <p:spPr>
          <a:xfrm>
            <a:off x="6858000" y="4389120"/>
            <a:ext cx="448056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Black" pitchFamily="34" charset="0"/>
                <a:ea typeface="Arial Black" pitchFamily="34" charset="-122"/>
                <a:cs typeface="Arial Black" pitchFamily="34" charset="-120"/>
              </a:rPr>
              <a:t>Continuous  •  Proactive  •  Personalized</a:t>
            </a:r>
            <a:endParaRPr lang="en-US" sz="1100" dirty="0"/>
          </a:p>
        </p:txBody>
      </p:sp>
      <p:sp>
        <p:nvSpPr>
          <p:cNvPr id="19" name="Text 17"/>
          <p:cNvSpPr/>
          <p:nvPr/>
        </p:nvSpPr>
        <p:spPr>
          <a:xfrm>
            <a:off x="6858000" y="5074920"/>
            <a:ext cx="4480560" cy="822960"/>
          </a:xfrm>
          <a:prstGeom prst="rect">
            <a:avLst/>
          </a:prstGeom>
          <a:noFill/>
          <a:ln/>
        </p:spPr>
        <p:txBody>
          <a:bodyPr wrap="square" lIns="0" tIns="0" rIns="0" bIns="0" rtlCol="0" anchor="ctr"/>
          <a:lstStyle/>
          <a:p>
            <a:pPr marL="0" indent="0" algn="l">
              <a:buNone/>
            </a:pPr>
            <a:r>
              <a:rPr lang="en-US" sz="1300" b="1" dirty="0">
                <a:solidFill>
                  <a:srgbClr val="14192A"/>
                </a:solidFill>
                <a:latin typeface="Helvetica" pitchFamily="34" charset="0"/>
                <a:ea typeface="Helvetica" pitchFamily="34" charset="-122"/>
                <a:cs typeface="Helvetica" pitchFamily="34" charset="-120"/>
              </a:rPr>
              <a:t>Coach covers the base. </a:t>
            </a:r>
            <a:r>
              <a:rPr lang="en-US" sz="1300" dirty="0">
                <a:solidFill>
                  <a:srgbClr val="3D3830"/>
                </a:solidFill>
                <a:latin typeface="Helvetica" pitchFamily="34" charset="0"/>
                <a:ea typeface="Helvetica" pitchFamily="34" charset="-122"/>
                <a:cs typeface="Helvetica" pitchFamily="34" charset="-120"/>
              </a:rPr>
              <a:t>Advisors show up for the moments that matter.</a:t>
            </a:r>
            <a:endParaRPr lang="en-US" sz="1300" dirty="0"/>
          </a:p>
        </p:txBody>
      </p:sp>
      <p:sp>
        <p:nvSpPr>
          <p:cNvPr id="20" name="Text 18"/>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21" name="Text 19"/>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14  /  19</a:t>
            </a:r>
            <a:endParaRPr lang="en-US" sz="800" dirty="0"/>
          </a:p>
        </p:txBody>
      </p:sp>
      <p:sp>
        <p:nvSpPr>
          <p:cNvPr id="22" name="Text 20"/>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23" name="Shape 21"/>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CONCRETE SCENES</a:t>
            </a:r>
            <a:endParaRPr lang="en-US" sz="900" dirty="0"/>
          </a:p>
        </p:txBody>
      </p:sp>
      <p:sp>
        <p:nvSpPr>
          <p:cNvPr id="3" name="Text 1"/>
          <p:cNvSpPr/>
          <p:nvPr/>
        </p:nvSpPr>
        <p:spPr>
          <a:xfrm>
            <a:off x="685800" y="868680"/>
            <a:ext cx="10789920" cy="822960"/>
          </a:xfrm>
          <a:prstGeom prst="rect">
            <a:avLst/>
          </a:prstGeom>
          <a:noFill/>
          <a:ln/>
        </p:spPr>
        <p:txBody>
          <a:bodyPr wrap="square" lIns="0" tIns="0" rIns="0" bIns="0" rtlCol="0" anchor="t"/>
          <a:lstStyle/>
          <a:p>
            <a:pPr marL="0" indent="0" algn="l">
              <a:buNone/>
            </a:pPr>
            <a:r>
              <a:rPr lang="en-US" sz="3400" b="1" dirty="0">
                <a:solidFill>
                  <a:srgbClr val="14192A"/>
                </a:solidFill>
                <a:latin typeface="Arial Black" pitchFamily="34" charset="0"/>
                <a:ea typeface="Arial Black" pitchFamily="34" charset="-122"/>
                <a:cs typeface="Arial Black" pitchFamily="34" charset="-120"/>
              </a:rPr>
              <a:t>What becomes possible that wasn't before.</a:t>
            </a:r>
            <a:endParaRPr lang="en-US" sz="3400" dirty="0"/>
          </a:p>
        </p:txBody>
      </p:sp>
      <p:sp>
        <p:nvSpPr>
          <p:cNvPr id="4" name="Text 2"/>
          <p:cNvSpPr/>
          <p:nvPr/>
        </p:nvSpPr>
        <p:spPr>
          <a:xfrm>
            <a:off x="685800" y="1783080"/>
            <a:ext cx="10789920" cy="36576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Three Tuesdays, compressed.</a:t>
            </a:r>
            <a:endParaRPr lang="en-US" sz="1300" dirty="0"/>
          </a:p>
        </p:txBody>
      </p:sp>
      <p:sp>
        <p:nvSpPr>
          <p:cNvPr id="5" name="Shape 3"/>
          <p:cNvSpPr/>
          <p:nvPr/>
        </p:nvSpPr>
        <p:spPr>
          <a:xfrm>
            <a:off x="586588" y="2606040"/>
            <a:ext cx="3520440" cy="3383280"/>
          </a:xfrm>
          <a:prstGeom prst="rect">
            <a:avLst/>
          </a:prstGeom>
          <a:solidFill>
            <a:srgbClr val="FAF7F1"/>
          </a:solidFill>
          <a:ln w="9525">
            <a:solidFill>
              <a:srgbClr val="D6D0C2"/>
            </a:solidFill>
            <a:prstDash val="solid"/>
          </a:ln>
          <a:effectLst>
            <a:outerShdw blurRad="127000" dist="25400" dir="5400000" algn="bl" rotWithShape="0">
              <a:srgbClr val="000000">
                <a:alpha val="8000"/>
              </a:srgbClr>
            </a:outerShdw>
          </a:effectLst>
        </p:spPr>
        <p:txBody>
          <a:bodyPr/>
          <a:lstStyle/>
          <a:p>
            <a:endParaRPr lang="en-US"/>
          </a:p>
        </p:txBody>
      </p:sp>
      <p:sp>
        <p:nvSpPr>
          <p:cNvPr id="6" name="Shape 4"/>
          <p:cNvSpPr/>
          <p:nvPr/>
        </p:nvSpPr>
        <p:spPr>
          <a:xfrm>
            <a:off x="586588" y="2606040"/>
            <a:ext cx="3520440" cy="73152"/>
          </a:xfrm>
          <a:prstGeom prst="rect">
            <a:avLst/>
          </a:prstGeom>
          <a:solidFill>
            <a:srgbClr val="A0824E"/>
          </a:solidFill>
          <a:ln/>
        </p:spPr>
        <p:txBody>
          <a:bodyPr/>
          <a:lstStyle/>
          <a:p>
            <a:endParaRPr lang="en-US"/>
          </a:p>
        </p:txBody>
      </p:sp>
      <p:sp>
        <p:nvSpPr>
          <p:cNvPr id="7" name="Text 5"/>
          <p:cNvSpPr/>
          <p:nvPr/>
        </p:nvSpPr>
        <p:spPr>
          <a:xfrm>
            <a:off x="998068" y="2926080"/>
            <a:ext cx="2697480" cy="274320"/>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TUESDAY  •  9AM</a:t>
            </a:r>
            <a:endParaRPr lang="en-US" sz="900" dirty="0"/>
          </a:p>
        </p:txBody>
      </p:sp>
      <p:sp>
        <p:nvSpPr>
          <p:cNvPr id="8" name="Text 6"/>
          <p:cNvSpPr/>
          <p:nvPr/>
        </p:nvSpPr>
        <p:spPr>
          <a:xfrm>
            <a:off x="998068" y="3291840"/>
            <a:ext cx="2697480" cy="54864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Liquidity event.</a:t>
            </a:r>
            <a:endParaRPr lang="en-US" sz="2200" dirty="0"/>
          </a:p>
        </p:txBody>
      </p:sp>
      <p:sp>
        <p:nvSpPr>
          <p:cNvPr id="9" name="Shape 7"/>
          <p:cNvSpPr/>
          <p:nvPr/>
        </p:nvSpPr>
        <p:spPr>
          <a:xfrm>
            <a:off x="998068" y="3931920"/>
            <a:ext cx="548640" cy="914"/>
          </a:xfrm>
          <a:prstGeom prst="line">
            <a:avLst/>
          </a:prstGeom>
          <a:noFill/>
          <a:ln w="19050">
            <a:solidFill>
              <a:srgbClr val="A0824E"/>
            </a:solidFill>
            <a:prstDash val="solid"/>
          </a:ln>
        </p:spPr>
        <p:txBody>
          <a:bodyPr/>
          <a:lstStyle/>
          <a:p>
            <a:endParaRPr lang="en-US"/>
          </a:p>
        </p:txBody>
      </p:sp>
      <p:sp>
        <p:nvSpPr>
          <p:cNvPr id="10" name="Text 8"/>
          <p:cNvSpPr/>
          <p:nvPr/>
        </p:nvSpPr>
        <p:spPr>
          <a:xfrm>
            <a:off x="998068" y="4069080"/>
            <a:ext cx="2697480" cy="1371600"/>
          </a:xfrm>
          <a:prstGeom prst="rect">
            <a:avLst/>
          </a:prstGeom>
          <a:noFill/>
          <a:ln/>
        </p:spPr>
        <p:txBody>
          <a:bodyPr wrap="square" lIns="0" tIns="0" rIns="0" bIns="0" rtlCol="0" anchor="t"/>
          <a:lstStyle/>
          <a:p>
            <a:pPr marL="0" indent="0" algn="l">
              <a:buNone/>
            </a:pPr>
            <a:r>
              <a:rPr lang="en-US" sz="1250" dirty="0">
                <a:solidFill>
                  <a:srgbClr val="3D3830"/>
                </a:solidFill>
                <a:latin typeface="Helvetica" pitchFamily="34" charset="0"/>
                <a:ea typeface="Helvetica" pitchFamily="34" charset="-122"/>
                <a:cs typeface="Helvetica" pitchFamily="34" charset="-120"/>
              </a:rPr>
              <a:t>A client sells a business overnight. By Wednesday morning, three structures are modeled, a tax lens is overlaid, and the call deck is ready.</a:t>
            </a:r>
            <a:endParaRPr lang="en-US" sz="1250" dirty="0"/>
          </a:p>
        </p:txBody>
      </p:sp>
      <p:sp>
        <p:nvSpPr>
          <p:cNvPr id="11" name="Text 9"/>
          <p:cNvSpPr/>
          <p:nvPr/>
        </p:nvSpPr>
        <p:spPr>
          <a:xfrm>
            <a:off x="998068" y="5349240"/>
            <a:ext cx="2697480" cy="365760"/>
          </a:xfrm>
          <a:prstGeom prst="rect">
            <a:avLst/>
          </a:prstGeom>
          <a:noFill/>
          <a:ln/>
        </p:spPr>
        <p:txBody>
          <a:bodyPr wrap="square" lIns="0" tIns="0" rIns="0" bIns="0" rtlCol="0" anchor="ctr"/>
          <a:lstStyle/>
          <a:p>
            <a:pPr marL="0" indent="0">
              <a:buNone/>
            </a:pPr>
            <a:r>
              <a:rPr lang="en-US" sz="1200" b="1" i="1" dirty="0">
                <a:solidFill>
                  <a:srgbClr val="A0824E"/>
                </a:solidFill>
                <a:latin typeface="Helvetica" pitchFamily="34" charset="0"/>
                <a:ea typeface="Helvetica" pitchFamily="34" charset="-122"/>
                <a:cs typeface="Helvetica" pitchFamily="34" charset="-120"/>
              </a:rPr>
              <a:t>Five days of work → one overnight.</a:t>
            </a:r>
            <a:endParaRPr lang="en-US" sz="1200" dirty="0"/>
          </a:p>
        </p:txBody>
      </p:sp>
      <p:sp>
        <p:nvSpPr>
          <p:cNvPr id="12" name="Shape 10"/>
          <p:cNvSpPr/>
          <p:nvPr/>
        </p:nvSpPr>
        <p:spPr>
          <a:xfrm>
            <a:off x="4335628" y="2606040"/>
            <a:ext cx="3520440" cy="3383280"/>
          </a:xfrm>
          <a:prstGeom prst="rect">
            <a:avLst/>
          </a:prstGeom>
          <a:solidFill>
            <a:srgbClr val="FAF7F1"/>
          </a:solidFill>
          <a:ln w="9525">
            <a:solidFill>
              <a:srgbClr val="D6D0C2"/>
            </a:solidFill>
            <a:prstDash val="solid"/>
          </a:ln>
          <a:effectLst>
            <a:outerShdw blurRad="127000" dist="25400" dir="5400000" algn="bl" rotWithShape="0">
              <a:srgbClr val="000000">
                <a:alpha val="8000"/>
              </a:srgbClr>
            </a:outerShdw>
          </a:effectLst>
        </p:spPr>
        <p:txBody>
          <a:bodyPr/>
          <a:lstStyle/>
          <a:p>
            <a:endParaRPr lang="en-US"/>
          </a:p>
        </p:txBody>
      </p:sp>
      <p:sp>
        <p:nvSpPr>
          <p:cNvPr id="13" name="Shape 11"/>
          <p:cNvSpPr/>
          <p:nvPr/>
        </p:nvSpPr>
        <p:spPr>
          <a:xfrm>
            <a:off x="4335628" y="2606040"/>
            <a:ext cx="3520440" cy="73152"/>
          </a:xfrm>
          <a:prstGeom prst="rect">
            <a:avLst/>
          </a:prstGeom>
          <a:solidFill>
            <a:srgbClr val="1B2A4A"/>
          </a:solidFill>
          <a:ln/>
        </p:spPr>
        <p:txBody>
          <a:bodyPr/>
          <a:lstStyle/>
          <a:p>
            <a:endParaRPr lang="en-US"/>
          </a:p>
        </p:txBody>
      </p:sp>
      <p:sp>
        <p:nvSpPr>
          <p:cNvPr id="14" name="Text 12"/>
          <p:cNvSpPr/>
          <p:nvPr/>
        </p:nvSpPr>
        <p:spPr>
          <a:xfrm>
            <a:off x="4747108" y="2926080"/>
            <a:ext cx="2697480" cy="274320"/>
          </a:xfrm>
          <a:prstGeom prst="rect">
            <a:avLst/>
          </a:prstGeom>
          <a:noFill/>
          <a:ln/>
        </p:spPr>
        <p:txBody>
          <a:bodyPr wrap="square" lIns="0" tIns="0" rIns="0" bIns="0" rtlCol="0" anchor="ctr"/>
          <a:lstStyle/>
          <a:p>
            <a:pPr marL="0" indent="0">
              <a:buNone/>
            </a:pPr>
            <a:r>
              <a:rPr lang="en-US" sz="900" b="1" kern="0" spc="400" dirty="0">
                <a:solidFill>
                  <a:srgbClr val="1B2A4A"/>
                </a:solidFill>
                <a:latin typeface="Helvetica" pitchFamily="34" charset="0"/>
                <a:ea typeface="Helvetica" pitchFamily="34" charset="-122"/>
                <a:cs typeface="Helvetica" pitchFamily="34" charset="-120"/>
              </a:rPr>
              <a:t>TUESDAY  •  4PM</a:t>
            </a:r>
            <a:endParaRPr lang="en-US" sz="900" dirty="0"/>
          </a:p>
        </p:txBody>
      </p:sp>
      <p:sp>
        <p:nvSpPr>
          <p:cNvPr id="15" name="Text 13"/>
          <p:cNvSpPr/>
          <p:nvPr/>
        </p:nvSpPr>
        <p:spPr>
          <a:xfrm>
            <a:off x="4747108" y="3291840"/>
            <a:ext cx="2697480" cy="54864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Market dislocation.</a:t>
            </a:r>
            <a:endParaRPr lang="en-US" sz="2200" dirty="0"/>
          </a:p>
        </p:txBody>
      </p:sp>
      <p:sp>
        <p:nvSpPr>
          <p:cNvPr id="16" name="Shape 14"/>
          <p:cNvSpPr/>
          <p:nvPr/>
        </p:nvSpPr>
        <p:spPr>
          <a:xfrm>
            <a:off x="4747108" y="3931920"/>
            <a:ext cx="548640" cy="914"/>
          </a:xfrm>
          <a:prstGeom prst="line">
            <a:avLst/>
          </a:prstGeom>
          <a:noFill/>
          <a:ln w="19050">
            <a:solidFill>
              <a:srgbClr val="1B2A4A"/>
            </a:solidFill>
            <a:prstDash val="solid"/>
          </a:ln>
        </p:spPr>
        <p:txBody>
          <a:bodyPr/>
          <a:lstStyle/>
          <a:p>
            <a:endParaRPr lang="en-US"/>
          </a:p>
        </p:txBody>
      </p:sp>
      <p:sp>
        <p:nvSpPr>
          <p:cNvPr id="17" name="Text 15"/>
          <p:cNvSpPr/>
          <p:nvPr/>
        </p:nvSpPr>
        <p:spPr>
          <a:xfrm>
            <a:off x="4747108" y="4069080"/>
            <a:ext cx="2697480" cy="1371600"/>
          </a:xfrm>
          <a:prstGeom prst="rect">
            <a:avLst/>
          </a:prstGeom>
          <a:noFill/>
          <a:ln/>
        </p:spPr>
        <p:txBody>
          <a:bodyPr wrap="square" lIns="0" tIns="0" rIns="0" bIns="0" rtlCol="0" anchor="t"/>
          <a:lstStyle/>
          <a:p>
            <a:pPr marL="0" indent="0" algn="l">
              <a:buNone/>
            </a:pPr>
            <a:r>
              <a:rPr lang="en-US" sz="1250" dirty="0">
                <a:solidFill>
                  <a:srgbClr val="3D3830"/>
                </a:solidFill>
                <a:latin typeface="Helvetica" pitchFamily="34" charset="0"/>
                <a:ea typeface="Helvetica" pitchFamily="34" charset="-122"/>
                <a:cs typeface="Helvetica" pitchFamily="34" charset="-120"/>
              </a:rPr>
              <a:t>Curves move. By 4:30, every affected client has a personalized note from their advisor — their portfolio, their exposure, their next step.</a:t>
            </a:r>
            <a:endParaRPr lang="en-US" sz="1250" dirty="0"/>
          </a:p>
        </p:txBody>
      </p:sp>
      <p:sp>
        <p:nvSpPr>
          <p:cNvPr id="18" name="Text 16"/>
          <p:cNvSpPr/>
          <p:nvPr/>
        </p:nvSpPr>
        <p:spPr>
          <a:xfrm>
            <a:off x="4747108" y="5349240"/>
            <a:ext cx="2697480" cy="365760"/>
          </a:xfrm>
          <a:prstGeom prst="rect">
            <a:avLst/>
          </a:prstGeom>
          <a:noFill/>
          <a:ln/>
        </p:spPr>
        <p:txBody>
          <a:bodyPr wrap="square" lIns="0" tIns="0" rIns="0" bIns="0" rtlCol="0" anchor="ctr"/>
          <a:lstStyle/>
          <a:p>
            <a:pPr marL="0" indent="0">
              <a:buNone/>
            </a:pPr>
            <a:r>
              <a:rPr lang="en-US" sz="1200" b="1" i="1" dirty="0">
                <a:solidFill>
                  <a:srgbClr val="1B2A4A"/>
                </a:solidFill>
                <a:latin typeface="Helvetica" pitchFamily="34" charset="0"/>
                <a:ea typeface="Helvetica" pitchFamily="34" charset="-122"/>
                <a:cs typeface="Helvetica" pitchFamily="34" charset="-120"/>
              </a:rPr>
              <a:t>Mass relevance at personal depth.</a:t>
            </a:r>
            <a:endParaRPr lang="en-US" sz="1200" dirty="0"/>
          </a:p>
        </p:txBody>
      </p:sp>
      <p:sp>
        <p:nvSpPr>
          <p:cNvPr id="19" name="Shape 17"/>
          <p:cNvSpPr/>
          <p:nvPr/>
        </p:nvSpPr>
        <p:spPr>
          <a:xfrm>
            <a:off x="8084668" y="2606040"/>
            <a:ext cx="3520440" cy="3383280"/>
          </a:xfrm>
          <a:prstGeom prst="rect">
            <a:avLst/>
          </a:prstGeom>
          <a:solidFill>
            <a:srgbClr val="FAF7F1"/>
          </a:solidFill>
          <a:ln w="9525">
            <a:solidFill>
              <a:srgbClr val="D6D0C2"/>
            </a:solidFill>
            <a:prstDash val="solid"/>
          </a:ln>
          <a:effectLst>
            <a:outerShdw blurRad="127000" dist="25400" dir="5400000" algn="bl" rotWithShape="0">
              <a:srgbClr val="000000">
                <a:alpha val="8000"/>
              </a:srgbClr>
            </a:outerShdw>
          </a:effectLst>
        </p:spPr>
        <p:txBody>
          <a:bodyPr/>
          <a:lstStyle/>
          <a:p>
            <a:endParaRPr lang="en-US"/>
          </a:p>
        </p:txBody>
      </p:sp>
      <p:sp>
        <p:nvSpPr>
          <p:cNvPr id="20" name="Shape 18"/>
          <p:cNvSpPr/>
          <p:nvPr/>
        </p:nvSpPr>
        <p:spPr>
          <a:xfrm>
            <a:off x="8084668" y="2606040"/>
            <a:ext cx="3520440" cy="73152"/>
          </a:xfrm>
          <a:prstGeom prst="rect">
            <a:avLst/>
          </a:prstGeom>
          <a:solidFill>
            <a:srgbClr val="A0824E"/>
          </a:solidFill>
          <a:ln/>
        </p:spPr>
        <p:txBody>
          <a:bodyPr/>
          <a:lstStyle/>
          <a:p>
            <a:endParaRPr lang="en-US"/>
          </a:p>
        </p:txBody>
      </p:sp>
      <p:sp>
        <p:nvSpPr>
          <p:cNvPr id="21" name="Text 19"/>
          <p:cNvSpPr/>
          <p:nvPr/>
        </p:nvSpPr>
        <p:spPr>
          <a:xfrm>
            <a:off x="8496148" y="2926080"/>
            <a:ext cx="2697480" cy="274320"/>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TUESDAY  •  ANYTIME</a:t>
            </a:r>
            <a:endParaRPr lang="en-US" sz="900" dirty="0"/>
          </a:p>
        </p:txBody>
      </p:sp>
      <p:sp>
        <p:nvSpPr>
          <p:cNvPr id="22" name="Text 20"/>
          <p:cNvSpPr/>
          <p:nvPr/>
        </p:nvSpPr>
        <p:spPr>
          <a:xfrm>
            <a:off x="8496148" y="3291840"/>
            <a:ext cx="2697480" cy="548640"/>
          </a:xfrm>
          <a:prstGeom prst="rect">
            <a:avLst/>
          </a:prstGeom>
          <a:noFill/>
          <a:ln/>
        </p:spPr>
        <p:txBody>
          <a:bodyPr wrap="square" lIns="0" tIns="0" rIns="0" bIns="0" rtlCol="0" anchor="ctr"/>
          <a:lstStyle/>
          <a:p>
            <a:pPr marL="0" indent="0">
              <a:buNone/>
            </a:pPr>
            <a:r>
              <a:rPr lang="en-US" sz="2200" b="1" dirty="0">
                <a:solidFill>
                  <a:srgbClr val="14192A"/>
                </a:solidFill>
                <a:latin typeface="Arial Black" pitchFamily="34" charset="0"/>
                <a:ea typeface="Arial Black" pitchFamily="34" charset="-122"/>
                <a:cs typeface="Arial Black" pitchFamily="34" charset="-120"/>
              </a:rPr>
              <a:t>Novel question.</a:t>
            </a:r>
            <a:endParaRPr lang="en-US" sz="2200" dirty="0"/>
          </a:p>
        </p:txBody>
      </p:sp>
      <p:sp>
        <p:nvSpPr>
          <p:cNvPr id="23" name="Shape 21"/>
          <p:cNvSpPr/>
          <p:nvPr/>
        </p:nvSpPr>
        <p:spPr>
          <a:xfrm>
            <a:off x="8496148" y="3931920"/>
            <a:ext cx="548640" cy="914"/>
          </a:xfrm>
          <a:prstGeom prst="line">
            <a:avLst/>
          </a:prstGeom>
          <a:noFill/>
          <a:ln w="19050">
            <a:solidFill>
              <a:srgbClr val="A0824E"/>
            </a:solidFill>
            <a:prstDash val="solid"/>
          </a:ln>
        </p:spPr>
        <p:txBody>
          <a:bodyPr/>
          <a:lstStyle/>
          <a:p>
            <a:endParaRPr lang="en-US"/>
          </a:p>
        </p:txBody>
      </p:sp>
      <p:sp>
        <p:nvSpPr>
          <p:cNvPr id="24" name="Text 22"/>
          <p:cNvSpPr/>
          <p:nvPr/>
        </p:nvSpPr>
        <p:spPr>
          <a:xfrm>
            <a:off x="8496148" y="4069080"/>
            <a:ext cx="2697480" cy="1371600"/>
          </a:xfrm>
          <a:prstGeom prst="rect">
            <a:avLst/>
          </a:prstGeom>
          <a:noFill/>
          <a:ln/>
        </p:spPr>
        <p:txBody>
          <a:bodyPr wrap="square" lIns="0" tIns="0" rIns="0" bIns="0" rtlCol="0" anchor="t"/>
          <a:lstStyle/>
          <a:p>
            <a:pPr marL="0" indent="0" algn="l">
              <a:buNone/>
            </a:pPr>
            <a:r>
              <a:rPr lang="en-US" sz="1250" dirty="0">
                <a:solidFill>
                  <a:srgbClr val="3D3830"/>
                </a:solidFill>
                <a:latin typeface="Helvetica" pitchFamily="34" charset="0"/>
                <a:ea typeface="Helvetica" pitchFamily="34" charset="-122"/>
                <a:cs typeface="Helvetica" pitchFamily="34" charset="-120"/>
              </a:rPr>
              <a:t>A client asks something no one has asked before. Coach pulls from the firm's full brain — research, policy, precedent, specialists — and answers in minutes.</a:t>
            </a:r>
            <a:endParaRPr lang="en-US" sz="1250" dirty="0"/>
          </a:p>
        </p:txBody>
      </p:sp>
      <p:sp>
        <p:nvSpPr>
          <p:cNvPr id="25" name="Text 23"/>
          <p:cNvSpPr/>
          <p:nvPr/>
        </p:nvSpPr>
        <p:spPr>
          <a:xfrm>
            <a:off x="8496148" y="5349240"/>
            <a:ext cx="2697480" cy="365760"/>
          </a:xfrm>
          <a:prstGeom prst="rect">
            <a:avLst/>
          </a:prstGeom>
          <a:noFill/>
          <a:ln/>
        </p:spPr>
        <p:txBody>
          <a:bodyPr wrap="square" lIns="0" tIns="0" rIns="0" bIns="0" rtlCol="0" anchor="ctr"/>
          <a:lstStyle/>
          <a:p>
            <a:pPr marL="0" indent="0">
              <a:buNone/>
            </a:pPr>
            <a:r>
              <a:rPr lang="en-US" sz="1200" b="1" i="1" dirty="0">
                <a:solidFill>
                  <a:srgbClr val="A0824E"/>
                </a:solidFill>
                <a:latin typeface="Helvetica" pitchFamily="34" charset="0"/>
                <a:ea typeface="Helvetica" pitchFamily="34" charset="-122"/>
                <a:cs typeface="Helvetica" pitchFamily="34" charset="-120"/>
              </a:rPr>
              <a:t>Days become minutes.</a:t>
            </a:r>
            <a:endParaRPr lang="en-US" sz="1200" dirty="0"/>
          </a:p>
        </p:txBody>
      </p:sp>
      <p:sp>
        <p:nvSpPr>
          <p:cNvPr id="26" name="Text 24"/>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27" name="Text 25"/>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15  /  19</a:t>
            </a:r>
            <a:endParaRPr lang="en-US" sz="800" dirty="0"/>
          </a:p>
        </p:txBody>
      </p:sp>
      <p:sp>
        <p:nvSpPr>
          <p:cNvPr id="28" name="Text 26"/>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29" name="Shape 27"/>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ECONOMIC SHIFT</a:t>
            </a:r>
            <a:endParaRPr lang="en-US" sz="900" dirty="0"/>
          </a:p>
        </p:txBody>
      </p:sp>
      <p:sp>
        <p:nvSpPr>
          <p:cNvPr id="3" name="Text 1"/>
          <p:cNvSpPr/>
          <p:nvPr/>
        </p:nvSpPr>
        <p:spPr>
          <a:xfrm>
            <a:off x="685800" y="868680"/>
            <a:ext cx="10789920" cy="1463040"/>
          </a:xfrm>
          <a:prstGeom prst="rect">
            <a:avLst/>
          </a:prstGeom>
          <a:noFill/>
          <a:ln/>
        </p:spPr>
        <p:txBody>
          <a:bodyPr wrap="square" lIns="0" tIns="0" rIns="0" bIns="0" rtlCol="0" anchor="t"/>
          <a:lstStyle/>
          <a:p>
            <a:pPr marL="0" indent="0" algn="l">
              <a:buNone/>
            </a:pPr>
            <a:r>
              <a:rPr lang="en-US" sz="3000" b="1" dirty="0">
                <a:solidFill>
                  <a:srgbClr val="14192A"/>
                </a:solidFill>
                <a:latin typeface="Arial Black" pitchFamily="34" charset="0"/>
                <a:ea typeface="Arial Black" pitchFamily="34" charset="-122"/>
                <a:cs typeface="Arial Black" pitchFamily="34" charset="-120"/>
              </a:rPr>
              <a:t>The best advisors will carry</a:t>
            </a:r>
            <a:endParaRPr lang="en-US" sz="3000" dirty="0"/>
          </a:p>
          <a:p>
            <a:pPr marL="0" indent="0" algn="l">
              <a:buNone/>
            </a:pPr>
            <a:r>
              <a:rPr lang="en-US" sz="3000" b="1" dirty="0">
                <a:solidFill>
                  <a:srgbClr val="14192A"/>
                </a:solidFill>
                <a:latin typeface="Arial Black" pitchFamily="34" charset="0"/>
                <a:ea typeface="Arial Black" pitchFamily="34" charset="-122"/>
                <a:cs typeface="Arial Black" pitchFamily="34" charset="-120"/>
              </a:rPr>
              <a:t>3–5x the book — and serve it better.</a:t>
            </a:r>
            <a:endParaRPr lang="en-US" sz="3000" dirty="0"/>
          </a:p>
        </p:txBody>
      </p:sp>
      <p:sp>
        <p:nvSpPr>
          <p:cNvPr id="4" name="Shape 2"/>
          <p:cNvSpPr/>
          <p:nvPr/>
        </p:nvSpPr>
        <p:spPr>
          <a:xfrm>
            <a:off x="685800" y="2880360"/>
            <a:ext cx="10817352" cy="3063240"/>
          </a:xfrm>
          <a:prstGeom prst="rect">
            <a:avLst/>
          </a:prstGeom>
          <a:solidFill>
            <a:srgbClr val="FAF7F1"/>
          </a:solidFill>
          <a:ln w="9525">
            <a:solidFill>
              <a:srgbClr val="D6D0C2"/>
            </a:solidFill>
            <a:prstDash val="solid"/>
          </a:ln>
        </p:spPr>
        <p:txBody>
          <a:bodyPr/>
          <a:lstStyle/>
          <a:p>
            <a:endParaRPr lang="en-US"/>
          </a:p>
        </p:txBody>
      </p:sp>
      <p:sp>
        <p:nvSpPr>
          <p:cNvPr id="5" name="Shape 3"/>
          <p:cNvSpPr/>
          <p:nvPr/>
        </p:nvSpPr>
        <p:spPr>
          <a:xfrm>
            <a:off x="685800" y="2880360"/>
            <a:ext cx="91440" cy="3063240"/>
          </a:xfrm>
          <a:prstGeom prst="rect">
            <a:avLst/>
          </a:prstGeom>
          <a:solidFill>
            <a:srgbClr val="A0824E"/>
          </a:solidFill>
          <a:ln/>
        </p:spPr>
        <p:txBody>
          <a:bodyPr/>
          <a:lstStyle/>
          <a:p>
            <a:endParaRPr lang="en-US"/>
          </a:p>
        </p:txBody>
      </p:sp>
      <p:sp>
        <p:nvSpPr>
          <p:cNvPr id="6" name="Text 4"/>
          <p:cNvSpPr/>
          <p:nvPr/>
        </p:nvSpPr>
        <p:spPr>
          <a:xfrm>
            <a:off x="1143000" y="3108960"/>
            <a:ext cx="5303520" cy="2606040"/>
          </a:xfrm>
          <a:prstGeom prst="rect">
            <a:avLst/>
          </a:prstGeom>
          <a:noFill/>
          <a:ln/>
        </p:spPr>
        <p:txBody>
          <a:bodyPr wrap="square" lIns="0" tIns="0" rIns="0" bIns="0" rtlCol="0" anchor="ctr"/>
          <a:lstStyle/>
          <a:p>
            <a:pPr marL="0" indent="0" algn="ctr">
              <a:buNone/>
            </a:pPr>
            <a:r>
              <a:rPr lang="en-US" sz="14000" b="1" dirty="0">
                <a:solidFill>
                  <a:srgbClr val="A0824E"/>
                </a:solidFill>
                <a:latin typeface="Arial Black" pitchFamily="34" charset="0"/>
                <a:ea typeface="Arial Black" pitchFamily="34" charset="-122"/>
                <a:cs typeface="Arial Black" pitchFamily="34" charset="-120"/>
              </a:rPr>
              <a:t>3–5x</a:t>
            </a:r>
            <a:endParaRPr lang="en-US" sz="14000" dirty="0"/>
          </a:p>
        </p:txBody>
      </p:sp>
      <p:sp>
        <p:nvSpPr>
          <p:cNvPr id="7" name="Shape 5"/>
          <p:cNvSpPr/>
          <p:nvPr/>
        </p:nvSpPr>
        <p:spPr>
          <a:xfrm>
            <a:off x="6537960" y="3337560"/>
            <a:ext cx="914" cy="2148840"/>
          </a:xfrm>
          <a:prstGeom prst="line">
            <a:avLst/>
          </a:prstGeom>
          <a:noFill/>
          <a:ln w="9525">
            <a:solidFill>
              <a:srgbClr val="D6D0C2"/>
            </a:solidFill>
            <a:prstDash val="solid"/>
          </a:ln>
        </p:spPr>
        <p:txBody>
          <a:bodyPr/>
          <a:lstStyle/>
          <a:p>
            <a:endParaRPr lang="en-US"/>
          </a:p>
        </p:txBody>
      </p:sp>
      <p:sp>
        <p:nvSpPr>
          <p:cNvPr id="8" name="Text 6"/>
          <p:cNvSpPr/>
          <p:nvPr/>
        </p:nvSpPr>
        <p:spPr>
          <a:xfrm>
            <a:off x="6812280" y="3520440"/>
            <a:ext cx="4480560" cy="457200"/>
          </a:xfrm>
          <a:prstGeom prst="rect">
            <a:avLst/>
          </a:prstGeom>
          <a:noFill/>
          <a:ln/>
        </p:spPr>
        <p:txBody>
          <a:bodyPr wrap="square" lIns="0" tIns="0" rIns="0" bIns="0" rtlCol="0" anchor="ctr"/>
          <a:lstStyle/>
          <a:p>
            <a:pPr marL="0" indent="0">
              <a:buNone/>
            </a:pPr>
            <a:r>
              <a:rPr lang="en-US" sz="2000" b="1" dirty="0">
                <a:solidFill>
                  <a:srgbClr val="14192A"/>
                </a:solidFill>
                <a:latin typeface="Arial Black" pitchFamily="34" charset="0"/>
                <a:ea typeface="Arial Black" pitchFamily="34" charset="-122"/>
                <a:cs typeface="Arial Black" pitchFamily="34" charset="-120"/>
              </a:rPr>
              <a:t>the book, per advisor.</a:t>
            </a:r>
            <a:endParaRPr lang="en-US" sz="2000" dirty="0"/>
          </a:p>
        </p:txBody>
      </p:sp>
      <p:sp>
        <p:nvSpPr>
          <p:cNvPr id="9" name="Text 7"/>
          <p:cNvSpPr/>
          <p:nvPr/>
        </p:nvSpPr>
        <p:spPr>
          <a:xfrm>
            <a:off x="6812280" y="4114800"/>
            <a:ext cx="4480560" cy="365760"/>
          </a:xfrm>
          <a:prstGeom prst="rect">
            <a:avLst/>
          </a:prstGeom>
          <a:noFill/>
          <a:ln/>
        </p:spPr>
        <p:txBody>
          <a:bodyPr wrap="square" lIns="0" tIns="0" rIns="0" bIns="0" rtlCol="0" anchor="ctr"/>
          <a:lstStyle/>
          <a:p>
            <a:pPr marL="0" indent="0">
              <a:buNone/>
            </a:pPr>
            <a:r>
              <a:rPr lang="en-US" sz="1400" dirty="0">
                <a:solidFill>
                  <a:srgbClr val="3D3830"/>
                </a:solidFill>
                <a:latin typeface="Helvetica" pitchFamily="34" charset="0"/>
                <a:ea typeface="Helvetica" pitchFamily="34" charset="-122"/>
                <a:cs typeface="Helvetica" pitchFamily="34" charset="-120"/>
              </a:rPr>
              <a:t>Agents absorb the coordination tax.</a:t>
            </a:r>
            <a:endParaRPr lang="en-US" sz="1400" dirty="0"/>
          </a:p>
        </p:txBody>
      </p:sp>
      <p:sp>
        <p:nvSpPr>
          <p:cNvPr id="10" name="Text 8"/>
          <p:cNvSpPr/>
          <p:nvPr/>
        </p:nvSpPr>
        <p:spPr>
          <a:xfrm>
            <a:off x="6812280" y="4480560"/>
            <a:ext cx="4480560" cy="365760"/>
          </a:xfrm>
          <a:prstGeom prst="rect">
            <a:avLst/>
          </a:prstGeom>
          <a:noFill/>
          <a:ln/>
        </p:spPr>
        <p:txBody>
          <a:bodyPr wrap="square" lIns="0" tIns="0" rIns="0" bIns="0" rtlCol="0" anchor="ctr"/>
          <a:lstStyle/>
          <a:p>
            <a:pPr marL="0" indent="0">
              <a:buNone/>
            </a:pPr>
            <a:r>
              <a:rPr lang="en-US" sz="1400" dirty="0">
                <a:solidFill>
                  <a:srgbClr val="3D3830"/>
                </a:solidFill>
                <a:latin typeface="Helvetica" pitchFamily="34" charset="0"/>
                <a:ea typeface="Helvetica" pitchFamily="34" charset="-122"/>
                <a:cs typeface="Helvetica" pitchFamily="34" charset="-120"/>
              </a:rPr>
              <a:t>Advisors absorb more consequential work.</a:t>
            </a:r>
            <a:endParaRPr lang="en-US" sz="1400" dirty="0"/>
          </a:p>
        </p:txBody>
      </p:sp>
      <p:sp>
        <p:nvSpPr>
          <p:cNvPr id="11" name="Shape 9"/>
          <p:cNvSpPr/>
          <p:nvPr/>
        </p:nvSpPr>
        <p:spPr>
          <a:xfrm>
            <a:off x="6812280" y="4983480"/>
            <a:ext cx="457200" cy="914"/>
          </a:xfrm>
          <a:prstGeom prst="line">
            <a:avLst/>
          </a:prstGeom>
          <a:noFill/>
          <a:ln w="19050">
            <a:solidFill>
              <a:srgbClr val="A0824E"/>
            </a:solidFill>
            <a:prstDash val="solid"/>
          </a:ln>
        </p:spPr>
        <p:txBody>
          <a:bodyPr/>
          <a:lstStyle/>
          <a:p>
            <a:endParaRPr lang="en-US"/>
          </a:p>
        </p:txBody>
      </p:sp>
      <p:sp>
        <p:nvSpPr>
          <p:cNvPr id="12" name="Text 10"/>
          <p:cNvSpPr/>
          <p:nvPr/>
        </p:nvSpPr>
        <p:spPr>
          <a:xfrm>
            <a:off x="6812280" y="5120640"/>
            <a:ext cx="4480560" cy="502920"/>
          </a:xfrm>
          <a:prstGeom prst="rect">
            <a:avLst/>
          </a:prstGeom>
          <a:noFill/>
          <a:ln/>
        </p:spPr>
        <p:txBody>
          <a:bodyPr wrap="square" lIns="0" tIns="0" rIns="0" bIns="0" rtlCol="0" anchor="ctr"/>
          <a:lstStyle/>
          <a:p>
            <a:pPr marL="0" indent="0">
              <a:buNone/>
            </a:pPr>
            <a:r>
              <a:rPr lang="en-US" sz="1400" b="1" i="1" dirty="0">
                <a:solidFill>
                  <a:srgbClr val="A0824E"/>
                </a:solidFill>
                <a:latin typeface="Helvetica" pitchFamily="34" charset="0"/>
                <a:ea typeface="Helvetica" pitchFamily="34" charset="-122"/>
                <a:cs typeface="Helvetica" pitchFamily="34" charset="-120"/>
              </a:rPr>
              <a:t>This changes the economics, not just the workflow.</a:t>
            </a:r>
            <a:endParaRPr lang="en-US" sz="1400" dirty="0"/>
          </a:p>
        </p:txBody>
      </p:sp>
      <p:sp>
        <p:nvSpPr>
          <p:cNvPr id="13" name="Text 11"/>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14" name="Text 12"/>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16  /  19</a:t>
            </a:r>
            <a:endParaRPr lang="en-US" sz="800" dirty="0"/>
          </a:p>
        </p:txBody>
      </p:sp>
      <p:sp>
        <p:nvSpPr>
          <p:cNvPr id="15" name="Text 13"/>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16" name="Shape 14"/>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THE PATH</a:t>
            </a:r>
            <a:endParaRPr lang="en-US" sz="900" dirty="0"/>
          </a:p>
        </p:txBody>
      </p:sp>
      <p:sp>
        <p:nvSpPr>
          <p:cNvPr id="3" name="Text 1"/>
          <p:cNvSpPr/>
          <p:nvPr/>
        </p:nvSpPr>
        <p:spPr>
          <a:xfrm>
            <a:off x="685800" y="868680"/>
            <a:ext cx="10789920" cy="822960"/>
          </a:xfrm>
          <a:prstGeom prst="rect">
            <a:avLst/>
          </a:prstGeom>
          <a:noFill/>
          <a:ln/>
        </p:spPr>
        <p:txBody>
          <a:bodyPr wrap="square" lIns="0" tIns="0" rIns="0" bIns="0" rtlCol="0" anchor="t"/>
          <a:lstStyle/>
          <a:p>
            <a:pPr marL="0" indent="0" algn="l">
              <a:buNone/>
            </a:pPr>
            <a:r>
              <a:rPr lang="en-US" sz="4400" b="1" dirty="0">
                <a:solidFill>
                  <a:srgbClr val="14192A"/>
                </a:solidFill>
                <a:latin typeface="Arial Black" pitchFamily="34" charset="0"/>
                <a:ea typeface="Arial Black" pitchFamily="34" charset="-122"/>
                <a:cs typeface="Arial Black" pitchFamily="34" charset="-120"/>
              </a:rPr>
              <a:t>The roadmap.</a:t>
            </a:r>
            <a:endParaRPr lang="en-US" sz="4400" dirty="0"/>
          </a:p>
        </p:txBody>
      </p:sp>
      <p:sp>
        <p:nvSpPr>
          <p:cNvPr id="4" name="Text 2"/>
          <p:cNvSpPr/>
          <p:nvPr/>
        </p:nvSpPr>
        <p:spPr>
          <a:xfrm>
            <a:off x="685800" y="1828800"/>
            <a:ext cx="10789920" cy="457200"/>
          </a:xfrm>
          <a:prstGeom prst="rect">
            <a:avLst/>
          </a:prstGeom>
          <a:noFill/>
          <a:ln/>
        </p:spPr>
        <p:txBody>
          <a:bodyPr wrap="square" lIns="0" tIns="0" rIns="0" bIns="0" rtlCol="0" anchor="t"/>
          <a:lstStyle/>
          <a:p>
            <a:pPr marL="0" indent="0" algn="l">
              <a:buNone/>
            </a:pPr>
            <a:r>
              <a:rPr lang="en-US" sz="1300" dirty="0">
                <a:solidFill>
                  <a:srgbClr val="3D3830"/>
                </a:solidFill>
                <a:latin typeface="Helvetica" pitchFamily="34" charset="0"/>
                <a:ea typeface="Helvetica" pitchFamily="34" charset="-122"/>
                <a:cs typeface="Helvetica" pitchFamily="34" charset="-120"/>
              </a:rPr>
              <a:t>From Coach today, to an agentic Private Bank, to an AI-native one.</a:t>
            </a:r>
            <a:endParaRPr lang="en-US" sz="1300" dirty="0"/>
          </a:p>
        </p:txBody>
      </p:sp>
      <p:sp>
        <p:nvSpPr>
          <p:cNvPr id="5" name="Shape 3"/>
          <p:cNvSpPr/>
          <p:nvPr/>
        </p:nvSpPr>
        <p:spPr>
          <a:xfrm>
            <a:off x="1143000" y="4663440"/>
            <a:ext cx="9921240" cy="914"/>
          </a:xfrm>
          <a:prstGeom prst="line">
            <a:avLst/>
          </a:prstGeom>
          <a:noFill/>
          <a:ln w="19050">
            <a:solidFill>
              <a:srgbClr val="D6D0C2"/>
            </a:solidFill>
            <a:prstDash val="solid"/>
          </a:ln>
        </p:spPr>
        <p:txBody>
          <a:bodyPr/>
          <a:lstStyle/>
          <a:p>
            <a:endParaRPr lang="en-US"/>
          </a:p>
        </p:txBody>
      </p:sp>
      <p:sp>
        <p:nvSpPr>
          <p:cNvPr id="6" name="Shape 4"/>
          <p:cNvSpPr/>
          <p:nvPr/>
        </p:nvSpPr>
        <p:spPr>
          <a:xfrm>
            <a:off x="1234440" y="2743200"/>
            <a:ext cx="2011680" cy="1097280"/>
          </a:xfrm>
          <a:prstGeom prst="rect">
            <a:avLst/>
          </a:prstGeom>
          <a:solidFill>
            <a:srgbClr val="FAF7F1"/>
          </a:solidFill>
          <a:ln w="12700">
            <a:solidFill>
              <a:srgbClr val="A0824E"/>
            </a:solidFill>
            <a:prstDash val="solid"/>
          </a:ln>
          <a:effectLst>
            <a:outerShdw blurRad="127000" dist="25400" dir="5400000" algn="bl" rotWithShape="0">
              <a:srgbClr val="000000">
                <a:alpha val="8000"/>
              </a:srgbClr>
            </a:outerShdw>
          </a:effectLst>
        </p:spPr>
        <p:txBody>
          <a:bodyPr/>
          <a:lstStyle/>
          <a:p>
            <a:endParaRPr lang="en-US"/>
          </a:p>
        </p:txBody>
      </p:sp>
      <p:sp>
        <p:nvSpPr>
          <p:cNvPr id="7" name="Shape 5"/>
          <p:cNvSpPr/>
          <p:nvPr/>
        </p:nvSpPr>
        <p:spPr>
          <a:xfrm>
            <a:off x="1234440" y="2743200"/>
            <a:ext cx="2011680" cy="54864"/>
          </a:xfrm>
          <a:prstGeom prst="rect">
            <a:avLst/>
          </a:prstGeom>
          <a:solidFill>
            <a:srgbClr val="A0824E"/>
          </a:solidFill>
          <a:ln/>
        </p:spPr>
        <p:txBody>
          <a:bodyPr/>
          <a:lstStyle/>
          <a:p>
            <a:endParaRPr lang="en-US"/>
          </a:p>
        </p:txBody>
      </p:sp>
      <p:sp>
        <p:nvSpPr>
          <p:cNvPr id="8" name="Text 6"/>
          <p:cNvSpPr/>
          <p:nvPr/>
        </p:nvSpPr>
        <p:spPr>
          <a:xfrm>
            <a:off x="1234440" y="2907792"/>
            <a:ext cx="2011680" cy="914400"/>
          </a:xfrm>
          <a:prstGeom prst="rect">
            <a:avLst/>
          </a:prstGeom>
          <a:noFill/>
          <a:ln/>
        </p:spPr>
        <p:txBody>
          <a:bodyPr wrap="square" lIns="0" tIns="0" rIns="0" bIns="0" rtlCol="0" anchor="ctr"/>
          <a:lstStyle/>
          <a:p>
            <a:pPr marL="0" indent="0" algn="ctr">
              <a:spcAft>
                <a:spcPts val="100"/>
              </a:spcAft>
              <a:buNone/>
            </a:pPr>
            <a:r>
              <a:rPr lang="en-US" sz="1600" b="1" dirty="0">
                <a:solidFill>
                  <a:srgbClr val="14192A"/>
                </a:solidFill>
                <a:latin typeface="Arial Black" pitchFamily="34" charset="0"/>
                <a:ea typeface="Arial Black" pitchFamily="34" charset="-122"/>
                <a:cs typeface="Arial Black" pitchFamily="34" charset="-120"/>
              </a:rPr>
              <a:t>Coach</a:t>
            </a:r>
            <a:endParaRPr lang="en-US" sz="1600" dirty="0"/>
          </a:p>
          <a:p>
            <a:pPr marL="0" indent="0" algn="ctr">
              <a:spcAft>
                <a:spcPts val="100"/>
              </a:spcAft>
              <a:buNone/>
            </a:pPr>
            <a:r>
              <a:rPr lang="en-US" sz="1600" b="1" dirty="0">
                <a:solidFill>
                  <a:srgbClr val="14192A"/>
                </a:solidFill>
                <a:latin typeface="Arial Black" pitchFamily="34" charset="0"/>
                <a:ea typeface="Arial Black" pitchFamily="34" charset="-122"/>
                <a:cs typeface="Arial Black" pitchFamily="34" charset="-120"/>
              </a:rPr>
              <a:t>in use</a:t>
            </a:r>
            <a:endParaRPr lang="en-US" sz="1600" dirty="0"/>
          </a:p>
        </p:txBody>
      </p:sp>
      <p:sp>
        <p:nvSpPr>
          <p:cNvPr id="9" name="Shape 7"/>
          <p:cNvSpPr/>
          <p:nvPr/>
        </p:nvSpPr>
        <p:spPr>
          <a:xfrm>
            <a:off x="2240280" y="3840480"/>
            <a:ext cx="914" cy="731520"/>
          </a:xfrm>
          <a:prstGeom prst="line">
            <a:avLst/>
          </a:prstGeom>
          <a:noFill/>
          <a:ln w="9525">
            <a:solidFill>
              <a:srgbClr val="A0824E">
                <a:alpha val="70000"/>
              </a:srgbClr>
            </a:solidFill>
            <a:prstDash val="solid"/>
          </a:ln>
        </p:spPr>
        <p:txBody>
          <a:bodyPr/>
          <a:lstStyle/>
          <a:p>
            <a:endParaRPr lang="en-US"/>
          </a:p>
        </p:txBody>
      </p:sp>
      <p:sp>
        <p:nvSpPr>
          <p:cNvPr id="10" name="Shape 8"/>
          <p:cNvSpPr/>
          <p:nvPr/>
        </p:nvSpPr>
        <p:spPr>
          <a:xfrm>
            <a:off x="2075688" y="4498848"/>
            <a:ext cx="329184" cy="329184"/>
          </a:xfrm>
          <a:prstGeom prst="ellipse">
            <a:avLst/>
          </a:prstGeom>
          <a:solidFill>
            <a:srgbClr val="A0824E"/>
          </a:solidFill>
          <a:ln w="38100">
            <a:solidFill>
              <a:srgbClr val="F5F0EB"/>
            </a:solidFill>
            <a:prstDash val="solid"/>
          </a:ln>
        </p:spPr>
        <p:txBody>
          <a:bodyPr/>
          <a:lstStyle/>
          <a:p>
            <a:endParaRPr lang="en-US"/>
          </a:p>
        </p:txBody>
      </p:sp>
      <p:sp>
        <p:nvSpPr>
          <p:cNvPr id="11" name="Text 9"/>
          <p:cNvSpPr/>
          <p:nvPr/>
        </p:nvSpPr>
        <p:spPr>
          <a:xfrm>
            <a:off x="1325880" y="4937760"/>
            <a:ext cx="1828800" cy="274320"/>
          </a:xfrm>
          <a:prstGeom prst="rect">
            <a:avLst/>
          </a:prstGeom>
          <a:noFill/>
          <a:ln/>
        </p:spPr>
        <p:txBody>
          <a:bodyPr wrap="square" lIns="0" tIns="0" rIns="0" bIns="0" rtlCol="0" anchor="ctr"/>
          <a:lstStyle/>
          <a:p>
            <a:pPr marL="0" indent="0" algn="ctr">
              <a:buNone/>
            </a:pPr>
            <a:r>
              <a:rPr lang="en-US" sz="1100" b="1" kern="0" spc="400" dirty="0">
                <a:solidFill>
                  <a:srgbClr val="A0824E"/>
                </a:solidFill>
                <a:latin typeface="Helvetica" pitchFamily="34" charset="0"/>
                <a:ea typeface="Helvetica" pitchFamily="34" charset="-122"/>
                <a:cs typeface="Helvetica" pitchFamily="34" charset="-120"/>
              </a:rPr>
              <a:t>NOW</a:t>
            </a:r>
            <a:endParaRPr lang="en-US" sz="1100" dirty="0"/>
          </a:p>
        </p:txBody>
      </p:sp>
      <p:sp>
        <p:nvSpPr>
          <p:cNvPr id="12" name="Text 10"/>
          <p:cNvSpPr/>
          <p:nvPr/>
        </p:nvSpPr>
        <p:spPr>
          <a:xfrm>
            <a:off x="502920" y="5257800"/>
            <a:ext cx="3474720" cy="365760"/>
          </a:xfrm>
          <a:prstGeom prst="rect">
            <a:avLst/>
          </a:prstGeom>
          <a:noFill/>
          <a:ln/>
        </p:spPr>
        <p:txBody>
          <a:bodyPr wrap="square" lIns="0" tIns="0" rIns="0" bIns="0" rtlCol="0" anchor="ctr"/>
          <a:lstStyle/>
          <a:p>
            <a:pPr marL="0" indent="0" algn="ctr">
              <a:buNone/>
            </a:pPr>
            <a:r>
              <a:rPr lang="en-US" sz="1600" b="1" dirty="0">
                <a:solidFill>
                  <a:srgbClr val="14192A"/>
                </a:solidFill>
                <a:latin typeface="Arial Black" pitchFamily="34" charset="0"/>
                <a:ea typeface="Arial Black" pitchFamily="34" charset="-122"/>
                <a:cs typeface="Arial Black" pitchFamily="34" charset="-120"/>
              </a:rPr>
              <a:t>Coach, expanded.</a:t>
            </a:r>
            <a:endParaRPr lang="en-US" sz="1600" dirty="0"/>
          </a:p>
        </p:txBody>
      </p:sp>
      <p:sp>
        <p:nvSpPr>
          <p:cNvPr id="13" name="Text 11"/>
          <p:cNvSpPr/>
          <p:nvPr/>
        </p:nvSpPr>
        <p:spPr>
          <a:xfrm>
            <a:off x="502920" y="5715000"/>
            <a:ext cx="3474720" cy="1097280"/>
          </a:xfrm>
          <a:prstGeom prst="rect">
            <a:avLst/>
          </a:prstGeom>
          <a:noFill/>
          <a:ln/>
        </p:spPr>
        <p:txBody>
          <a:bodyPr wrap="square" lIns="0" tIns="0" rIns="0" bIns="0" rtlCol="0" anchor="t"/>
          <a:lstStyle/>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Persistent memory</a:t>
            </a:r>
            <a:endParaRPr lang="en-US" sz="1100" dirty="0"/>
          </a:p>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Deeper personalization</a:t>
            </a:r>
            <a:endParaRPr lang="en-US" sz="1100" dirty="0"/>
          </a:p>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Stronger reasoning</a:t>
            </a:r>
            <a:endParaRPr lang="en-US" sz="1100" dirty="0"/>
          </a:p>
        </p:txBody>
      </p:sp>
      <p:sp>
        <p:nvSpPr>
          <p:cNvPr id="14" name="Shape 12"/>
          <p:cNvSpPr/>
          <p:nvPr/>
        </p:nvSpPr>
        <p:spPr>
          <a:xfrm>
            <a:off x="5093208" y="2743200"/>
            <a:ext cx="2011680" cy="1097280"/>
          </a:xfrm>
          <a:prstGeom prst="rect">
            <a:avLst/>
          </a:prstGeom>
          <a:solidFill>
            <a:srgbClr val="FAF7F1"/>
          </a:solidFill>
          <a:ln w="12700">
            <a:solidFill>
              <a:srgbClr val="1B2A4A"/>
            </a:solidFill>
            <a:prstDash val="solid"/>
          </a:ln>
          <a:effectLst>
            <a:outerShdw blurRad="127000" dist="25400" dir="5400000" algn="bl" rotWithShape="0">
              <a:srgbClr val="000000">
                <a:alpha val="8000"/>
              </a:srgbClr>
            </a:outerShdw>
          </a:effectLst>
        </p:spPr>
        <p:txBody>
          <a:bodyPr/>
          <a:lstStyle/>
          <a:p>
            <a:endParaRPr lang="en-US"/>
          </a:p>
        </p:txBody>
      </p:sp>
      <p:sp>
        <p:nvSpPr>
          <p:cNvPr id="15" name="Shape 13"/>
          <p:cNvSpPr/>
          <p:nvPr/>
        </p:nvSpPr>
        <p:spPr>
          <a:xfrm>
            <a:off x="5093208" y="2743200"/>
            <a:ext cx="2011680" cy="54864"/>
          </a:xfrm>
          <a:prstGeom prst="rect">
            <a:avLst/>
          </a:prstGeom>
          <a:solidFill>
            <a:srgbClr val="1B2A4A"/>
          </a:solidFill>
          <a:ln/>
        </p:spPr>
        <p:txBody>
          <a:bodyPr/>
          <a:lstStyle/>
          <a:p>
            <a:endParaRPr lang="en-US"/>
          </a:p>
        </p:txBody>
      </p:sp>
      <p:sp>
        <p:nvSpPr>
          <p:cNvPr id="16" name="Text 14"/>
          <p:cNvSpPr/>
          <p:nvPr/>
        </p:nvSpPr>
        <p:spPr>
          <a:xfrm>
            <a:off x="5093208" y="2907792"/>
            <a:ext cx="2011680" cy="914400"/>
          </a:xfrm>
          <a:prstGeom prst="rect">
            <a:avLst/>
          </a:prstGeom>
          <a:noFill/>
          <a:ln/>
        </p:spPr>
        <p:txBody>
          <a:bodyPr wrap="square" lIns="0" tIns="0" rIns="0" bIns="0" rtlCol="0" anchor="ctr"/>
          <a:lstStyle/>
          <a:p>
            <a:pPr marL="0" indent="0" algn="ctr">
              <a:spcAft>
                <a:spcPts val="100"/>
              </a:spcAft>
              <a:buNone/>
            </a:pPr>
            <a:r>
              <a:rPr lang="en-US" sz="1600" b="1" dirty="0">
                <a:solidFill>
                  <a:srgbClr val="14192A"/>
                </a:solidFill>
                <a:latin typeface="Arial Black" pitchFamily="34" charset="0"/>
                <a:ea typeface="Arial Black" pitchFamily="34" charset="-122"/>
                <a:cs typeface="Arial Black" pitchFamily="34" charset="-120"/>
              </a:rPr>
              <a:t>Workflows</a:t>
            </a:r>
            <a:endParaRPr lang="en-US" sz="1600" dirty="0"/>
          </a:p>
          <a:p>
            <a:pPr marL="0" indent="0" algn="ctr">
              <a:spcAft>
                <a:spcPts val="100"/>
              </a:spcAft>
              <a:buNone/>
            </a:pPr>
            <a:r>
              <a:rPr lang="en-US" sz="1600" b="1" dirty="0">
                <a:solidFill>
                  <a:srgbClr val="14192A"/>
                </a:solidFill>
                <a:latin typeface="Arial Black" pitchFamily="34" charset="0"/>
                <a:ea typeface="Arial Black" pitchFamily="34" charset="-122"/>
                <a:cs typeface="Arial Black" pitchFamily="34" charset="-120"/>
              </a:rPr>
              <a:t>live</a:t>
            </a:r>
            <a:endParaRPr lang="en-US" sz="1600" dirty="0"/>
          </a:p>
        </p:txBody>
      </p:sp>
      <p:sp>
        <p:nvSpPr>
          <p:cNvPr id="17" name="Shape 15"/>
          <p:cNvSpPr/>
          <p:nvPr/>
        </p:nvSpPr>
        <p:spPr>
          <a:xfrm>
            <a:off x="6099048" y="3840480"/>
            <a:ext cx="914" cy="731520"/>
          </a:xfrm>
          <a:prstGeom prst="line">
            <a:avLst/>
          </a:prstGeom>
          <a:noFill/>
          <a:ln w="9525">
            <a:solidFill>
              <a:srgbClr val="1B2A4A">
                <a:alpha val="70000"/>
              </a:srgbClr>
            </a:solidFill>
            <a:prstDash val="solid"/>
          </a:ln>
        </p:spPr>
        <p:txBody>
          <a:bodyPr/>
          <a:lstStyle/>
          <a:p>
            <a:endParaRPr lang="en-US"/>
          </a:p>
        </p:txBody>
      </p:sp>
      <p:sp>
        <p:nvSpPr>
          <p:cNvPr id="18" name="Shape 16"/>
          <p:cNvSpPr/>
          <p:nvPr/>
        </p:nvSpPr>
        <p:spPr>
          <a:xfrm>
            <a:off x="5934456" y="4498848"/>
            <a:ext cx="329184" cy="329184"/>
          </a:xfrm>
          <a:prstGeom prst="ellipse">
            <a:avLst/>
          </a:prstGeom>
          <a:solidFill>
            <a:srgbClr val="1B2A4A"/>
          </a:solidFill>
          <a:ln w="38100">
            <a:solidFill>
              <a:srgbClr val="F5F0EB"/>
            </a:solidFill>
            <a:prstDash val="solid"/>
          </a:ln>
        </p:spPr>
        <p:txBody>
          <a:bodyPr/>
          <a:lstStyle/>
          <a:p>
            <a:endParaRPr lang="en-US"/>
          </a:p>
        </p:txBody>
      </p:sp>
      <p:sp>
        <p:nvSpPr>
          <p:cNvPr id="19" name="Text 17"/>
          <p:cNvSpPr/>
          <p:nvPr/>
        </p:nvSpPr>
        <p:spPr>
          <a:xfrm>
            <a:off x="5184648" y="4937760"/>
            <a:ext cx="1828800" cy="274320"/>
          </a:xfrm>
          <a:prstGeom prst="rect">
            <a:avLst/>
          </a:prstGeom>
          <a:noFill/>
          <a:ln/>
        </p:spPr>
        <p:txBody>
          <a:bodyPr wrap="square" lIns="0" tIns="0" rIns="0" bIns="0" rtlCol="0" anchor="ctr"/>
          <a:lstStyle/>
          <a:p>
            <a:pPr marL="0" indent="0" algn="ctr">
              <a:buNone/>
            </a:pPr>
            <a:r>
              <a:rPr lang="en-US" sz="1100" b="1" kern="0" spc="400" dirty="0">
                <a:solidFill>
                  <a:srgbClr val="1B2A4A"/>
                </a:solidFill>
                <a:latin typeface="Helvetica" pitchFamily="34" charset="0"/>
                <a:ea typeface="Helvetica" pitchFamily="34" charset="-122"/>
                <a:cs typeface="Helvetica" pitchFamily="34" charset="-120"/>
              </a:rPr>
              <a:t>NEXT</a:t>
            </a:r>
            <a:endParaRPr lang="en-US" sz="1100" dirty="0"/>
          </a:p>
        </p:txBody>
      </p:sp>
      <p:sp>
        <p:nvSpPr>
          <p:cNvPr id="20" name="Text 18"/>
          <p:cNvSpPr/>
          <p:nvPr/>
        </p:nvSpPr>
        <p:spPr>
          <a:xfrm>
            <a:off x="4361688" y="5257800"/>
            <a:ext cx="3474720" cy="365760"/>
          </a:xfrm>
          <a:prstGeom prst="rect">
            <a:avLst/>
          </a:prstGeom>
          <a:noFill/>
          <a:ln/>
        </p:spPr>
        <p:txBody>
          <a:bodyPr wrap="square" lIns="0" tIns="0" rIns="0" bIns="0" rtlCol="0" anchor="ctr"/>
          <a:lstStyle/>
          <a:p>
            <a:pPr marL="0" indent="0" algn="ctr">
              <a:buNone/>
            </a:pPr>
            <a:r>
              <a:rPr lang="en-US" sz="1600" b="1" dirty="0">
                <a:solidFill>
                  <a:srgbClr val="14192A"/>
                </a:solidFill>
                <a:latin typeface="Arial Black" pitchFamily="34" charset="0"/>
                <a:ea typeface="Arial Black" pitchFamily="34" charset="-122"/>
                <a:cs typeface="Arial Black" pitchFamily="34" charset="-120"/>
              </a:rPr>
              <a:t>Agentic workflows.</a:t>
            </a:r>
            <a:endParaRPr lang="en-US" sz="1600" dirty="0"/>
          </a:p>
        </p:txBody>
      </p:sp>
      <p:sp>
        <p:nvSpPr>
          <p:cNvPr id="21" name="Text 19"/>
          <p:cNvSpPr/>
          <p:nvPr/>
        </p:nvSpPr>
        <p:spPr>
          <a:xfrm>
            <a:off x="4361688" y="5715000"/>
            <a:ext cx="3474720" cy="1097280"/>
          </a:xfrm>
          <a:prstGeom prst="rect">
            <a:avLst/>
          </a:prstGeom>
          <a:noFill/>
          <a:ln/>
        </p:spPr>
        <p:txBody>
          <a:bodyPr wrap="square" lIns="0" tIns="0" rIns="0" bIns="0" rtlCol="0" anchor="t"/>
          <a:lstStyle/>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Mortgages and trusts</a:t>
            </a:r>
            <a:endParaRPr lang="en-US" sz="1100" dirty="0"/>
          </a:p>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Coding agent pilots</a:t>
            </a:r>
            <a:endParaRPr lang="en-US" sz="1100" dirty="0"/>
          </a:p>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Richer data foundation</a:t>
            </a:r>
            <a:endParaRPr lang="en-US" sz="1100" dirty="0"/>
          </a:p>
        </p:txBody>
      </p:sp>
      <p:sp>
        <p:nvSpPr>
          <p:cNvPr id="22" name="Shape 20"/>
          <p:cNvSpPr/>
          <p:nvPr/>
        </p:nvSpPr>
        <p:spPr>
          <a:xfrm>
            <a:off x="8961120" y="2743200"/>
            <a:ext cx="2011680" cy="1097280"/>
          </a:xfrm>
          <a:prstGeom prst="rect">
            <a:avLst/>
          </a:prstGeom>
          <a:solidFill>
            <a:srgbClr val="FAF7F1"/>
          </a:solidFill>
          <a:ln w="12700">
            <a:solidFill>
              <a:srgbClr val="A0824E"/>
            </a:solidFill>
            <a:prstDash val="solid"/>
          </a:ln>
          <a:effectLst>
            <a:outerShdw blurRad="127000" dist="25400" dir="5400000" algn="bl" rotWithShape="0">
              <a:srgbClr val="000000">
                <a:alpha val="8000"/>
              </a:srgbClr>
            </a:outerShdw>
          </a:effectLst>
        </p:spPr>
        <p:txBody>
          <a:bodyPr/>
          <a:lstStyle/>
          <a:p>
            <a:endParaRPr lang="en-US"/>
          </a:p>
        </p:txBody>
      </p:sp>
      <p:sp>
        <p:nvSpPr>
          <p:cNvPr id="23" name="Shape 21"/>
          <p:cNvSpPr/>
          <p:nvPr/>
        </p:nvSpPr>
        <p:spPr>
          <a:xfrm>
            <a:off x="8961120" y="2743200"/>
            <a:ext cx="2011680" cy="54864"/>
          </a:xfrm>
          <a:prstGeom prst="rect">
            <a:avLst/>
          </a:prstGeom>
          <a:solidFill>
            <a:srgbClr val="A0824E"/>
          </a:solidFill>
          <a:ln/>
        </p:spPr>
        <p:txBody>
          <a:bodyPr/>
          <a:lstStyle/>
          <a:p>
            <a:endParaRPr lang="en-US"/>
          </a:p>
        </p:txBody>
      </p:sp>
      <p:sp>
        <p:nvSpPr>
          <p:cNvPr id="24" name="Text 22"/>
          <p:cNvSpPr/>
          <p:nvPr/>
        </p:nvSpPr>
        <p:spPr>
          <a:xfrm>
            <a:off x="8961120" y="2907792"/>
            <a:ext cx="2011680" cy="914400"/>
          </a:xfrm>
          <a:prstGeom prst="rect">
            <a:avLst/>
          </a:prstGeom>
          <a:noFill/>
          <a:ln/>
        </p:spPr>
        <p:txBody>
          <a:bodyPr wrap="square" lIns="0" tIns="0" rIns="0" bIns="0" rtlCol="0" anchor="ctr"/>
          <a:lstStyle/>
          <a:p>
            <a:pPr marL="0" indent="0" algn="ctr">
              <a:spcAft>
                <a:spcPts val="100"/>
              </a:spcAft>
              <a:buNone/>
            </a:pPr>
            <a:r>
              <a:rPr lang="en-US" sz="1600" b="1" dirty="0">
                <a:solidFill>
                  <a:srgbClr val="14192A"/>
                </a:solidFill>
                <a:latin typeface="Arial Black" pitchFamily="34" charset="0"/>
                <a:ea typeface="Arial Black" pitchFamily="34" charset="-122"/>
                <a:cs typeface="Arial Black" pitchFamily="34" charset="-120"/>
              </a:rPr>
              <a:t>AI-native</a:t>
            </a:r>
            <a:endParaRPr lang="en-US" sz="1600" dirty="0"/>
          </a:p>
          <a:p>
            <a:pPr marL="0" indent="0" algn="ctr">
              <a:spcAft>
                <a:spcPts val="100"/>
              </a:spcAft>
              <a:buNone/>
            </a:pPr>
            <a:r>
              <a:rPr lang="en-US" sz="1600" b="1" dirty="0">
                <a:solidFill>
                  <a:srgbClr val="14192A"/>
                </a:solidFill>
                <a:latin typeface="Arial Black" pitchFamily="34" charset="0"/>
                <a:ea typeface="Arial Black" pitchFamily="34" charset="-122"/>
                <a:cs typeface="Arial Black" pitchFamily="34" charset="-120"/>
              </a:rPr>
              <a:t>bank</a:t>
            </a:r>
            <a:endParaRPr lang="en-US" sz="1600" dirty="0"/>
          </a:p>
        </p:txBody>
      </p:sp>
      <p:sp>
        <p:nvSpPr>
          <p:cNvPr id="25" name="Shape 23"/>
          <p:cNvSpPr/>
          <p:nvPr/>
        </p:nvSpPr>
        <p:spPr>
          <a:xfrm>
            <a:off x="9966960" y="3840480"/>
            <a:ext cx="914" cy="731520"/>
          </a:xfrm>
          <a:prstGeom prst="line">
            <a:avLst/>
          </a:prstGeom>
          <a:noFill/>
          <a:ln w="9525">
            <a:solidFill>
              <a:srgbClr val="A0824E">
                <a:alpha val="70000"/>
              </a:srgbClr>
            </a:solidFill>
            <a:prstDash val="solid"/>
          </a:ln>
        </p:spPr>
        <p:txBody>
          <a:bodyPr/>
          <a:lstStyle/>
          <a:p>
            <a:endParaRPr lang="en-US"/>
          </a:p>
        </p:txBody>
      </p:sp>
      <p:sp>
        <p:nvSpPr>
          <p:cNvPr id="26" name="Shape 24"/>
          <p:cNvSpPr/>
          <p:nvPr/>
        </p:nvSpPr>
        <p:spPr>
          <a:xfrm>
            <a:off x="9802368" y="4498848"/>
            <a:ext cx="329184" cy="329184"/>
          </a:xfrm>
          <a:prstGeom prst="ellipse">
            <a:avLst/>
          </a:prstGeom>
          <a:solidFill>
            <a:srgbClr val="A0824E"/>
          </a:solidFill>
          <a:ln w="38100">
            <a:solidFill>
              <a:srgbClr val="F5F0EB"/>
            </a:solidFill>
            <a:prstDash val="solid"/>
          </a:ln>
        </p:spPr>
        <p:txBody>
          <a:bodyPr/>
          <a:lstStyle/>
          <a:p>
            <a:endParaRPr lang="en-US"/>
          </a:p>
        </p:txBody>
      </p:sp>
      <p:sp>
        <p:nvSpPr>
          <p:cNvPr id="27" name="Text 25"/>
          <p:cNvSpPr/>
          <p:nvPr/>
        </p:nvSpPr>
        <p:spPr>
          <a:xfrm>
            <a:off x="9052560" y="4937760"/>
            <a:ext cx="1828800" cy="274320"/>
          </a:xfrm>
          <a:prstGeom prst="rect">
            <a:avLst/>
          </a:prstGeom>
          <a:noFill/>
          <a:ln/>
        </p:spPr>
        <p:txBody>
          <a:bodyPr wrap="square" lIns="0" tIns="0" rIns="0" bIns="0" rtlCol="0" anchor="ctr"/>
          <a:lstStyle/>
          <a:p>
            <a:pPr marL="0" indent="0" algn="ctr">
              <a:buNone/>
            </a:pPr>
            <a:r>
              <a:rPr lang="en-US" sz="1100" b="1" kern="0" spc="400" dirty="0">
                <a:solidFill>
                  <a:srgbClr val="A0824E"/>
                </a:solidFill>
                <a:latin typeface="Helvetica" pitchFamily="34" charset="0"/>
                <a:ea typeface="Helvetica" pitchFamily="34" charset="-122"/>
                <a:cs typeface="Helvetica" pitchFamily="34" charset="-120"/>
              </a:rPr>
              <a:t>FUTURE</a:t>
            </a:r>
            <a:endParaRPr lang="en-US" sz="1100" dirty="0"/>
          </a:p>
        </p:txBody>
      </p:sp>
      <p:sp>
        <p:nvSpPr>
          <p:cNvPr id="28" name="Text 26"/>
          <p:cNvSpPr/>
          <p:nvPr/>
        </p:nvSpPr>
        <p:spPr>
          <a:xfrm>
            <a:off x="8229600" y="5257800"/>
            <a:ext cx="3474720" cy="365760"/>
          </a:xfrm>
          <a:prstGeom prst="rect">
            <a:avLst/>
          </a:prstGeom>
          <a:noFill/>
          <a:ln/>
        </p:spPr>
        <p:txBody>
          <a:bodyPr wrap="square" lIns="0" tIns="0" rIns="0" bIns="0" rtlCol="0" anchor="ctr"/>
          <a:lstStyle/>
          <a:p>
            <a:pPr marL="0" indent="0" algn="ctr">
              <a:buNone/>
            </a:pPr>
            <a:r>
              <a:rPr lang="en-US" sz="1600" b="1" dirty="0">
                <a:solidFill>
                  <a:srgbClr val="14192A"/>
                </a:solidFill>
                <a:latin typeface="Arial Black" pitchFamily="34" charset="0"/>
                <a:ea typeface="Arial Black" pitchFamily="34" charset="-122"/>
                <a:cs typeface="Arial Black" pitchFamily="34" charset="-120"/>
              </a:rPr>
              <a:t>AI-native Private Bank.</a:t>
            </a:r>
            <a:endParaRPr lang="en-US" sz="1600" dirty="0"/>
          </a:p>
        </p:txBody>
      </p:sp>
      <p:sp>
        <p:nvSpPr>
          <p:cNvPr id="29" name="Text 27"/>
          <p:cNvSpPr/>
          <p:nvPr/>
        </p:nvSpPr>
        <p:spPr>
          <a:xfrm>
            <a:off x="8229600" y="5715000"/>
            <a:ext cx="3474720" cy="1097280"/>
          </a:xfrm>
          <a:prstGeom prst="rect">
            <a:avLst/>
          </a:prstGeom>
          <a:noFill/>
          <a:ln/>
        </p:spPr>
        <p:txBody>
          <a:bodyPr wrap="square" lIns="0" tIns="0" rIns="0" bIns="0" rtlCol="0" anchor="t"/>
          <a:lstStyle/>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Ambient meeting intelligence</a:t>
            </a:r>
            <a:endParaRPr lang="en-US" sz="1100" dirty="0"/>
          </a:p>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Firm-wide discovery engine</a:t>
            </a:r>
            <a:endParaRPr lang="en-US" sz="1100" dirty="0"/>
          </a:p>
          <a:p>
            <a:pPr marL="0" indent="0" algn="ctr">
              <a:spcAft>
                <a:spcPts val="300"/>
              </a:spcAft>
              <a:buNone/>
            </a:pPr>
            <a:r>
              <a:rPr lang="en-US" sz="1100" dirty="0">
                <a:solidFill>
                  <a:srgbClr val="3D3830"/>
                </a:solidFill>
                <a:latin typeface="Helvetica" pitchFamily="34" charset="0"/>
                <a:ea typeface="Helvetica" pitchFamily="34" charset="-122"/>
                <a:cs typeface="Helvetica" pitchFamily="34" charset="-120"/>
              </a:rPr>
              <a:t>New client experiences</a:t>
            </a:r>
            <a:endParaRPr lang="en-US" sz="1100" dirty="0"/>
          </a:p>
        </p:txBody>
      </p:sp>
      <p:sp>
        <p:nvSpPr>
          <p:cNvPr id="30" name="Text 28"/>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31" name="Text 29"/>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17  /  19</a:t>
            </a:r>
            <a:endParaRPr lang="en-US" sz="800" dirty="0"/>
          </a:p>
        </p:txBody>
      </p:sp>
      <p:sp>
        <p:nvSpPr>
          <p:cNvPr id="32" name="Text 30"/>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33" name="Shape 31"/>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626"/>
        </a:solidFill>
        <a:effectLst/>
      </p:bgPr>
    </p:bg>
    <p:spTree>
      <p:nvGrpSpPr>
        <p:cNvPr id="1" name=""/>
        <p:cNvGrpSpPr/>
        <p:nvPr/>
      </p:nvGrpSpPr>
      <p:grpSpPr>
        <a:xfrm>
          <a:off x="0" y="0"/>
          <a:ext cx="0" cy="0"/>
          <a:chOff x="0" y="0"/>
          <a:chExt cx="0" cy="0"/>
        </a:xfrm>
      </p:grpSpPr>
      <p:sp>
        <p:nvSpPr>
          <p:cNvPr id="2" name="Text 0"/>
          <p:cNvSpPr/>
          <p:nvPr/>
        </p:nvSpPr>
        <p:spPr>
          <a:xfrm>
            <a:off x="685800" y="777240"/>
            <a:ext cx="9144000" cy="274320"/>
          </a:xfrm>
          <a:prstGeom prst="rect">
            <a:avLst/>
          </a:prstGeom>
          <a:noFill/>
          <a:ln/>
        </p:spPr>
        <p:txBody>
          <a:bodyPr wrap="square" lIns="0" tIns="0" rIns="0" bIns="0" rtlCol="0" anchor="ctr"/>
          <a:lstStyle/>
          <a:p>
            <a:pPr marL="0" indent="0">
              <a:buNone/>
            </a:pPr>
            <a:r>
              <a:rPr lang="en-US" sz="1000" b="1" kern="0" spc="600" dirty="0">
                <a:solidFill>
                  <a:srgbClr val="A0824E"/>
                </a:solidFill>
                <a:latin typeface="Helvetica" pitchFamily="34" charset="0"/>
                <a:ea typeface="Helvetica" pitchFamily="34" charset="-122"/>
                <a:cs typeface="Helvetica" pitchFamily="34" charset="-120"/>
              </a:rPr>
              <a:t>ONE LINE TO REMEMBER</a:t>
            </a:r>
            <a:endParaRPr lang="en-US" sz="1000" dirty="0"/>
          </a:p>
        </p:txBody>
      </p:sp>
      <p:sp>
        <p:nvSpPr>
          <p:cNvPr id="3" name="Text 1"/>
          <p:cNvSpPr/>
          <p:nvPr/>
        </p:nvSpPr>
        <p:spPr>
          <a:xfrm>
            <a:off x="685800" y="1600200"/>
            <a:ext cx="10972800" cy="3474720"/>
          </a:xfrm>
          <a:prstGeom prst="rect">
            <a:avLst/>
          </a:prstGeom>
          <a:noFill/>
          <a:ln/>
        </p:spPr>
        <p:txBody>
          <a:bodyPr wrap="square" lIns="0" tIns="0" rIns="0" bIns="0" rtlCol="0" anchor="t"/>
          <a:lstStyle/>
          <a:p>
            <a:pPr marL="0" indent="0" algn="l">
              <a:buNone/>
            </a:pPr>
            <a:r>
              <a:rPr lang="en-US" sz="5000" b="1" strike="sngStrike" dirty="0">
                <a:solidFill>
                  <a:srgbClr val="BFB9A8"/>
                </a:solidFill>
                <a:latin typeface="Arial Black" pitchFamily="34" charset="0"/>
                <a:ea typeface="Arial Black" pitchFamily="34" charset="-122"/>
                <a:cs typeface="Arial Black" pitchFamily="34" charset="-120"/>
              </a:rPr>
              <a:t>We are not building</a:t>
            </a:r>
            <a:endParaRPr lang="en-US" sz="5000" dirty="0"/>
          </a:p>
          <a:p>
            <a:pPr marL="0" indent="0" algn="l">
              <a:buNone/>
            </a:pPr>
            <a:r>
              <a:rPr lang="en-US" sz="5000" b="1" strike="sngStrike" dirty="0">
                <a:solidFill>
                  <a:srgbClr val="BFB9A8"/>
                </a:solidFill>
                <a:latin typeface="Arial Black" pitchFamily="34" charset="0"/>
                <a:ea typeface="Arial Black" pitchFamily="34" charset="-122"/>
                <a:cs typeface="Arial Black" pitchFamily="34" charset="-120"/>
              </a:rPr>
              <a:t>AI features.</a:t>
            </a:r>
            <a:endParaRPr lang="en-US" sz="5000" dirty="0"/>
          </a:p>
          <a:p>
            <a:pPr marL="0" indent="0" algn="l">
              <a:buNone/>
            </a:pPr>
            <a:r>
              <a:rPr lang="en-US" sz="1200" b="1" dirty="0">
                <a:solidFill>
                  <a:srgbClr val="000000"/>
                </a:solidFill>
                <a:latin typeface="Arial Black" pitchFamily="34" charset="0"/>
                <a:ea typeface="Arial Black" pitchFamily="34" charset="-122"/>
                <a:cs typeface="Arial Black" pitchFamily="34" charset="-120"/>
              </a:rPr>
              <a:t> </a:t>
            </a:r>
            <a:endParaRPr lang="en-US" sz="5000" dirty="0"/>
          </a:p>
          <a:p>
            <a:pPr marL="0" indent="0" algn="l">
              <a:buNone/>
            </a:pPr>
            <a:r>
              <a:rPr lang="en-US" sz="5000" b="1" dirty="0">
                <a:solidFill>
                  <a:srgbClr val="F0ECE3"/>
                </a:solidFill>
                <a:latin typeface="Arial Black" pitchFamily="34" charset="0"/>
                <a:ea typeface="Arial Black" pitchFamily="34" charset="-122"/>
                <a:cs typeface="Arial Black" pitchFamily="34" charset="-120"/>
              </a:rPr>
              <a:t>We are building an</a:t>
            </a:r>
            <a:endParaRPr lang="en-US" sz="5000" dirty="0"/>
          </a:p>
          <a:p>
            <a:pPr marL="0" indent="0" algn="l">
              <a:buNone/>
            </a:pPr>
            <a:r>
              <a:rPr lang="en-US" sz="5000" b="1" dirty="0">
                <a:solidFill>
                  <a:srgbClr val="A0824E"/>
                </a:solidFill>
                <a:latin typeface="Arial Black" pitchFamily="34" charset="0"/>
                <a:ea typeface="Arial Black" pitchFamily="34" charset="-122"/>
                <a:cs typeface="Arial Black" pitchFamily="34" charset="-120"/>
              </a:rPr>
              <a:t>AI-powered Private Bank.</a:t>
            </a:r>
            <a:endParaRPr lang="en-US" sz="5000" dirty="0"/>
          </a:p>
        </p:txBody>
      </p:sp>
      <p:sp>
        <p:nvSpPr>
          <p:cNvPr id="4" name="Shape 2"/>
          <p:cNvSpPr/>
          <p:nvPr/>
        </p:nvSpPr>
        <p:spPr>
          <a:xfrm>
            <a:off x="685800" y="5349240"/>
            <a:ext cx="1097280" cy="914"/>
          </a:xfrm>
          <a:prstGeom prst="line">
            <a:avLst/>
          </a:prstGeom>
          <a:noFill/>
          <a:ln w="25400">
            <a:solidFill>
              <a:srgbClr val="A0824E"/>
            </a:solidFill>
            <a:prstDash val="solid"/>
          </a:ln>
        </p:spPr>
        <p:txBody>
          <a:bodyPr/>
          <a:lstStyle/>
          <a:p>
            <a:endParaRPr lang="en-US"/>
          </a:p>
        </p:txBody>
      </p:sp>
      <p:sp>
        <p:nvSpPr>
          <p:cNvPr id="5" name="Text 3"/>
          <p:cNvSpPr/>
          <p:nvPr/>
        </p:nvSpPr>
        <p:spPr>
          <a:xfrm>
            <a:off x="685800" y="5532120"/>
            <a:ext cx="10972800" cy="822960"/>
          </a:xfrm>
          <a:prstGeom prst="rect">
            <a:avLst/>
          </a:prstGeom>
          <a:noFill/>
          <a:ln/>
        </p:spPr>
        <p:txBody>
          <a:bodyPr wrap="square" lIns="0" tIns="0" rIns="0" bIns="0" rtlCol="0" anchor="t"/>
          <a:lstStyle/>
          <a:p>
            <a:pPr marL="0" indent="0" algn="l">
              <a:buNone/>
            </a:pPr>
            <a:r>
              <a:rPr lang="en-US" sz="1800" i="1" dirty="0">
                <a:solidFill>
                  <a:srgbClr val="E6E1D4"/>
                </a:solidFill>
                <a:latin typeface="Georgia" pitchFamily="34" charset="0"/>
                <a:ea typeface="Georgia" pitchFamily="34" charset="-122"/>
                <a:cs typeface="Georgia" pitchFamily="34" charset="-120"/>
              </a:rPr>
              <a:t>The winners will be the firms that build the most intelligent system.</a:t>
            </a:r>
            <a:endParaRPr lang="en-US" sz="1800" dirty="0"/>
          </a:p>
          <a:p>
            <a:pPr marL="0" indent="0" algn="l">
              <a:buNone/>
            </a:pPr>
            <a:r>
              <a:rPr lang="en-US" sz="1800" b="1" i="1" dirty="0">
                <a:solidFill>
                  <a:srgbClr val="F5F0EB"/>
                </a:solidFill>
                <a:latin typeface="Georgia" pitchFamily="34" charset="0"/>
                <a:ea typeface="Georgia" pitchFamily="34" charset="-122"/>
                <a:cs typeface="Georgia" pitchFamily="34" charset="-120"/>
              </a:rPr>
              <a:t>That is what we are building.</a:t>
            </a:r>
            <a:endParaRPr lang="en-US" sz="1800" dirty="0"/>
          </a:p>
        </p:txBody>
      </p:sp>
      <p:sp>
        <p:nvSpPr>
          <p:cNvPr id="6" name="Text 4"/>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6E6A60"/>
                </a:solidFill>
                <a:latin typeface="Helvetica" pitchFamily="34" charset="0"/>
                <a:ea typeface="Helvetica" pitchFamily="34" charset="-122"/>
                <a:cs typeface="Helvetica" pitchFamily="34" charset="-120"/>
              </a:rPr>
              <a:t>PRIVATE  BANK</a:t>
            </a:r>
            <a:endParaRPr lang="en-US" sz="800" dirty="0"/>
          </a:p>
        </p:txBody>
      </p:sp>
      <p:sp>
        <p:nvSpPr>
          <p:cNvPr id="7" name="Text 5"/>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6E6A60"/>
                </a:solidFill>
                <a:latin typeface="Helvetica" pitchFamily="34" charset="0"/>
                <a:ea typeface="Helvetica" pitchFamily="34" charset="-122"/>
                <a:cs typeface="Helvetica" pitchFamily="34" charset="-120"/>
              </a:rPr>
              <a:t>18  /  19</a:t>
            </a:r>
            <a:endParaRPr lang="en-US" sz="800" dirty="0"/>
          </a:p>
        </p:txBody>
      </p:sp>
      <p:sp>
        <p:nvSpPr>
          <p:cNvPr id="8" name="Text 6"/>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6E6A60"/>
                </a:solidFill>
                <a:latin typeface="Helvetica" pitchFamily="34" charset="0"/>
                <a:ea typeface="Helvetica" pitchFamily="34" charset="-122"/>
                <a:cs typeface="Helvetica" pitchFamily="34" charset="-120"/>
              </a:rPr>
              <a:t>CONFIDENTIAL</a:t>
            </a:r>
            <a:endParaRPr lang="en-US" sz="800" dirty="0"/>
          </a:p>
        </p:txBody>
      </p:sp>
      <p:sp>
        <p:nvSpPr>
          <p:cNvPr id="9" name="Shape 7"/>
          <p:cNvSpPr/>
          <p:nvPr/>
        </p:nvSpPr>
        <p:spPr>
          <a:xfrm>
            <a:off x="502920" y="6428232"/>
            <a:ext cx="11183112" cy="914"/>
          </a:xfrm>
          <a:prstGeom prst="line">
            <a:avLst/>
          </a:prstGeom>
          <a:noFill/>
          <a:ln w="6350">
            <a:solidFill>
              <a:srgbClr val="2A2824"/>
            </a:solidFill>
            <a:prstDash val="solid"/>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685800" y="475488"/>
            <a:ext cx="9144000" cy="292608"/>
          </a:xfrm>
          <a:prstGeom prst="rect">
            <a:avLst/>
          </a:prstGeom>
          <a:noFill/>
          <a:ln/>
        </p:spPr>
        <p:txBody>
          <a:bodyPr wrap="square" lIns="0" tIns="0" rIns="0" bIns="0" rtlCol="0" anchor="ctr"/>
          <a:lstStyle/>
          <a:p>
            <a:pPr marL="0" indent="0">
              <a:buNone/>
            </a:pPr>
            <a:r>
              <a:rPr lang="en-US" sz="900" b="1" kern="0" spc="400" dirty="0">
                <a:solidFill>
                  <a:srgbClr val="A0824E"/>
                </a:solidFill>
                <a:latin typeface="Helvetica" pitchFamily="34" charset="0"/>
                <a:ea typeface="Helvetica" pitchFamily="34" charset="-122"/>
                <a:cs typeface="Helvetica" pitchFamily="34" charset="-120"/>
              </a:rPr>
              <a:t>APPENDIX</a:t>
            </a:r>
            <a:endParaRPr lang="en-US" sz="900" dirty="0"/>
          </a:p>
        </p:txBody>
      </p:sp>
      <p:sp>
        <p:nvSpPr>
          <p:cNvPr id="3" name="Text 1"/>
          <p:cNvSpPr/>
          <p:nvPr/>
        </p:nvSpPr>
        <p:spPr>
          <a:xfrm>
            <a:off x="685800" y="868680"/>
            <a:ext cx="10789920" cy="822960"/>
          </a:xfrm>
          <a:prstGeom prst="rect">
            <a:avLst/>
          </a:prstGeom>
          <a:noFill/>
          <a:ln/>
        </p:spPr>
        <p:txBody>
          <a:bodyPr wrap="square" lIns="0" tIns="0" rIns="0" bIns="0" rtlCol="0" anchor="t"/>
          <a:lstStyle/>
          <a:p>
            <a:pPr marL="0" indent="0" algn="l">
              <a:buNone/>
            </a:pPr>
            <a:r>
              <a:rPr lang="en-US" sz="3400" b="1" dirty="0">
                <a:solidFill>
                  <a:srgbClr val="14192A"/>
                </a:solidFill>
                <a:latin typeface="Arial Black" pitchFamily="34" charset="0"/>
                <a:ea typeface="Arial Black" pitchFamily="34" charset="-122"/>
                <a:cs typeface="Arial Black" pitchFamily="34" charset="-120"/>
              </a:rPr>
              <a:t>Lines worth repeating.</a:t>
            </a:r>
            <a:endParaRPr lang="en-US" sz="3400" dirty="0"/>
          </a:p>
        </p:txBody>
      </p:sp>
      <p:sp>
        <p:nvSpPr>
          <p:cNvPr id="4" name="Text 2"/>
          <p:cNvSpPr/>
          <p:nvPr/>
        </p:nvSpPr>
        <p:spPr>
          <a:xfrm>
            <a:off x="685800" y="1783080"/>
            <a:ext cx="10789920" cy="365760"/>
          </a:xfrm>
          <a:prstGeom prst="rect">
            <a:avLst/>
          </a:prstGeom>
          <a:noFill/>
          <a:ln/>
        </p:spPr>
        <p:txBody>
          <a:bodyPr wrap="square" lIns="0" tIns="0" rIns="0" bIns="0" rtlCol="0" anchor="t"/>
          <a:lstStyle/>
          <a:p>
            <a:pPr marL="0" indent="0" algn="l">
              <a:buNone/>
            </a:pPr>
            <a:r>
              <a:rPr lang="en-US" sz="1200" dirty="0">
                <a:solidFill>
                  <a:srgbClr val="3D3830"/>
                </a:solidFill>
                <a:latin typeface="Helvetica" pitchFamily="34" charset="0"/>
                <a:ea typeface="Helvetica" pitchFamily="34" charset="-122"/>
                <a:cs typeface="Helvetica" pitchFamily="34" charset="-120"/>
              </a:rPr>
              <a:t>For Q&amp;A. Use as needed.</a:t>
            </a:r>
            <a:endParaRPr lang="en-US" sz="1200" dirty="0"/>
          </a:p>
        </p:txBody>
      </p:sp>
      <p:sp>
        <p:nvSpPr>
          <p:cNvPr id="5" name="Shape 3"/>
          <p:cNvSpPr/>
          <p:nvPr/>
        </p:nvSpPr>
        <p:spPr>
          <a:xfrm>
            <a:off x="685800" y="2560320"/>
            <a:ext cx="73152" cy="457200"/>
          </a:xfrm>
          <a:prstGeom prst="rect">
            <a:avLst/>
          </a:prstGeom>
          <a:solidFill>
            <a:srgbClr val="A0824E"/>
          </a:solidFill>
          <a:ln/>
        </p:spPr>
        <p:txBody>
          <a:bodyPr/>
          <a:lstStyle/>
          <a:p>
            <a:endParaRPr lang="en-US"/>
          </a:p>
        </p:txBody>
      </p:sp>
      <p:sp>
        <p:nvSpPr>
          <p:cNvPr id="6" name="Text 4"/>
          <p:cNvSpPr/>
          <p:nvPr/>
        </p:nvSpPr>
        <p:spPr>
          <a:xfrm>
            <a:off x="914400" y="251460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"We are moving from tools to teammates."</a:t>
            </a:r>
            <a:endParaRPr lang="en-US" sz="1300" dirty="0"/>
          </a:p>
        </p:txBody>
      </p:sp>
      <p:sp>
        <p:nvSpPr>
          <p:cNvPr id="7" name="Shape 5"/>
          <p:cNvSpPr/>
          <p:nvPr/>
        </p:nvSpPr>
        <p:spPr>
          <a:xfrm>
            <a:off x="685800" y="3429000"/>
            <a:ext cx="73152" cy="457200"/>
          </a:xfrm>
          <a:prstGeom prst="rect">
            <a:avLst/>
          </a:prstGeom>
          <a:solidFill>
            <a:srgbClr val="A0824E"/>
          </a:solidFill>
          <a:ln/>
        </p:spPr>
        <p:txBody>
          <a:bodyPr/>
          <a:lstStyle/>
          <a:p>
            <a:endParaRPr lang="en-US"/>
          </a:p>
        </p:txBody>
      </p:sp>
      <p:sp>
        <p:nvSpPr>
          <p:cNvPr id="8" name="Text 6"/>
          <p:cNvSpPr/>
          <p:nvPr/>
        </p:nvSpPr>
        <p:spPr>
          <a:xfrm>
            <a:off x="914400" y="338328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"AI will commoditize routine service and amplify premium advice."</a:t>
            </a:r>
            <a:endParaRPr lang="en-US" sz="1300" dirty="0"/>
          </a:p>
        </p:txBody>
      </p:sp>
      <p:sp>
        <p:nvSpPr>
          <p:cNvPr id="9" name="Shape 7"/>
          <p:cNvSpPr/>
          <p:nvPr/>
        </p:nvSpPr>
        <p:spPr>
          <a:xfrm>
            <a:off x="685800" y="4297680"/>
            <a:ext cx="73152" cy="457200"/>
          </a:xfrm>
          <a:prstGeom prst="rect">
            <a:avLst/>
          </a:prstGeom>
          <a:solidFill>
            <a:srgbClr val="A0824E"/>
          </a:solidFill>
          <a:ln/>
        </p:spPr>
        <p:txBody>
          <a:bodyPr/>
          <a:lstStyle/>
          <a:p>
            <a:endParaRPr lang="en-US"/>
          </a:p>
        </p:txBody>
      </p:sp>
      <p:sp>
        <p:nvSpPr>
          <p:cNvPr id="10" name="Text 8"/>
          <p:cNvSpPr/>
          <p:nvPr/>
        </p:nvSpPr>
        <p:spPr>
          <a:xfrm>
            <a:off x="914400" y="425196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"The moat isn't the model. It's the loop."</a:t>
            </a:r>
            <a:endParaRPr lang="en-US" sz="1300" dirty="0"/>
          </a:p>
        </p:txBody>
      </p:sp>
      <p:sp>
        <p:nvSpPr>
          <p:cNvPr id="11" name="Shape 9"/>
          <p:cNvSpPr/>
          <p:nvPr/>
        </p:nvSpPr>
        <p:spPr>
          <a:xfrm>
            <a:off x="685800" y="5166360"/>
            <a:ext cx="73152" cy="457200"/>
          </a:xfrm>
          <a:prstGeom prst="rect">
            <a:avLst/>
          </a:prstGeom>
          <a:solidFill>
            <a:srgbClr val="A0824E"/>
          </a:solidFill>
          <a:ln/>
        </p:spPr>
        <p:txBody>
          <a:bodyPr/>
          <a:lstStyle/>
          <a:p>
            <a:endParaRPr lang="en-US"/>
          </a:p>
        </p:txBody>
      </p:sp>
      <p:sp>
        <p:nvSpPr>
          <p:cNvPr id="12" name="Text 10"/>
          <p:cNvSpPr/>
          <p:nvPr/>
        </p:nvSpPr>
        <p:spPr>
          <a:xfrm>
            <a:off x="914400" y="512064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"Every client gets the firm, not just their advisor."</a:t>
            </a:r>
            <a:endParaRPr lang="en-US" sz="1300" dirty="0"/>
          </a:p>
        </p:txBody>
      </p:sp>
      <p:sp>
        <p:nvSpPr>
          <p:cNvPr id="13" name="Shape 11"/>
          <p:cNvSpPr/>
          <p:nvPr/>
        </p:nvSpPr>
        <p:spPr>
          <a:xfrm>
            <a:off x="6446520" y="2560320"/>
            <a:ext cx="73152" cy="457200"/>
          </a:xfrm>
          <a:prstGeom prst="rect">
            <a:avLst/>
          </a:prstGeom>
          <a:solidFill>
            <a:srgbClr val="A0824E"/>
          </a:solidFill>
          <a:ln/>
        </p:spPr>
        <p:txBody>
          <a:bodyPr/>
          <a:lstStyle/>
          <a:p>
            <a:endParaRPr lang="en-US"/>
          </a:p>
        </p:txBody>
      </p:sp>
      <p:sp>
        <p:nvSpPr>
          <p:cNvPr id="14" name="Text 12"/>
          <p:cNvSpPr/>
          <p:nvPr/>
        </p:nvSpPr>
        <p:spPr>
          <a:xfrm>
            <a:off x="6675120" y="251460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"Bespoke used to be a luxury. We're making it the default."</a:t>
            </a:r>
            <a:endParaRPr lang="en-US" sz="1300" dirty="0"/>
          </a:p>
        </p:txBody>
      </p:sp>
      <p:sp>
        <p:nvSpPr>
          <p:cNvPr id="15" name="Shape 13"/>
          <p:cNvSpPr/>
          <p:nvPr/>
        </p:nvSpPr>
        <p:spPr>
          <a:xfrm>
            <a:off x="6446520" y="3429000"/>
            <a:ext cx="73152" cy="457200"/>
          </a:xfrm>
          <a:prstGeom prst="rect">
            <a:avLst/>
          </a:prstGeom>
          <a:solidFill>
            <a:srgbClr val="A0824E"/>
          </a:solidFill>
          <a:ln/>
        </p:spPr>
        <p:txBody>
          <a:bodyPr/>
          <a:lstStyle/>
          <a:p>
            <a:endParaRPr lang="en-US"/>
          </a:p>
        </p:txBody>
      </p:sp>
      <p:sp>
        <p:nvSpPr>
          <p:cNvPr id="16" name="Text 14"/>
          <p:cNvSpPr/>
          <p:nvPr/>
        </p:nvSpPr>
        <p:spPr>
          <a:xfrm>
            <a:off x="6675120" y="338328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"We're not automating the Private Bank. We're rebuilding it on a new substrate."</a:t>
            </a:r>
            <a:endParaRPr lang="en-US" sz="1300" dirty="0"/>
          </a:p>
        </p:txBody>
      </p:sp>
      <p:sp>
        <p:nvSpPr>
          <p:cNvPr id="17" name="Shape 15"/>
          <p:cNvSpPr/>
          <p:nvPr/>
        </p:nvSpPr>
        <p:spPr>
          <a:xfrm>
            <a:off x="6446520" y="4297680"/>
            <a:ext cx="73152" cy="457200"/>
          </a:xfrm>
          <a:prstGeom prst="rect">
            <a:avLst/>
          </a:prstGeom>
          <a:solidFill>
            <a:srgbClr val="A0824E"/>
          </a:solidFill>
          <a:ln/>
        </p:spPr>
        <p:txBody>
          <a:bodyPr/>
          <a:lstStyle/>
          <a:p>
            <a:endParaRPr lang="en-US"/>
          </a:p>
        </p:txBody>
      </p:sp>
      <p:sp>
        <p:nvSpPr>
          <p:cNvPr id="18" name="Text 16"/>
          <p:cNvSpPr/>
          <p:nvPr/>
        </p:nvSpPr>
        <p:spPr>
          <a:xfrm>
            <a:off x="6675120" y="425196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"The assembly work goes away. The judgment work expands."</a:t>
            </a:r>
            <a:endParaRPr lang="en-US" sz="1300" dirty="0"/>
          </a:p>
        </p:txBody>
      </p:sp>
      <p:sp>
        <p:nvSpPr>
          <p:cNvPr id="19" name="Shape 17"/>
          <p:cNvSpPr/>
          <p:nvPr/>
        </p:nvSpPr>
        <p:spPr>
          <a:xfrm>
            <a:off x="6446520" y="5166360"/>
            <a:ext cx="73152" cy="457200"/>
          </a:xfrm>
          <a:prstGeom prst="rect">
            <a:avLst/>
          </a:prstGeom>
          <a:solidFill>
            <a:srgbClr val="A0824E"/>
          </a:solidFill>
          <a:ln/>
        </p:spPr>
        <p:txBody>
          <a:bodyPr/>
          <a:lstStyle/>
          <a:p>
            <a:endParaRPr lang="en-US"/>
          </a:p>
        </p:txBody>
      </p:sp>
      <p:sp>
        <p:nvSpPr>
          <p:cNvPr id="20" name="Text 18"/>
          <p:cNvSpPr/>
          <p:nvPr/>
        </p:nvSpPr>
        <p:spPr>
          <a:xfrm>
            <a:off x="6675120" y="5120640"/>
            <a:ext cx="5074920" cy="685800"/>
          </a:xfrm>
          <a:prstGeom prst="rect">
            <a:avLst/>
          </a:prstGeom>
          <a:noFill/>
          <a:ln/>
        </p:spPr>
        <p:txBody>
          <a:bodyPr wrap="square" lIns="0" tIns="0" rIns="0" bIns="0" rtlCol="0" anchor="t"/>
          <a:lstStyle/>
          <a:p>
            <a:pPr marL="0" indent="0" algn="l">
              <a:buNone/>
            </a:pPr>
            <a:r>
              <a:rPr lang="en-US" sz="1300" i="1" dirty="0">
                <a:solidFill>
                  <a:srgbClr val="14192A"/>
                </a:solidFill>
                <a:latin typeface="Georgia" pitchFamily="34" charset="0"/>
                <a:ea typeface="Georgia" pitchFamily="34" charset="-122"/>
                <a:cs typeface="Georgia" pitchFamily="34" charset="-120"/>
              </a:rPr>
              <a:t>"Advisors stop being the bottleneck and start being the differentiator."</a:t>
            </a:r>
            <a:endParaRPr lang="en-US" sz="1300" dirty="0"/>
          </a:p>
        </p:txBody>
      </p:sp>
      <p:sp>
        <p:nvSpPr>
          <p:cNvPr id="21" name="Text 19"/>
          <p:cNvSpPr/>
          <p:nvPr/>
        </p:nvSpPr>
        <p:spPr>
          <a:xfrm>
            <a:off x="502920" y="6473952"/>
            <a:ext cx="2743200" cy="274320"/>
          </a:xfrm>
          <a:prstGeom prst="rect">
            <a:avLst/>
          </a:prstGeom>
          <a:noFill/>
          <a:ln/>
        </p:spPr>
        <p:txBody>
          <a:bodyPr wrap="square" lIns="0" tIns="0" rIns="0" bIns="0" rtlCol="0" anchor="ctr"/>
          <a:lstStyle/>
          <a:p>
            <a:pPr marL="0" indent="0">
              <a:buNone/>
            </a:pPr>
            <a:r>
              <a:rPr lang="en-US" sz="800" b="1" kern="0" spc="400" dirty="0">
                <a:solidFill>
                  <a:srgbClr val="9A9488"/>
                </a:solidFill>
                <a:latin typeface="Helvetica" pitchFamily="34" charset="0"/>
                <a:ea typeface="Helvetica" pitchFamily="34" charset="-122"/>
                <a:cs typeface="Helvetica" pitchFamily="34" charset="-120"/>
              </a:rPr>
              <a:t>PRIVATE  BANK</a:t>
            </a:r>
            <a:endParaRPr lang="en-US" sz="800" dirty="0"/>
          </a:p>
        </p:txBody>
      </p:sp>
      <p:sp>
        <p:nvSpPr>
          <p:cNvPr id="22" name="Text 20"/>
          <p:cNvSpPr/>
          <p:nvPr/>
        </p:nvSpPr>
        <p:spPr>
          <a:xfrm>
            <a:off x="5641848" y="6473952"/>
            <a:ext cx="914400" cy="274320"/>
          </a:xfrm>
          <a:prstGeom prst="rect">
            <a:avLst/>
          </a:prstGeom>
          <a:noFill/>
          <a:ln/>
        </p:spPr>
        <p:txBody>
          <a:bodyPr wrap="square" lIns="0" tIns="0" rIns="0" bIns="0" rtlCol="0" anchor="ctr"/>
          <a:lstStyle/>
          <a:p>
            <a:pPr marL="0" indent="0" algn="ctr">
              <a:buNone/>
            </a:pPr>
            <a:r>
              <a:rPr lang="en-US" sz="800" kern="0" spc="300" dirty="0">
                <a:solidFill>
                  <a:srgbClr val="9A9488"/>
                </a:solidFill>
                <a:latin typeface="Helvetica" pitchFamily="34" charset="0"/>
                <a:ea typeface="Helvetica" pitchFamily="34" charset="-122"/>
                <a:cs typeface="Helvetica" pitchFamily="34" charset="-120"/>
              </a:rPr>
              <a:t>19  /  19</a:t>
            </a:r>
            <a:endParaRPr lang="en-US" sz="800" dirty="0"/>
          </a:p>
        </p:txBody>
      </p:sp>
      <p:sp>
        <p:nvSpPr>
          <p:cNvPr id="23" name="Text 21"/>
          <p:cNvSpPr/>
          <p:nvPr/>
        </p:nvSpPr>
        <p:spPr>
          <a:xfrm>
            <a:off x="9445752" y="6473952"/>
            <a:ext cx="2286000" cy="274320"/>
          </a:xfrm>
          <a:prstGeom prst="rect">
            <a:avLst/>
          </a:prstGeom>
          <a:noFill/>
          <a:ln/>
        </p:spPr>
        <p:txBody>
          <a:bodyPr wrap="square" lIns="0" tIns="0" rIns="0" bIns="0" rtlCol="0" anchor="ctr"/>
          <a:lstStyle/>
          <a:p>
            <a:pPr marL="0" indent="0" algn="r">
              <a:buNone/>
            </a:pPr>
            <a:r>
              <a:rPr lang="en-US" sz="800" kern="0" spc="400" dirty="0">
                <a:solidFill>
                  <a:srgbClr val="9A9488"/>
                </a:solidFill>
                <a:latin typeface="Helvetica" pitchFamily="34" charset="0"/>
                <a:ea typeface="Helvetica" pitchFamily="34" charset="-122"/>
                <a:cs typeface="Helvetica" pitchFamily="34" charset="-120"/>
              </a:rPr>
              <a:t>CONFIDENTIAL</a:t>
            </a:r>
            <a:endParaRPr lang="en-US" sz="800" dirty="0"/>
          </a:p>
        </p:txBody>
      </p:sp>
      <p:sp>
        <p:nvSpPr>
          <p:cNvPr id="24" name="Shape 22"/>
          <p:cNvSpPr/>
          <p:nvPr/>
        </p:nvSpPr>
        <p:spPr>
          <a:xfrm>
            <a:off x="502920" y="6428232"/>
            <a:ext cx="11183112" cy="914"/>
          </a:xfrm>
          <a:prstGeom prst="line">
            <a:avLst/>
          </a:prstGeom>
          <a:noFill/>
          <a:ln w="6350">
            <a:solidFill>
              <a:srgbClr val="D6D0C2"/>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5674</Words>
  <Application>Microsoft Macintosh PowerPoint</Application>
  <PresentationFormat>Widescreen</PresentationFormat>
  <Paragraphs>374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Coach — The AI-Powered Private Bank</dc:title>
  <dc:subject>PptxGenJS Presentation</dc:subject>
  <dc:creator>Private Bank</dc:creator>
  <cp:lastModifiedBy>Mohamed Khalifa</cp:lastModifiedBy>
  <cp:revision>1</cp:revision>
  <dcterms:created xsi:type="dcterms:W3CDTF">2026-04-24T14:12:37Z</dcterms:created>
  <dcterms:modified xsi:type="dcterms:W3CDTF">2026-04-24T15:38:16Z</dcterms:modified>
</cp:coreProperties>
</file>