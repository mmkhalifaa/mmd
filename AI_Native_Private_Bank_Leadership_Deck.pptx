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60b514bccb431b" /><Relationship Type="http://schemas.openxmlformats.org/officeDocument/2006/relationships/extended-properties" Target="/docProps/app.xml" Id="R151b83cbd1d44f75" /><Relationship Type="http://schemas.openxmlformats.org/officeDocument/2006/relationships/officeDocument" Target="/ppt/presentation.xml" Id="Rad40e9d24413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85e1d990f4c57"/>
  </p:sldMasterIdLst>
  <p:notesMasterIdLst>
    <p:notesMasterId xmlns:r="http://schemas.openxmlformats.org/officeDocument/2006/relationships" r:id="R87935426e5d54e92"/>
  </p:notesMasterIdLst>
  <p:sldIdLst>
    <p:sldId xmlns:r="http://schemas.openxmlformats.org/officeDocument/2006/relationships" id="256" r:id="R5854dfeb07134fbe"/>
    <p:sldId xmlns:r="http://schemas.openxmlformats.org/officeDocument/2006/relationships" id="257" r:id="Rae189142ffa24ef1"/>
    <p:sldId xmlns:r="http://schemas.openxmlformats.org/officeDocument/2006/relationships" id="258" r:id="R910cfda635624ded"/>
    <p:sldId xmlns:r="http://schemas.openxmlformats.org/officeDocument/2006/relationships" id="259" r:id="R737ba8bb1e8d4524"/>
    <p:sldId xmlns:r="http://schemas.openxmlformats.org/officeDocument/2006/relationships" id="260" r:id="R7b98988112e5459b"/>
    <p:sldId xmlns:r="http://schemas.openxmlformats.org/officeDocument/2006/relationships" id="261" r:id="Rce35357eb1f64b10"/>
    <p:sldId xmlns:r="http://schemas.openxmlformats.org/officeDocument/2006/relationships" id="262" r:id="R8dfb38f8e5e44644"/>
    <p:sldId xmlns:r="http://schemas.openxmlformats.org/officeDocument/2006/relationships" id="263" r:id="R4d07272c27774af7"/>
    <p:sldId xmlns:r="http://schemas.openxmlformats.org/officeDocument/2006/relationships" id="264" r:id="R54260c7c420d45e9"/>
    <p:sldId xmlns:r="http://schemas.openxmlformats.org/officeDocument/2006/relationships" id="265" r:id="Rf1cf90184d25457f"/>
    <p:sldId xmlns:r="http://schemas.openxmlformats.org/officeDocument/2006/relationships" id="266" r:id="R34646e9691784780"/>
    <p:sldId xmlns:r="http://schemas.openxmlformats.org/officeDocument/2006/relationships" id="267" r:id="Rbbcff850c8a44d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4ea503d0a8440e" /><Relationship Type="http://schemas.openxmlformats.org/officeDocument/2006/relationships/slideMaster" Target="/ppt/slideMasters/slideMaster1.xml" Id="R2e485e1d990f4c57" /><Relationship Type="http://schemas.openxmlformats.org/officeDocument/2006/relationships/notesMaster" Target="/ppt/notesMasters/notesMaster1.xml" Id="R87935426e5d54e92" /><Relationship Type="http://schemas.openxmlformats.org/officeDocument/2006/relationships/presProps" Target="/ppt/presProps.xml" Id="R2264a8c97bf749c0" /><Relationship Type="http://schemas.openxmlformats.org/officeDocument/2006/relationships/tableStyles" Target="/ppt/tableStyles.xml" Id="R69785fffb37547ee" /><Relationship Type="http://schemas.openxmlformats.org/officeDocument/2006/relationships/slide" Target="/ppt/slides/slide1.xml" Id="R5854dfeb07134fbe" /><Relationship Type="http://schemas.openxmlformats.org/officeDocument/2006/relationships/slide" Target="/ppt/slides/slide2.xml" Id="Rae189142ffa24ef1" /><Relationship Type="http://schemas.openxmlformats.org/officeDocument/2006/relationships/slide" Target="/ppt/slides/slide3.xml" Id="R910cfda635624ded" /><Relationship Type="http://schemas.openxmlformats.org/officeDocument/2006/relationships/slide" Target="/ppt/slides/slide4.xml" Id="R737ba8bb1e8d4524" /><Relationship Type="http://schemas.openxmlformats.org/officeDocument/2006/relationships/slide" Target="/ppt/slides/slide5.xml" Id="R7b98988112e5459b" /><Relationship Type="http://schemas.openxmlformats.org/officeDocument/2006/relationships/slide" Target="/ppt/slides/slide6.xml" Id="Rce35357eb1f64b10" /><Relationship Type="http://schemas.openxmlformats.org/officeDocument/2006/relationships/slide" Target="/ppt/slides/slide7.xml" Id="R8dfb38f8e5e44644" /><Relationship Type="http://schemas.openxmlformats.org/officeDocument/2006/relationships/slide" Target="/ppt/slides/slide8.xml" Id="R4d07272c27774af7" /><Relationship Type="http://schemas.openxmlformats.org/officeDocument/2006/relationships/slide" Target="/ppt/slides/slide9.xml" Id="R54260c7c420d45e9" /><Relationship Type="http://schemas.openxmlformats.org/officeDocument/2006/relationships/slide" Target="/ppt/slides/slide10.xml" Id="Rf1cf90184d25457f" /><Relationship Type="http://schemas.openxmlformats.org/officeDocument/2006/relationships/slide" Target="/ppt/slides/slide11.xml" Id="R34646e9691784780" /><Relationship Type="http://schemas.openxmlformats.org/officeDocument/2006/relationships/slide" Target="/ppt/slides/slide12.xml" Id="Rbbcff850c8a44d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7aea930bc7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eef110f2ce4494" /><Relationship Type="http://schemas.openxmlformats.org/officeDocument/2006/relationships/notesMaster" Target="/ppt/notesMasters/notesMaster1.xml" Id="R23937cacabca4e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15c3f85874e1b" /><Relationship Type="http://schemas.openxmlformats.org/officeDocument/2006/relationships/notesMaster" Target="/ppt/notesMasters/notesMaster1.xml" Id="Rd2a4055b64c94f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45cb9d8bd4246" /><Relationship Type="http://schemas.openxmlformats.org/officeDocument/2006/relationships/notesMaster" Target="/ppt/notesMasters/notesMaster1.xml" Id="R03d14c737c4649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6e3393a73436c" /><Relationship Type="http://schemas.openxmlformats.org/officeDocument/2006/relationships/notesMaster" Target="/ppt/notesMasters/notesMaster1.xml" Id="R4b6b78c25f66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9ec1da2ca642ef" /><Relationship Type="http://schemas.openxmlformats.org/officeDocument/2006/relationships/notesMaster" Target="/ppt/notesMasters/notesMaster1.xml" Id="R43a5bd22ec4049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9ec6856c4c48d0" /><Relationship Type="http://schemas.openxmlformats.org/officeDocument/2006/relationships/notesMaster" Target="/ppt/notesMasters/notesMaster1.xml" Id="R57df0dd86e0f4b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f5fe9e8994841" /><Relationship Type="http://schemas.openxmlformats.org/officeDocument/2006/relationships/notesMaster" Target="/ppt/notesMasters/notesMaster1.xml" Id="R56d1a54839bd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a2035512794553" /><Relationship Type="http://schemas.openxmlformats.org/officeDocument/2006/relationships/notesMaster" Target="/ppt/notesMasters/notesMaster1.xml" Id="Rec045afc99df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b134f6891d4241" /><Relationship Type="http://schemas.openxmlformats.org/officeDocument/2006/relationships/notesMaster" Target="/ppt/notesMasters/notesMaster1.xml" Id="R98fb821a9f414d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49854f8cb54c25" /><Relationship Type="http://schemas.openxmlformats.org/officeDocument/2006/relationships/notesMaster" Target="/ppt/notesMasters/notesMaster1.xml" Id="R3aaf2bd8285041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7a81015e524f0a" /><Relationship Type="http://schemas.openxmlformats.org/officeDocument/2006/relationships/notesMaster" Target="/ppt/notesMasters/notesMaster1.xml" Id="R9b8796b4ca5144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4ec5cfd3634ef4" /><Relationship Type="http://schemas.openxmlformats.org/officeDocument/2006/relationships/notesMaster" Target="/ppt/notesMasters/notesMaster1.xml" Id="Rcc54cd8591844d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f9de42cc546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2461a61c8b436e" /><Relationship Type="http://schemas.openxmlformats.org/officeDocument/2006/relationships/slideLayout" Target="/ppt/slideLayouts/slideLayout1.xml" Id="R19d470f44cf247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d470f44cf247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074de434f4507" /><Relationship Type="http://schemas.openxmlformats.org/officeDocument/2006/relationships/notesSlide" Target="/ppt/notesSlides/notesSlide1.xml" Id="R53a38c82232c43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a97539006488d" /><Relationship Type="http://schemas.openxmlformats.org/officeDocument/2006/relationships/notesSlide" Target="/ppt/notesSlides/notesSlide2.xml" Id="R5966ff602df841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938609e2f48c3" /><Relationship Type="http://schemas.openxmlformats.org/officeDocument/2006/relationships/notesSlide" Target="/ppt/notesSlides/notesSlide3.xml" Id="Ree611760938d43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46a140f5940c6" /><Relationship Type="http://schemas.openxmlformats.org/officeDocument/2006/relationships/notesSlide" Target="/ppt/notesSlides/notesSlide4.xml" Id="R31e82a722a43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813ccefc247cb" /><Relationship Type="http://schemas.openxmlformats.org/officeDocument/2006/relationships/notesSlide" Target="/ppt/notesSlides/notesSlide5.xml" Id="R4caf99b8f24942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38402235643d2" /><Relationship Type="http://schemas.openxmlformats.org/officeDocument/2006/relationships/notesSlide" Target="/ppt/notesSlides/notesSlide6.xml" Id="Re322034c9d404c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11b251c04c94" /><Relationship Type="http://schemas.openxmlformats.org/officeDocument/2006/relationships/notesSlide" Target="/ppt/notesSlides/notesSlide7.xml" Id="R166bd1dc8a254e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7b4e622ad4a5a" /><Relationship Type="http://schemas.openxmlformats.org/officeDocument/2006/relationships/notesSlide" Target="/ppt/notesSlides/notesSlide8.xml" Id="R698e5a3b217541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2fd3803674b8d" /><Relationship Type="http://schemas.openxmlformats.org/officeDocument/2006/relationships/notesSlide" Target="/ppt/notesSlides/notesSlide9.xml" Id="R4bb86a09bc5b4b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fd9e4e084d2a" /><Relationship Type="http://schemas.openxmlformats.org/officeDocument/2006/relationships/notesSlide" Target="/ppt/notesSlides/notesSlide10.xml" Id="R2c69b5b6629b4a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589cb79d41b7" /><Relationship Type="http://schemas.openxmlformats.org/officeDocument/2006/relationships/notesSlide" Target="/ppt/notesSlides/notesSlide11.xml" Id="R98b57cd28bde4e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aef3b315e41b2" /><Relationship Type="http://schemas.openxmlformats.org/officeDocument/2006/relationships/notesSlide" Target="/ppt/notesSlides/notesSlide12.xml" Id="Re4b20eb4d9de43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58AE2-8167-471A-BAF1-8D872FC5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CB4EE"/>
                </a:solidFill>
              </a:defRPr>
            </a:pPr>
            <a:r>
              <a:rPr sz="975" b="1">
                <a:solidFill>
                  <a:srgbClr val="6CB4EE"/>
                </a:solidFill>
              </a:rPr>
              <a:t>AI-NATIVE PRIVATE BANK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CF7578A2-A138-4023-B5C3-52C1B9A2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866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The full attention of the firm,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for every client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7DF38-D82D-49F5-8CF7-6E9DC1B8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762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A vision for how Coach can help the Private Bank remember, anticipate, coordinate, learn and act as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E8739-DED0-40C9-B969-A8586A4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CDF36-C9F0-434A-A1B9-A4FC78B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C8D6"/>
                </a:solidFill>
              </a:defRPr>
            </a:pPr>
            <a:r>
              <a:rPr sz="900" b="1">
                <a:solidFill>
                  <a:srgbClr val="B8C8D6"/>
                </a:solidFill>
              </a:rPr>
              <a:t>LEADERSHIP DISCUSSION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220075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DE86DB-7571-40C3-A00F-E49E42CE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Private banking is not short of expertise. It is short of attention.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1D049-9017-4380-B0F9-34D4E696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9E5B8-D47E-412C-B2D8-9122DA8D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BBD32-ABD8-415F-8A7B-ABE0F09C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5AF30-C1EB-4BF2-8E96-F2DB5C24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The relationship remains human.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8D04E-6B37-49A2-A0FC-23AE2AC3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AI changes how much preparation, coordination and follow-through can surround every relationship, without asking our people to become less human.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CD096-8930-4EA1-ABFC-D024D88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5A2A"/>
                </a:solidFill>
              </a:defRPr>
            </a:pPr>
            <a:r>
              <a:rPr sz="1500" b="1">
                <a:solidFill>
                  <a:srgbClr val="C45A2A"/>
                </a:solidFill>
              </a:rPr>
              <a:t>The strategic advantage is not the model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1E7D2-E7E4-4508-AFEE-B78999C7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8"/>
                </a:solidFill>
              </a:defRPr>
            </a:pPr>
            <a:r>
              <a:rPr sz="1350" b="0">
                <a:solidFill>
                  <a:srgbClr val="5E6B78"/>
                </a:solidFill>
              </a:rPr>
              <a:t>It is the combination of trusted client context, firm expertise, human judgment, governed workflows and the ability to 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0B013-1007-449A-A5F3-9455BC15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7C258-0EB1-492A-8A90-4EB0FA1C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REMEMBER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BFBFA-6CD6-47D3-BD6A-7CCAF37A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9552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A living understanding of every relationship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C6C01-670D-459E-BBFA-C792152A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337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6CC72-09DC-40B2-954D-14913AE9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48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ANTICIPATE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FCD0E-CAFC-49E6-843E-63223A79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0992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The few needs, risks and opportunities that matter now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F295A-6B85-484D-B327-744D79E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19004-FA22-4A47-93AB-5790E3DE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624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COORDINATE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6DFC7-0C83-4A09-92F5-228476B5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2432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The right advisor, specialist and workflow around the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386BD-5BEB-4323-9935-B39AE43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90F62-4744-4799-8EB9-8CE6AB1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76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1521D-5D6C-4E7D-829A-C10552F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3872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Prepared and governed work, completed with clear accountability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2844D-04DC-4D7F-9C9B-52109E2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769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705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24FC9E-8458-4624-BDB8-B957106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The relationship, not the request, becomes the organizing unit.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5EC2B-5BF7-4009-8492-7083B3C3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046F8-D42E-42A4-8C56-B15F4A98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2626F-ED3D-428D-8C77-33E00C10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E531D-44FE-4588-A2DC-2648BEB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ONE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77EF8-146F-4BE4-8232-788F1EB0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ONE LIVING</a:t>
            </a:r>
          </a:p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7E5ED-9EE0-4272-9287-91F1FA7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38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B4EE"/>
                </a:solidFill>
              </a:defRPr>
            </a:pPr>
            <a:r>
              <a:rPr sz="2100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97F03-C046-4ED6-ACF7-06CF2ED2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955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ONE COORDINATED</a:t>
            </a:r>
          </a:p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F73B7-E9EF-40B8-94B7-40BEE600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B4EE"/>
                </a:solidFill>
              </a:defRPr>
            </a:pPr>
            <a:r>
              <a:rPr sz="2100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64519-8E32-4063-9D22-EE090FC6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9557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ONE SHARED</a:t>
            </a:r>
          </a:p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ACTION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2C854-CE2F-46C0-97BB-9B34DDAF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38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B4EE"/>
                </a:solidFill>
              </a:defRPr>
            </a:pPr>
            <a:r>
              <a:rPr sz="2100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FE3D4-7C61-4629-A99A-398F409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955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ONE CONTINUOUS</a:t>
            </a:r>
          </a:p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LEARNING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FB93F-BBA5-4A6B-839E-B0B2CF3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70DCB-9014-44BC-B6B8-F618431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Coach is the orchestrator. The Client Agent is the permissioned relationship memory. Every mode and agent works from the same context, skills, controls and outcomes.</a:t>
            </a:r>
          </a:p>
        </p:txBody>
      </p:sp>
    </p:spTree>
    <p:extLst>
      <p:ext uri="{BB962C8B-B14F-4D97-AF65-F5344CB8AC3E}">
        <p14:creationId xmlns:p14="http://schemas.microsoft.com/office/powerpoint/2010/main" val="1652840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B78BB3-B3F0-4C8C-A2C7-FE74860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Coach evolves from answering questions to running the relationship operating system.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6F71D-542B-4151-B1DB-C7E7D314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38ADD-8C1E-400B-90D2-C422289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9E356-C2B0-4DD6-8793-BDAE7B81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0AF81-671B-4F1B-8EA3-C7025432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E1B1B-F5E7-401D-8633-FAC1AF7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5553A-5D1C-4AB4-A59A-FBA11FB2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48EE0-7ECF-4856-A739-16C0070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Trusted responses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D822B-A556-49C0-9DFB-0094E72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384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E0E7"/>
                </a:solidFill>
              </a:defRPr>
            </a:pPr>
            <a:r>
              <a:rPr sz="1350" b="1">
                <a:solidFill>
                  <a:srgbClr val="D8E0E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28B39-0152-4FA2-8657-ADB6D955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4E022-FD5F-4BEF-92CD-E7C1DFE6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1532B-1A4F-4035-8812-3DF073F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ORCHESTRATE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59BD1-87A6-471F-8291-E95D291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Best agent and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26EC1-3D3B-4E09-8076-2770C77E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E0E7"/>
                </a:solidFill>
              </a:defRPr>
            </a:pPr>
            <a:r>
              <a:rPr sz="1350" b="1">
                <a:solidFill>
                  <a:srgbClr val="D8E0E7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ED91A-49A8-4567-8746-DA712F2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1A7C1-134F-4DBA-AF5D-C0C075A7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41F02-0FE3-4B56-AA22-884E2735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PREPARE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8E147-7595-44EC-B017-50140FAF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Work ready for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E15AA-C821-4202-8B56-2E1D8528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384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E0E7"/>
                </a:solidFill>
              </a:defRPr>
            </a:pPr>
            <a:r>
              <a:rPr sz="1350" b="1">
                <a:solidFill>
                  <a:srgbClr val="D8E0E7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CD96F-719B-4373-A5C5-F3EFC71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D1B95-E9DC-45A0-8574-EDDC670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2DA78-B334-4E98-96F2-70FBEE7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ANTICIPATE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4A4E3-05D3-4EBC-BF3C-90702901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What matters today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32543-8221-48C3-B856-85033DD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E0E7"/>
                </a:solidFill>
              </a:defRPr>
            </a:pPr>
            <a:r>
              <a:rPr sz="1350" b="1">
                <a:solidFill>
                  <a:srgbClr val="D8E0E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9419A-EB24-4766-9792-52DCC65A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0874E-5C3D-407C-AB44-7C3D329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27FB6-194C-4BF1-BCDE-275726D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REMEMBER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B6048-CA6E-44EB-A70E-8E1EDAE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Living client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BF7260-2575-400A-B5BB-A96D5D34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384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E0E7"/>
                </a:solidFill>
              </a:defRPr>
            </a:pPr>
            <a:r>
              <a:rPr sz="1350" b="1">
                <a:solidFill>
                  <a:srgbClr val="D8E0E7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D76F0-E0A1-43BA-B1AD-E6AA5EF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AE51D-E04E-49C6-B802-E276617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651D2-28E3-4C61-B00A-B36D7C3D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0A3DC-2CEF-4946-93B9-DA2D7E7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Governed execution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83399-7CA7-47A7-A9D3-385C7738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3847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E0E7"/>
                </a:solidFill>
              </a:defRPr>
            </a:pPr>
            <a:r>
              <a:rPr sz="1350" b="1">
                <a:solidFill>
                  <a:srgbClr val="D8E0E7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F0FF7A-1283-466A-8D56-B07B3015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1352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A8101D-F36F-431E-AFEE-762E80B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</a:defRPr>
            </a:pPr>
            <a:r>
              <a:rPr sz="900" b="1">
                <a:solidFill>
                  <a:srgbClr val="2B6CB0"/>
                </a:solidFill>
              </a:rPr>
              <a:t>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466E72-AC1E-4527-B877-C6E598D6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384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LEARN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50D2C-8C1B-4096-87B7-B00B319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57575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Outcomes improve the system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A7EB2F-7DD6-44E8-875B-B4F3D0E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73AE36-D473-4BC1-8215-1B66A1D8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The discipline is simple: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14A820-3900-4867-B6C1-AD078D5A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14900"/>
            <a:ext cx="802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broader autonomy is earned workflow by workflow, when quality, control, adoption and economics all clear their gates.</a:t>
            </a:r>
          </a:p>
        </p:txBody>
      </p:sp>
    </p:spTree>
    <p:extLst>
      <p:ext uri="{BB962C8B-B14F-4D97-AF65-F5344CB8AC3E}">
        <p14:creationId xmlns:p14="http://schemas.microsoft.com/office/powerpoint/2010/main" val="1196784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200D34-D711-4BAF-8AE6-C3299B0B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One platform supports different ways of working.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008B4-8E29-45AF-B779-AD81C66D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D4151-636A-433C-9752-3FC616CB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BD8AA-6CB5-4C22-85B8-A5E3574D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4D025-D33D-4A9F-AF23-4AD952CB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COMMAND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2D09B-91C2-4FAD-A1B2-6297E6E3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For experts who know what they want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9B646-D76B-416A-9A65-DA8D2C7C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48B4D-484E-4327-943F-DBA83E1D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Ask for sophisticated analysis across the book and the 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E91DE-1B45-40EB-841C-293E52FD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521C7-9872-44F8-9D8A-B43D7D1D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Create monitoring agents and specialized analyst teams on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AF54B-A362-4066-B5D2-EF48B37B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030FD-91A7-40E0-80CB-0BFFC9BC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Generate the workflow, interface or analysis needed in the moment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C081F-353F-4B20-A4BD-39BC324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FAF03-1506-4E80-9935-C8045951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GUIDED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89BAF-887C-441B-A532-928D42D5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For moments when guidance creates leverage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0B082-7FA0-4153-A0CF-DCFE4DC3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DE6F9-E947-49D5-87B9-D3AAB5A3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Prioritize the clients and commitments that matter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0FDBC-201B-451F-9F97-44B71ACE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EA83A-67A6-415C-96A0-43EF75F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Prepare the recommended next step and explain why it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7680C-DB64-4427-92BF-8BA38AF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3103C-BE0E-4016-B2A1-44EAA5E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Coach continuously, using the work itself as the curriculum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987C5-8A4F-4ECF-908B-91269EE2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6CB0"/>
                </a:solidFill>
              </a:defRPr>
            </a:pPr>
            <a:r>
              <a:rPr sz="1350" b="1">
                <a:solidFill>
                  <a:srgbClr val="2B6CB0"/>
                </a:solidFill>
              </a:rPr>
              <a:t>The same person may move between modes throughout the day.</a:t>
            </a:r>
          </a:p>
        </p:txBody>
      </p:sp>
    </p:spTree>
    <p:extLst>
      <p:ext uri="{BB962C8B-B14F-4D97-AF65-F5344CB8AC3E}">
        <p14:creationId xmlns:p14="http://schemas.microsoft.com/office/powerpoint/2010/main" val="1764621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76F061-E21A-4E28-AEE8-3F6EDFD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The Client Agent gives every relationship a living, permissioned memory.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CA87F-8216-4123-9EE1-67524165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5196A-C52C-4245-9671-B503A01D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65AF-25D3-4917-BC87-2618DCC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BB70E-6E45-4C86-8C17-2B23D1AF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PERMITTED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9EBB8-9068-4E8A-BCB7-13324F4C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CRM and portfolios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20ABE-B093-4672-9CAC-E408AC59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Calls and meetings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0107-8ECD-45AC-853C-F22A2B98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Email and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82BB1-5D8F-4A61-BD3B-70710C7D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Markets and life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F97BC-5B95-4EF5-91DC-B15BA91E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CB4EE"/>
                </a:solidFill>
              </a:defRPr>
            </a:pPr>
            <a:r>
              <a:rPr sz="2550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ACE29-0273-4340-97B8-48528AE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41932-B7AA-4328-99FA-09653E0A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TRUTH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2A44A-9335-4F56-9CBB-B70F4F7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14650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Verified facts</a:t>
            </a:r>
          </a:p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Authoritative system data</a:t>
            </a:r>
          </a:p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Advisor judgment</a:t>
            </a:r>
          </a:p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New signals</a:t>
            </a:r>
          </a:p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Proposed AI inferences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DE369-2D45-4D16-8B31-2A6EE757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86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CB4EE"/>
                </a:solidFill>
              </a:defRPr>
            </a:pPr>
            <a:r>
              <a:rPr sz="2550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3A6B0-E57E-406C-8513-5622454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E5ED7-7AEE-4FDC-8FC3-08C711CE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B4EE"/>
                </a:solidFill>
              </a:defRPr>
            </a:pPr>
            <a:r>
              <a:rPr sz="975" b="1">
                <a:solidFill>
                  <a:srgbClr val="6CB4EE"/>
                </a:solidFill>
              </a:rPr>
              <a:t>RELATIONSHIP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DA711-5A76-4F1E-A471-22B8DE7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One plan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One commitment ledger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One coordinated action state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One household permission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5EB82-7E03-432E-85F6-3856B140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ABC66-14AC-449F-941F-9C119A95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02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</a:defRPr>
            </a:pPr>
            <a:r>
              <a:rPr sz="1500" b="1">
                <a:solidFill>
                  <a:srgbClr val="17212B"/>
                </a:solidFill>
              </a:rPr>
              <a:t>Advisors can inspect, validate, correct and expire material assumptions. Memory is useful only when its source, confidence, freshness and permissions are visible.</a:t>
            </a:r>
          </a:p>
        </p:txBody>
      </p:sp>
    </p:spTree>
    <p:extLst>
      <p:ext uri="{BB962C8B-B14F-4D97-AF65-F5344CB8AC3E}">
        <p14:creationId xmlns:p14="http://schemas.microsoft.com/office/powerpoint/2010/main" val="1882791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69F25E-9DA2-4E35-980B-179FD32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The best thinking in the firm should reach the right relationship while it is still useful.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832F0-DECD-4AD8-8041-5941EFE6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0B31B-320F-46AF-BDC5-31ADC1F6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E8826-3B5B-4AA9-8F61-82564FAB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9A755-16A5-4284-AA06-13F0A63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SPECIALIST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3F325-3BFF-4E04-8B58-AE974164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D83B5-C23D-4DFE-A1F7-55B46E43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Voice note, rough thought or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7BF72-D8F1-4024-ACAF-F10A625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147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CB4EE"/>
                </a:solidFill>
              </a:defRPr>
            </a:pPr>
            <a:r>
              <a:rPr sz="1875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BDA07-F623-4FDF-B1D6-15DC7BE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EXPERTISE COMPILER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EE056-7D9F-48F8-8205-43A81D24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622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2B21B-3389-4316-95F7-2522F798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0515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Thesis, evidence, risks, fit and expiry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203F9-5E55-46E5-951C-27654A7B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CB4EE"/>
                </a:solidFill>
              </a:defRPr>
            </a:pPr>
            <a:r>
              <a:rPr sz="1875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C76FD-8B4A-4E29-9864-ADB8C66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CLIENT 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189C8-41ED-4171-A9BE-F85141C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EF32B-10A2-423A-8C10-40BB3D3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Relevant relationships, with reasons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7E9FD-A5B6-4D60-BEDE-CB3D501B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147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CB4EE"/>
                </a:solidFill>
              </a:defRPr>
            </a:pPr>
            <a:r>
              <a:rPr sz="1875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FF537-32E5-472B-A850-4AA605F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ADVISOR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59E1A-4233-4C32-B221-5153FA87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622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445BF-9934-4C87-BCF5-2176586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0515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Review, adapt and engage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502AF-CDAB-441A-965E-C10ECEA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CB4EE"/>
                </a:solidFill>
              </a:defRPr>
            </a:pPr>
            <a:r>
              <a:rPr sz="1875" b="1">
                <a:solidFill>
                  <a:srgbClr val="6CB4EE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B5E9A-9C3F-40A1-9FB9-A0529466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FBCD9-FB86-4A95-91FB-B23A2B5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622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88587-5C8B-4592-A192-43D78D70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50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Questions, adoption and learning return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7E4C2-BAA6-400D-AD7B-383D114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BB8DD-F336-4B1A-9DF8-11C9C74E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Hive senses emerging themes through privacy-safe cohorts. It informs judgment; it does not turn popularity into a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534003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0DCA37-D87C-41A2-86EB-9589913A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The smartest room turns conversation into action.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A548A-4A4D-4D13-9F26-81045D7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</a:defRPr>
            </a:pPr>
            <a:r>
              <a:rPr sz="1275" b="0">
                <a:solidFill>
                  <a:srgbClr val="5E6B78"/>
                </a:solidFill>
              </a:rPr>
              <a:t>A complete journey, not a large screen with a chatbot.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FE4F-AC92-4431-92CE-73C5E3AC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72C35-E0B6-4409-B702-0E87CE6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169EF-E32C-440B-BA77-97AEE29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E1DF-16FE-4579-B377-4AEBB548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01  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FEEE6-F5FC-437F-9C63-89ABFC5B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E0525-8BCE-4A7B-8219-5507EBA8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76575"/>
            <a:ext cx="2609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The client shapes the agenda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Coach assembles complete context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Questions, scenarios and specialists are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B88C3-4798-4E1F-94C8-EBEC1F3C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02  DURING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1B060-5C5B-4A5C-946A-CEE7BFC2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57475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897AE-8FC8-4703-A91A-B93D47DD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76575"/>
            <a:ext cx="2609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banker remains in control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Approved analysis is modeled live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Sources, assumptions and tradeoffs are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4C60D-A804-4208-81BC-9074907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03  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B46F1-19AF-4D9C-A8BA-FB8CED1E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57475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7FB67-DD4A-4DF6-93E0-0BAE2B3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2609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Decisions and ideas are separated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Commitments enter the shared ledger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Follow-up and approved work begin immediately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5A288-4F84-4E5F-88AE-5C7C099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149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6CB0"/>
                </a:solidFill>
              </a:defRPr>
            </a:pPr>
            <a:r>
              <a:rPr sz="1875" b="1">
                <a:solidFill>
                  <a:srgbClr val="2B6CB0"/>
                </a:solidFill>
              </a:rPr>
              <a:t>The client should feel that the full firm is in the room.</a:t>
            </a:r>
          </a:p>
        </p:txBody>
      </p:sp>
    </p:spTree>
    <p:extLst>
      <p:ext uri="{BB962C8B-B14F-4D97-AF65-F5344CB8AC3E}">
        <p14:creationId xmlns:p14="http://schemas.microsoft.com/office/powerpoint/2010/main" val="920703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A47450-0899-4FE0-BA7F-F3153A0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Autonomy expands by action, not by persona.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7867D-65FB-46F5-A87F-F3D6FE31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837B0-85E9-4185-9E7B-296E520A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3E7B9-4AD2-41F9-B388-8FFF5B79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F67DC-BF4C-4755-A74C-B33FB57E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A3409-252F-468E-8019-5058848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03D65-BE4A-4047-B9CB-C724D78A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859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</a:defRPr>
            </a:pPr>
            <a:r>
              <a:rPr sz="1050" b="1">
                <a:solidFill>
                  <a:srgbClr val="0B1F33"/>
                </a:solidFill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1F8E-34FF-405E-8E18-EF8C67E8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859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</a:defRPr>
            </a:pPr>
            <a:r>
              <a:rPr sz="1125" b="0">
                <a:solidFill>
                  <a:srgbClr val="5E6B78"/>
                </a:solidFill>
              </a:rPr>
              <a:t>Watch and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C2307-6956-4154-A860-3CA9955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667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FB64F-6BE0-495B-B66C-0621CF3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58535-5C03-4DCB-B657-53002968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765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</a:defRPr>
            </a:pPr>
            <a:r>
              <a:rPr sz="1050" b="1">
                <a:solidFill>
                  <a:srgbClr val="0B1F33"/>
                </a:solidFill>
              </a:rPr>
              <a:t>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033C3-CE66-4AE4-8E2C-E20190B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765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</a:defRPr>
            </a:pPr>
            <a:r>
              <a:rPr sz="1125" b="0">
                <a:solidFill>
                  <a:srgbClr val="5E6B78"/>
                </a:solidFill>
              </a:rPr>
              <a:t>Propose; a person decides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76D05-23D2-408C-ADDA-9FC767B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334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A8FF1-368D-414E-961B-2399A17A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6CB0"/>
                </a:solidFill>
              </a:defRPr>
            </a:pPr>
            <a:r>
              <a:rPr sz="975" b="1">
                <a:solidFill>
                  <a:srgbClr val="2B6CB0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FBE20-0338-4E52-A161-1EB818B3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670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</a:defRPr>
            </a:pPr>
            <a:r>
              <a:rPr sz="1050" b="1">
                <a:solidFill>
                  <a:srgbClr val="0B1F33"/>
                </a:solidFill>
              </a:rPr>
              <a:t>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ED2F9-6F0E-40C6-A04B-C11B6EA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670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</a:defRPr>
            </a:pPr>
            <a:r>
              <a:rPr sz="1125" b="0">
                <a:solidFill>
                  <a:srgbClr val="5E6B78"/>
                </a:solidFill>
              </a:rPr>
              <a:t>Complete the work for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03ADE-B6CD-4F53-B34B-623C05D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000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AFD6D-C3D0-4402-B8FF-2359E3D0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B4EE"/>
                </a:solidFill>
              </a:defRPr>
            </a:pPr>
            <a:r>
              <a:rPr sz="975" b="1">
                <a:solidFill>
                  <a:srgbClr val="6CB4EE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CDF86-088A-47CA-9704-F85FD61A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EXECUTE WITH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44828-A944-4213-80E2-BBE14C9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76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F0"/>
                </a:solidFill>
              </a:defRPr>
            </a:pPr>
            <a:r>
              <a:rPr sz="1125" b="0">
                <a:solidFill>
                  <a:srgbClr val="DCE7F0"/>
                </a:solidFill>
              </a:rPr>
              <a:t>Act after a named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35395-D52A-4809-AF9F-A7C7A20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66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8474D-3C19-4470-A53F-1B73871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CB4EE"/>
                </a:solidFill>
              </a:defRPr>
            </a:pPr>
            <a:r>
              <a:rPr sz="975" b="1">
                <a:solidFill>
                  <a:srgbClr val="6CB4EE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ED030-2C24-4776-95C8-BC2F96A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EXECUTE WITHIN 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CFCD9-9C8B-4DC0-85C0-62750213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481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F0"/>
                </a:solidFill>
              </a:defRPr>
            </a:pPr>
            <a:r>
              <a:rPr sz="1125" b="0">
                <a:solidFill>
                  <a:srgbClr val="DCE7F0"/>
                </a:solidFill>
              </a:rPr>
              <a:t>Act inside a proven, approved envelope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3A586-E343-4ABD-8981-D78EFD4E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524375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ECE8"/>
          </a:solidFill>
          <a:ln xmlns:a="http://schemas.openxmlformats.org/drawingml/2006/main" w="9525">
            <a:solidFill>
              <a:srgbClr val="E8C9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F0BB3-E4FB-459D-A396-47C5834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3644D-7A34-4710-ABEC-BF1B5CE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387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HUMAN-ONLY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435B8-DBB9-43A1-80F0-48F2E6BA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387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</a:defRPr>
            </a:pPr>
            <a:r>
              <a:rPr sz="1125" b="0">
                <a:solidFill>
                  <a:srgbClr val="5E6B78"/>
                </a:solidFill>
              </a:rPr>
              <a:t>Some decisions never climb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75624-7366-4535-8E57-C6F91AC3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Every persistent agent has a named owner, purpose, data scope, permitted actions, evaluation set, autonomy level, review date and retirement path.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69B3D-8096-49D6-8C5E-B799EC0E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Quality + Control + Adoption + Economics</a:t>
            </a:r>
          </a:p>
        </p:txBody>
      </p:sp>
    </p:spTree>
    <p:extLst>
      <p:ext uri="{BB962C8B-B14F-4D97-AF65-F5344CB8AC3E}">
        <p14:creationId xmlns:p14="http://schemas.microsoft.com/office/powerpoint/2010/main" val="207208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4B01F9-AE8B-42FE-992E-AB40CDA9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The work itself becomes the learning system.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7BB01-6370-4DEF-AA96-C6571A9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7CB73-3953-42BE-A977-4BCAC4DA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9CE7D-A3A0-42D1-B00E-199A005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F4F69-EBB9-4424-93D5-0D4528B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23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POWER FRIDAY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DC37-DE7A-4649-A20D-E4125162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Your week becomes your curriculum.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A257C-3FAB-42FD-9287-D445F94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CB0"/>
                </a:solidFill>
              </a:defRPr>
            </a:pPr>
            <a:r>
              <a:rPr sz="1350" b="1">
                <a:solidFill>
                  <a:srgbClr val="2B6CB0"/>
                </a:solidFill>
              </a:rPr>
              <a:t>Reflect  →  Validate  →  Choose  →  Practice  →  Apply  →  Measure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A3BB8-A970-454E-B61B-A64D3450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Private by default. Visible and correctable by the employee. Separate from formal performance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AAC40-4F7A-41DD-A80A-C0C10ABA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4D119-F213-4DC5-98F8-58CC8586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5A2A"/>
                </a:solidFill>
              </a:defRPr>
            </a:pPr>
            <a:r>
              <a:rPr sz="1050" b="1">
                <a:solidFill>
                  <a:srgbClr val="C45A2A"/>
                </a:solidFill>
              </a:rPr>
              <a:t>SIMULATION ACADEMY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987C9-8DEB-4C2A-86D7-B825817A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Practice judgment before the stakes are 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88A90-A8FD-435F-A077-7AE43A08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3E4C0-D354-4FA7-A0BA-53D5FE5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 parallel book of realistic synthetic clients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F885B-347A-4A66-9C1A-A31125E6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66CAD-CB2B-4333-A429-03E48CB0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Investment, planning, lending and communication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CE405-5953-49B7-B8A2-2FCF3B73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5C89C-EA4E-40CB-8351-63C2AAD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Real apprenticeship continues on live relationships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AD23E-D1AA-47A8-8414-C971811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5A2A"/>
                </a:solidFill>
              </a:defRPr>
            </a:pPr>
            <a:r>
              <a:rPr sz="1350" b="1">
                <a:solidFill>
                  <a:srgbClr val="C45A2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66FFA-7E5E-471D-925E-EA5DF36C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Human assessment remains part of readiness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1608909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5850B-BC1B-4CC2-A751-AFE7266E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Trust first. Autonomy follows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25C33-F9C5-4A00-B96C-FF836B39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D6AC-67B2-4A92-AB38-C433FACB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DE6BF-C942-4B32-9AEE-734DC5B8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12279-2928-43EC-97DE-1C03D6D0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AUG–OCT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EA573-A195-4334-9243-05E1788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57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5A2A"/>
          </a:solidFill>
          <a:ln xmlns:a="http://schemas.openxmlformats.org/drawingml/2006/main" w="9525">
            <a:solidFill>
              <a:srgbClr val="C45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99929-1C4E-482E-A99A-D0ABAD67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05075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F4D64-77C6-457F-A93B-57BB0C17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TRUSTED FRONT DOOR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B3BEE-4422-4344-BFD2-47A2D7D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866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Coach 3.0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Outlook + Bing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Mobile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Prepare-only Assists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237AB-FD93-4CA2-BF0B-7C7C1E9C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574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Q4 2026–H1 2027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8D760-6EA5-4008-8BE8-7C4FD30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57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5A2A"/>
          </a:solidFill>
          <a:ln xmlns:a="http://schemas.openxmlformats.org/drawingml/2006/main" w="9525">
            <a:solidFill>
              <a:srgbClr val="C45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6C0C9-54F9-4C6D-8249-B99AE0A4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05075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9E96B-C273-4B05-A7E7-C1CD59E7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289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PROACTIVE WORKDAY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96FA1-1FA2-4F64-8392-DAB37A2A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24250"/>
            <a:ext cx="1866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Daily Edge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Action Center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Commitment ledger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Client Agent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ABDE2-FDA8-444D-BE80-E937A00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574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H2 2027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D9A5B-6B0A-4B40-8B81-5595B249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57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B4EE"/>
          </a:solidFill>
          <a:ln xmlns:a="http://schemas.openxmlformats.org/drawingml/2006/main" w="9525">
            <a:solidFill>
              <a:srgbClr val="6CB4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C96C3-E66B-4D53-817B-E37A66A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05075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81875-D2B8-4F92-AB1F-F5D248A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289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RELATIONSHIP 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6394E-64A4-48B7-BCA4-990E3E84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24250"/>
            <a:ext cx="1866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Expertise network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Hive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Power Friday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Meeting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49CC7-7883-4F5D-B44D-6B9F0AD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574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2028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9BC23-788C-4766-AB42-9CC6274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57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B4EE"/>
          </a:solidFill>
          <a:ln xmlns:a="http://schemas.openxmlformats.org/drawingml/2006/main" w="9525">
            <a:solidFill>
              <a:srgbClr val="6CB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74345-8D2B-415C-8421-71ED8908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05075"/>
            <a:ext cx="2028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827EE-CFE7-40CE-A2BD-EBF3CA5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289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GOVERNED 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34D1F-2B50-4332-A132-4ADF22F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24250"/>
            <a:ext cx="1866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Bounded workflows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Client companion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Meeting rooms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Operations redesign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5969E-A9A1-4E94-9925-B4DFE57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574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A2A"/>
                </a:solidFill>
              </a:defRPr>
            </a:pPr>
            <a:r>
              <a:rPr sz="900" b="1">
                <a:solidFill>
                  <a:srgbClr val="C45A2A"/>
                </a:solidFill>
              </a:rPr>
              <a:t>2029+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E373C-4348-48F7-A013-A63DA1D2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B4EE"/>
          </a:solidFill>
          <a:ln xmlns:a="http://schemas.openxmlformats.org/drawingml/2006/main" w="9525">
            <a:solidFill>
              <a:srgbClr val="6CB4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145B2-51A7-4285-B5D2-52017B74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COMPOUNDING BANK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DB01D-9C41-4ED9-A9AF-8A2552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866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Scaled memory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Broader autonomy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Outcome learning</a:t>
            </a:r>
          </a:p>
          <a:p xmlns:a="http://schemas.openxmlformats.org/drawingml/2006/main">
            <a:pPr algn="ctr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Client-agent channel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32C021-EDF9-4FED-92BE-978BE8B9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8067A-1A3B-4100-B8B0-FE6D695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6CB0"/>
                </a:solidFill>
              </a:defRPr>
            </a:pPr>
            <a:r>
              <a:rPr sz="1350" b="1">
                <a:solidFill>
                  <a:srgbClr val="2B6CB0"/>
                </a:solidFill>
              </a:rPr>
              <a:t>Reliable orchestration  →  connected signals  →  trusted memory  →  relevant preparation</a:t>
            </a:r>
          </a:p>
          <a:p xmlns:a="http://schemas.openxmlformats.org/drawingml/2006/main">
            <a:pPr algn="ctr">
              <a:defRPr sz="1350" b="1">
                <a:solidFill>
                  <a:srgbClr val="2B6CB0"/>
                </a:solidFill>
              </a:defRPr>
            </a:pPr>
            <a:r>
              <a:rPr sz="1350" b="1">
                <a:solidFill>
                  <a:srgbClr val="2B6CB0"/>
                </a:solidFill>
              </a:rPr>
              <a:t>→  approved execution  →  bounded autonomy</a:t>
            </a:r>
          </a:p>
        </p:txBody>
      </p:sp>
    </p:spTree>
    <p:extLst>
      <p:ext uri="{BB962C8B-B14F-4D97-AF65-F5344CB8AC3E}">
        <p14:creationId xmlns:p14="http://schemas.microsoft.com/office/powerpoint/2010/main" val="1907159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3CFB8F-E267-4FCC-B794-DC858E77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3"/>
                </a:solidFill>
              </a:defRPr>
            </a:pPr>
            <a:r>
              <a:rPr sz="2625" b="1">
                <a:solidFill>
                  <a:srgbClr val="0B1F33"/>
                </a:solidFill>
              </a:rPr>
              <a:t>What we need to decide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89E98-1EA5-46BC-AE2F-4B0E571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CABDE-C519-45F4-BEC8-1F773745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DISCUSSION DRAFT  | 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5170B-8281-4298-897F-DC1405EA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960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E6B78"/>
                </a:solidFill>
              </a:defRPr>
            </a:pPr>
            <a:r>
              <a:rPr sz="675" b="1">
                <a:solidFill>
                  <a:srgbClr val="5E6B7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D079-9B85-41E5-BEBE-1A3B7646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52CAB-6503-4304-B1E2-DA277CAD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ONE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FA90D-6075-4828-98CD-52A9BF0C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764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Coach remains the orchestrator and control plane.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D8C15-CC34-422E-A12A-76373302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28789-2FD3-48E4-9F43-99E608D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11FCC-7DB9-4946-9D7E-D34C0A81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THREE LIGHTHOUSES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779F-B0DD-44B4-A458-B6D2F225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146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Daily Edge, meeting-to-action and inbox-to-completion prove the shared platform.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F73D9-4E72-4714-B867-901B8A1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8BE62-8891-42A6-9331-3F10909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95DCB-AEE7-4728-8E57-9ECC72B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TRUST BY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211E3-3F9C-48CE-BE8B-FBFC3CC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528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Employee and client covenants, action-level autonomy and visible evidence are part of the product.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51B53-99EE-41D7-BC5C-E179DD49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E64EF-605B-46A6-A831-C53DA63C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2A"/>
                </a:solidFill>
              </a:defRPr>
            </a:pPr>
            <a:r>
              <a:rPr sz="975" b="1">
                <a:solidFill>
                  <a:srgbClr val="C45A2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0CBC0-CCD7-4825-9BD6-E0BABC82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FUND BY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E8B7B-58C1-44C8-B69F-268DF654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910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Each wave scales only when quality, control, adoption and economics clear.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43B77-37F0-4E0D-A674-5E01AD2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F565B-4993-4B57-93B4-16BB2F3C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The full attention of the entire firm, for every client.</a:t>
            </a:r>
          </a:p>
        </p:txBody>
      </p:sp>
    </p:spTree>
    <p:extLst>
      <p:ext uri="{BB962C8B-B14F-4D97-AF65-F5344CB8AC3E}">
        <p14:creationId xmlns:p14="http://schemas.microsoft.com/office/powerpoint/2010/main" val="20013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2026-08-17T16:07:58.4070000Z</dcterms:created>
  <dcterms:modified xsi:type="dcterms:W3CDTF">2026-08-17T16:07:58.4070000Z</dcterms:modified>
</coreProperties>
</file>