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68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· CONNECT / COACH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Autopilot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specification &amp; design concepts for the next layer of Coach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10896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337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watches. It works. You decide.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a client — and nothing moves money — without the adviser.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· Draft v0.1 · July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Ecosystem Today: Connect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desktop workbench with everything the adviser needs — and Coach embedded inside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Trading &amp; Brokerage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762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entry, execution, and account operations at the desk.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7373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CRM &amp; Pipeline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1762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Relationships, notes, tasks, and opportunities in one place.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7373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Profiles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762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Households, holdings, personas, interests, and history.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375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&amp; Research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7764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insights and materials, ready to share.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3375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375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Start-of-Day Dashboard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93008" y="37764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adviser's morning: markets, book, tasks, and alerts.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375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37560"/>
            <a:ext cx="54864" cy="14173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 — embedded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776472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copilot inside every surface — and the subject of this spec.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Coach: The Intelligence Layer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70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Advisers ask in plain language; Coach routes to the right specialist and acts across the platform.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1051560" cy="640080"/>
          </a:xfrm>
          <a:prstGeom prst="roundRect">
            <a:avLst>
              <a:gd name="adj" fmla="val 17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51460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54480" y="2834640"/>
            <a:ext cx="34747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65960" y="1783080"/>
            <a:ext cx="4983480" cy="2286000"/>
          </a:xfrm>
          <a:prstGeom prst="roundRect">
            <a:avLst>
              <a:gd name="adj" fmla="val 4800"/>
            </a:avLst>
          </a:prstGeom>
          <a:solidFill>
            <a:srgbClr val="F9F5F0"/>
          </a:solidFill>
          <a:ln w="9525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84708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— MULTI-AGENT ORCHESTRATION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2194560"/>
            <a:ext cx="2514600" cy="4572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21945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57700" y="2670048"/>
            <a:ext cx="0" cy="329184"/>
          </a:xfrm>
          <a:prstGeom prst="line">
            <a:avLst/>
          </a:prstGeom>
          <a:noFill/>
          <a:ln w="15875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39696" y="3063240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39696" y="3063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328416" y="3063240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28416" y="3063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17136" y="3063240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17136" y="3063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705856" y="3063240"/>
            <a:ext cx="1078992" cy="566928"/>
          </a:xfrm>
          <a:prstGeom prst="roundRect">
            <a:avLst>
              <a:gd name="adj" fmla="val 19355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05856" y="306324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67728" y="2834640"/>
            <a:ext cx="347472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2377440"/>
            <a:ext cx="132588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60920" y="237744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3364992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· Trading · Ops · Content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57200" y="422452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24528"/>
            <a:ext cx="54864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4279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anything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" y="4517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in the flow of work — no agent picking.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91840" y="422452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4224528"/>
            <a:ext cx="54864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4279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Routed automatically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456432" y="4517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specialist handles every request.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26480" y="4224528"/>
            <a:ext cx="2651760" cy="658368"/>
          </a:xfrm>
          <a:prstGeom prst="roundRect">
            <a:avLst>
              <a:gd name="adj" fmla="val 1388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4224528"/>
            <a:ext cx="54864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5" name="Text 33"/>
          <p:cNvSpPr/>
          <p:nvPr/>
        </p:nvSpPr>
        <p:spPr>
          <a:xfrm>
            <a:off x="6291072" y="4279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Acts across Connect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91072" y="45171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to every platform surface.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Building Blocks of Coach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concepts, one platform — the last of them is new, and it is what this deck specifies.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76272"/>
            <a:ext cx="2212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specialists — investments, deposits, lending, CRM. Coach routes; advisers never pick.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7373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176272"/>
            <a:ext cx="2212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know-how: playbooks, templates, and policies that define how work gets done.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7373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7373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56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76272"/>
            <a:ext cx="2212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“Coach Ideas.” Proactive insights pushed without being asked. Rename ahead.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375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776472"/>
            <a:ext cx="2212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Time-triggered: “Every weekday at 8 AM, build my morning brief.”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3375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37560"/>
            <a:ext cx="54864" cy="1417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93008" y="3776472"/>
            <a:ext cx="2212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Event-triggered: “When a holding falls below X, tell me.”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3756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37560"/>
            <a:ext cx="54864" cy="14173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564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Autopilot — new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776472"/>
            <a:ext cx="22128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work, finished in the background, queued for adviser sign-off.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Renaming “Coach Ideas”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push-insight surface needs a name that sounds native to the desk.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9F5F0"/>
          </a:solidFill>
          <a:ln w="19050">
            <a:solidFill>
              <a:srgbClr val="A0824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25146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828800"/>
            <a:ext cx="1051560" cy="256032"/>
          </a:xfrm>
          <a:prstGeom prst="roundRect">
            <a:avLst>
              <a:gd name="adj" fmla="val 46429"/>
            </a:avLst>
          </a:prstGeom>
          <a:solidFill>
            <a:srgbClr val="A0824E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810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8600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Financial-native — timely, data-driven, actionable. Reads like market language, not marketing language.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36118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“Coach surfaced three Signals this morning.”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91640"/>
            <a:ext cx="54864" cy="2514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810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93008" y="228600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Coach metaphor — coaches call plays, and the Skills library becomes the Playbook. Distinctive; test the register with senior advisers.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93008" y="36118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“Coach called a Play on idle cash.”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691640"/>
            <a:ext cx="54864" cy="2514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81051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Nudges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2286000"/>
            <a:ext cx="22128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and behavioral. Risk: can read paternalistic in a private-bank context.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36208" y="36118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two Nudges waiting.”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throughout the rest of this deck: Signals.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Routines &amp; Monitors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— TIME-TRIGGERED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960120" cy="502920"/>
          </a:xfrm>
          <a:prstGeom prst="roundRect">
            <a:avLst>
              <a:gd name="adj" fmla="val 21818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 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56232" y="2212848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066544" y="1965960"/>
            <a:ext cx="960120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66544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recipe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54096" y="2212848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64408" y="1965960"/>
            <a:ext cx="960120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64408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book brief — weekdays, 8:00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digest — Fridays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sweep review — month-end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Runs on your clock.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3840480" cy="3154680"/>
          </a:xfrm>
          <a:prstGeom prst="roundRect">
            <a:avLst>
              <a:gd name="adj" fmla="val 289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— EVENT-TRIGGERED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1965960"/>
            <a:ext cx="960120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074920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62472" y="2212848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72784" y="1965960"/>
            <a:ext cx="960120" cy="502920"/>
          </a:xfrm>
          <a:prstGeom prst="roundRect">
            <a:avLst>
              <a:gd name="adj" fmla="val 21818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72784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260336" y="2212848"/>
            <a:ext cx="18288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70648" y="1965960"/>
            <a:ext cx="960120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0648" y="196596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74920" y="27432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holding falls more than 5%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deposit lands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KYC document nears expiry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Fires on the world's clock.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trigger fabric, different clocks — and the rails Autopilot will run 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Three Levels of Delegation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7043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Signals, Monitors, Routines, and Autopilot are not four features — they are one ladder.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SCHEDULE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52160" y="1828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WORK — I APPROVE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148840"/>
            <a:ext cx="0" cy="36576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514600"/>
            <a:ext cx="2286000" cy="178308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8529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&amp; Monitors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tells you. You do the work.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794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“ACME fell 6% — twelve clients hold it.”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0" cy="36576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9000" y="2514600"/>
            <a:ext cx="2286000" cy="178308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1188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611880" y="28529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Routines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11880" y="3200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work runs itself, on your clock.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11880" y="3794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“Every weekday at 8, build my brief.”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69480" y="2148840"/>
            <a:ext cx="0" cy="36576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2514600"/>
            <a:ext cx="2286000" cy="1783080"/>
          </a:xfrm>
          <a:prstGeom prst="roundRect">
            <a:avLst>
              <a:gd name="adj" fmla="val 5128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26334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309360" y="285292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Autopilot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309360" y="320040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is finished and waits for your sign-off.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309360" y="37947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“Reply drafted — approve to send.”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Advisers graduate each workflow up the ladder as trust builds.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— THE FEATURE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Autopilot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watches. It works. You decide.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and Routines that don't just notify — they finish the work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queue it for your sign-off.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Autopilot 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34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background workforce for every adviser: it detects the moment, does the work across Connect, and hands you a finished draft to approve.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240280"/>
            <a:ext cx="54864" cy="1783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2761488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from email, markets, ops events, the CRM, and the calendar — the same fabric as Monitors and Routines.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224028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2240280"/>
            <a:ext cx="54864" cy="1783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761488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gather, draft, prefill, and assemble across every Connect surface, guided by Skills.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2240280"/>
            <a:ext cx="2560320" cy="178308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2240280"/>
            <a:ext cx="54864" cy="17830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Waits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36208" y="2761488"/>
            <a:ext cx="22128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work sits in the Action Center. Nothing sends and nothing moves until you approve.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7680960" cy="457200"/>
          </a:xfrm>
          <a:prstGeom prst="roundRect">
            <a:avLst>
              <a:gd name="adj" fmla="val 20000"/>
            </a:avLst>
          </a:prstGeom>
          <a:solidFill>
            <a:srgbClr val="F3ECD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297680"/>
            <a:ext cx="54864" cy="4572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97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posture: prepare-only. Nothing sends, trades, or moves money without the adviser.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Naming the Feature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candidates — each tested against clarity, brand register, and risk optics.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9F5F0"/>
          </a:solidFill>
          <a:ln w="19050">
            <a:solidFill>
              <a:srgbClr val="A0824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25146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7" name="Shape 5"/>
          <p:cNvSpPr/>
          <p:nvPr/>
        </p:nvSpPr>
        <p:spPr>
          <a:xfrm>
            <a:off x="1920240" y="1828800"/>
            <a:ext cx="1051560" cy="256032"/>
          </a:xfrm>
          <a:prstGeom prst="roundRect">
            <a:avLst>
              <a:gd name="adj" fmla="val 46429"/>
            </a:avLst>
          </a:prstGeom>
          <a:solidFill>
            <a:srgbClr val="A0824E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1828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749808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Autopilot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28600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understood: work happens without me driving. Risk: can imply no human in the loop — so the tagline must always carry the promise.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3703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“Autopilot — you approve everything.”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69164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91640"/>
            <a:ext cx="54864" cy="2514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Chief of Staff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93008" y="228600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truest description: preps everything, you decide. Warm and aspirational — every adviser wants one. Longer, less product-y.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93008" y="3703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Chief of Staff has five items.”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2560320" cy="2514600"/>
          </a:xfrm>
          <a:prstGeom prst="roundRect">
            <a:avLst>
              <a:gd name="adj" fmla="val 363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691640"/>
            <a:ext cx="54864" cy="2514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18105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Concierge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36208" y="2286000"/>
            <a:ext cx="22128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On-brand for private banking. Risk: collides with client-facing concierge services elsewhere in the firm.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36208" y="3703320"/>
            <a:ext cx="2212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“Concierge prepared your replies.”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526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Autopilot — always paired with the approval promise.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86868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54480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544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49961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capability — background work with adviser sign-off.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1828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on Autopilot for wire inquiries.”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1520" y="2395728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395728"/>
            <a:ext cx="54864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578608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5786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252374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finished piece of work, waiting for review.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285292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five Assists ready.”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419856"/>
            <a:ext cx="7680960" cy="868680"/>
          </a:xfrm>
          <a:prstGeom prst="roundRect">
            <a:avLst>
              <a:gd name="adj" fmla="val 10526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19856"/>
            <a:ext cx="54864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3602736"/>
            <a:ext cx="1691640" cy="502920"/>
          </a:xfrm>
          <a:prstGeom prst="roundRect">
            <a:avLst>
              <a:gd name="adj" fmla="val 218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6027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35478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queue where Assists wait for your decision.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34640" y="387705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“Open the Action Center — approve, edit, or dismiss.”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Runner-up for tasks: “Handoffs.”  Warmer alternative for the queue: “The Desk.”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Assist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parts, always the same — whatever the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9204" y="1874520"/>
            <a:ext cx="132588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" y="18745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0332" y="2743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Monitor or Routine fires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60804" y="2240280"/>
            <a:ext cx="29260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9132" y="1874520"/>
            <a:ext cx="132588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9132" y="18745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80260" y="2743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defines the steps and standards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70732" y="2240280"/>
            <a:ext cx="29260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09060" y="1874520"/>
            <a:ext cx="132588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09060" y="18745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90188" y="2743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gather and draft across Connect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80660" y="2240280"/>
            <a:ext cx="29260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18988" y="1874520"/>
            <a:ext cx="132588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18988" y="18745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00116" y="2743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ticket, list, or meeting pack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0588" y="2240280"/>
            <a:ext cx="29260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28916" y="1874520"/>
            <a:ext cx="1325880" cy="731520"/>
          </a:xfrm>
          <a:prstGeom prst="roundRect">
            <a:avLst>
              <a:gd name="adj" fmla="val 15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28916" y="187452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10044" y="2743200"/>
            <a:ext cx="15636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approve, edit, or dismiss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Assist = a trigger + a recipe + agents + an artifact + your sign-off.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built for Coach become Autopilot recipes with no extra work — the catalog compounds.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Autopilot Lifecycle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1772" y="1691640"/>
            <a:ext cx="1033272" cy="6858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61772" y="169164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2044" y="248716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fires — event or schedule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522476" y="2029968"/>
            <a:ext cx="10972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659636" y="1691640"/>
            <a:ext cx="1033272" cy="6858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59636" y="169164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49908" y="248716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pull from CRM, ops, market data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20340" y="2029968"/>
            <a:ext cx="10972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57500" y="1691640"/>
            <a:ext cx="1033272" cy="6858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857500" y="169164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7772" y="248716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Draft, prefill, assemble the artifact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918204" y="2029968"/>
            <a:ext cx="10972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055364" y="1691640"/>
            <a:ext cx="1033272" cy="6858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055364" y="169164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45636" y="248716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lands in the Action Center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16068" y="2029968"/>
            <a:ext cx="10972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253228" y="1691640"/>
            <a:ext cx="1033272" cy="685800"/>
          </a:xfrm>
          <a:prstGeom prst="roundRect">
            <a:avLst>
              <a:gd name="adj" fmla="val 16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53228" y="169164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43500" y="248716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You approve, edit, or dismiss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13932" y="2029968"/>
            <a:ext cx="10972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51092" y="1691640"/>
            <a:ext cx="1033272" cy="6858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51092" y="169164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1364" y="248716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Send, submit, book — as approved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11796" y="2029968"/>
            <a:ext cx="10972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48956" y="1691640"/>
            <a:ext cx="1033272" cy="6858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648956" y="1691640"/>
            <a:ext cx="1033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39228" y="2487168"/>
            <a:ext cx="12527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and outcomes tune the system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468880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edit and rejection makes the next Assist sharper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78408" y="3639312"/>
            <a:ext cx="7187184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dash"/>
            <a:headEnd type="triangle"/>
          </a:ln>
        </p:spPr>
      </p:sp>
      <p:sp>
        <p:nvSpPr>
          <p:cNvPr id="33" name="Shape 31"/>
          <p:cNvSpPr/>
          <p:nvPr/>
        </p:nvSpPr>
        <p:spPr>
          <a:xfrm>
            <a:off x="731520" y="4160520"/>
            <a:ext cx="7680960" cy="457200"/>
          </a:xfrm>
          <a:prstGeom prst="roundRect">
            <a:avLst>
              <a:gd name="adj" fmla="val 20000"/>
            </a:avLst>
          </a:prstGeom>
          <a:solidFill>
            <a:srgbClr val="F3ECD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160520"/>
            <a:ext cx="54864" cy="4572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160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default: Execute runs only after Review — prepare-only, always.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Action Center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21208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536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CENTER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517904"/>
            <a:ext cx="868680" cy="274320"/>
          </a:xfrm>
          <a:prstGeom prst="roundRect">
            <a:avLst>
              <a:gd name="adj" fmla="val 43333"/>
            </a:avLst>
          </a:prstGeom>
          <a:solidFill>
            <a:srgbClr val="A0824E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5179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READY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04672" y="1901952"/>
            <a:ext cx="4700016" cy="0"/>
          </a:xfrm>
          <a:prstGeom prst="line">
            <a:avLst/>
          </a:prstGeom>
          <a:noFill/>
          <a:ln w="9525">
            <a:solidFill>
              <a:srgbClr val="E0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29968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029968"/>
            <a:ext cx="54864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103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 status reply — R. Alvarez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3957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email · 9:02 AM · reply drafted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2231136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EAF4EE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23113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7240" y="2798064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2798064"/>
            <a:ext cx="54864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28712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Rebalance — Chen Family Trust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316382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 · +4.2% · tickets prefilled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99232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EAF4EE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999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77240" y="3566160"/>
            <a:ext cx="4754880" cy="658368"/>
          </a:xfrm>
          <a:prstGeom prst="roundRect">
            <a:avLst>
              <a:gd name="adj" fmla="val 1388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3566160"/>
            <a:ext cx="54864" cy="6583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3639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Sailing invites — 5 clients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39319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request · invites personalized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767328"/>
            <a:ext cx="731520" cy="256032"/>
          </a:xfrm>
          <a:prstGeom prst="roundRect">
            <a:avLst>
              <a:gd name="adj" fmla="val 46429"/>
            </a:avLst>
          </a:prstGeom>
          <a:solidFill>
            <a:srgbClr val="FBF3E0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7673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HRS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04672" y="4389120"/>
            <a:ext cx="4700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all similar   ·   Sort: oldest first   ·   Filter: client-facing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13716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371600"/>
            <a:ext cx="54864" cy="10058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0" name="Text 28"/>
          <p:cNvSpPr/>
          <p:nvPr/>
        </p:nvSpPr>
        <p:spPr>
          <a:xfrm>
            <a:off x="6236208" y="1463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One-tap actions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1755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or dismiss from the card — batch-approve similar Assists.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25146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2514600"/>
            <a:ext cx="54864" cy="10058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4" name="Text 32"/>
          <p:cNvSpPr/>
          <p:nvPr/>
        </p:nvSpPr>
        <p:spPr>
          <a:xfrm>
            <a:off x="6236208" y="2606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Aging indicators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36208" y="2898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when a client is waiting — nothing slips quietly.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035040" y="3657600"/>
            <a:ext cx="2606040" cy="1005840"/>
          </a:xfrm>
          <a:prstGeom prst="roundRect">
            <a:avLst>
              <a:gd name="adj" fmla="val 9091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657600"/>
            <a:ext cx="54864" cy="10058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provenance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36208" y="40416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shows its trigger, its steps, and its sources.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an Assist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25880"/>
            <a:ext cx="539496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A0824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630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 status reply — Rebecca Alvarez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1847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" y="2048256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email, 9:02 AM — “Any update on my wire from Tuesday?”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4892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wire #4417 from Ops · confirmed settlement 2:04 PM ET · drafted the reply in your tone · appended the required disclosure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0723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3273552"/>
            <a:ext cx="4892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portal · CRM · calendar · your sent-mail tone profile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— DRAFT REPLY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22960" y="3785616"/>
            <a:ext cx="484632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38404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Rebecca — good news: wire #4417 settled at 2:04 PM ET today, and the funds are available now. Anything else you need before the weekend?”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1417320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14173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172200" y="192024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Sends, submits, books — then logs to CRM automatically.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2395728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F9F5F0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172200" y="28986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the draft — Autopilot learns your tone from every change.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3374136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E8E2D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337413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72200" y="38770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 — the trigger gets tuned so it fires less.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72200" y="4370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on every card — the trust and compliance backbone.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Worked Example: The Wire Inquiry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25880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426464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42646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13807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email lands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783080" y="16367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— any update on my wire from Tuesday?”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1984248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1984248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084832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084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203911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Autopilot detects intent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783080" y="22951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inbox Monitor matches “wire status” — the recipe is selected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642616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642616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2743200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27432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83080" y="269748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happens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783080" y="295351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pulled from Ops · reply drafted in your tone · disclosure appended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300984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300984"/>
            <a:ext cx="54864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3401568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34015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33558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get one ping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783080" y="361188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 lands in your Action Center, marked ready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959352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3959352"/>
            <a:ext cx="54864" cy="56692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" y="4059936"/>
            <a:ext cx="731520" cy="365760"/>
          </a:xfrm>
          <a:prstGeom prst="roundRect">
            <a:avLst>
              <a:gd name="adj" fmla="val 3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405993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40142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tap: Approve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783080" y="427024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sent · thread and outcome logged to CRM automatically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" y="46451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client waited five minutes. You spent thirty seconds.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65760"/>
            <a:ext cx="3108960" cy="457200"/>
          </a:xfrm>
          <a:prstGeom prst="roundRect">
            <a:avLst>
              <a:gd name="adj" fmla="val 24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017520" y="365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APPROVAL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Autopilot pauses and hands you the work: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2103120"/>
          </a:xfrm>
          <a:prstGeom prst="roundRect">
            <a:avLst>
              <a:gd name="adj" fmla="val 4348"/>
            </a:avLst>
          </a:prstGeom>
          <a:solidFill>
            <a:srgbClr val="F9F5F0"/>
          </a:solidFill>
          <a:ln w="25400">
            <a:solidFill>
              <a:srgbClr val="A0824E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REPLY — IN YOUR TONE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 Rebecca — good news: wire #4417 settled at 2:04 PM ET today, and the funds are available now. Anything else you need before the weekend?”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verified in Ops at 9:03 AM · disclosure appended · thread will log to CRM on send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response: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114800"/>
            <a:ext cx="7680960" cy="502920"/>
          </a:xfrm>
          <a:prstGeom prst="roundRect">
            <a:avLst>
              <a:gd name="adj" fmla="val 18182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4114800"/>
            <a:ext cx="54864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11480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“Approve — send it.”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teaches your tone. Dismiss tunes the trigger. Every path makes the next Assist better.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Sailing Event: Find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DELEGATION · PART 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103120" cy="2011680"/>
          </a:xfrm>
          <a:prstGeom prst="roundRect">
            <a:avLst>
              <a:gd name="adj" fmla="val 454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" cy="2011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28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58368" y="214884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“Which of my clients are interested in sailing?”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06040" y="269748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1554480"/>
            <a:ext cx="2971800" cy="2286000"/>
          </a:xfrm>
          <a:prstGeom prst="roundRect">
            <a:avLst>
              <a:gd name="adj" fmla="val 4800"/>
            </a:avLst>
          </a:prstGeom>
          <a:solidFill>
            <a:srgbClr val="F9F5F0"/>
          </a:solidFill>
          <a:ln w="9525">
            <a:solidFill>
              <a:srgbClr val="999999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1645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SEARCHES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965960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96596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notes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0" y="2532888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53288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personas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3099816"/>
            <a:ext cx="2423160" cy="457200"/>
          </a:xfrm>
          <a:prstGeom prst="roundRect">
            <a:avLst>
              <a:gd name="adj" fmla="val 24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3099816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interests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269748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63640" y="1554480"/>
            <a:ext cx="2423160" cy="2286000"/>
          </a:xfrm>
          <a:prstGeom prst="roundRect">
            <a:avLst>
              <a:gd name="adj" fmla="val 400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554480"/>
            <a:ext cx="54864" cy="22860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ANSWERS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64808" y="193852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clients flagged: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64808" y="2212848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Alvarez · The Chens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Okafor · D. &amp; P. Shah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Laurent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64808" y="31272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each with the source snippet that flagged them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31520" y="4069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a springboard — the next sentence is a delegation: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“Great — invite them to next week's sailing event.”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Sailing Event: 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DELEGATION · PART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event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from the events calendar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11096" y="2075688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6916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each client's calendar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02736" y="2075688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16916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invites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Drafted in your voice, per client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94376" y="2075688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577840" y="16916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7784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One tap covers all five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986016" y="2075688"/>
            <a:ext cx="246888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69480" y="1691640"/>
            <a:ext cx="1371600" cy="777240"/>
          </a:xfrm>
          <a:prstGeom prst="roundRect">
            <a:avLst>
              <a:gd name="adj" fmla="val 1411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6948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25786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RSVPs tracked automatically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it keeps going —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3611880"/>
            <a:ext cx="54864" cy="7772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3685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Tracks RSVPs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49808" y="3950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as replies land.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91840" y="361188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3611880"/>
            <a:ext cx="54864" cy="7772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1" name="Text 29"/>
          <p:cNvSpPr/>
          <p:nvPr/>
        </p:nvSpPr>
        <p:spPr>
          <a:xfrm>
            <a:off x="3493008" y="3685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Preps follow-ups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493008" y="3950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draft for yes, one for no.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3611880"/>
            <a:ext cx="2560320" cy="777240"/>
          </a:xfrm>
          <a:prstGeom prst="roundRect">
            <a:avLst>
              <a:gd name="adj" fmla="val 11765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3611880"/>
            <a:ext cx="54864" cy="77724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35" name="Text 33"/>
          <p:cNvSpPr/>
          <p:nvPr/>
        </p:nvSpPr>
        <p:spPr>
          <a:xfrm>
            <a:off x="6236208" y="36850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Logs everything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36208" y="39502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Invites and outcomes into CRM.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" y="45902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request. One approval. The rest is background.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Trust Model: Tiered Autonomy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691640"/>
            <a:ext cx="7955280" cy="320040"/>
          </a:xfrm>
          <a:prstGeom prst="roundRect">
            <a:avLst>
              <a:gd name="adj" fmla="val 48571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8521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AUTONOMY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40180" y="2011680"/>
            <a:ext cx="0" cy="32004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94944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Notify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94944" y="3145536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Monitor — the alert, no work done.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97580" y="2011680"/>
            <a:ext cx="0" cy="32004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233172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752344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52344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&amp; hold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52344" y="3145536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waits for you — every client-facing and money-moving action.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52344" y="3913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200" kern="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DEFAULT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554980" y="2011680"/>
            <a:ext cx="0" cy="32004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33172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9744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09744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Auto-run low-risk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09744" y="3145536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logging, calendar holds — executed, audit-logged.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612380" y="2011680"/>
            <a:ext cx="0" cy="32004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2331720"/>
            <a:ext cx="1783080" cy="1828800"/>
          </a:xfrm>
          <a:prstGeom prst="roundRect">
            <a:avLst>
              <a:gd name="adj" fmla="val 5128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67144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67144" y="2651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Earned autonomy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867144" y="3145536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Per-workflow opt-in after a track record. Always auditable.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" y="4434840"/>
            <a:ext cx="7680960" cy="457200"/>
          </a:xfrm>
          <a:prstGeom prst="roundRect">
            <a:avLst>
              <a:gd name="adj" fmla="val 20000"/>
            </a:avLst>
          </a:prstGeom>
          <a:solidFill>
            <a:srgbClr val="FDF2F2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434840"/>
            <a:ext cx="54864" cy="45720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4348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 at every tier: no client contact, no money movement, without your approval.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Controls &amp; Compliance by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inherits the bank's guardrails — it does not route around them.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Entitlement-aware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Assists touch only what the adviser can already see and do.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Approved content only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pull from approved libraries; required disclosures auto-inserted.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Supervision routing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items flow to review queues exactly per policy.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audit trail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trigger, source, draft, edit, and approval — logged and replayable.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boundaries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930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data stays inside the platform; tone learning is per-adviser.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19272"/>
            <a:ext cx="54864" cy="1463040"/>
          </a:xfrm>
          <a:prstGeom prst="rect">
            <a:avLst/>
          </a:prstGeom>
          <a:solidFill>
            <a:srgbClr val="9B2C2C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Kill switch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one recipe, one book, or all of Autopilot — instantly.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Learning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830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Assist lands in the Action Center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2148840"/>
            <a:ext cx="3657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80360" y="17830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or dismiss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2148840"/>
            <a:ext cx="3657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17830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teach tone; dismissals tune triggers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2148840"/>
            <a:ext cx="36576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20840" y="1783080"/>
            <a:ext cx="1463040" cy="731520"/>
          </a:xfrm>
          <a:prstGeom prst="roundRect">
            <a:avLst>
              <a:gd name="adj" fmla="val 15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20840" y="17830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drafts, fewer false alarms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0" y="32918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cycle raises the approve-unedited rate — the health metric of the system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3611880"/>
            <a:ext cx="576072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dash"/>
            <a:headEnd type="triangle"/>
          </a:ln>
        </p:spPr>
      </p:sp>
      <p:sp>
        <p:nvSpPr>
          <p:cNvPr id="21" name="Text 19"/>
          <p:cNvSpPr/>
          <p:nvPr/>
        </p:nvSpPr>
        <p:spPr>
          <a:xfrm>
            <a:off x="731520" y="41148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= confidence up   ·   Edit = tone learned   ·   Dismiss = trigger tuned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Adoption Mechanic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is born at the moment of value — no setup screens, no recipe builders.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4754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54864" cy="155448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ALERT — TODAY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ACME fell 6.2% today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578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clients hold it across 9 households · combined exposure $4.1M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3017520"/>
            <a:ext cx="4297680" cy="0"/>
          </a:xfrm>
          <a:prstGeom prst="line">
            <a:avLst/>
          </a:prstGeom>
          <a:noFill/>
          <a:ln w="6350">
            <a:solidFill>
              <a:srgbClr val="E0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0723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        Open client list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60120" y="3566160"/>
            <a:ext cx="3017520" cy="475488"/>
          </a:xfrm>
          <a:prstGeom prst="roundRect">
            <a:avLst>
              <a:gd name="adj" fmla="val 50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56616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this for me next time  →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0" y="36758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any Signal or Monitor alert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1783080"/>
            <a:ext cx="2834640" cy="2258568"/>
          </a:xfrm>
          <a:prstGeom prst="roundRect">
            <a:avLst>
              <a:gd name="adj" fmla="val 4049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1783080"/>
            <a:ext cx="54864" cy="2258568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7" name="Text 15"/>
          <p:cNvSpPr/>
          <p:nvPr/>
        </p:nvSpPr>
        <p:spPr>
          <a:xfrm>
            <a:off x="5961888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tap = a new recipe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61888" y="2240280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this Monitor fires, Autopilot arrives with the work already done: the exposed-client list, talking points, and outreach drafts — waiting in your Action Center.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Alerts convert to Assists exactly when the adviser feels the need.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51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— THE CATALOG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Autopilot Can Do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opening catalog of twenty-eight Assist recipes across five families.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&amp; Service  ·  Meetings &amp; Reviews  ·  Portfolio &amp; Trading  ·  Banking &amp; Ops  ·  Relationship &amp; Growth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Inbox &amp; Client Service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inbox becomes a queue of finished replies — not requests for work.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Wire &amp; transfer status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asks; status pulled from Ops; reply drafted in your tone with details verified.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Money movement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prefilled from the request; callback verification flagged before anything moves.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 &amp; statements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statement or tax doc attached; reply ready to send.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requests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times proposed from your calendar; the invite is drafted.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Beneficiary changes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930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Paperwork prefilled; the e-sign packet assembled and ready.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triage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questions answered from approved content, queued for your send.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Meetings &amp; Reviews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meeting arrives prepped — and leaves with its follow-through already moving.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 meeting packs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Positions, performance, open items, last conversation, talking points — per meeting.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builder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draft agenda from open items and holdings, ready to share ahead.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Post-meeting wrap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logged; action items extracted — each one spawns its own Assist.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 emails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follow-up drafted straight from your meeting notes.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season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930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reviews queued and prepped for every client coming due.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Scheduling chase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Non-responders nudged; reschedules proposed automatically.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&amp; Trading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motion — with every ticket prefilled and every client note drafted.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rebalancing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breached: proposal built, tickets prefilled for your review.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Idle cash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above target: options assembled plus an outreach draft.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Tax-loss harvesting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identified; swap tickets prepped with wash-sale checks.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Maturities &amp; rollovers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 and bonds coming due: options plus the client note.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Phone trades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930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prefilled from the call, ready for you to submit.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shock response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clients listed; reassurance drafts and talking points ready.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Banking, Lending &amp; Ops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drag — renewals, chases, repairs — handled before it piles up.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Liquidity events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deposit lands: outreach drafted with options prepared.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Rate moves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930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 and credit-line candidates flagged, proposals prepped.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691640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KYC &amp; doc renewals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30552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Expiring items caught early: renewal packet plus chase email.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Unsigned paperwork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documents: follow-up drafts queued before deadlines.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34930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NIGO repair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930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Not-in-good-order items corrected and prepped for resubmission.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35040" y="3319272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319272"/>
            <a:ext cx="54864" cy="1463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236208" y="343814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 progress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36208" y="3758184"/>
            <a:ext cx="22128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Stalled steps flagged; the next-step packet is ready.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Relationship &amp; 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reasons clients feel known — surfaced and acted on at scale.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54864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653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events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change, birthday, graduation — detected in notes and news, with the congratulations note ready.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73736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737360"/>
            <a:ext cx="54864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86537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matching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publication drops: matched to the clients it fits, with personalized share drafts.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291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291840"/>
            <a:ext cx="54864" cy="13716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Quiet-book re-engagement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Ninety days without contact: a re-engagement draft queued, grounded in their last conversation.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3291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291840"/>
            <a:ext cx="54864" cy="137160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Interest audiences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3749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sailing flow, for any affinity: find the audience, draft the invites, follow through.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Rollout: Earning the Right to Automate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8660" y="16002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08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START HERE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708660" y="192024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866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2940" y="2971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recipes, prepare-only: wire inquiries and meeting packs. Fifty advisers.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46020" y="237744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20340" y="192024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2034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74620" y="2971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Assist families live. Tone learning 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57700" y="237744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32020" y="192024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3202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2971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Tier-2 autonomy for low-risk actions. Batch approvals.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69380" y="2377440"/>
            <a:ext cx="2286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43700" y="1920240"/>
            <a:ext cx="1691640" cy="9144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43700" y="192024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97980" y="297180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“Handle this next time” — adviser-built recipes.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82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phase ships only when the approve-unedited rate holds — trust is the release gate.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Will Know It Is Working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0"/>
          </a:xfrm>
          <a:prstGeom prst="line">
            <a:avLst/>
          </a:prstGeom>
          <a:noFill/>
          <a:ln w="6350">
            <a:solidFill>
              <a:srgbClr val="999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1499616"/>
            <a:ext cx="1234440" cy="475488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149961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31720" y="1371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median time to first client response — down from hours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240280"/>
            <a:ext cx="54864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896112" y="2368296"/>
            <a:ext cx="1234440" cy="475488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236829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hrs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31720" y="22402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returned to every adviser, every week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" y="3236976"/>
            <a:ext cx="1234440" cy="475488"/>
          </a:xfrm>
          <a:prstGeom prst="roundRect">
            <a:avLst>
              <a:gd name="adj" fmla="val 2307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2369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331720" y="31089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Assists approved without edits by month three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F9F5F0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977640"/>
            <a:ext cx="54864" cy="731520"/>
          </a:xfrm>
          <a:prstGeom prst="rect">
            <a:avLst/>
          </a:prstGeom>
          <a:solidFill>
            <a:srgbClr val="A0824E"/>
          </a:solidFill>
          <a:ln/>
        </p:spPr>
      </p:sp>
      <p:sp>
        <p:nvSpPr>
          <p:cNvPr id="21" name="Shape 19"/>
          <p:cNvSpPr/>
          <p:nvPr/>
        </p:nvSpPr>
        <p:spPr>
          <a:xfrm>
            <a:off x="896112" y="4105656"/>
            <a:ext cx="1234440" cy="475488"/>
          </a:xfrm>
          <a:prstGeom prst="roundRect">
            <a:avLst>
              <a:gd name="adj" fmla="val 23077"/>
            </a:avLst>
          </a:prstGeom>
          <a:solidFill>
            <a:srgbClr val="A0824E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10565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331720" y="39776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client-facing actions executed without adviser approval — ever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4946904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Bank · Adviser Platform — Autopilot Specification (Internal Draft)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955280" y="494690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is done — you just decide.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0" y="2651760"/>
            <a:ext cx="1828800" cy="0"/>
          </a:xfrm>
          <a:prstGeom prst="line">
            <a:avLst/>
          </a:prstGeom>
          <a:noFill/>
          <a:ln w="19050">
            <a:solidFill>
              <a:srgbClr val="A082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880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 — the next layer of Coach, inside Connect.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3291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for product review — names, tiers, and the catalog are open for debate.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Autopilot — Feature Specification</dc:title>
  <dc:subject>PptxGenJS Presentation</dc:subject>
  <dc:creator>Claude</dc:creator>
  <cp:lastModifiedBy>Claude</cp:lastModifiedBy>
  <cp:revision>1</cp:revision>
  <dcterms:created xsi:type="dcterms:W3CDTF">2026-07-30T12:29:46Z</dcterms:created>
  <dcterms:modified xsi:type="dcterms:W3CDTF">2026-07-30T12:29:46Z</dcterms:modified>
</cp:coreProperties>
</file>