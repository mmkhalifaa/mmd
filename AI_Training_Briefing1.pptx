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1" d="100"/>
          <a:sy n="151" d="100"/>
        </p:scale>
        <p:origin x="4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477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731520" y="292608"/>
            <a:ext cx="7680960" cy="228600"/>
          </a:xfrm>
          <a:prstGeom prst="rect">
            <a:avLst/>
          </a:prstGeom>
          <a:noFill/>
          <a:ln/>
        </p:spPr>
        <p:txBody>
          <a:bodyPr wrap="square" lIns="0" tIns="0" rIns="0" bIns="0" rtlCol="0" anchor="ctr"/>
          <a:lstStyle/>
          <a:p>
            <a:pPr marL="0" indent="0">
              <a:buNone/>
            </a:pPr>
            <a:r>
              <a:rPr lang="en-US" sz="900" b="1" kern="0" spc="300" dirty="0">
                <a:solidFill>
                  <a:srgbClr val="A0824E"/>
                </a:solidFill>
                <a:latin typeface="Calibri" pitchFamily="34" charset="0"/>
                <a:ea typeface="Calibri" pitchFamily="34" charset="-122"/>
                <a:cs typeface="Calibri" pitchFamily="34" charset="-120"/>
              </a:rPr>
              <a:t>PAGE 01  ·  VISION &amp; RATIONALE</a:t>
            </a:r>
            <a:endParaRPr lang="en-US" sz="900" dirty="0"/>
          </a:p>
        </p:txBody>
      </p:sp>
      <p:sp>
        <p:nvSpPr>
          <p:cNvPr id="3" name="Text 1"/>
          <p:cNvSpPr/>
          <p:nvPr/>
        </p:nvSpPr>
        <p:spPr>
          <a:xfrm>
            <a:off x="731520" y="548640"/>
            <a:ext cx="7680960" cy="640080"/>
          </a:xfrm>
          <a:prstGeom prst="rect">
            <a:avLst/>
          </a:prstGeom>
          <a:noFill/>
          <a:ln/>
        </p:spPr>
        <p:txBody>
          <a:bodyPr wrap="square" lIns="0" tIns="0" rIns="0" bIns="0" rtlCol="0" anchor="ctr"/>
          <a:lstStyle/>
          <a:p>
            <a:pPr marL="0" indent="0">
              <a:buNone/>
            </a:pPr>
            <a:r>
              <a:rPr lang="en-US" sz="3000" i="1" dirty="0">
                <a:solidFill>
                  <a:srgbClr val="2D2D2D"/>
                </a:solidFill>
                <a:latin typeface="Georgia" pitchFamily="34" charset="0"/>
                <a:ea typeface="Georgia" pitchFamily="34" charset="-122"/>
                <a:cs typeface="Georgia" pitchFamily="34" charset="-120"/>
              </a:rPr>
              <a:t>From Doing the Work to Directing It.</a:t>
            </a:r>
            <a:endParaRPr lang="en-US" sz="3000" dirty="0"/>
          </a:p>
        </p:txBody>
      </p:sp>
      <p:sp>
        <p:nvSpPr>
          <p:cNvPr id="4" name="Shape 2"/>
          <p:cNvSpPr/>
          <p:nvPr/>
        </p:nvSpPr>
        <p:spPr>
          <a:xfrm>
            <a:off x="731520" y="1207008"/>
            <a:ext cx="7680960" cy="0"/>
          </a:xfrm>
          <a:prstGeom prst="line">
            <a:avLst/>
          </a:prstGeom>
          <a:noFill/>
          <a:ln w="6350">
            <a:solidFill>
              <a:srgbClr val="999999"/>
            </a:solidFill>
            <a:prstDash val="solid"/>
          </a:ln>
        </p:spPr>
        <p:txBody>
          <a:bodyPr/>
          <a:lstStyle/>
          <a:p>
            <a:endParaRPr lang="en-US"/>
          </a:p>
        </p:txBody>
      </p:sp>
      <p:sp>
        <p:nvSpPr>
          <p:cNvPr id="5" name="Text 3"/>
          <p:cNvSpPr/>
          <p:nvPr/>
        </p:nvSpPr>
        <p:spPr>
          <a:xfrm>
            <a:off x="731520" y="1371600"/>
            <a:ext cx="7680960" cy="777240"/>
          </a:xfrm>
          <a:prstGeom prst="rect">
            <a:avLst/>
          </a:prstGeom>
          <a:noFill/>
          <a:ln/>
        </p:spPr>
        <p:txBody>
          <a:bodyPr wrap="square" lIns="0" tIns="0" rIns="0" bIns="0" rtlCol="0" anchor="ctr"/>
          <a:lstStyle/>
          <a:p>
            <a:pPr marL="0" indent="0">
              <a:lnSpc>
                <a:spcPct val="130000"/>
              </a:lnSpc>
              <a:buNone/>
            </a:pPr>
            <a:r>
              <a:rPr lang="en-US" sz="1700" i="1" dirty="0">
                <a:solidFill>
                  <a:srgbClr val="1B2A4A"/>
                </a:solidFill>
                <a:latin typeface="Georgia" pitchFamily="34" charset="0"/>
                <a:ea typeface="Georgia" pitchFamily="34" charset="-122"/>
                <a:cs typeface="Georgia" pitchFamily="34" charset="-120"/>
              </a:rPr>
              <a:t>The next generation of bankers will not be measured by the</a:t>
            </a:r>
            <a:endParaRPr lang="en-US" sz="1700" dirty="0"/>
          </a:p>
          <a:p>
            <a:pPr marL="0" indent="0">
              <a:lnSpc>
                <a:spcPct val="130000"/>
              </a:lnSpc>
              <a:buNone/>
            </a:pPr>
            <a:r>
              <a:rPr lang="en-US" sz="1700" i="1" dirty="0">
                <a:solidFill>
                  <a:srgbClr val="1B2A4A"/>
                </a:solidFill>
                <a:latin typeface="Georgia" pitchFamily="34" charset="0"/>
                <a:ea typeface="Georgia" pitchFamily="34" charset="-122"/>
                <a:cs typeface="Georgia" pitchFamily="34" charset="-120"/>
              </a:rPr>
              <a:t>work they finish — but by the work they direct AI to finish for them.</a:t>
            </a:r>
            <a:endParaRPr lang="en-US" sz="1700" dirty="0"/>
          </a:p>
        </p:txBody>
      </p:sp>
      <p:sp>
        <p:nvSpPr>
          <p:cNvPr id="6" name="Shape 4"/>
          <p:cNvSpPr/>
          <p:nvPr/>
        </p:nvSpPr>
        <p:spPr>
          <a:xfrm>
            <a:off x="731520" y="2331720"/>
            <a:ext cx="2423160" cy="1417320"/>
          </a:xfrm>
          <a:prstGeom prst="roundRect">
            <a:avLst>
              <a:gd name="adj" fmla="val 6452"/>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7" name="Shape 5"/>
          <p:cNvSpPr/>
          <p:nvPr/>
        </p:nvSpPr>
        <p:spPr>
          <a:xfrm>
            <a:off x="731520" y="2331720"/>
            <a:ext cx="54864" cy="1417320"/>
          </a:xfrm>
          <a:prstGeom prst="rect">
            <a:avLst/>
          </a:prstGeom>
          <a:solidFill>
            <a:srgbClr val="1B2A4A"/>
          </a:solidFill>
          <a:ln/>
        </p:spPr>
        <p:txBody>
          <a:bodyPr/>
          <a:lstStyle/>
          <a:p>
            <a:endParaRPr lang="en-US"/>
          </a:p>
        </p:txBody>
      </p:sp>
      <p:sp>
        <p:nvSpPr>
          <p:cNvPr id="8" name="Text 6"/>
          <p:cNvSpPr/>
          <p:nvPr/>
        </p:nvSpPr>
        <p:spPr>
          <a:xfrm>
            <a:off x="914400" y="2395728"/>
            <a:ext cx="2148840" cy="228600"/>
          </a:xfrm>
          <a:prstGeom prst="rect">
            <a:avLst/>
          </a:prstGeom>
          <a:noFill/>
          <a:ln/>
        </p:spPr>
        <p:txBody>
          <a:bodyPr wrap="square" lIns="0" tIns="0" rIns="0" bIns="0" rtlCol="0" anchor="ctr"/>
          <a:lstStyle/>
          <a:p>
            <a:pPr marL="0" indent="0">
              <a:buNone/>
            </a:pPr>
            <a:r>
              <a:rPr lang="en-US" sz="800" b="1" kern="0" spc="200" dirty="0">
                <a:solidFill>
                  <a:srgbClr val="A0824E"/>
                </a:solidFill>
                <a:latin typeface="Calibri" pitchFamily="34" charset="0"/>
                <a:ea typeface="Calibri" pitchFamily="34" charset="-122"/>
                <a:cs typeface="Calibri" pitchFamily="34" charset="-120"/>
              </a:rPr>
              <a:t>WHY NOW</a:t>
            </a:r>
            <a:endParaRPr lang="en-US" sz="800" dirty="0"/>
          </a:p>
        </p:txBody>
      </p:sp>
      <p:sp>
        <p:nvSpPr>
          <p:cNvPr id="9" name="Text 7"/>
          <p:cNvSpPr/>
          <p:nvPr/>
        </p:nvSpPr>
        <p:spPr>
          <a:xfrm>
            <a:off x="914400" y="2606040"/>
            <a:ext cx="2148840" cy="292608"/>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The shift has begun.</a:t>
            </a:r>
            <a:endParaRPr lang="en-US" sz="1400" dirty="0"/>
          </a:p>
        </p:txBody>
      </p:sp>
      <p:sp>
        <p:nvSpPr>
          <p:cNvPr id="10" name="Text 8"/>
          <p:cNvSpPr/>
          <p:nvPr/>
        </p:nvSpPr>
        <p:spPr>
          <a:xfrm>
            <a:off x="914400" y="2926080"/>
            <a:ext cx="2148840" cy="777240"/>
          </a:xfrm>
          <a:prstGeom prst="rect">
            <a:avLst/>
          </a:prstGeom>
          <a:noFill/>
          <a:ln/>
        </p:spPr>
        <p:txBody>
          <a:bodyPr wrap="square" lIns="0" tIns="0" rIns="0" bIns="0" rtlCol="0" anchor="ctr"/>
          <a:lstStyle/>
          <a:p>
            <a:pPr marL="0" indent="0">
              <a:lnSpc>
                <a:spcPct val="135000"/>
              </a:lnSpc>
              <a:buNone/>
            </a:pPr>
            <a:r>
              <a:rPr lang="en-US" sz="950" dirty="0">
                <a:solidFill>
                  <a:srgbClr val="6B6B6B"/>
                </a:solidFill>
                <a:latin typeface="Calibri" pitchFamily="34" charset="0"/>
                <a:ea typeface="Calibri" pitchFamily="34" charset="-122"/>
                <a:cs typeface="Calibri" pitchFamily="34" charset="-120"/>
              </a:rPr>
              <a:t>The analyst who learns to wield AI becomes dramatically more valuable to clients and to the firm. We are training for the role that exists in 18 months, not the one that existed last year.</a:t>
            </a:r>
            <a:endParaRPr lang="en-US" sz="950" dirty="0"/>
          </a:p>
        </p:txBody>
      </p:sp>
      <p:sp>
        <p:nvSpPr>
          <p:cNvPr id="11" name="Shape 9"/>
          <p:cNvSpPr/>
          <p:nvPr/>
        </p:nvSpPr>
        <p:spPr>
          <a:xfrm>
            <a:off x="3337560" y="2331720"/>
            <a:ext cx="2423160" cy="1417320"/>
          </a:xfrm>
          <a:prstGeom prst="roundRect">
            <a:avLst>
              <a:gd name="adj" fmla="val 6452"/>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12" name="Shape 10"/>
          <p:cNvSpPr/>
          <p:nvPr/>
        </p:nvSpPr>
        <p:spPr>
          <a:xfrm>
            <a:off x="3337560" y="2331720"/>
            <a:ext cx="54864" cy="1417320"/>
          </a:xfrm>
          <a:prstGeom prst="rect">
            <a:avLst/>
          </a:prstGeom>
          <a:solidFill>
            <a:srgbClr val="1B2A4A"/>
          </a:solidFill>
          <a:ln/>
        </p:spPr>
        <p:txBody>
          <a:bodyPr/>
          <a:lstStyle/>
          <a:p>
            <a:endParaRPr lang="en-US"/>
          </a:p>
        </p:txBody>
      </p:sp>
      <p:sp>
        <p:nvSpPr>
          <p:cNvPr id="13" name="Text 11"/>
          <p:cNvSpPr/>
          <p:nvPr/>
        </p:nvSpPr>
        <p:spPr>
          <a:xfrm>
            <a:off x="3520440" y="2395728"/>
            <a:ext cx="2148840" cy="228600"/>
          </a:xfrm>
          <a:prstGeom prst="rect">
            <a:avLst/>
          </a:prstGeom>
          <a:noFill/>
          <a:ln/>
        </p:spPr>
        <p:txBody>
          <a:bodyPr wrap="square" lIns="0" tIns="0" rIns="0" bIns="0" rtlCol="0" anchor="ctr"/>
          <a:lstStyle/>
          <a:p>
            <a:pPr marL="0" indent="0">
              <a:buNone/>
            </a:pPr>
            <a:r>
              <a:rPr lang="en-US" sz="800" b="1" kern="0" spc="200" dirty="0">
                <a:solidFill>
                  <a:srgbClr val="A0824E"/>
                </a:solidFill>
                <a:latin typeface="Calibri" pitchFamily="34" charset="0"/>
                <a:ea typeface="Calibri" pitchFamily="34" charset="-122"/>
                <a:cs typeface="Calibri" pitchFamily="34" charset="-120"/>
              </a:rPr>
              <a:t>WHAT WE ARE TESTING</a:t>
            </a:r>
            <a:endParaRPr lang="en-US" sz="800" dirty="0"/>
          </a:p>
        </p:txBody>
      </p:sp>
      <p:sp>
        <p:nvSpPr>
          <p:cNvPr id="14" name="Text 12"/>
          <p:cNvSpPr/>
          <p:nvPr/>
        </p:nvSpPr>
        <p:spPr>
          <a:xfrm>
            <a:off x="3520440" y="2606040"/>
            <a:ext cx="2148840" cy="292608"/>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Compression.</a:t>
            </a:r>
            <a:endParaRPr lang="en-US" sz="1400" dirty="0"/>
          </a:p>
        </p:txBody>
      </p:sp>
      <p:sp>
        <p:nvSpPr>
          <p:cNvPr id="15" name="Text 13"/>
          <p:cNvSpPr/>
          <p:nvPr/>
        </p:nvSpPr>
        <p:spPr>
          <a:xfrm>
            <a:off x="3520440" y="2926080"/>
            <a:ext cx="2148840" cy="777240"/>
          </a:xfrm>
          <a:prstGeom prst="rect">
            <a:avLst/>
          </a:prstGeom>
          <a:noFill/>
          <a:ln/>
        </p:spPr>
        <p:txBody>
          <a:bodyPr wrap="square" lIns="0" tIns="0" rIns="0" bIns="0" rtlCol="0" anchor="ctr"/>
          <a:lstStyle/>
          <a:p>
            <a:pPr marL="0" indent="0">
              <a:lnSpc>
                <a:spcPct val="135000"/>
              </a:lnSpc>
              <a:buNone/>
            </a:pPr>
            <a:r>
              <a:rPr lang="en-US" sz="950" dirty="0">
                <a:solidFill>
                  <a:srgbClr val="6B6B6B"/>
                </a:solidFill>
                <a:latin typeface="Calibri" pitchFamily="34" charset="0"/>
                <a:ea typeface="Calibri" pitchFamily="34" charset="-122"/>
                <a:cs typeface="Calibri" pitchFamily="34" charset="-120"/>
              </a:rPr>
              <a:t>Whether four focused hours can substitute for months of self-taught experimentation — and whether new graduates can leave training already automating real workflows on their desks.</a:t>
            </a:r>
            <a:endParaRPr lang="en-US" sz="950" dirty="0"/>
          </a:p>
        </p:txBody>
      </p:sp>
      <p:sp>
        <p:nvSpPr>
          <p:cNvPr id="16" name="Shape 14"/>
          <p:cNvSpPr/>
          <p:nvPr/>
        </p:nvSpPr>
        <p:spPr>
          <a:xfrm>
            <a:off x="5943600" y="2331720"/>
            <a:ext cx="2423160" cy="1417320"/>
          </a:xfrm>
          <a:prstGeom prst="roundRect">
            <a:avLst>
              <a:gd name="adj" fmla="val 6452"/>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17" name="Shape 15"/>
          <p:cNvSpPr/>
          <p:nvPr/>
        </p:nvSpPr>
        <p:spPr>
          <a:xfrm>
            <a:off x="5943600" y="2331720"/>
            <a:ext cx="54864" cy="1417320"/>
          </a:xfrm>
          <a:prstGeom prst="rect">
            <a:avLst/>
          </a:prstGeom>
          <a:solidFill>
            <a:srgbClr val="1B2A4A"/>
          </a:solidFill>
          <a:ln/>
        </p:spPr>
        <p:txBody>
          <a:bodyPr/>
          <a:lstStyle/>
          <a:p>
            <a:endParaRPr lang="en-US"/>
          </a:p>
        </p:txBody>
      </p:sp>
      <p:sp>
        <p:nvSpPr>
          <p:cNvPr id="18" name="Text 16"/>
          <p:cNvSpPr/>
          <p:nvPr/>
        </p:nvSpPr>
        <p:spPr>
          <a:xfrm>
            <a:off x="6126480" y="2395728"/>
            <a:ext cx="2148840" cy="228600"/>
          </a:xfrm>
          <a:prstGeom prst="rect">
            <a:avLst/>
          </a:prstGeom>
          <a:noFill/>
          <a:ln/>
        </p:spPr>
        <p:txBody>
          <a:bodyPr wrap="square" lIns="0" tIns="0" rIns="0" bIns="0" rtlCol="0" anchor="ctr"/>
          <a:lstStyle/>
          <a:p>
            <a:pPr marL="0" indent="0">
              <a:buNone/>
            </a:pPr>
            <a:r>
              <a:rPr lang="en-US" sz="800" b="1" kern="0" spc="200" dirty="0">
                <a:solidFill>
                  <a:srgbClr val="A0824E"/>
                </a:solidFill>
                <a:latin typeface="Calibri" pitchFamily="34" charset="0"/>
                <a:ea typeface="Calibri" pitchFamily="34" charset="-122"/>
                <a:cs typeface="Calibri" pitchFamily="34" charset="-120"/>
              </a:rPr>
              <a:t>THE REAL GOAL</a:t>
            </a:r>
            <a:endParaRPr lang="en-US" sz="800" dirty="0"/>
          </a:p>
        </p:txBody>
      </p:sp>
      <p:sp>
        <p:nvSpPr>
          <p:cNvPr id="19" name="Text 17"/>
          <p:cNvSpPr/>
          <p:nvPr/>
        </p:nvSpPr>
        <p:spPr>
          <a:xfrm>
            <a:off x="6126480" y="2606040"/>
            <a:ext cx="2148840" cy="292608"/>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Muscle, not literacy.</a:t>
            </a:r>
            <a:endParaRPr lang="en-US" sz="1400" dirty="0"/>
          </a:p>
        </p:txBody>
      </p:sp>
      <p:sp>
        <p:nvSpPr>
          <p:cNvPr id="20" name="Text 18"/>
          <p:cNvSpPr/>
          <p:nvPr/>
        </p:nvSpPr>
        <p:spPr>
          <a:xfrm>
            <a:off x="6126480" y="2926080"/>
            <a:ext cx="2148840" cy="777240"/>
          </a:xfrm>
          <a:prstGeom prst="rect">
            <a:avLst/>
          </a:prstGeom>
          <a:noFill/>
          <a:ln/>
        </p:spPr>
        <p:txBody>
          <a:bodyPr wrap="square" lIns="0" tIns="0" rIns="0" bIns="0" rtlCol="0" anchor="ctr"/>
          <a:lstStyle/>
          <a:p>
            <a:pPr marL="0" indent="0">
              <a:lnSpc>
                <a:spcPct val="135000"/>
              </a:lnSpc>
              <a:buNone/>
            </a:pPr>
            <a:r>
              <a:rPr lang="en-US" sz="950" dirty="0">
                <a:solidFill>
                  <a:srgbClr val="6B6B6B"/>
                </a:solidFill>
                <a:latin typeface="Calibri" pitchFamily="34" charset="0"/>
                <a:ea typeface="Calibri" pitchFamily="34" charset="-122"/>
                <a:cs typeface="Calibri" pitchFamily="34" charset="-120"/>
              </a:rPr>
              <a:t>Tool fluency is table stakes. We are building the deeper instincts — agency, taste, judgment — that determine whether someone uses AI to merely keep up, or to leap ahead.</a:t>
            </a:r>
            <a:endParaRPr lang="en-US" sz="950" dirty="0"/>
          </a:p>
        </p:txBody>
      </p:sp>
      <p:sp>
        <p:nvSpPr>
          <p:cNvPr id="21" name="Text 19"/>
          <p:cNvSpPr/>
          <p:nvPr/>
        </p:nvSpPr>
        <p:spPr>
          <a:xfrm>
            <a:off x="731520" y="3950208"/>
            <a:ext cx="7680960" cy="228600"/>
          </a:xfrm>
          <a:prstGeom prst="rect">
            <a:avLst/>
          </a:prstGeom>
          <a:noFill/>
          <a:ln/>
        </p:spPr>
        <p:txBody>
          <a:bodyPr wrap="square" lIns="0" tIns="0" rIns="0" bIns="0" rtlCol="0" anchor="ctr"/>
          <a:lstStyle/>
          <a:p>
            <a:pPr marL="0" indent="0" algn="ctr">
              <a:buNone/>
            </a:pPr>
            <a:r>
              <a:rPr lang="en-US" sz="900" b="1" kern="0" spc="300" dirty="0">
                <a:solidFill>
                  <a:srgbClr val="999999"/>
                </a:solidFill>
                <a:latin typeface="Calibri" pitchFamily="34" charset="0"/>
                <a:ea typeface="Calibri" pitchFamily="34" charset="-122"/>
                <a:cs typeface="Calibri" pitchFamily="34" charset="-120"/>
              </a:rPr>
              <a:t>THE FOUR SKILLS OF THE FUTURE</a:t>
            </a:r>
            <a:endParaRPr lang="en-US" sz="900" dirty="0"/>
          </a:p>
        </p:txBody>
      </p:sp>
      <p:sp>
        <p:nvSpPr>
          <p:cNvPr id="22" name="Shape 20"/>
          <p:cNvSpPr/>
          <p:nvPr/>
        </p:nvSpPr>
        <p:spPr>
          <a:xfrm>
            <a:off x="731520" y="4224528"/>
            <a:ext cx="1783080" cy="36576"/>
          </a:xfrm>
          <a:prstGeom prst="rect">
            <a:avLst/>
          </a:prstGeom>
          <a:solidFill>
            <a:srgbClr val="A0824E"/>
          </a:solidFill>
          <a:ln/>
        </p:spPr>
        <p:txBody>
          <a:bodyPr/>
          <a:lstStyle/>
          <a:p>
            <a:endParaRPr lang="en-US"/>
          </a:p>
        </p:txBody>
      </p:sp>
      <p:sp>
        <p:nvSpPr>
          <p:cNvPr id="23" name="Text 21"/>
          <p:cNvSpPr/>
          <p:nvPr/>
        </p:nvSpPr>
        <p:spPr>
          <a:xfrm>
            <a:off x="731520" y="4297680"/>
            <a:ext cx="1783080" cy="292608"/>
          </a:xfrm>
          <a:prstGeom prst="rect">
            <a:avLst/>
          </a:prstGeom>
          <a:noFill/>
          <a:ln/>
        </p:spPr>
        <p:txBody>
          <a:bodyPr wrap="square" lIns="0" tIns="0" rIns="0" bIns="0" rtlCol="0" anchor="ctr"/>
          <a:lstStyle/>
          <a:p>
            <a:pPr marL="0" indent="0" algn="ctr">
              <a:buNone/>
            </a:pPr>
            <a:r>
              <a:rPr lang="en-US" sz="1600" i="1" dirty="0">
                <a:solidFill>
                  <a:srgbClr val="1B2A4A"/>
                </a:solidFill>
                <a:latin typeface="Georgia" pitchFamily="34" charset="0"/>
                <a:ea typeface="Georgia" pitchFamily="34" charset="-122"/>
                <a:cs typeface="Georgia" pitchFamily="34" charset="-120"/>
              </a:rPr>
              <a:t>Agency</a:t>
            </a:r>
            <a:endParaRPr lang="en-US" sz="1600" dirty="0"/>
          </a:p>
        </p:txBody>
      </p:sp>
      <p:sp>
        <p:nvSpPr>
          <p:cNvPr id="24" name="Text 22"/>
          <p:cNvSpPr/>
          <p:nvPr/>
        </p:nvSpPr>
        <p:spPr>
          <a:xfrm>
            <a:off x="777240" y="4617720"/>
            <a:ext cx="1691640" cy="457200"/>
          </a:xfrm>
          <a:prstGeom prst="rect">
            <a:avLst/>
          </a:prstGeom>
          <a:noFill/>
          <a:ln/>
        </p:spPr>
        <p:txBody>
          <a:bodyPr wrap="square" lIns="0" tIns="0" rIns="0" bIns="0" rtlCol="0" anchor="ctr"/>
          <a:lstStyle/>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Bias toward action.</a:t>
            </a:r>
            <a:endParaRPr lang="en-US" sz="900" dirty="0"/>
          </a:p>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Initiate, decide, own outcomes.</a:t>
            </a:r>
            <a:endParaRPr lang="en-US" sz="900" dirty="0"/>
          </a:p>
        </p:txBody>
      </p:sp>
      <p:sp>
        <p:nvSpPr>
          <p:cNvPr id="25" name="Shape 23"/>
          <p:cNvSpPr/>
          <p:nvPr/>
        </p:nvSpPr>
        <p:spPr>
          <a:xfrm>
            <a:off x="2651760" y="4224528"/>
            <a:ext cx="1783080" cy="36576"/>
          </a:xfrm>
          <a:prstGeom prst="rect">
            <a:avLst/>
          </a:prstGeom>
          <a:solidFill>
            <a:srgbClr val="A0824E"/>
          </a:solidFill>
          <a:ln/>
        </p:spPr>
        <p:txBody>
          <a:bodyPr/>
          <a:lstStyle/>
          <a:p>
            <a:endParaRPr lang="en-US"/>
          </a:p>
        </p:txBody>
      </p:sp>
      <p:sp>
        <p:nvSpPr>
          <p:cNvPr id="26" name="Text 24"/>
          <p:cNvSpPr/>
          <p:nvPr/>
        </p:nvSpPr>
        <p:spPr>
          <a:xfrm>
            <a:off x="2651760" y="4297680"/>
            <a:ext cx="1783080" cy="292608"/>
          </a:xfrm>
          <a:prstGeom prst="rect">
            <a:avLst/>
          </a:prstGeom>
          <a:noFill/>
          <a:ln/>
        </p:spPr>
        <p:txBody>
          <a:bodyPr wrap="square" lIns="0" tIns="0" rIns="0" bIns="0" rtlCol="0" anchor="ctr"/>
          <a:lstStyle/>
          <a:p>
            <a:pPr marL="0" indent="0" algn="ctr">
              <a:buNone/>
            </a:pPr>
            <a:r>
              <a:rPr lang="en-US" sz="1600" i="1" dirty="0">
                <a:solidFill>
                  <a:srgbClr val="1B2A4A"/>
                </a:solidFill>
                <a:latin typeface="Georgia" pitchFamily="34" charset="0"/>
                <a:ea typeface="Georgia" pitchFamily="34" charset="-122"/>
                <a:cs typeface="Georgia" pitchFamily="34" charset="-120"/>
              </a:rPr>
              <a:t>Curiosity</a:t>
            </a:r>
            <a:endParaRPr lang="en-US" sz="1600" dirty="0"/>
          </a:p>
        </p:txBody>
      </p:sp>
      <p:sp>
        <p:nvSpPr>
          <p:cNvPr id="27" name="Text 25"/>
          <p:cNvSpPr/>
          <p:nvPr/>
        </p:nvSpPr>
        <p:spPr>
          <a:xfrm>
            <a:off x="2697480" y="4617720"/>
            <a:ext cx="1691640" cy="457200"/>
          </a:xfrm>
          <a:prstGeom prst="rect">
            <a:avLst/>
          </a:prstGeom>
          <a:noFill/>
          <a:ln/>
        </p:spPr>
        <p:txBody>
          <a:bodyPr wrap="square" lIns="0" tIns="0" rIns="0" bIns="0" rtlCol="0" anchor="ctr"/>
          <a:lstStyle/>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Ask the better question.</a:t>
            </a:r>
            <a:endParaRPr lang="en-US" sz="900" dirty="0"/>
          </a:p>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Probe, follow threads, dig.</a:t>
            </a:r>
            <a:endParaRPr lang="en-US" sz="900" dirty="0"/>
          </a:p>
        </p:txBody>
      </p:sp>
      <p:sp>
        <p:nvSpPr>
          <p:cNvPr id="28" name="Shape 26"/>
          <p:cNvSpPr/>
          <p:nvPr/>
        </p:nvSpPr>
        <p:spPr>
          <a:xfrm>
            <a:off x="4572000" y="4224528"/>
            <a:ext cx="1783080" cy="36576"/>
          </a:xfrm>
          <a:prstGeom prst="rect">
            <a:avLst/>
          </a:prstGeom>
          <a:solidFill>
            <a:srgbClr val="A0824E"/>
          </a:solidFill>
          <a:ln/>
        </p:spPr>
        <p:txBody>
          <a:bodyPr/>
          <a:lstStyle/>
          <a:p>
            <a:endParaRPr lang="en-US"/>
          </a:p>
        </p:txBody>
      </p:sp>
      <p:sp>
        <p:nvSpPr>
          <p:cNvPr id="29" name="Text 27"/>
          <p:cNvSpPr/>
          <p:nvPr/>
        </p:nvSpPr>
        <p:spPr>
          <a:xfrm>
            <a:off x="4572000" y="4297680"/>
            <a:ext cx="1783080" cy="292608"/>
          </a:xfrm>
          <a:prstGeom prst="rect">
            <a:avLst/>
          </a:prstGeom>
          <a:noFill/>
          <a:ln/>
        </p:spPr>
        <p:txBody>
          <a:bodyPr wrap="square" lIns="0" tIns="0" rIns="0" bIns="0" rtlCol="0" anchor="ctr"/>
          <a:lstStyle/>
          <a:p>
            <a:pPr marL="0" indent="0" algn="ctr">
              <a:buNone/>
            </a:pPr>
            <a:r>
              <a:rPr lang="en-US" sz="1600" i="1" dirty="0">
                <a:solidFill>
                  <a:srgbClr val="1B2A4A"/>
                </a:solidFill>
                <a:latin typeface="Georgia" pitchFamily="34" charset="0"/>
                <a:ea typeface="Georgia" pitchFamily="34" charset="-122"/>
                <a:cs typeface="Georgia" pitchFamily="34" charset="-120"/>
              </a:rPr>
              <a:t>Judgment</a:t>
            </a:r>
            <a:endParaRPr lang="en-US" sz="1600" dirty="0"/>
          </a:p>
        </p:txBody>
      </p:sp>
      <p:sp>
        <p:nvSpPr>
          <p:cNvPr id="30" name="Text 28"/>
          <p:cNvSpPr/>
          <p:nvPr/>
        </p:nvSpPr>
        <p:spPr>
          <a:xfrm>
            <a:off x="4617720" y="4617720"/>
            <a:ext cx="1691640" cy="457200"/>
          </a:xfrm>
          <a:prstGeom prst="rect">
            <a:avLst/>
          </a:prstGeom>
          <a:noFill/>
          <a:ln/>
        </p:spPr>
        <p:txBody>
          <a:bodyPr wrap="square" lIns="0" tIns="0" rIns="0" bIns="0" rtlCol="0" anchor="ctr"/>
          <a:lstStyle/>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Know what good looks like.</a:t>
            </a:r>
            <a:endParaRPr lang="en-US" sz="900" dirty="0"/>
          </a:p>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Separate signal from noise.</a:t>
            </a:r>
            <a:endParaRPr lang="en-US" sz="900" dirty="0"/>
          </a:p>
        </p:txBody>
      </p:sp>
      <p:sp>
        <p:nvSpPr>
          <p:cNvPr id="31" name="Shape 29"/>
          <p:cNvSpPr/>
          <p:nvPr/>
        </p:nvSpPr>
        <p:spPr>
          <a:xfrm>
            <a:off x="6492240" y="4224528"/>
            <a:ext cx="1783080" cy="36576"/>
          </a:xfrm>
          <a:prstGeom prst="rect">
            <a:avLst/>
          </a:prstGeom>
          <a:solidFill>
            <a:srgbClr val="A0824E"/>
          </a:solidFill>
          <a:ln/>
        </p:spPr>
        <p:txBody>
          <a:bodyPr/>
          <a:lstStyle/>
          <a:p>
            <a:endParaRPr lang="en-US"/>
          </a:p>
        </p:txBody>
      </p:sp>
      <p:sp>
        <p:nvSpPr>
          <p:cNvPr id="32" name="Text 30"/>
          <p:cNvSpPr/>
          <p:nvPr/>
        </p:nvSpPr>
        <p:spPr>
          <a:xfrm>
            <a:off x="6492240" y="4297680"/>
            <a:ext cx="1783080" cy="292608"/>
          </a:xfrm>
          <a:prstGeom prst="rect">
            <a:avLst/>
          </a:prstGeom>
          <a:noFill/>
          <a:ln/>
        </p:spPr>
        <p:txBody>
          <a:bodyPr wrap="square" lIns="0" tIns="0" rIns="0" bIns="0" rtlCol="0" anchor="ctr"/>
          <a:lstStyle/>
          <a:p>
            <a:pPr marL="0" indent="0" algn="ctr">
              <a:buNone/>
            </a:pPr>
            <a:r>
              <a:rPr lang="en-US" sz="1600" i="1" dirty="0">
                <a:solidFill>
                  <a:srgbClr val="1B2A4A"/>
                </a:solidFill>
                <a:latin typeface="Georgia" pitchFamily="34" charset="0"/>
                <a:ea typeface="Georgia" pitchFamily="34" charset="-122"/>
                <a:cs typeface="Georgia" pitchFamily="34" charset="-120"/>
              </a:rPr>
              <a:t>Taste</a:t>
            </a:r>
            <a:endParaRPr lang="en-US" sz="1600" dirty="0"/>
          </a:p>
        </p:txBody>
      </p:sp>
      <p:sp>
        <p:nvSpPr>
          <p:cNvPr id="33" name="Text 31"/>
          <p:cNvSpPr/>
          <p:nvPr/>
        </p:nvSpPr>
        <p:spPr>
          <a:xfrm>
            <a:off x="6537960" y="4617720"/>
            <a:ext cx="1691640" cy="457200"/>
          </a:xfrm>
          <a:prstGeom prst="rect">
            <a:avLst/>
          </a:prstGeom>
          <a:noFill/>
          <a:ln/>
        </p:spPr>
        <p:txBody>
          <a:bodyPr wrap="square" lIns="0" tIns="0" rIns="0" bIns="0" rtlCol="0" anchor="ctr"/>
          <a:lstStyle/>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Refine the output.</a:t>
            </a:r>
            <a:endParaRPr lang="en-US" sz="900" dirty="0"/>
          </a:p>
          <a:p>
            <a:pPr marL="0" indent="0" algn="ctr">
              <a:lnSpc>
                <a:spcPct val="130000"/>
              </a:lnSpc>
              <a:buNone/>
            </a:pPr>
            <a:r>
              <a:rPr lang="en-US" sz="900" dirty="0">
                <a:solidFill>
                  <a:srgbClr val="6B6B6B"/>
                </a:solidFill>
                <a:latin typeface="Calibri" pitchFamily="34" charset="0"/>
                <a:ea typeface="Calibri" pitchFamily="34" charset="-122"/>
                <a:cs typeface="Calibri" pitchFamily="34" charset="-120"/>
              </a:rPr>
              <a:t>Elevate craft beyond correctness.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731520" y="292608"/>
            <a:ext cx="7680960" cy="228600"/>
          </a:xfrm>
          <a:prstGeom prst="rect">
            <a:avLst/>
          </a:prstGeom>
          <a:noFill/>
          <a:ln/>
        </p:spPr>
        <p:txBody>
          <a:bodyPr wrap="square" lIns="0" tIns="0" rIns="0" bIns="0" rtlCol="0" anchor="ctr"/>
          <a:lstStyle/>
          <a:p>
            <a:pPr marL="0" indent="0">
              <a:buNone/>
            </a:pPr>
            <a:r>
              <a:rPr lang="en-US" sz="900" b="1" kern="0" spc="300" dirty="0">
                <a:solidFill>
                  <a:srgbClr val="A0824E"/>
                </a:solidFill>
                <a:latin typeface="Calibri" pitchFamily="34" charset="0"/>
                <a:ea typeface="Calibri" pitchFamily="34" charset="-122"/>
                <a:cs typeface="Calibri" pitchFamily="34" charset="-120"/>
              </a:rPr>
              <a:t>PAGE 02  ·  THE ANALYST OF THE FUTURE</a:t>
            </a:r>
            <a:endParaRPr lang="en-US" sz="900" dirty="0"/>
          </a:p>
        </p:txBody>
      </p:sp>
      <p:sp>
        <p:nvSpPr>
          <p:cNvPr id="3" name="Text 1"/>
          <p:cNvSpPr/>
          <p:nvPr/>
        </p:nvSpPr>
        <p:spPr>
          <a:xfrm>
            <a:off x="731520" y="548640"/>
            <a:ext cx="7680960" cy="640080"/>
          </a:xfrm>
          <a:prstGeom prst="rect">
            <a:avLst/>
          </a:prstGeom>
          <a:noFill/>
          <a:ln/>
        </p:spPr>
        <p:txBody>
          <a:bodyPr wrap="square" lIns="0" tIns="0" rIns="0" bIns="0" rtlCol="0" anchor="ctr"/>
          <a:lstStyle/>
          <a:p>
            <a:pPr marL="0" indent="0">
              <a:buNone/>
            </a:pPr>
            <a:r>
              <a:rPr lang="en-US" sz="3000" i="1" dirty="0">
                <a:solidFill>
                  <a:srgbClr val="2D2D2D"/>
                </a:solidFill>
                <a:latin typeface="Georgia" pitchFamily="34" charset="0"/>
                <a:ea typeface="Georgia" pitchFamily="34" charset="-122"/>
                <a:cs typeface="Georgia" pitchFamily="34" charset="-120"/>
              </a:rPr>
              <a:t>What An Analyst Becomes.</a:t>
            </a:r>
            <a:endParaRPr lang="en-US" sz="3000" dirty="0"/>
          </a:p>
        </p:txBody>
      </p:sp>
      <p:sp>
        <p:nvSpPr>
          <p:cNvPr id="4" name="Shape 2"/>
          <p:cNvSpPr/>
          <p:nvPr/>
        </p:nvSpPr>
        <p:spPr>
          <a:xfrm>
            <a:off x="731520" y="1207008"/>
            <a:ext cx="7680960" cy="0"/>
          </a:xfrm>
          <a:prstGeom prst="line">
            <a:avLst/>
          </a:prstGeom>
          <a:noFill/>
          <a:ln w="6350">
            <a:solidFill>
              <a:srgbClr val="999999"/>
            </a:solidFill>
            <a:prstDash val="solid"/>
          </a:ln>
        </p:spPr>
        <p:txBody>
          <a:bodyPr/>
          <a:lstStyle/>
          <a:p>
            <a:endParaRPr lang="en-US"/>
          </a:p>
        </p:txBody>
      </p:sp>
      <p:sp>
        <p:nvSpPr>
          <p:cNvPr id="5" name="Text 3"/>
          <p:cNvSpPr/>
          <p:nvPr/>
        </p:nvSpPr>
        <p:spPr>
          <a:xfrm>
            <a:off x="731520" y="1371600"/>
            <a:ext cx="7680960" cy="685800"/>
          </a:xfrm>
          <a:prstGeom prst="rect">
            <a:avLst/>
          </a:prstGeom>
          <a:noFill/>
          <a:ln/>
        </p:spPr>
        <p:txBody>
          <a:bodyPr wrap="square" lIns="0" tIns="0" rIns="0" bIns="0" rtlCol="0" anchor="ctr"/>
          <a:lstStyle/>
          <a:p>
            <a:pPr marL="0" indent="0">
              <a:lnSpc>
                <a:spcPct val="130000"/>
              </a:lnSpc>
              <a:buNone/>
            </a:pPr>
            <a:r>
              <a:rPr lang="en-US" sz="1600" i="1" dirty="0">
                <a:solidFill>
                  <a:srgbClr val="1B2A4A"/>
                </a:solidFill>
                <a:latin typeface="Georgia" pitchFamily="34" charset="0"/>
                <a:ea typeface="Georgia" pitchFamily="34" charset="-122"/>
                <a:cs typeface="Georgia" pitchFamily="34" charset="-120"/>
              </a:rPr>
              <a:t>They don't do more of the same work — they do work</a:t>
            </a:r>
            <a:endParaRPr lang="en-US" sz="1600" dirty="0"/>
          </a:p>
          <a:p>
            <a:pPr marL="0" indent="0">
              <a:lnSpc>
                <a:spcPct val="130000"/>
              </a:lnSpc>
              <a:buNone/>
            </a:pPr>
            <a:r>
              <a:rPr lang="en-US" sz="1600" i="1" dirty="0">
                <a:solidFill>
                  <a:srgbClr val="1B2A4A"/>
                </a:solidFill>
                <a:latin typeface="Georgia" pitchFamily="34" charset="0"/>
                <a:ea typeface="Georgia" pitchFamily="34" charset="-122"/>
                <a:cs typeface="Georgia" pitchFamily="34" charset="-120"/>
              </a:rPr>
              <a:t>that wasn't possible before. Faster, sharper, more inventive.</a:t>
            </a:r>
            <a:endParaRPr lang="en-US" sz="1600" dirty="0"/>
          </a:p>
        </p:txBody>
      </p:sp>
      <p:sp>
        <p:nvSpPr>
          <p:cNvPr id="6" name="Shape 4"/>
          <p:cNvSpPr/>
          <p:nvPr/>
        </p:nvSpPr>
        <p:spPr>
          <a:xfrm>
            <a:off x="731520" y="2194560"/>
            <a:ext cx="7680960" cy="594360"/>
          </a:xfrm>
          <a:prstGeom prst="roundRect">
            <a:avLst>
              <a:gd name="adj" fmla="val 15385"/>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7" name="Shape 5"/>
          <p:cNvSpPr/>
          <p:nvPr/>
        </p:nvSpPr>
        <p:spPr>
          <a:xfrm>
            <a:off x="731520" y="2194560"/>
            <a:ext cx="54864" cy="594360"/>
          </a:xfrm>
          <a:prstGeom prst="rect">
            <a:avLst/>
          </a:prstGeom>
          <a:solidFill>
            <a:srgbClr val="1B2A4A"/>
          </a:solidFill>
          <a:ln/>
        </p:spPr>
        <p:txBody>
          <a:bodyPr/>
          <a:lstStyle/>
          <a:p>
            <a:endParaRPr lang="en-US"/>
          </a:p>
        </p:txBody>
      </p:sp>
      <p:sp>
        <p:nvSpPr>
          <p:cNvPr id="8" name="Shape 6"/>
          <p:cNvSpPr/>
          <p:nvPr/>
        </p:nvSpPr>
        <p:spPr>
          <a:xfrm>
            <a:off x="868680" y="2286000"/>
            <a:ext cx="502920" cy="411480"/>
          </a:xfrm>
          <a:prstGeom prst="roundRect">
            <a:avLst>
              <a:gd name="adj" fmla="val 26667"/>
            </a:avLst>
          </a:prstGeom>
          <a:solidFill>
            <a:srgbClr val="1B2A4A"/>
          </a:solidFill>
          <a:ln/>
          <a:effectLst>
            <a:outerShdw blurRad="38100" dist="12700" dir="8100000" algn="bl" rotWithShape="0">
              <a:srgbClr val="000000">
                <a:alpha val="8000"/>
              </a:srgbClr>
            </a:outerShdw>
          </a:effectLst>
        </p:spPr>
        <p:txBody>
          <a:bodyPr/>
          <a:lstStyle/>
          <a:p>
            <a:endParaRPr lang="en-US"/>
          </a:p>
        </p:txBody>
      </p:sp>
      <p:sp>
        <p:nvSpPr>
          <p:cNvPr id="9" name="Text 7"/>
          <p:cNvSpPr/>
          <p:nvPr/>
        </p:nvSpPr>
        <p:spPr>
          <a:xfrm>
            <a:off x="868680" y="2286000"/>
            <a:ext cx="502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0" name="Text 8"/>
          <p:cNvSpPr/>
          <p:nvPr/>
        </p:nvSpPr>
        <p:spPr>
          <a:xfrm>
            <a:off x="1508760" y="2258568"/>
            <a:ext cx="4754880" cy="274320"/>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Automate their own workflows.</a:t>
            </a:r>
            <a:endParaRPr lang="en-US" sz="1400" dirty="0"/>
          </a:p>
        </p:txBody>
      </p:sp>
      <p:sp>
        <p:nvSpPr>
          <p:cNvPr id="11" name="Text 9"/>
          <p:cNvSpPr/>
          <p:nvPr/>
        </p:nvSpPr>
        <p:spPr>
          <a:xfrm>
            <a:off x="1508760" y="2505456"/>
            <a:ext cx="5486400" cy="274320"/>
          </a:xfrm>
          <a:prstGeom prst="rect">
            <a:avLst/>
          </a:prstGeom>
          <a:noFill/>
          <a:ln/>
        </p:spPr>
        <p:txBody>
          <a:bodyPr wrap="square" lIns="0" tIns="0" rIns="0" bIns="0" rtlCol="0" anchor="ctr"/>
          <a:lstStyle/>
          <a:p>
            <a:pPr marL="0" indent="0">
              <a:lnSpc>
                <a:spcPct val="125000"/>
              </a:lnSpc>
              <a:buNone/>
            </a:pPr>
            <a:r>
              <a:rPr lang="en-US" sz="950" dirty="0">
                <a:solidFill>
                  <a:srgbClr val="6B6B6B"/>
                </a:solidFill>
                <a:latin typeface="Calibri" pitchFamily="34" charset="0"/>
                <a:ea typeface="Calibri" pitchFamily="34" charset="-122"/>
                <a:cs typeface="Calibri" pitchFamily="34" charset="-120"/>
              </a:rPr>
              <a:t>Build agents and scripts that handle the repetitive layers — pitchbook drafts, data pulls, model updates, formatting — so time goes to the ten percent that demands judgment.</a:t>
            </a:r>
            <a:endParaRPr lang="en-US" sz="950" dirty="0"/>
          </a:p>
        </p:txBody>
      </p:sp>
      <p:sp>
        <p:nvSpPr>
          <p:cNvPr id="12" name="Text 10"/>
          <p:cNvSpPr/>
          <p:nvPr/>
        </p:nvSpPr>
        <p:spPr>
          <a:xfrm>
            <a:off x="7040880" y="2359152"/>
            <a:ext cx="1280160" cy="274320"/>
          </a:xfrm>
          <a:prstGeom prst="rect">
            <a:avLst/>
          </a:prstGeom>
          <a:noFill/>
          <a:ln/>
        </p:spPr>
        <p:txBody>
          <a:bodyPr wrap="square" lIns="0" tIns="0" rIns="0" bIns="0" rtlCol="0" anchor="ctr"/>
          <a:lstStyle/>
          <a:p>
            <a:pPr marL="0" indent="0" algn="r">
              <a:buNone/>
            </a:pPr>
            <a:r>
              <a:rPr lang="en-US" sz="900" b="1" kern="0" spc="300" dirty="0">
                <a:solidFill>
                  <a:srgbClr val="A0824E"/>
                </a:solidFill>
                <a:latin typeface="Calibri" pitchFamily="34" charset="0"/>
                <a:ea typeface="Calibri" pitchFamily="34" charset="-122"/>
                <a:cs typeface="Calibri" pitchFamily="34" charset="-120"/>
              </a:rPr>
              <a:t>TIME</a:t>
            </a:r>
            <a:endParaRPr lang="en-US" sz="900" dirty="0"/>
          </a:p>
        </p:txBody>
      </p:sp>
      <p:sp>
        <p:nvSpPr>
          <p:cNvPr id="13" name="Shape 11"/>
          <p:cNvSpPr/>
          <p:nvPr/>
        </p:nvSpPr>
        <p:spPr>
          <a:xfrm>
            <a:off x="731520" y="2862072"/>
            <a:ext cx="7680960" cy="594360"/>
          </a:xfrm>
          <a:prstGeom prst="roundRect">
            <a:avLst>
              <a:gd name="adj" fmla="val 15385"/>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14" name="Shape 12"/>
          <p:cNvSpPr/>
          <p:nvPr/>
        </p:nvSpPr>
        <p:spPr>
          <a:xfrm>
            <a:off x="731520" y="2862072"/>
            <a:ext cx="54864" cy="594360"/>
          </a:xfrm>
          <a:prstGeom prst="rect">
            <a:avLst/>
          </a:prstGeom>
          <a:solidFill>
            <a:srgbClr val="1B2A4A"/>
          </a:solidFill>
          <a:ln/>
        </p:spPr>
        <p:txBody>
          <a:bodyPr/>
          <a:lstStyle/>
          <a:p>
            <a:endParaRPr lang="en-US"/>
          </a:p>
        </p:txBody>
      </p:sp>
      <p:sp>
        <p:nvSpPr>
          <p:cNvPr id="15" name="Shape 13"/>
          <p:cNvSpPr/>
          <p:nvPr/>
        </p:nvSpPr>
        <p:spPr>
          <a:xfrm>
            <a:off x="868680" y="2953512"/>
            <a:ext cx="502920" cy="411480"/>
          </a:xfrm>
          <a:prstGeom prst="roundRect">
            <a:avLst>
              <a:gd name="adj" fmla="val 26667"/>
            </a:avLst>
          </a:prstGeom>
          <a:solidFill>
            <a:srgbClr val="1B2A4A"/>
          </a:solidFill>
          <a:ln/>
          <a:effectLst>
            <a:outerShdw blurRad="38100" dist="12700" dir="8100000" algn="bl" rotWithShape="0">
              <a:srgbClr val="000000">
                <a:alpha val="8000"/>
              </a:srgbClr>
            </a:outerShdw>
          </a:effectLst>
        </p:spPr>
        <p:txBody>
          <a:bodyPr/>
          <a:lstStyle/>
          <a:p>
            <a:endParaRPr lang="en-US"/>
          </a:p>
        </p:txBody>
      </p:sp>
      <p:sp>
        <p:nvSpPr>
          <p:cNvPr id="16" name="Text 14"/>
          <p:cNvSpPr/>
          <p:nvPr/>
        </p:nvSpPr>
        <p:spPr>
          <a:xfrm>
            <a:off x="868680" y="2953512"/>
            <a:ext cx="502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7" name="Text 15"/>
          <p:cNvSpPr/>
          <p:nvPr/>
        </p:nvSpPr>
        <p:spPr>
          <a:xfrm>
            <a:off x="1508760" y="2926080"/>
            <a:ext cx="4754880" cy="274320"/>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Use AI to find new ideas.</a:t>
            </a:r>
            <a:endParaRPr lang="en-US" sz="1400" dirty="0"/>
          </a:p>
        </p:txBody>
      </p:sp>
      <p:sp>
        <p:nvSpPr>
          <p:cNvPr id="18" name="Text 16"/>
          <p:cNvSpPr/>
          <p:nvPr/>
        </p:nvSpPr>
        <p:spPr>
          <a:xfrm>
            <a:off x="1508760" y="3172968"/>
            <a:ext cx="5486400" cy="274320"/>
          </a:xfrm>
          <a:prstGeom prst="rect">
            <a:avLst/>
          </a:prstGeom>
          <a:noFill/>
          <a:ln/>
        </p:spPr>
        <p:txBody>
          <a:bodyPr wrap="square" lIns="0" tIns="0" rIns="0" bIns="0" rtlCol="0" anchor="ctr"/>
          <a:lstStyle/>
          <a:p>
            <a:pPr marL="0" indent="0">
              <a:lnSpc>
                <a:spcPct val="125000"/>
              </a:lnSpc>
              <a:buNone/>
            </a:pPr>
            <a:r>
              <a:rPr lang="en-US" sz="950" dirty="0">
                <a:solidFill>
                  <a:srgbClr val="6B6B6B"/>
                </a:solidFill>
                <a:latin typeface="Calibri" pitchFamily="34" charset="0"/>
                <a:ea typeface="Calibri" pitchFamily="34" charset="-122"/>
                <a:cs typeface="Calibri" pitchFamily="34" charset="-120"/>
              </a:rPr>
              <a:t>AI as a creative partner — brainstorm angles, stress-test theses, prototype quickly — turning loose intuitions into something testable before the morning meeting.</a:t>
            </a:r>
            <a:endParaRPr lang="en-US" sz="950" dirty="0"/>
          </a:p>
        </p:txBody>
      </p:sp>
      <p:sp>
        <p:nvSpPr>
          <p:cNvPr id="19" name="Text 17"/>
          <p:cNvSpPr/>
          <p:nvPr/>
        </p:nvSpPr>
        <p:spPr>
          <a:xfrm>
            <a:off x="7040880" y="3026664"/>
            <a:ext cx="1280160" cy="274320"/>
          </a:xfrm>
          <a:prstGeom prst="rect">
            <a:avLst/>
          </a:prstGeom>
          <a:noFill/>
          <a:ln/>
        </p:spPr>
        <p:txBody>
          <a:bodyPr wrap="square" lIns="0" tIns="0" rIns="0" bIns="0" rtlCol="0" anchor="ctr"/>
          <a:lstStyle/>
          <a:p>
            <a:pPr marL="0" indent="0" algn="r">
              <a:buNone/>
            </a:pPr>
            <a:r>
              <a:rPr lang="en-US" sz="900" b="1" kern="0" spc="300" dirty="0">
                <a:solidFill>
                  <a:srgbClr val="A0824E"/>
                </a:solidFill>
                <a:latin typeface="Calibri" pitchFamily="34" charset="0"/>
                <a:ea typeface="Calibri" pitchFamily="34" charset="-122"/>
                <a:cs typeface="Calibri" pitchFamily="34" charset="-120"/>
              </a:rPr>
              <a:t>CREATIVITY</a:t>
            </a:r>
            <a:endParaRPr lang="en-US" sz="900" dirty="0"/>
          </a:p>
        </p:txBody>
      </p:sp>
      <p:sp>
        <p:nvSpPr>
          <p:cNvPr id="20" name="Shape 18"/>
          <p:cNvSpPr/>
          <p:nvPr/>
        </p:nvSpPr>
        <p:spPr>
          <a:xfrm>
            <a:off x="731520" y="3529584"/>
            <a:ext cx="7680960" cy="594360"/>
          </a:xfrm>
          <a:prstGeom prst="roundRect">
            <a:avLst>
              <a:gd name="adj" fmla="val 15385"/>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21" name="Shape 19"/>
          <p:cNvSpPr/>
          <p:nvPr/>
        </p:nvSpPr>
        <p:spPr>
          <a:xfrm>
            <a:off x="731520" y="3529584"/>
            <a:ext cx="54864" cy="594360"/>
          </a:xfrm>
          <a:prstGeom prst="rect">
            <a:avLst/>
          </a:prstGeom>
          <a:solidFill>
            <a:srgbClr val="1B2A4A"/>
          </a:solidFill>
          <a:ln/>
        </p:spPr>
        <p:txBody>
          <a:bodyPr/>
          <a:lstStyle/>
          <a:p>
            <a:endParaRPr lang="en-US"/>
          </a:p>
        </p:txBody>
      </p:sp>
      <p:sp>
        <p:nvSpPr>
          <p:cNvPr id="22" name="Shape 20"/>
          <p:cNvSpPr/>
          <p:nvPr/>
        </p:nvSpPr>
        <p:spPr>
          <a:xfrm>
            <a:off x="868680" y="3621024"/>
            <a:ext cx="502920" cy="411480"/>
          </a:xfrm>
          <a:prstGeom prst="roundRect">
            <a:avLst>
              <a:gd name="adj" fmla="val 26667"/>
            </a:avLst>
          </a:prstGeom>
          <a:solidFill>
            <a:srgbClr val="1B2A4A"/>
          </a:solidFill>
          <a:ln/>
          <a:effectLst>
            <a:outerShdw blurRad="38100" dist="12700" dir="8100000" algn="bl" rotWithShape="0">
              <a:srgbClr val="000000">
                <a:alpha val="8000"/>
              </a:srgbClr>
            </a:outerShdw>
          </a:effectLst>
        </p:spPr>
        <p:txBody>
          <a:bodyPr/>
          <a:lstStyle/>
          <a:p>
            <a:endParaRPr lang="en-US"/>
          </a:p>
        </p:txBody>
      </p:sp>
      <p:sp>
        <p:nvSpPr>
          <p:cNvPr id="23" name="Text 21"/>
          <p:cNvSpPr/>
          <p:nvPr/>
        </p:nvSpPr>
        <p:spPr>
          <a:xfrm>
            <a:off x="868680" y="3621024"/>
            <a:ext cx="502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4" name="Text 22"/>
          <p:cNvSpPr/>
          <p:nvPr/>
        </p:nvSpPr>
        <p:spPr>
          <a:xfrm>
            <a:off x="1508760" y="3593592"/>
            <a:ext cx="4754880" cy="274320"/>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Do dramatically more.</a:t>
            </a:r>
            <a:endParaRPr lang="en-US" sz="1400" dirty="0"/>
          </a:p>
        </p:txBody>
      </p:sp>
      <p:sp>
        <p:nvSpPr>
          <p:cNvPr id="25" name="Text 23"/>
          <p:cNvSpPr/>
          <p:nvPr/>
        </p:nvSpPr>
        <p:spPr>
          <a:xfrm>
            <a:off x="1508760" y="3840480"/>
            <a:ext cx="5486400" cy="274320"/>
          </a:xfrm>
          <a:prstGeom prst="rect">
            <a:avLst/>
          </a:prstGeom>
          <a:noFill/>
          <a:ln/>
        </p:spPr>
        <p:txBody>
          <a:bodyPr wrap="square" lIns="0" tIns="0" rIns="0" bIns="0" rtlCol="0" anchor="ctr"/>
          <a:lstStyle/>
          <a:p>
            <a:pPr marL="0" indent="0">
              <a:lnSpc>
                <a:spcPct val="125000"/>
              </a:lnSpc>
              <a:buNone/>
            </a:pPr>
            <a:r>
              <a:rPr lang="en-US" sz="950" dirty="0">
                <a:solidFill>
                  <a:srgbClr val="6B6B6B"/>
                </a:solidFill>
                <a:latin typeface="Calibri" pitchFamily="34" charset="0"/>
                <a:ea typeface="Calibri" pitchFamily="34" charset="-122"/>
                <a:cs typeface="Calibri" pitchFamily="34" charset="-120"/>
              </a:rPr>
              <a:t>Operate at the level of someone with years of additional experience. Take on the ambitious work that was previously off-limits to a first-year — and deliver it.</a:t>
            </a:r>
            <a:endParaRPr lang="en-US" sz="950" dirty="0"/>
          </a:p>
        </p:txBody>
      </p:sp>
      <p:sp>
        <p:nvSpPr>
          <p:cNvPr id="26" name="Text 24"/>
          <p:cNvSpPr/>
          <p:nvPr/>
        </p:nvSpPr>
        <p:spPr>
          <a:xfrm>
            <a:off x="7040880" y="3694176"/>
            <a:ext cx="1280160" cy="274320"/>
          </a:xfrm>
          <a:prstGeom prst="rect">
            <a:avLst/>
          </a:prstGeom>
          <a:noFill/>
          <a:ln/>
        </p:spPr>
        <p:txBody>
          <a:bodyPr wrap="square" lIns="0" tIns="0" rIns="0" bIns="0" rtlCol="0" anchor="ctr"/>
          <a:lstStyle/>
          <a:p>
            <a:pPr marL="0" indent="0" algn="r">
              <a:buNone/>
            </a:pPr>
            <a:r>
              <a:rPr lang="en-US" sz="900" b="1" kern="0" spc="300" dirty="0">
                <a:solidFill>
                  <a:srgbClr val="A0824E"/>
                </a:solidFill>
                <a:latin typeface="Calibri" pitchFamily="34" charset="0"/>
                <a:ea typeface="Calibri" pitchFamily="34" charset="-122"/>
                <a:cs typeface="Calibri" pitchFamily="34" charset="-120"/>
              </a:rPr>
              <a:t>RANGE</a:t>
            </a:r>
            <a:endParaRPr lang="en-US" sz="900" dirty="0"/>
          </a:p>
        </p:txBody>
      </p:sp>
      <p:sp>
        <p:nvSpPr>
          <p:cNvPr id="27" name="Shape 25"/>
          <p:cNvSpPr/>
          <p:nvPr/>
        </p:nvSpPr>
        <p:spPr>
          <a:xfrm>
            <a:off x="731520" y="4197096"/>
            <a:ext cx="7680960" cy="594360"/>
          </a:xfrm>
          <a:prstGeom prst="roundRect">
            <a:avLst>
              <a:gd name="adj" fmla="val 15385"/>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28" name="Shape 26"/>
          <p:cNvSpPr/>
          <p:nvPr/>
        </p:nvSpPr>
        <p:spPr>
          <a:xfrm>
            <a:off x="731520" y="4197096"/>
            <a:ext cx="54864" cy="594360"/>
          </a:xfrm>
          <a:prstGeom prst="rect">
            <a:avLst/>
          </a:prstGeom>
          <a:solidFill>
            <a:srgbClr val="1B2A4A"/>
          </a:solidFill>
          <a:ln/>
        </p:spPr>
        <p:txBody>
          <a:bodyPr/>
          <a:lstStyle/>
          <a:p>
            <a:endParaRPr lang="en-US"/>
          </a:p>
        </p:txBody>
      </p:sp>
      <p:sp>
        <p:nvSpPr>
          <p:cNvPr id="29" name="Shape 27"/>
          <p:cNvSpPr/>
          <p:nvPr/>
        </p:nvSpPr>
        <p:spPr>
          <a:xfrm>
            <a:off x="868680" y="4288536"/>
            <a:ext cx="502920" cy="411480"/>
          </a:xfrm>
          <a:prstGeom prst="roundRect">
            <a:avLst>
              <a:gd name="adj" fmla="val 26667"/>
            </a:avLst>
          </a:prstGeom>
          <a:solidFill>
            <a:srgbClr val="1B2A4A"/>
          </a:solidFill>
          <a:ln/>
          <a:effectLst>
            <a:outerShdw blurRad="38100" dist="12700" dir="8100000" algn="bl" rotWithShape="0">
              <a:srgbClr val="000000">
                <a:alpha val="8000"/>
              </a:srgbClr>
            </a:outerShdw>
          </a:effectLst>
        </p:spPr>
        <p:txBody>
          <a:bodyPr/>
          <a:lstStyle/>
          <a:p>
            <a:endParaRPr lang="en-US"/>
          </a:p>
        </p:txBody>
      </p:sp>
      <p:sp>
        <p:nvSpPr>
          <p:cNvPr id="30" name="Text 28"/>
          <p:cNvSpPr/>
          <p:nvPr/>
        </p:nvSpPr>
        <p:spPr>
          <a:xfrm>
            <a:off x="868680" y="4288536"/>
            <a:ext cx="502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1" name="Text 29"/>
          <p:cNvSpPr/>
          <p:nvPr/>
        </p:nvSpPr>
        <p:spPr>
          <a:xfrm>
            <a:off x="1508760" y="4261104"/>
            <a:ext cx="4754880" cy="274320"/>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Learn at compound speed.</a:t>
            </a:r>
            <a:endParaRPr lang="en-US" sz="1400" dirty="0"/>
          </a:p>
        </p:txBody>
      </p:sp>
      <p:sp>
        <p:nvSpPr>
          <p:cNvPr id="32" name="Text 30"/>
          <p:cNvSpPr/>
          <p:nvPr/>
        </p:nvSpPr>
        <p:spPr>
          <a:xfrm>
            <a:off x="1508760" y="4507992"/>
            <a:ext cx="5486400" cy="274320"/>
          </a:xfrm>
          <a:prstGeom prst="rect">
            <a:avLst/>
          </a:prstGeom>
          <a:noFill/>
          <a:ln/>
        </p:spPr>
        <p:txBody>
          <a:bodyPr wrap="square" lIns="0" tIns="0" rIns="0" bIns="0" rtlCol="0" anchor="ctr"/>
          <a:lstStyle/>
          <a:p>
            <a:pPr marL="0" indent="0">
              <a:lnSpc>
                <a:spcPct val="125000"/>
              </a:lnSpc>
              <a:buNone/>
            </a:pPr>
            <a:r>
              <a:rPr lang="en-US" sz="950" dirty="0">
                <a:solidFill>
                  <a:srgbClr val="6B6B6B"/>
                </a:solidFill>
                <a:latin typeface="Calibri" pitchFamily="34" charset="0"/>
                <a:ea typeface="Calibri" pitchFamily="34" charset="-122"/>
                <a:cs typeface="Calibri" pitchFamily="34" charset="-120"/>
              </a:rPr>
              <a:t>A patient tutor on call — markets, structures, code, regulation. Curiosity converts to expertise faster than any prior generation of analyst could manage.</a:t>
            </a:r>
            <a:endParaRPr lang="en-US" sz="950" dirty="0"/>
          </a:p>
        </p:txBody>
      </p:sp>
      <p:sp>
        <p:nvSpPr>
          <p:cNvPr id="33" name="Text 31"/>
          <p:cNvSpPr/>
          <p:nvPr/>
        </p:nvSpPr>
        <p:spPr>
          <a:xfrm>
            <a:off x="7040880" y="4361688"/>
            <a:ext cx="1280160" cy="274320"/>
          </a:xfrm>
          <a:prstGeom prst="rect">
            <a:avLst/>
          </a:prstGeom>
          <a:noFill/>
          <a:ln/>
        </p:spPr>
        <p:txBody>
          <a:bodyPr wrap="square" lIns="0" tIns="0" rIns="0" bIns="0" rtlCol="0" anchor="ctr"/>
          <a:lstStyle/>
          <a:p>
            <a:pPr marL="0" indent="0" algn="r">
              <a:buNone/>
            </a:pPr>
            <a:r>
              <a:rPr lang="en-US" sz="900" b="1" kern="0" spc="300" dirty="0">
                <a:solidFill>
                  <a:srgbClr val="A0824E"/>
                </a:solidFill>
                <a:latin typeface="Calibri" pitchFamily="34" charset="0"/>
                <a:ea typeface="Calibri" pitchFamily="34" charset="-122"/>
                <a:cs typeface="Calibri" pitchFamily="34" charset="-120"/>
              </a:rPr>
              <a:t>GROWTH</a:t>
            </a:r>
            <a:endParaRPr lang="en-US" sz="900" dirty="0"/>
          </a:p>
        </p:txBody>
      </p:sp>
      <p:sp>
        <p:nvSpPr>
          <p:cNvPr id="34" name="Text 32"/>
          <p:cNvSpPr/>
          <p:nvPr/>
        </p:nvSpPr>
        <p:spPr>
          <a:xfrm>
            <a:off x="731520" y="4846320"/>
            <a:ext cx="7680960" cy="256032"/>
          </a:xfrm>
          <a:prstGeom prst="rect">
            <a:avLst/>
          </a:prstGeom>
          <a:noFill/>
          <a:ln/>
        </p:spPr>
        <p:txBody>
          <a:bodyPr wrap="square" lIns="0" tIns="0" rIns="0" bIns="0" rtlCol="0" anchor="ctr"/>
          <a:lstStyle/>
          <a:p>
            <a:pPr marL="0" indent="0" algn="ctr">
              <a:buNone/>
            </a:pPr>
            <a:r>
              <a:rPr lang="en-US" sz="1200" i="1" dirty="0">
                <a:solidFill>
                  <a:srgbClr val="1B2A4A"/>
                </a:solidFill>
                <a:latin typeface="Georgia" pitchFamily="34" charset="0"/>
                <a:ea typeface="Georgia" pitchFamily="34" charset="-122"/>
                <a:cs typeface="Georgia" pitchFamily="34" charset="-120"/>
              </a:rPr>
              <a:t>The job of the analyst is changing. We are training for the new 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731520" y="292608"/>
            <a:ext cx="7680960" cy="228600"/>
          </a:xfrm>
          <a:prstGeom prst="rect">
            <a:avLst/>
          </a:prstGeom>
          <a:noFill/>
          <a:ln/>
        </p:spPr>
        <p:txBody>
          <a:bodyPr wrap="square" lIns="0" tIns="0" rIns="0" bIns="0" rtlCol="0" anchor="ctr"/>
          <a:lstStyle/>
          <a:p>
            <a:pPr marL="0" indent="0">
              <a:buNone/>
            </a:pPr>
            <a:r>
              <a:rPr lang="en-US" sz="900" b="1" kern="0" spc="300" dirty="0">
                <a:solidFill>
                  <a:srgbClr val="A0824E"/>
                </a:solidFill>
                <a:latin typeface="Calibri" pitchFamily="34" charset="0"/>
                <a:ea typeface="Calibri" pitchFamily="34" charset="-122"/>
                <a:cs typeface="Calibri" pitchFamily="34" charset="-120"/>
              </a:rPr>
              <a:t>PAGE 03  ·  THE 4-HOUR AGENDA</a:t>
            </a:r>
            <a:endParaRPr lang="en-US" sz="900" dirty="0"/>
          </a:p>
        </p:txBody>
      </p:sp>
      <p:sp>
        <p:nvSpPr>
          <p:cNvPr id="3" name="Text 1"/>
          <p:cNvSpPr/>
          <p:nvPr/>
        </p:nvSpPr>
        <p:spPr>
          <a:xfrm>
            <a:off x="731520" y="548640"/>
            <a:ext cx="7680960" cy="640080"/>
          </a:xfrm>
          <a:prstGeom prst="rect">
            <a:avLst/>
          </a:prstGeom>
          <a:noFill/>
          <a:ln/>
        </p:spPr>
        <p:txBody>
          <a:bodyPr wrap="square" lIns="0" tIns="0" rIns="0" bIns="0" rtlCol="0" anchor="ctr"/>
          <a:lstStyle/>
          <a:p>
            <a:pPr marL="0" indent="0">
              <a:buNone/>
            </a:pPr>
            <a:r>
              <a:rPr lang="en-US" sz="3000" i="1" dirty="0">
                <a:solidFill>
                  <a:srgbClr val="2D2D2D"/>
                </a:solidFill>
                <a:latin typeface="Georgia" pitchFamily="34" charset="0"/>
                <a:ea typeface="Georgia" pitchFamily="34" charset="-122"/>
                <a:cs typeface="Georgia" pitchFamily="34" charset="-120"/>
              </a:rPr>
              <a:t>Four Hours. Four Foundations.</a:t>
            </a:r>
            <a:endParaRPr lang="en-US" sz="3000" dirty="0"/>
          </a:p>
        </p:txBody>
      </p:sp>
      <p:sp>
        <p:nvSpPr>
          <p:cNvPr id="4" name="Shape 2"/>
          <p:cNvSpPr/>
          <p:nvPr/>
        </p:nvSpPr>
        <p:spPr>
          <a:xfrm>
            <a:off x="731520" y="1207008"/>
            <a:ext cx="7680960" cy="0"/>
          </a:xfrm>
          <a:prstGeom prst="line">
            <a:avLst/>
          </a:prstGeom>
          <a:noFill/>
          <a:ln w="6350">
            <a:solidFill>
              <a:srgbClr val="999999"/>
            </a:solidFill>
            <a:prstDash val="solid"/>
          </a:ln>
        </p:spPr>
        <p:txBody>
          <a:bodyPr/>
          <a:lstStyle/>
          <a:p>
            <a:endParaRPr lang="en-US"/>
          </a:p>
        </p:txBody>
      </p:sp>
      <p:sp>
        <p:nvSpPr>
          <p:cNvPr id="5" name="Text 3"/>
          <p:cNvSpPr/>
          <p:nvPr/>
        </p:nvSpPr>
        <p:spPr>
          <a:xfrm>
            <a:off x="731520" y="1325880"/>
            <a:ext cx="7680960" cy="320040"/>
          </a:xfrm>
          <a:prstGeom prst="rect">
            <a:avLst/>
          </a:prstGeom>
          <a:noFill/>
          <a:ln/>
        </p:spPr>
        <p:txBody>
          <a:bodyPr wrap="square" lIns="0" tIns="0" rIns="0" bIns="0"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A single morning, designed to send analysts back to their desks already automating real work.</a:t>
            </a:r>
            <a:endParaRPr lang="en-US" sz="1200" dirty="0"/>
          </a:p>
        </p:txBody>
      </p:sp>
      <p:sp>
        <p:nvSpPr>
          <p:cNvPr id="6" name="Shape 4"/>
          <p:cNvSpPr/>
          <p:nvPr/>
        </p:nvSpPr>
        <p:spPr>
          <a:xfrm>
            <a:off x="731520" y="1737360"/>
            <a:ext cx="3703320" cy="1371600"/>
          </a:xfrm>
          <a:prstGeom prst="roundRect">
            <a:avLst>
              <a:gd name="adj" fmla="val 6667"/>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7" name="Shape 5"/>
          <p:cNvSpPr/>
          <p:nvPr/>
        </p:nvSpPr>
        <p:spPr>
          <a:xfrm>
            <a:off x="731520" y="1737360"/>
            <a:ext cx="54864" cy="1371600"/>
          </a:xfrm>
          <a:prstGeom prst="rect">
            <a:avLst/>
          </a:prstGeom>
          <a:solidFill>
            <a:srgbClr val="1B2A4A"/>
          </a:solidFill>
          <a:ln/>
        </p:spPr>
        <p:txBody>
          <a:bodyPr/>
          <a:lstStyle/>
          <a:p>
            <a:endParaRPr lang="en-US"/>
          </a:p>
        </p:txBody>
      </p:sp>
      <p:sp>
        <p:nvSpPr>
          <p:cNvPr id="8" name="Shape 6"/>
          <p:cNvSpPr/>
          <p:nvPr/>
        </p:nvSpPr>
        <p:spPr>
          <a:xfrm>
            <a:off x="914400" y="1901952"/>
            <a:ext cx="777240" cy="256032"/>
          </a:xfrm>
          <a:prstGeom prst="roundRect">
            <a:avLst>
              <a:gd name="adj" fmla="val 14286"/>
            </a:avLst>
          </a:prstGeom>
          <a:solidFill>
            <a:srgbClr val="1B2A4A"/>
          </a:solidFill>
          <a:ln/>
        </p:spPr>
        <p:txBody>
          <a:bodyPr/>
          <a:lstStyle/>
          <a:p>
            <a:endParaRPr lang="en-US"/>
          </a:p>
        </p:txBody>
      </p:sp>
      <p:sp>
        <p:nvSpPr>
          <p:cNvPr id="9" name="Text 7"/>
          <p:cNvSpPr/>
          <p:nvPr/>
        </p:nvSpPr>
        <p:spPr>
          <a:xfrm>
            <a:off x="914400" y="1901952"/>
            <a:ext cx="77724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HOUR 01</a:t>
            </a:r>
            <a:endParaRPr lang="en-US" sz="800" dirty="0"/>
          </a:p>
        </p:txBody>
      </p:sp>
      <p:sp>
        <p:nvSpPr>
          <p:cNvPr id="10" name="Text 8"/>
          <p:cNvSpPr/>
          <p:nvPr/>
        </p:nvSpPr>
        <p:spPr>
          <a:xfrm>
            <a:off x="1783080" y="1865376"/>
            <a:ext cx="2514600" cy="292608"/>
          </a:xfrm>
          <a:prstGeom prst="rect">
            <a:avLst/>
          </a:prstGeom>
          <a:noFill/>
          <a:ln/>
        </p:spPr>
        <p:txBody>
          <a:bodyPr wrap="square" lIns="0" tIns="0" rIns="0" bIns="0" rtlCol="0" anchor="ctr"/>
          <a:lstStyle/>
          <a:p>
            <a:pPr marL="0" indent="0">
              <a:buNone/>
            </a:pPr>
            <a:r>
              <a:rPr lang="en-US" sz="1700" i="1" dirty="0">
                <a:solidFill>
                  <a:srgbClr val="2D2D2D"/>
                </a:solidFill>
                <a:latin typeface="Georgia" pitchFamily="34" charset="0"/>
                <a:ea typeface="Georgia" pitchFamily="34" charset="-122"/>
                <a:cs typeface="Georgia" pitchFamily="34" charset="-120"/>
              </a:rPr>
              <a:t>Intro to AI</a:t>
            </a:r>
            <a:endParaRPr lang="en-US" sz="1700" dirty="0"/>
          </a:p>
        </p:txBody>
      </p:sp>
      <p:sp>
        <p:nvSpPr>
          <p:cNvPr id="11" name="Text 9"/>
          <p:cNvSpPr/>
          <p:nvPr/>
        </p:nvSpPr>
        <p:spPr>
          <a:xfrm>
            <a:off x="914400" y="2194560"/>
            <a:ext cx="3429000" cy="228600"/>
          </a:xfrm>
          <a:prstGeom prst="rect">
            <a:avLst/>
          </a:prstGeom>
          <a:noFill/>
          <a:ln/>
        </p:spPr>
        <p:txBody>
          <a:bodyPr wrap="square" lIns="0" tIns="0" rIns="0" bIns="0" rtlCol="0" anchor="ctr"/>
          <a:lstStyle/>
          <a:p>
            <a:pPr marL="0" indent="0">
              <a:buNone/>
            </a:pPr>
            <a:r>
              <a:rPr lang="en-US" sz="1000" i="1" dirty="0">
                <a:solidFill>
                  <a:srgbClr val="A0824E"/>
                </a:solidFill>
                <a:latin typeface="Calibri" pitchFamily="34" charset="0"/>
                <a:ea typeface="Calibri" pitchFamily="34" charset="-122"/>
                <a:cs typeface="Calibri" pitchFamily="34" charset="-120"/>
              </a:rPr>
              <a:t>Outside of work.</a:t>
            </a:r>
            <a:endParaRPr lang="en-US" sz="1000" dirty="0"/>
          </a:p>
        </p:txBody>
      </p:sp>
      <p:sp>
        <p:nvSpPr>
          <p:cNvPr id="12" name="Text 10"/>
          <p:cNvSpPr/>
          <p:nvPr/>
        </p:nvSpPr>
        <p:spPr>
          <a:xfrm>
            <a:off x="914400" y="2450592"/>
            <a:ext cx="3429000" cy="457200"/>
          </a:xfrm>
          <a:prstGeom prst="rect">
            <a:avLst/>
          </a:prstGeom>
          <a:noFill/>
          <a:ln/>
        </p:spPr>
        <p:txBody>
          <a:bodyPr wrap="square" lIns="0" tIns="0" rIns="0" bIns="0" rtlCol="0" anchor="ctr"/>
          <a:lstStyle/>
          <a:p>
            <a:pPr marL="0" indent="0">
              <a:lnSpc>
                <a:spcPct val="130000"/>
              </a:lnSpc>
              <a:buNone/>
            </a:pPr>
            <a:r>
              <a:rPr lang="en-US" sz="950" dirty="0">
                <a:solidFill>
                  <a:srgbClr val="6B6B6B"/>
                </a:solidFill>
                <a:latin typeface="Calibri" pitchFamily="34" charset="0"/>
                <a:ea typeface="Calibri" pitchFamily="34" charset="-122"/>
                <a:cs typeface="Calibri" pitchFamily="34" charset="-120"/>
              </a:rPr>
              <a:t>What is a model. Deterministic versus non-deterministic systems. What AI can do today, and the curve of where it is going.</a:t>
            </a:r>
            <a:endParaRPr lang="en-US" sz="950" dirty="0"/>
          </a:p>
        </p:txBody>
      </p:sp>
      <p:sp>
        <p:nvSpPr>
          <p:cNvPr id="13" name="Text 11"/>
          <p:cNvSpPr/>
          <p:nvPr/>
        </p:nvSpPr>
        <p:spPr>
          <a:xfrm>
            <a:off x="914400" y="2880360"/>
            <a:ext cx="3429000" cy="201168"/>
          </a:xfrm>
          <a:prstGeom prst="rect">
            <a:avLst/>
          </a:prstGeom>
          <a:noFill/>
          <a:ln/>
        </p:spPr>
        <p:txBody>
          <a:bodyPr wrap="square" lIns="0" tIns="0" rIns="0" bIns="0" rtlCol="0" anchor="ctr"/>
          <a:lstStyle/>
          <a:p>
            <a:pPr marL="0" indent="0">
              <a:buNone/>
            </a:pPr>
            <a:r>
              <a:rPr lang="en-US" sz="900" b="1" i="1" dirty="0">
                <a:solidFill>
                  <a:srgbClr val="1B2A4A"/>
                </a:solidFill>
                <a:latin typeface="Calibri" pitchFamily="34" charset="0"/>
                <a:ea typeface="Calibri" pitchFamily="34" charset="-122"/>
                <a:cs typeface="Calibri" pitchFamily="34" charset="-120"/>
              </a:rPr>
              <a:t>Goal — blow their minds.</a:t>
            </a:r>
            <a:endParaRPr lang="en-US" sz="900" dirty="0"/>
          </a:p>
        </p:txBody>
      </p:sp>
      <p:sp>
        <p:nvSpPr>
          <p:cNvPr id="14" name="Shape 12"/>
          <p:cNvSpPr/>
          <p:nvPr/>
        </p:nvSpPr>
        <p:spPr>
          <a:xfrm>
            <a:off x="4663440" y="1737360"/>
            <a:ext cx="3703320" cy="1371600"/>
          </a:xfrm>
          <a:prstGeom prst="roundRect">
            <a:avLst>
              <a:gd name="adj" fmla="val 6667"/>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15" name="Shape 13"/>
          <p:cNvSpPr/>
          <p:nvPr/>
        </p:nvSpPr>
        <p:spPr>
          <a:xfrm>
            <a:off x="4663440" y="1737360"/>
            <a:ext cx="54864" cy="1371600"/>
          </a:xfrm>
          <a:prstGeom prst="rect">
            <a:avLst/>
          </a:prstGeom>
          <a:solidFill>
            <a:srgbClr val="1B2A4A"/>
          </a:solidFill>
          <a:ln/>
        </p:spPr>
        <p:txBody>
          <a:bodyPr/>
          <a:lstStyle/>
          <a:p>
            <a:endParaRPr lang="en-US"/>
          </a:p>
        </p:txBody>
      </p:sp>
      <p:sp>
        <p:nvSpPr>
          <p:cNvPr id="16" name="Shape 14"/>
          <p:cNvSpPr/>
          <p:nvPr/>
        </p:nvSpPr>
        <p:spPr>
          <a:xfrm>
            <a:off x="4846320" y="1901952"/>
            <a:ext cx="777240" cy="256032"/>
          </a:xfrm>
          <a:prstGeom prst="roundRect">
            <a:avLst>
              <a:gd name="adj" fmla="val 14286"/>
            </a:avLst>
          </a:prstGeom>
          <a:solidFill>
            <a:srgbClr val="1B2A4A"/>
          </a:solidFill>
          <a:ln/>
        </p:spPr>
        <p:txBody>
          <a:bodyPr/>
          <a:lstStyle/>
          <a:p>
            <a:endParaRPr lang="en-US"/>
          </a:p>
        </p:txBody>
      </p:sp>
      <p:sp>
        <p:nvSpPr>
          <p:cNvPr id="17" name="Text 15"/>
          <p:cNvSpPr/>
          <p:nvPr/>
        </p:nvSpPr>
        <p:spPr>
          <a:xfrm>
            <a:off x="4846320" y="1901952"/>
            <a:ext cx="77724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HOUR 02</a:t>
            </a:r>
            <a:endParaRPr lang="en-US" sz="800" dirty="0"/>
          </a:p>
        </p:txBody>
      </p:sp>
      <p:sp>
        <p:nvSpPr>
          <p:cNvPr id="18" name="Text 16"/>
          <p:cNvSpPr/>
          <p:nvPr/>
        </p:nvSpPr>
        <p:spPr>
          <a:xfrm>
            <a:off x="5715000" y="1865376"/>
            <a:ext cx="2514600" cy="292608"/>
          </a:xfrm>
          <a:prstGeom prst="rect">
            <a:avLst/>
          </a:prstGeom>
          <a:noFill/>
          <a:ln/>
        </p:spPr>
        <p:txBody>
          <a:bodyPr wrap="square" lIns="0" tIns="0" rIns="0" bIns="0" rtlCol="0" anchor="ctr"/>
          <a:lstStyle/>
          <a:p>
            <a:pPr marL="0" indent="0">
              <a:buNone/>
            </a:pPr>
            <a:r>
              <a:rPr lang="en-US" sz="1700" i="1" dirty="0">
                <a:solidFill>
                  <a:srgbClr val="2D2D2D"/>
                </a:solidFill>
                <a:latin typeface="Georgia" pitchFamily="34" charset="0"/>
                <a:ea typeface="Georgia" pitchFamily="34" charset="-122"/>
                <a:cs typeface="Georgia" pitchFamily="34" charset="-120"/>
              </a:rPr>
              <a:t>AI at JPMorgan</a:t>
            </a:r>
            <a:endParaRPr lang="en-US" sz="1700" dirty="0"/>
          </a:p>
        </p:txBody>
      </p:sp>
      <p:sp>
        <p:nvSpPr>
          <p:cNvPr id="19" name="Text 17"/>
          <p:cNvSpPr/>
          <p:nvPr/>
        </p:nvSpPr>
        <p:spPr>
          <a:xfrm>
            <a:off x="4846320" y="2194560"/>
            <a:ext cx="3429000" cy="228600"/>
          </a:xfrm>
          <a:prstGeom prst="rect">
            <a:avLst/>
          </a:prstGeom>
          <a:noFill/>
          <a:ln/>
        </p:spPr>
        <p:txBody>
          <a:bodyPr wrap="square" lIns="0" tIns="0" rIns="0" bIns="0" rtlCol="0" anchor="ctr"/>
          <a:lstStyle/>
          <a:p>
            <a:pPr marL="0" indent="0">
              <a:buNone/>
            </a:pPr>
            <a:r>
              <a:rPr lang="en-US" sz="1000" i="1" dirty="0">
                <a:solidFill>
                  <a:srgbClr val="A0824E"/>
                </a:solidFill>
                <a:latin typeface="Calibri" pitchFamily="34" charset="0"/>
                <a:ea typeface="Calibri" pitchFamily="34" charset="-122"/>
                <a:cs typeface="Calibri" pitchFamily="34" charset="-120"/>
              </a:rPr>
              <a:t>The internal landscape.</a:t>
            </a:r>
            <a:endParaRPr lang="en-US" sz="1000" dirty="0"/>
          </a:p>
        </p:txBody>
      </p:sp>
      <p:sp>
        <p:nvSpPr>
          <p:cNvPr id="20" name="Text 18"/>
          <p:cNvSpPr/>
          <p:nvPr/>
        </p:nvSpPr>
        <p:spPr>
          <a:xfrm>
            <a:off x="4846320" y="2450592"/>
            <a:ext cx="3429000" cy="457200"/>
          </a:xfrm>
          <a:prstGeom prst="rect">
            <a:avLst/>
          </a:prstGeom>
          <a:noFill/>
          <a:ln/>
        </p:spPr>
        <p:txBody>
          <a:bodyPr wrap="square" lIns="0" tIns="0" rIns="0" bIns="0" rtlCol="0" anchor="ctr"/>
          <a:lstStyle/>
          <a:p>
            <a:pPr marL="0" indent="0">
              <a:lnSpc>
                <a:spcPct val="130000"/>
              </a:lnSpc>
              <a:buNone/>
            </a:pPr>
            <a:r>
              <a:rPr lang="en-US" sz="950" dirty="0">
                <a:solidFill>
                  <a:srgbClr val="6B6B6B"/>
                </a:solidFill>
                <a:latin typeface="Calibri" pitchFamily="34" charset="0"/>
                <a:ea typeface="Calibri" pitchFamily="34" charset="-122"/>
                <a:cs typeface="Calibri" pitchFamily="34" charset="-120"/>
              </a:rPr>
              <a:t>The tools available inside the firm, how to access each, what each is best suited for, and the guardrails around approved use.</a:t>
            </a:r>
            <a:endParaRPr lang="en-US" sz="950" dirty="0"/>
          </a:p>
        </p:txBody>
      </p:sp>
      <p:sp>
        <p:nvSpPr>
          <p:cNvPr id="21" name="Text 19"/>
          <p:cNvSpPr/>
          <p:nvPr/>
        </p:nvSpPr>
        <p:spPr>
          <a:xfrm>
            <a:off x="4846320" y="2880360"/>
            <a:ext cx="3429000" cy="201168"/>
          </a:xfrm>
          <a:prstGeom prst="rect">
            <a:avLst/>
          </a:prstGeom>
          <a:noFill/>
          <a:ln/>
        </p:spPr>
        <p:txBody>
          <a:bodyPr wrap="square" lIns="0" tIns="0" rIns="0" bIns="0" rtlCol="0" anchor="ctr"/>
          <a:lstStyle/>
          <a:p>
            <a:pPr marL="0" indent="0">
              <a:buNone/>
            </a:pPr>
            <a:r>
              <a:rPr lang="en-US" sz="900" b="1" i="1" dirty="0">
                <a:solidFill>
                  <a:srgbClr val="1B2A4A"/>
                </a:solidFill>
                <a:latin typeface="Calibri" pitchFamily="34" charset="0"/>
                <a:ea typeface="Calibri" pitchFamily="34" charset="-122"/>
                <a:cs typeface="Calibri" pitchFamily="34" charset="-120"/>
              </a:rPr>
              <a:t>Goal — fluency in our stack.</a:t>
            </a:r>
            <a:endParaRPr lang="en-US" sz="900" dirty="0"/>
          </a:p>
        </p:txBody>
      </p:sp>
      <p:sp>
        <p:nvSpPr>
          <p:cNvPr id="22" name="Shape 20"/>
          <p:cNvSpPr/>
          <p:nvPr/>
        </p:nvSpPr>
        <p:spPr>
          <a:xfrm>
            <a:off x="731520" y="3246120"/>
            <a:ext cx="3703320" cy="1371600"/>
          </a:xfrm>
          <a:prstGeom prst="roundRect">
            <a:avLst>
              <a:gd name="adj" fmla="val 6667"/>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23" name="Shape 21"/>
          <p:cNvSpPr/>
          <p:nvPr/>
        </p:nvSpPr>
        <p:spPr>
          <a:xfrm>
            <a:off x="731520" y="3246120"/>
            <a:ext cx="54864" cy="1371600"/>
          </a:xfrm>
          <a:prstGeom prst="rect">
            <a:avLst/>
          </a:prstGeom>
          <a:solidFill>
            <a:srgbClr val="1B2A4A"/>
          </a:solidFill>
          <a:ln/>
        </p:spPr>
        <p:txBody>
          <a:bodyPr/>
          <a:lstStyle/>
          <a:p>
            <a:endParaRPr lang="en-US"/>
          </a:p>
        </p:txBody>
      </p:sp>
      <p:sp>
        <p:nvSpPr>
          <p:cNvPr id="24" name="Shape 22"/>
          <p:cNvSpPr/>
          <p:nvPr/>
        </p:nvSpPr>
        <p:spPr>
          <a:xfrm>
            <a:off x="914400" y="3410712"/>
            <a:ext cx="777240" cy="256032"/>
          </a:xfrm>
          <a:prstGeom prst="roundRect">
            <a:avLst>
              <a:gd name="adj" fmla="val 14286"/>
            </a:avLst>
          </a:prstGeom>
          <a:solidFill>
            <a:srgbClr val="1B2A4A"/>
          </a:solidFill>
          <a:ln/>
        </p:spPr>
        <p:txBody>
          <a:bodyPr/>
          <a:lstStyle/>
          <a:p>
            <a:endParaRPr lang="en-US"/>
          </a:p>
        </p:txBody>
      </p:sp>
      <p:sp>
        <p:nvSpPr>
          <p:cNvPr id="25" name="Text 23"/>
          <p:cNvSpPr/>
          <p:nvPr/>
        </p:nvSpPr>
        <p:spPr>
          <a:xfrm>
            <a:off x="914400" y="3410712"/>
            <a:ext cx="77724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HOUR 03</a:t>
            </a:r>
            <a:endParaRPr lang="en-US" sz="800" dirty="0"/>
          </a:p>
        </p:txBody>
      </p:sp>
      <p:sp>
        <p:nvSpPr>
          <p:cNvPr id="26" name="Text 24"/>
          <p:cNvSpPr/>
          <p:nvPr/>
        </p:nvSpPr>
        <p:spPr>
          <a:xfrm>
            <a:off x="1783080" y="3374136"/>
            <a:ext cx="2514600" cy="292608"/>
          </a:xfrm>
          <a:prstGeom prst="rect">
            <a:avLst/>
          </a:prstGeom>
          <a:noFill/>
          <a:ln/>
        </p:spPr>
        <p:txBody>
          <a:bodyPr wrap="square" lIns="0" tIns="0" rIns="0" bIns="0" rtlCol="0" anchor="ctr"/>
          <a:lstStyle/>
          <a:p>
            <a:pPr marL="0" indent="0">
              <a:buNone/>
            </a:pPr>
            <a:r>
              <a:rPr lang="en-US" sz="1700" i="1" dirty="0">
                <a:solidFill>
                  <a:srgbClr val="2D2D2D"/>
                </a:solidFill>
                <a:latin typeface="Georgia" pitchFamily="34" charset="0"/>
                <a:ea typeface="Georgia" pitchFamily="34" charset="-122"/>
                <a:cs typeface="Georgia" pitchFamily="34" charset="-120"/>
              </a:rPr>
              <a:t>Intro to Claude Code</a:t>
            </a:r>
            <a:endParaRPr lang="en-US" sz="1700" dirty="0"/>
          </a:p>
        </p:txBody>
      </p:sp>
      <p:sp>
        <p:nvSpPr>
          <p:cNvPr id="27" name="Text 25"/>
          <p:cNvSpPr/>
          <p:nvPr/>
        </p:nvSpPr>
        <p:spPr>
          <a:xfrm>
            <a:off x="914400" y="3703320"/>
            <a:ext cx="3429000" cy="228600"/>
          </a:xfrm>
          <a:prstGeom prst="rect">
            <a:avLst/>
          </a:prstGeom>
          <a:noFill/>
          <a:ln/>
        </p:spPr>
        <p:txBody>
          <a:bodyPr wrap="square" lIns="0" tIns="0" rIns="0" bIns="0" rtlCol="0" anchor="ctr"/>
          <a:lstStyle/>
          <a:p>
            <a:pPr marL="0" indent="0">
              <a:buNone/>
            </a:pPr>
            <a:r>
              <a:rPr lang="en-US" sz="1000" i="1" dirty="0">
                <a:solidFill>
                  <a:srgbClr val="A0824E"/>
                </a:solidFill>
                <a:latin typeface="Calibri" pitchFamily="34" charset="0"/>
                <a:ea typeface="Calibri" pitchFamily="34" charset="-122"/>
                <a:cs typeface="Calibri" pitchFamily="34" charset="-120"/>
              </a:rPr>
              <a:t>A collaborator, not a chatbot.</a:t>
            </a:r>
            <a:endParaRPr lang="en-US" sz="1000" dirty="0"/>
          </a:p>
        </p:txBody>
      </p:sp>
      <p:sp>
        <p:nvSpPr>
          <p:cNvPr id="28" name="Text 26"/>
          <p:cNvSpPr/>
          <p:nvPr/>
        </p:nvSpPr>
        <p:spPr>
          <a:xfrm>
            <a:off x="914400" y="3959352"/>
            <a:ext cx="3429000" cy="457200"/>
          </a:xfrm>
          <a:prstGeom prst="rect">
            <a:avLst/>
          </a:prstGeom>
          <a:noFill/>
          <a:ln/>
        </p:spPr>
        <p:txBody>
          <a:bodyPr wrap="square" lIns="0" tIns="0" rIns="0" bIns="0" rtlCol="0" anchor="ctr"/>
          <a:lstStyle/>
          <a:p>
            <a:pPr marL="0" indent="0">
              <a:lnSpc>
                <a:spcPct val="130000"/>
              </a:lnSpc>
              <a:buNone/>
            </a:pPr>
            <a:r>
              <a:rPr lang="en-US" sz="950" dirty="0">
                <a:solidFill>
                  <a:srgbClr val="6B6B6B"/>
                </a:solidFill>
                <a:latin typeface="Calibri" pitchFamily="34" charset="0"/>
                <a:ea typeface="Calibri" pitchFamily="34" charset="-122"/>
                <a:cs typeface="Calibri" pitchFamily="34" charset="-120"/>
              </a:rPr>
              <a:t>What Claude Code is. How to use it. How to think about it as a teammate that can plan, write, and execute — not a search engine.</a:t>
            </a:r>
            <a:endParaRPr lang="en-US" sz="950" dirty="0"/>
          </a:p>
        </p:txBody>
      </p:sp>
      <p:sp>
        <p:nvSpPr>
          <p:cNvPr id="29" name="Text 27"/>
          <p:cNvSpPr/>
          <p:nvPr/>
        </p:nvSpPr>
        <p:spPr>
          <a:xfrm>
            <a:off x="914400" y="4389120"/>
            <a:ext cx="3429000" cy="201168"/>
          </a:xfrm>
          <a:prstGeom prst="rect">
            <a:avLst/>
          </a:prstGeom>
          <a:noFill/>
          <a:ln/>
        </p:spPr>
        <p:txBody>
          <a:bodyPr wrap="square" lIns="0" tIns="0" rIns="0" bIns="0" rtlCol="0" anchor="ctr"/>
          <a:lstStyle/>
          <a:p>
            <a:pPr marL="0" indent="0">
              <a:buNone/>
            </a:pPr>
            <a:r>
              <a:rPr lang="en-US" sz="900" b="1" i="1" dirty="0">
                <a:solidFill>
                  <a:srgbClr val="1B2A4A"/>
                </a:solidFill>
                <a:latin typeface="Calibri" pitchFamily="34" charset="0"/>
                <a:ea typeface="Calibri" pitchFamily="34" charset="-122"/>
                <a:cs typeface="Calibri" pitchFamily="34" charset="-120"/>
              </a:rPr>
              <a:t>Goal — re-frame the relationship.</a:t>
            </a:r>
            <a:endParaRPr lang="en-US" sz="900" dirty="0"/>
          </a:p>
        </p:txBody>
      </p:sp>
      <p:sp>
        <p:nvSpPr>
          <p:cNvPr id="30" name="Shape 28"/>
          <p:cNvSpPr/>
          <p:nvPr/>
        </p:nvSpPr>
        <p:spPr>
          <a:xfrm>
            <a:off x="4663440" y="3246120"/>
            <a:ext cx="3703320" cy="1371600"/>
          </a:xfrm>
          <a:prstGeom prst="roundRect">
            <a:avLst>
              <a:gd name="adj" fmla="val 6667"/>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31" name="Shape 29"/>
          <p:cNvSpPr/>
          <p:nvPr/>
        </p:nvSpPr>
        <p:spPr>
          <a:xfrm>
            <a:off x="4663440" y="3246120"/>
            <a:ext cx="54864" cy="1371600"/>
          </a:xfrm>
          <a:prstGeom prst="rect">
            <a:avLst/>
          </a:prstGeom>
          <a:solidFill>
            <a:srgbClr val="A0824E"/>
          </a:solidFill>
          <a:ln/>
        </p:spPr>
        <p:txBody>
          <a:bodyPr/>
          <a:lstStyle/>
          <a:p>
            <a:endParaRPr lang="en-US"/>
          </a:p>
        </p:txBody>
      </p:sp>
      <p:sp>
        <p:nvSpPr>
          <p:cNvPr id="32" name="Shape 30"/>
          <p:cNvSpPr/>
          <p:nvPr/>
        </p:nvSpPr>
        <p:spPr>
          <a:xfrm>
            <a:off x="4846320" y="3410712"/>
            <a:ext cx="777240" cy="256032"/>
          </a:xfrm>
          <a:prstGeom prst="roundRect">
            <a:avLst>
              <a:gd name="adj" fmla="val 14286"/>
            </a:avLst>
          </a:prstGeom>
          <a:solidFill>
            <a:srgbClr val="A0824E"/>
          </a:solidFill>
          <a:ln/>
        </p:spPr>
        <p:txBody>
          <a:bodyPr/>
          <a:lstStyle/>
          <a:p>
            <a:endParaRPr lang="en-US"/>
          </a:p>
        </p:txBody>
      </p:sp>
      <p:sp>
        <p:nvSpPr>
          <p:cNvPr id="33" name="Text 31"/>
          <p:cNvSpPr/>
          <p:nvPr/>
        </p:nvSpPr>
        <p:spPr>
          <a:xfrm>
            <a:off x="4846320" y="3410712"/>
            <a:ext cx="77724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libri" pitchFamily="34" charset="0"/>
                <a:ea typeface="Calibri" pitchFamily="34" charset="-122"/>
                <a:cs typeface="Calibri" pitchFamily="34" charset="-120"/>
              </a:rPr>
              <a:t>HOUR 04</a:t>
            </a:r>
            <a:endParaRPr lang="en-US" sz="800" dirty="0"/>
          </a:p>
        </p:txBody>
      </p:sp>
      <p:sp>
        <p:nvSpPr>
          <p:cNvPr id="34" name="Text 32"/>
          <p:cNvSpPr/>
          <p:nvPr/>
        </p:nvSpPr>
        <p:spPr>
          <a:xfrm>
            <a:off x="5715000" y="3374136"/>
            <a:ext cx="2514600" cy="292608"/>
          </a:xfrm>
          <a:prstGeom prst="rect">
            <a:avLst/>
          </a:prstGeom>
          <a:noFill/>
          <a:ln/>
        </p:spPr>
        <p:txBody>
          <a:bodyPr wrap="square" lIns="0" tIns="0" rIns="0" bIns="0" rtlCol="0" anchor="ctr"/>
          <a:lstStyle/>
          <a:p>
            <a:pPr marL="0" indent="0">
              <a:buNone/>
            </a:pPr>
            <a:r>
              <a:rPr lang="en-US" sz="1700" i="1" dirty="0">
                <a:solidFill>
                  <a:srgbClr val="2D2D2D"/>
                </a:solidFill>
                <a:latin typeface="Georgia" pitchFamily="34" charset="0"/>
                <a:ea typeface="Georgia" pitchFamily="34" charset="-122"/>
                <a:cs typeface="Georgia" pitchFamily="34" charset="-120"/>
              </a:rPr>
              <a:t>Hands-On Challenge</a:t>
            </a:r>
            <a:endParaRPr lang="en-US" sz="1700" dirty="0"/>
          </a:p>
        </p:txBody>
      </p:sp>
      <p:sp>
        <p:nvSpPr>
          <p:cNvPr id="35" name="Text 33"/>
          <p:cNvSpPr/>
          <p:nvPr/>
        </p:nvSpPr>
        <p:spPr>
          <a:xfrm>
            <a:off x="4846320" y="3703320"/>
            <a:ext cx="3429000" cy="228600"/>
          </a:xfrm>
          <a:prstGeom prst="rect">
            <a:avLst/>
          </a:prstGeom>
          <a:noFill/>
          <a:ln/>
        </p:spPr>
        <p:txBody>
          <a:bodyPr wrap="square" lIns="0" tIns="0" rIns="0" bIns="0" rtlCol="0" anchor="ctr"/>
          <a:lstStyle/>
          <a:p>
            <a:pPr marL="0" indent="0">
              <a:buNone/>
            </a:pPr>
            <a:r>
              <a:rPr lang="en-US" sz="1000" i="1" dirty="0">
                <a:solidFill>
                  <a:srgbClr val="A0824E"/>
                </a:solidFill>
                <a:latin typeface="Calibri" pitchFamily="34" charset="0"/>
                <a:ea typeface="Calibri" pitchFamily="34" charset="-122"/>
                <a:cs typeface="Calibri" pitchFamily="34" charset="-120"/>
              </a:rPr>
              <a:t>Gamified. Competitive. Real.</a:t>
            </a:r>
            <a:endParaRPr lang="en-US" sz="1000" dirty="0"/>
          </a:p>
        </p:txBody>
      </p:sp>
      <p:sp>
        <p:nvSpPr>
          <p:cNvPr id="36" name="Text 34"/>
          <p:cNvSpPr/>
          <p:nvPr/>
        </p:nvSpPr>
        <p:spPr>
          <a:xfrm>
            <a:off x="4846320" y="3959352"/>
            <a:ext cx="3429000" cy="457200"/>
          </a:xfrm>
          <a:prstGeom prst="rect">
            <a:avLst/>
          </a:prstGeom>
          <a:noFill/>
          <a:ln/>
        </p:spPr>
        <p:txBody>
          <a:bodyPr wrap="square" lIns="0" tIns="0" rIns="0" bIns="0" rtlCol="0" anchor="ctr"/>
          <a:lstStyle/>
          <a:p>
            <a:pPr marL="0" indent="0">
              <a:lnSpc>
                <a:spcPct val="130000"/>
              </a:lnSpc>
              <a:buNone/>
            </a:pPr>
            <a:r>
              <a:rPr lang="en-US" sz="950" dirty="0">
                <a:solidFill>
                  <a:srgbClr val="6B6B6B"/>
                </a:solidFill>
                <a:latin typeface="Calibri" pitchFamily="34" charset="0"/>
                <a:ea typeface="Calibri" pitchFamily="34" charset="-122"/>
                <a:cs typeface="Calibri" pitchFamily="34" charset="-120"/>
              </a:rPr>
              <a:t>A timed, head-to-head challenge solved with Claude Code. Analysts ship something they are proud to show off — to peers, mentors, MDs.</a:t>
            </a:r>
            <a:endParaRPr lang="en-US" sz="950" dirty="0"/>
          </a:p>
        </p:txBody>
      </p:sp>
      <p:sp>
        <p:nvSpPr>
          <p:cNvPr id="37" name="Text 35"/>
          <p:cNvSpPr/>
          <p:nvPr/>
        </p:nvSpPr>
        <p:spPr>
          <a:xfrm>
            <a:off x="4846320" y="4389120"/>
            <a:ext cx="3429000" cy="201168"/>
          </a:xfrm>
          <a:prstGeom prst="rect">
            <a:avLst/>
          </a:prstGeom>
          <a:noFill/>
          <a:ln/>
        </p:spPr>
        <p:txBody>
          <a:bodyPr wrap="square" lIns="0" tIns="0" rIns="0" bIns="0" rtlCol="0" anchor="ctr"/>
          <a:lstStyle/>
          <a:p>
            <a:pPr marL="0" indent="0">
              <a:buNone/>
            </a:pPr>
            <a:r>
              <a:rPr lang="en-US" sz="900" b="1" i="1" dirty="0">
                <a:solidFill>
                  <a:srgbClr val="1B2A4A"/>
                </a:solidFill>
                <a:latin typeface="Calibri" pitchFamily="34" charset="0"/>
                <a:ea typeface="Calibri" pitchFamily="34" charset="-122"/>
                <a:cs typeface="Calibri" pitchFamily="34" charset="-120"/>
              </a:rPr>
              <a:t>Goal — leave with a win.</a:t>
            </a:r>
            <a:endParaRPr lang="en-US" sz="900" dirty="0"/>
          </a:p>
        </p:txBody>
      </p:sp>
      <p:sp>
        <p:nvSpPr>
          <p:cNvPr id="38" name="Text 36"/>
          <p:cNvSpPr/>
          <p:nvPr/>
        </p:nvSpPr>
        <p:spPr>
          <a:xfrm>
            <a:off x="731520" y="4864608"/>
            <a:ext cx="7680960" cy="256032"/>
          </a:xfrm>
          <a:prstGeom prst="rect">
            <a:avLst/>
          </a:prstGeom>
          <a:noFill/>
          <a:ln/>
        </p:spPr>
        <p:txBody>
          <a:bodyPr wrap="square" lIns="0" tIns="0" rIns="0" bIns="0" rtlCol="0" anchor="ctr"/>
          <a:lstStyle/>
          <a:p>
            <a:pPr marL="0" indent="0" algn="ctr">
              <a:buNone/>
            </a:pPr>
            <a:r>
              <a:rPr lang="en-US" sz="1200" i="1" dirty="0">
                <a:solidFill>
                  <a:srgbClr val="1B2A4A"/>
                </a:solidFill>
                <a:latin typeface="Georgia" pitchFamily="34" charset="0"/>
                <a:ea typeface="Georgia" pitchFamily="34" charset="-122"/>
                <a:cs typeface="Georgia" pitchFamily="34" charset="-120"/>
              </a:rPr>
              <a:t>Four hours in. Months of capability out.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a:effectLst/>
      </p:bgPr>
    </p:bg>
    <p:spTree>
      <p:nvGrpSpPr>
        <p:cNvPr id="1" name=""/>
        <p:cNvGrpSpPr/>
        <p:nvPr/>
      </p:nvGrpSpPr>
      <p:grpSpPr>
        <a:xfrm>
          <a:off x="0" y="0"/>
          <a:ext cx="0" cy="0"/>
          <a:chOff x="0" y="0"/>
          <a:chExt cx="0" cy="0"/>
        </a:xfrm>
      </p:grpSpPr>
      <p:sp>
        <p:nvSpPr>
          <p:cNvPr id="2" name="Text 0"/>
          <p:cNvSpPr/>
          <p:nvPr/>
        </p:nvSpPr>
        <p:spPr>
          <a:xfrm>
            <a:off x="731520" y="292608"/>
            <a:ext cx="7680960" cy="228600"/>
          </a:xfrm>
          <a:prstGeom prst="rect">
            <a:avLst/>
          </a:prstGeom>
          <a:noFill/>
          <a:ln/>
        </p:spPr>
        <p:txBody>
          <a:bodyPr wrap="square" lIns="0" tIns="0" rIns="0" bIns="0" rtlCol="0" anchor="ctr"/>
          <a:lstStyle/>
          <a:p>
            <a:pPr marL="0" indent="0">
              <a:buNone/>
            </a:pPr>
            <a:r>
              <a:rPr lang="en-US" sz="900" b="1" kern="0" spc="300" dirty="0">
                <a:solidFill>
                  <a:srgbClr val="A0824E"/>
                </a:solidFill>
                <a:latin typeface="Calibri" pitchFamily="34" charset="0"/>
                <a:ea typeface="Calibri" pitchFamily="34" charset="-122"/>
                <a:cs typeface="Calibri" pitchFamily="34" charset="-120"/>
              </a:rPr>
              <a:t>PAGE 04  ·  HOUR 04 · APP IDEAS  ·  WORLD CUP EDITION</a:t>
            </a:r>
            <a:endParaRPr lang="en-US" sz="900" dirty="0"/>
          </a:p>
        </p:txBody>
      </p:sp>
      <p:sp>
        <p:nvSpPr>
          <p:cNvPr id="3" name="Text 1"/>
          <p:cNvSpPr/>
          <p:nvPr/>
        </p:nvSpPr>
        <p:spPr>
          <a:xfrm>
            <a:off x="731520" y="548640"/>
            <a:ext cx="7680960" cy="640080"/>
          </a:xfrm>
          <a:prstGeom prst="rect">
            <a:avLst/>
          </a:prstGeom>
          <a:noFill/>
          <a:ln/>
        </p:spPr>
        <p:txBody>
          <a:bodyPr wrap="square" lIns="0" tIns="0" rIns="0" bIns="0" rtlCol="0" anchor="ctr"/>
          <a:lstStyle/>
          <a:p>
            <a:pPr marL="0" indent="0">
              <a:buNone/>
            </a:pPr>
            <a:r>
              <a:rPr lang="en-US" sz="3000" i="1" dirty="0">
                <a:solidFill>
                  <a:srgbClr val="2D2D2D"/>
                </a:solidFill>
                <a:latin typeface="Georgia" pitchFamily="34" charset="0"/>
                <a:ea typeface="Georgia" pitchFamily="34" charset="-122"/>
                <a:cs typeface="Georgia" pitchFamily="34" charset="-120"/>
              </a:rPr>
              <a:t>Build Something for Match Day.</a:t>
            </a:r>
            <a:endParaRPr lang="en-US" sz="3000" dirty="0"/>
          </a:p>
        </p:txBody>
      </p:sp>
      <p:sp>
        <p:nvSpPr>
          <p:cNvPr id="4" name="Shape 2"/>
          <p:cNvSpPr/>
          <p:nvPr/>
        </p:nvSpPr>
        <p:spPr>
          <a:xfrm>
            <a:off x="731520" y="1207008"/>
            <a:ext cx="7680960" cy="0"/>
          </a:xfrm>
          <a:prstGeom prst="line">
            <a:avLst/>
          </a:prstGeom>
          <a:noFill/>
          <a:ln w="6350">
            <a:solidFill>
              <a:srgbClr val="999999"/>
            </a:solidFill>
            <a:prstDash val="solid"/>
          </a:ln>
        </p:spPr>
        <p:txBody>
          <a:bodyPr/>
          <a:lstStyle/>
          <a:p>
            <a:endParaRPr lang="en-US"/>
          </a:p>
        </p:txBody>
      </p:sp>
      <p:sp>
        <p:nvSpPr>
          <p:cNvPr id="5" name="Text 3"/>
          <p:cNvSpPr/>
          <p:nvPr/>
        </p:nvSpPr>
        <p:spPr>
          <a:xfrm>
            <a:off x="731520" y="1280160"/>
            <a:ext cx="7680960" cy="320040"/>
          </a:xfrm>
          <a:prstGeom prst="rect">
            <a:avLst/>
          </a:prstGeom>
          <a:noFill/>
          <a:ln/>
        </p:spPr>
        <p:txBody>
          <a:bodyPr wrap="square" lIns="0" tIns="0" rIns="0" bIns="0" rtlCol="0" anchor="ctr"/>
          <a:lstStyle/>
          <a:p>
            <a:pPr marL="0" indent="0">
              <a:lnSpc>
                <a:spcPct val="130000"/>
              </a:lnSpc>
              <a:buNone/>
            </a:pPr>
            <a:r>
              <a:rPr lang="en-US" sz="1100" i="1" dirty="0">
                <a:solidFill>
                  <a:srgbClr val="6B6B6B"/>
                </a:solidFill>
                <a:latin typeface="Calibri" pitchFamily="34" charset="0"/>
                <a:ea typeface="Calibri" pitchFamily="34" charset="-122"/>
                <a:cs typeface="Calibri" pitchFamily="34" charset="-120"/>
              </a:rPr>
              <a:t>World Cup 2026 kicks off in June. Three sample builds — then three tracks where every analyst picks the match-day tool they want to ship.</a:t>
            </a:r>
            <a:endParaRPr lang="en-US" sz="1100" dirty="0"/>
          </a:p>
        </p:txBody>
      </p:sp>
      <p:sp>
        <p:nvSpPr>
          <p:cNvPr id="6" name="Text 4"/>
          <p:cNvSpPr/>
          <p:nvPr/>
        </p:nvSpPr>
        <p:spPr>
          <a:xfrm>
            <a:off x="731520" y="1691640"/>
            <a:ext cx="7680960" cy="182880"/>
          </a:xfrm>
          <a:prstGeom prst="rect">
            <a:avLst/>
          </a:prstGeom>
          <a:noFill/>
          <a:ln/>
        </p:spPr>
        <p:txBody>
          <a:bodyPr wrap="square" lIns="0" tIns="0" rIns="0" bIns="0" rtlCol="0" anchor="ctr"/>
          <a:lstStyle/>
          <a:p>
            <a:pPr marL="0" indent="0">
              <a:buNone/>
            </a:pPr>
            <a:r>
              <a:rPr lang="en-US" sz="850" b="1" kern="0" spc="300" dirty="0">
                <a:solidFill>
                  <a:srgbClr val="999999"/>
                </a:solidFill>
                <a:latin typeface="Calibri" pitchFamily="34" charset="0"/>
                <a:ea typeface="Calibri" pitchFamily="34" charset="-122"/>
                <a:cs typeface="Calibri" pitchFamily="34" charset="-120"/>
              </a:rPr>
              <a:t>THREE SAMPLE BUILDS</a:t>
            </a:r>
            <a:endParaRPr lang="en-US" sz="850" dirty="0"/>
          </a:p>
        </p:txBody>
      </p:sp>
      <p:sp>
        <p:nvSpPr>
          <p:cNvPr id="7" name="Shape 5"/>
          <p:cNvSpPr/>
          <p:nvPr/>
        </p:nvSpPr>
        <p:spPr>
          <a:xfrm>
            <a:off x="731520" y="1920240"/>
            <a:ext cx="2423160" cy="914400"/>
          </a:xfrm>
          <a:prstGeom prst="roundRect">
            <a:avLst>
              <a:gd name="adj" fmla="val 10000"/>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8" name="Shape 6"/>
          <p:cNvSpPr/>
          <p:nvPr/>
        </p:nvSpPr>
        <p:spPr>
          <a:xfrm>
            <a:off x="731520" y="1920240"/>
            <a:ext cx="54864" cy="914400"/>
          </a:xfrm>
          <a:prstGeom prst="rect">
            <a:avLst/>
          </a:prstGeom>
          <a:solidFill>
            <a:srgbClr val="A0824E"/>
          </a:solidFill>
          <a:ln/>
        </p:spPr>
        <p:txBody>
          <a:bodyPr/>
          <a:lstStyle/>
          <a:p>
            <a:endParaRPr lang="en-US"/>
          </a:p>
        </p:txBody>
      </p:sp>
      <p:sp>
        <p:nvSpPr>
          <p:cNvPr id="9" name="Text 7"/>
          <p:cNvSpPr/>
          <p:nvPr/>
        </p:nvSpPr>
        <p:spPr>
          <a:xfrm>
            <a:off x="896112" y="1993392"/>
            <a:ext cx="457200" cy="228600"/>
          </a:xfrm>
          <a:prstGeom prst="rect">
            <a:avLst/>
          </a:prstGeom>
          <a:noFill/>
          <a:ln/>
        </p:spPr>
        <p:txBody>
          <a:bodyPr wrap="square" lIns="0" tIns="0" rIns="0" bIns="0" rtlCol="0" anchor="ctr"/>
          <a:lstStyle/>
          <a:p>
            <a:pPr marL="0" indent="0">
              <a:buNone/>
            </a:pPr>
            <a:r>
              <a:rPr lang="en-US" sz="1100" b="1" i="1" dirty="0">
                <a:solidFill>
                  <a:srgbClr val="A0824E"/>
                </a:solidFill>
                <a:latin typeface="Georgia" pitchFamily="34" charset="0"/>
                <a:ea typeface="Georgia" pitchFamily="34" charset="-122"/>
                <a:cs typeface="Georgia" pitchFamily="34" charset="-120"/>
              </a:rPr>
              <a:t>01</a:t>
            </a:r>
            <a:endParaRPr lang="en-US" sz="1100" dirty="0"/>
          </a:p>
        </p:txBody>
      </p:sp>
      <p:sp>
        <p:nvSpPr>
          <p:cNvPr id="10" name="Text 8"/>
          <p:cNvSpPr/>
          <p:nvPr/>
        </p:nvSpPr>
        <p:spPr>
          <a:xfrm>
            <a:off x="896112" y="2176272"/>
            <a:ext cx="2148840" cy="274320"/>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Office Bracket Pool</a:t>
            </a:r>
            <a:endParaRPr lang="en-US" sz="1400" dirty="0"/>
          </a:p>
        </p:txBody>
      </p:sp>
      <p:sp>
        <p:nvSpPr>
          <p:cNvPr id="11" name="Text 9"/>
          <p:cNvSpPr/>
          <p:nvPr/>
        </p:nvSpPr>
        <p:spPr>
          <a:xfrm>
            <a:off x="896112" y="2450592"/>
            <a:ext cx="2148840" cy="256032"/>
          </a:xfrm>
          <a:prstGeom prst="rect">
            <a:avLst/>
          </a:prstGeom>
          <a:noFill/>
          <a:ln/>
        </p:spPr>
        <p:txBody>
          <a:bodyPr wrap="square" lIns="0" tIns="0" rIns="0" bIns="0" rtlCol="0" anchor="ctr"/>
          <a:lstStyle/>
          <a:p>
            <a:pPr marL="0" indent="0">
              <a:lnSpc>
                <a:spcPct val="130000"/>
              </a:lnSpc>
              <a:buNone/>
            </a:pPr>
            <a:r>
              <a:rPr lang="en-US" sz="900" dirty="0">
                <a:solidFill>
                  <a:srgbClr val="6B6B6B"/>
                </a:solidFill>
                <a:latin typeface="Calibri" pitchFamily="34" charset="0"/>
                <a:ea typeface="Calibri" pitchFamily="34" charset="-122"/>
                <a:cs typeface="Calibri" pitchFamily="34" charset="-120"/>
              </a:rPr>
              <a:t>Run the firm-wide pool — brackets, scoring, live leaderboard.</a:t>
            </a:r>
            <a:endParaRPr lang="en-US" sz="900" dirty="0"/>
          </a:p>
        </p:txBody>
      </p:sp>
      <p:sp>
        <p:nvSpPr>
          <p:cNvPr id="12" name="Text 10"/>
          <p:cNvSpPr/>
          <p:nvPr/>
        </p:nvSpPr>
        <p:spPr>
          <a:xfrm>
            <a:off x="896112" y="2633472"/>
            <a:ext cx="2148840" cy="164592"/>
          </a:xfrm>
          <a:prstGeom prst="rect">
            <a:avLst/>
          </a:prstGeom>
          <a:noFill/>
          <a:ln/>
        </p:spPr>
        <p:txBody>
          <a:bodyPr wrap="square" lIns="0" tIns="0" rIns="0" bIns="0" rtlCol="0" anchor="ctr"/>
          <a:lstStyle/>
          <a:p>
            <a:pPr marL="0" indent="0" algn="r">
              <a:buNone/>
            </a:pPr>
            <a:r>
              <a:rPr lang="en-US" sz="750" b="1" kern="0" spc="200" dirty="0">
                <a:solidFill>
                  <a:srgbClr val="A0824E"/>
                </a:solidFill>
                <a:latin typeface="Calibri" pitchFamily="34" charset="0"/>
                <a:ea typeface="Calibri" pitchFamily="34" charset="-122"/>
                <a:cs typeface="Calibri" pitchFamily="34" charset="-120"/>
              </a:rPr>
              <a:t>OFFICE</a:t>
            </a:r>
            <a:endParaRPr lang="en-US" sz="750" dirty="0"/>
          </a:p>
        </p:txBody>
      </p:sp>
      <p:sp>
        <p:nvSpPr>
          <p:cNvPr id="13" name="Shape 11"/>
          <p:cNvSpPr/>
          <p:nvPr/>
        </p:nvSpPr>
        <p:spPr>
          <a:xfrm>
            <a:off x="3337560" y="1920240"/>
            <a:ext cx="2423160" cy="914400"/>
          </a:xfrm>
          <a:prstGeom prst="roundRect">
            <a:avLst>
              <a:gd name="adj" fmla="val 10000"/>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14" name="Shape 12"/>
          <p:cNvSpPr/>
          <p:nvPr/>
        </p:nvSpPr>
        <p:spPr>
          <a:xfrm>
            <a:off x="3337560" y="1920240"/>
            <a:ext cx="54864" cy="914400"/>
          </a:xfrm>
          <a:prstGeom prst="rect">
            <a:avLst/>
          </a:prstGeom>
          <a:solidFill>
            <a:srgbClr val="A0824E"/>
          </a:solidFill>
          <a:ln/>
        </p:spPr>
        <p:txBody>
          <a:bodyPr/>
          <a:lstStyle/>
          <a:p>
            <a:endParaRPr lang="en-US"/>
          </a:p>
        </p:txBody>
      </p:sp>
      <p:sp>
        <p:nvSpPr>
          <p:cNvPr id="15" name="Text 13"/>
          <p:cNvSpPr/>
          <p:nvPr/>
        </p:nvSpPr>
        <p:spPr>
          <a:xfrm>
            <a:off x="3502152" y="1993392"/>
            <a:ext cx="457200" cy="228600"/>
          </a:xfrm>
          <a:prstGeom prst="rect">
            <a:avLst/>
          </a:prstGeom>
          <a:noFill/>
          <a:ln/>
        </p:spPr>
        <p:txBody>
          <a:bodyPr wrap="square" lIns="0" tIns="0" rIns="0" bIns="0" rtlCol="0" anchor="ctr"/>
          <a:lstStyle/>
          <a:p>
            <a:pPr marL="0" indent="0">
              <a:buNone/>
            </a:pPr>
            <a:r>
              <a:rPr lang="en-US" sz="1100" b="1" i="1" dirty="0">
                <a:solidFill>
                  <a:srgbClr val="A0824E"/>
                </a:solidFill>
                <a:latin typeface="Georgia" pitchFamily="34" charset="0"/>
                <a:ea typeface="Georgia" pitchFamily="34" charset="-122"/>
                <a:cs typeface="Georgia" pitchFamily="34" charset="-120"/>
              </a:rPr>
              <a:t>02</a:t>
            </a:r>
            <a:endParaRPr lang="en-US" sz="1100" dirty="0"/>
          </a:p>
        </p:txBody>
      </p:sp>
      <p:sp>
        <p:nvSpPr>
          <p:cNvPr id="16" name="Text 14"/>
          <p:cNvSpPr/>
          <p:nvPr/>
        </p:nvSpPr>
        <p:spPr>
          <a:xfrm>
            <a:off x="3502152" y="2176272"/>
            <a:ext cx="2148840" cy="274320"/>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Match-Day Optimizer</a:t>
            </a:r>
            <a:endParaRPr lang="en-US" sz="1400" dirty="0"/>
          </a:p>
        </p:txBody>
      </p:sp>
      <p:sp>
        <p:nvSpPr>
          <p:cNvPr id="17" name="Text 15"/>
          <p:cNvSpPr/>
          <p:nvPr/>
        </p:nvSpPr>
        <p:spPr>
          <a:xfrm>
            <a:off x="3502152" y="2450592"/>
            <a:ext cx="2148840" cy="256032"/>
          </a:xfrm>
          <a:prstGeom prst="rect">
            <a:avLst/>
          </a:prstGeom>
          <a:noFill/>
          <a:ln/>
        </p:spPr>
        <p:txBody>
          <a:bodyPr wrap="square" lIns="0" tIns="0" rIns="0" bIns="0" rtlCol="0" anchor="ctr"/>
          <a:lstStyle/>
          <a:p>
            <a:pPr marL="0" indent="0">
              <a:lnSpc>
                <a:spcPct val="130000"/>
              </a:lnSpc>
              <a:buNone/>
            </a:pPr>
            <a:r>
              <a:rPr lang="en-US" sz="900" dirty="0">
                <a:solidFill>
                  <a:srgbClr val="6B6B6B"/>
                </a:solidFill>
                <a:latin typeface="Calibri" pitchFamily="34" charset="0"/>
                <a:ea typeface="Calibri" pitchFamily="34" charset="-122"/>
                <a:cs typeface="Calibri" pitchFamily="34" charset="-120"/>
              </a:rPr>
              <a:t>Overlay match times on your calendar. Block watch breaks.</a:t>
            </a:r>
            <a:endParaRPr lang="en-US" sz="900" dirty="0"/>
          </a:p>
        </p:txBody>
      </p:sp>
      <p:sp>
        <p:nvSpPr>
          <p:cNvPr id="18" name="Text 16"/>
          <p:cNvSpPr/>
          <p:nvPr/>
        </p:nvSpPr>
        <p:spPr>
          <a:xfrm>
            <a:off x="3502152" y="2633472"/>
            <a:ext cx="2148840" cy="164592"/>
          </a:xfrm>
          <a:prstGeom prst="rect">
            <a:avLst/>
          </a:prstGeom>
          <a:noFill/>
          <a:ln/>
        </p:spPr>
        <p:txBody>
          <a:bodyPr wrap="square" lIns="0" tIns="0" rIns="0" bIns="0" rtlCol="0" anchor="ctr"/>
          <a:lstStyle/>
          <a:p>
            <a:pPr marL="0" indent="0" algn="r">
              <a:buNone/>
            </a:pPr>
            <a:r>
              <a:rPr lang="en-US" sz="750" b="1" kern="0" spc="200" dirty="0">
                <a:solidFill>
                  <a:srgbClr val="A0824E"/>
                </a:solidFill>
                <a:latin typeface="Calibri" pitchFamily="34" charset="0"/>
                <a:ea typeface="Calibri" pitchFamily="34" charset="-122"/>
                <a:cs typeface="Calibri" pitchFamily="34" charset="-120"/>
              </a:rPr>
              <a:t>MATCH DAY</a:t>
            </a:r>
            <a:endParaRPr lang="en-US" sz="750" dirty="0"/>
          </a:p>
        </p:txBody>
      </p:sp>
      <p:sp>
        <p:nvSpPr>
          <p:cNvPr id="19" name="Shape 17"/>
          <p:cNvSpPr/>
          <p:nvPr/>
        </p:nvSpPr>
        <p:spPr>
          <a:xfrm>
            <a:off x="5943600" y="1920240"/>
            <a:ext cx="2423160" cy="914400"/>
          </a:xfrm>
          <a:prstGeom prst="roundRect">
            <a:avLst>
              <a:gd name="adj" fmla="val 10000"/>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20" name="Shape 18"/>
          <p:cNvSpPr/>
          <p:nvPr/>
        </p:nvSpPr>
        <p:spPr>
          <a:xfrm>
            <a:off x="5943600" y="1920240"/>
            <a:ext cx="54864" cy="914400"/>
          </a:xfrm>
          <a:prstGeom prst="rect">
            <a:avLst/>
          </a:prstGeom>
          <a:solidFill>
            <a:srgbClr val="A0824E"/>
          </a:solidFill>
          <a:ln/>
        </p:spPr>
        <p:txBody>
          <a:bodyPr/>
          <a:lstStyle/>
          <a:p>
            <a:endParaRPr lang="en-US"/>
          </a:p>
        </p:txBody>
      </p:sp>
      <p:sp>
        <p:nvSpPr>
          <p:cNvPr id="21" name="Text 19"/>
          <p:cNvSpPr/>
          <p:nvPr/>
        </p:nvSpPr>
        <p:spPr>
          <a:xfrm>
            <a:off x="6108192" y="1993392"/>
            <a:ext cx="457200" cy="228600"/>
          </a:xfrm>
          <a:prstGeom prst="rect">
            <a:avLst/>
          </a:prstGeom>
          <a:noFill/>
          <a:ln/>
        </p:spPr>
        <p:txBody>
          <a:bodyPr wrap="square" lIns="0" tIns="0" rIns="0" bIns="0" rtlCol="0" anchor="ctr"/>
          <a:lstStyle/>
          <a:p>
            <a:pPr marL="0" indent="0">
              <a:buNone/>
            </a:pPr>
            <a:r>
              <a:rPr lang="en-US" sz="1100" b="1" i="1" dirty="0">
                <a:solidFill>
                  <a:srgbClr val="A0824E"/>
                </a:solidFill>
                <a:latin typeface="Georgia" pitchFamily="34" charset="0"/>
                <a:ea typeface="Georgia" pitchFamily="34" charset="-122"/>
                <a:cs typeface="Georgia" pitchFamily="34" charset="-120"/>
              </a:rPr>
              <a:t>03</a:t>
            </a:r>
            <a:endParaRPr lang="en-US" sz="1100" dirty="0"/>
          </a:p>
        </p:txBody>
      </p:sp>
      <p:sp>
        <p:nvSpPr>
          <p:cNvPr id="22" name="Text 20"/>
          <p:cNvSpPr/>
          <p:nvPr/>
        </p:nvSpPr>
        <p:spPr>
          <a:xfrm>
            <a:off x="6108192" y="2176272"/>
            <a:ext cx="2148840" cy="274320"/>
          </a:xfrm>
          <a:prstGeom prst="rect">
            <a:avLst/>
          </a:prstGeom>
          <a:noFill/>
          <a:ln/>
        </p:spPr>
        <p:txBody>
          <a:bodyPr wrap="square" lIns="0" tIns="0" rIns="0" bIns="0" rtlCol="0" anchor="ctr"/>
          <a:lstStyle/>
          <a:p>
            <a:pPr marL="0" indent="0">
              <a:buNone/>
            </a:pPr>
            <a:r>
              <a:rPr lang="en-US" sz="1400" i="1" dirty="0">
                <a:solidFill>
                  <a:srgbClr val="2D2D2D"/>
                </a:solidFill>
                <a:latin typeface="Georgia" pitchFamily="34" charset="0"/>
                <a:ea typeface="Georgia" pitchFamily="34" charset="-122"/>
                <a:cs typeface="Georgia" pitchFamily="34" charset="-120"/>
              </a:rPr>
              <a:t>Country Brief Generator</a:t>
            </a:r>
            <a:endParaRPr lang="en-US" sz="1400" dirty="0"/>
          </a:p>
        </p:txBody>
      </p:sp>
      <p:sp>
        <p:nvSpPr>
          <p:cNvPr id="23" name="Text 21"/>
          <p:cNvSpPr/>
          <p:nvPr/>
        </p:nvSpPr>
        <p:spPr>
          <a:xfrm>
            <a:off x="6108192" y="2450592"/>
            <a:ext cx="2148840" cy="256032"/>
          </a:xfrm>
          <a:prstGeom prst="rect">
            <a:avLst/>
          </a:prstGeom>
          <a:noFill/>
          <a:ln/>
        </p:spPr>
        <p:txBody>
          <a:bodyPr wrap="square" lIns="0" tIns="0" rIns="0" bIns="0" rtlCol="0" anchor="ctr"/>
          <a:lstStyle/>
          <a:p>
            <a:pPr marL="0" indent="0">
              <a:lnSpc>
                <a:spcPct val="130000"/>
              </a:lnSpc>
              <a:buNone/>
            </a:pPr>
            <a:r>
              <a:rPr lang="en-US" sz="900" dirty="0">
                <a:solidFill>
                  <a:srgbClr val="6B6B6B"/>
                </a:solidFill>
                <a:latin typeface="Calibri" pitchFamily="34" charset="0"/>
                <a:ea typeface="Calibri" pitchFamily="34" charset="-122"/>
                <a:cs typeface="Calibri" pitchFamily="34" charset="-120"/>
              </a:rPr>
              <a:t>A one-pager on any of the 48 nations — history, stars, facts.</a:t>
            </a:r>
            <a:endParaRPr lang="en-US" sz="900" dirty="0"/>
          </a:p>
        </p:txBody>
      </p:sp>
      <p:sp>
        <p:nvSpPr>
          <p:cNvPr id="24" name="Text 22"/>
          <p:cNvSpPr/>
          <p:nvPr/>
        </p:nvSpPr>
        <p:spPr>
          <a:xfrm>
            <a:off x="6108192" y="2633472"/>
            <a:ext cx="2148840" cy="164592"/>
          </a:xfrm>
          <a:prstGeom prst="rect">
            <a:avLst/>
          </a:prstGeom>
          <a:noFill/>
          <a:ln/>
        </p:spPr>
        <p:txBody>
          <a:bodyPr wrap="square" lIns="0" tIns="0" rIns="0" bIns="0" rtlCol="0" anchor="ctr"/>
          <a:lstStyle/>
          <a:p>
            <a:pPr marL="0" indent="0" algn="r">
              <a:buNone/>
            </a:pPr>
            <a:r>
              <a:rPr lang="en-US" sz="750" b="1" kern="0" spc="200" dirty="0">
                <a:solidFill>
                  <a:srgbClr val="A0824E"/>
                </a:solidFill>
                <a:latin typeface="Calibri" pitchFamily="34" charset="0"/>
                <a:ea typeface="Calibri" pitchFamily="34" charset="-122"/>
                <a:cs typeface="Calibri" pitchFamily="34" charset="-120"/>
              </a:rPr>
              <a:t>SUPERFAN</a:t>
            </a:r>
            <a:endParaRPr lang="en-US" sz="750" dirty="0"/>
          </a:p>
        </p:txBody>
      </p:sp>
      <p:sp>
        <p:nvSpPr>
          <p:cNvPr id="25" name="Shape 23"/>
          <p:cNvSpPr/>
          <p:nvPr/>
        </p:nvSpPr>
        <p:spPr>
          <a:xfrm>
            <a:off x="731520" y="3035808"/>
            <a:ext cx="3108960" cy="0"/>
          </a:xfrm>
          <a:prstGeom prst="line">
            <a:avLst/>
          </a:prstGeom>
          <a:noFill/>
          <a:ln w="6350">
            <a:solidFill>
              <a:srgbClr val="999999"/>
            </a:solidFill>
            <a:prstDash val="solid"/>
          </a:ln>
        </p:spPr>
        <p:txBody>
          <a:bodyPr/>
          <a:lstStyle/>
          <a:p>
            <a:endParaRPr lang="en-US"/>
          </a:p>
        </p:txBody>
      </p:sp>
      <p:sp>
        <p:nvSpPr>
          <p:cNvPr id="26" name="Text 24"/>
          <p:cNvSpPr/>
          <p:nvPr/>
        </p:nvSpPr>
        <p:spPr>
          <a:xfrm>
            <a:off x="3840480" y="2944368"/>
            <a:ext cx="1463040" cy="201168"/>
          </a:xfrm>
          <a:prstGeom prst="rect">
            <a:avLst/>
          </a:prstGeom>
          <a:noFill/>
          <a:ln/>
        </p:spPr>
        <p:txBody>
          <a:bodyPr wrap="square" lIns="0" tIns="0" rIns="0" bIns="0" rtlCol="0" anchor="ctr"/>
          <a:lstStyle/>
          <a:p>
            <a:pPr marL="0" indent="0" algn="ctr">
              <a:buNone/>
            </a:pPr>
            <a:r>
              <a:rPr lang="en-US" sz="850" b="1" kern="0" spc="300" dirty="0">
                <a:solidFill>
                  <a:srgbClr val="999999"/>
                </a:solidFill>
                <a:latin typeface="Calibri" pitchFamily="34" charset="0"/>
                <a:ea typeface="Calibri" pitchFamily="34" charset="-122"/>
                <a:cs typeface="Calibri" pitchFamily="34" charset="-120"/>
              </a:rPr>
              <a:t>OR PICK A TRACK</a:t>
            </a:r>
            <a:endParaRPr lang="en-US" sz="850" dirty="0"/>
          </a:p>
        </p:txBody>
      </p:sp>
      <p:sp>
        <p:nvSpPr>
          <p:cNvPr id="27" name="Shape 25"/>
          <p:cNvSpPr/>
          <p:nvPr/>
        </p:nvSpPr>
        <p:spPr>
          <a:xfrm>
            <a:off x="5303520" y="3035808"/>
            <a:ext cx="3108960" cy="0"/>
          </a:xfrm>
          <a:prstGeom prst="line">
            <a:avLst/>
          </a:prstGeom>
          <a:noFill/>
          <a:ln w="6350">
            <a:solidFill>
              <a:srgbClr val="999999"/>
            </a:solidFill>
            <a:prstDash val="solid"/>
          </a:ln>
        </p:spPr>
        <p:txBody>
          <a:bodyPr/>
          <a:lstStyle/>
          <a:p>
            <a:endParaRPr lang="en-US"/>
          </a:p>
        </p:txBody>
      </p:sp>
      <p:sp>
        <p:nvSpPr>
          <p:cNvPr id="28" name="Shape 26"/>
          <p:cNvSpPr/>
          <p:nvPr/>
        </p:nvSpPr>
        <p:spPr>
          <a:xfrm>
            <a:off x="731520" y="3246120"/>
            <a:ext cx="2423160" cy="1554480"/>
          </a:xfrm>
          <a:prstGeom prst="roundRect">
            <a:avLst>
              <a:gd name="adj" fmla="val 5882"/>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29" name="Shape 27"/>
          <p:cNvSpPr/>
          <p:nvPr/>
        </p:nvSpPr>
        <p:spPr>
          <a:xfrm>
            <a:off x="731520" y="3246120"/>
            <a:ext cx="54864" cy="1554480"/>
          </a:xfrm>
          <a:prstGeom prst="rect">
            <a:avLst/>
          </a:prstGeom>
          <a:solidFill>
            <a:srgbClr val="1B2A4A"/>
          </a:solidFill>
          <a:ln/>
        </p:spPr>
        <p:txBody>
          <a:bodyPr/>
          <a:lstStyle/>
          <a:p>
            <a:endParaRPr lang="en-US"/>
          </a:p>
        </p:txBody>
      </p:sp>
      <p:sp>
        <p:nvSpPr>
          <p:cNvPr id="30" name="Text 28"/>
          <p:cNvSpPr/>
          <p:nvPr/>
        </p:nvSpPr>
        <p:spPr>
          <a:xfrm>
            <a:off x="914400" y="3337560"/>
            <a:ext cx="2148840" cy="182880"/>
          </a:xfrm>
          <a:prstGeom prst="rect">
            <a:avLst/>
          </a:prstGeom>
          <a:noFill/>
          <a:ln/>
        </p:spPr>
        <p:txBody>
          <a:bodyPr wrap="square" lIns="0" tIns="0" rIns="0" bIns="0" rtlCol="0" anchor="ctr"/>
          <a:lstStyle/>
          <a:p>
            <a:pPr marL="0" indent="0">
              <a:buNone/>
            </a:pPr>
            <a:r>
              <a:rPr lang="en-US" sz="800" b="1" kern="0" spc="300" dirty="0">
                <a:solidFill>
                  <a:srgbClr val="A0824E"/>
                </a:solidFill>
                <a:latin typeface="Calibri" pitchFamily="34" charset="0"/>
                <a:ea typeface="Calibri" pitchFamily="34" charset="-122"/>
                <a:cs typeface="Calibri" pitchFamily="34" charset="-120"/>
              </a:rPr>
              <a:t>TRACK A</a:t>
            </a:r>
            <a:endParaRPr lang="en-US" sz="800" dirty="0"/>
          </a:p>
        </p:txBody>
      </p:sp>
      <p:sp>
        <p:nvSpPr>
          <p:cNvPr id="31" name="Text 29"/>
          <p:cNvSpPr/>
          <p:nvPr/>
        </p:nvSpPr>
        <p:spPr>
          <a:xfrm>
            <a:off x="914400" y="3520440"/>
            <a:ext cx="2148840" cy="274320"/>
          </a:xfrm>
          <a:prstGeom prst="rect">
            <a:avLst/>
          </a:prstGeom>
          <a:noFill/>
          <a:ln/>
        </p:spPr>
        <p:txBody>
          <a:bodyPr wrap="square" lIns="0" tIns="0" rIns="0" bIns="0" rtlCol="0" anchor="ctr"/>
          <a:lstStyle/>
          <a:p>
            <a:pPr marL="0" indent="0">
              <a:buNone/>
            </a:pPr>
            <a:r>
              <a:rPr lang="en-US" sz="1300" i="1" dirty="0">
                <a:solidFill>
                  <a:srgbClr val="2D2D2D"/>
                </a:solidFill>
                <a:latin typeface="Georgia" pitchFamily="34" charset="0"/>
                <a:ea typeface="Georgia" pitchFamily="34" charset="-122"/>
                <a:cs typeface="Georgia" pitchFamily="34" charset="-120"/>
              </a:rPr>
              <a:t>For the Office</a:t>
            </a:r>
            <a:endParaRPr lang="en-US" sz="1300" dirty="0"/>
          </a:p>
        </p:txBody>
      </p:sp>
      <p:sp>
        <p:nvSpPr>
          <p:cNvPr id="32" name="Shape 30"/>
          <p:cNvSpPr/>
          <p:nvPr/>
        </p:nvSpPr>
        <p:spPr>
          <a:xfrm>
            <a:off x="914400" y="3813048"/>
            <a:ext cx="2057400" cy="0"/>
          </a:xfrm>
          <a:prstGeom prst="line">
            <a:avLst/>
          </a:prstGeom>
          <a:noFill/>
          <a:ln w="6350">
            <a:solidFill>
              <a:srgbClr val="999999"/>
            </a:solidFill>
            <a:prstDash val="solid"/>
          </a:ln>
        </p:spPr>
        <p:txBody>
          <a:bodyPr/>
          <a:lstStyle/>
          <a:p>
            <a:endParaRPr lang="en-US"/>
          </a:p>
        </p:txBody>
      </p:sp>
      <p:sp>
        <p:nvSpPr>
          <p:cNvPr id="33" name="Shape 31"/>
          <p:cNvSpPr/>
          <p:nvPr/>
        </p:nvSpPr>
        <p:spPr>
          <a:xfrm>
            <a:off x="932688" y="3959352"/>
            <a:ext cx="45720" cy="45720"/>
          </a:xfrm>
          <a:prstGeom prst="ellipse">
            <a:avLst/>
          </a:prstGeom>
          <a:solidFill>
            <a:srgbClr val="A0824E"/>
          </a:solidFill>
          <a:ln w="12700">
            <a:solidFill>
              <a:srgbClr val="A0824E"/>
            </a:solidFill>
            <a:prstDash val="solid"/>
          </a:ln>
        </p:spPr>
        <p:txBody>
          <a:bodyPr/>
          <a:lstStyle/>
          <a:p>
            <a:endParaRPr lang="en-US"/>
          </a:p>
        </p:txBody>
      </p:sp>
      <p:sp>
        <p:nvSpPr>
          <p:cNvPr id="34" name="Text 32"/>
          <p:cNvSpPr/>
          <p:nvPr/>
        </p:nvSpPr>
        <p:spPr>
          <a:xfrm>
            <a:off x="1051560" y="3904488"/>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Bracket Pool Manager</a:t>
            </a:r>
            <a:endParaRPr lang="en-US" sz="950" dirty="0"/>
          </a:p>
        </p:txBody>
      </p:sp>
      <p:sp>
        <p:nvSpPr>
          <p:cNvPr id="35" name="Shape 33"/>
          <p:cNvSpPr/>
          <p:nvPr/>
        </p:nvSpPr>
        <p:spPr>
          <a:xfrm>
            <a:off x="932688" y="4123944"/>
            <a:ext cx="45720" cy="45720"/>
          </a:xfrm>
          <a:prstGeom prst="ellipse">
            <a:avLst/>
          </a:prstGeom>
          <a:solidFill>
            <a:srgbClr val="A0824E"/>
          </a:solidFill>
          <a:ln w="12700">
            <a:solidFill>
              <a:srgbClr val="A0824E"/>
            </a:solidFill>
            <a:prstDash val="solid"/>
          </a:ln>
        </p:spPr>
        <p:txBody>
          <a:bodyPr/>
          <a:lstStyle/>
          <a:p>
            <a:endParaRPr lang="en-US"/>
          </a:p>
        </p:txBody>
      </p:sp>
      <p:sp>
        <p:nvSpPr>
          <p:cNvPr id="36" name="Text 34"/>
          <p:cNvSpPr/>
          <p:nvPr/>
        </p:nvSpPr>
        <p:spPr>
          <a:xfrm>
            <a:off x="1051560" y="4069080"/>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Live Predictions Slack Bot</a:t>
            </a:r>
            <a:endParaRPr lang="en-US" sz="950" dirty="0"/>
          </a:p>
        </p:txBody>
      </p:sp>
      <p:sp>
        <p:nvSpPr>
          <p:cNvPr id="37" name="Shape 35"/>
          <p:cNvSpPr/>
          <p:nvPr/>
        </p:nvSpPr>
        <p:spPr>
          <a:xfrm>
            <a:off x="932688" y="4288536"/>
            <a:ext cx="45720" cy="45720"/>
          </a:xfrm>
          <a:prstGeom prst="ellipse">
            <a:avLst/>
          </a:prstGeom>
          <a:solidFill>
            <a:srgbClr val="A0824E"/>
          </a:solidFill>
          <a:ln w="12700">
            <a:solidFill>
              <a:srgbClr val="A0824E"/>
            </a:solidFill>
            <a:prstDash val="solid"/>
          </a:ln>
        </p:spPr>
        <p:txBody>
          <a:bodyPr/>
          <a:lstStyle/>
          <a:p>
            <a:endParaRPr lang="en-US"/>
          </a:p>
        </p:txBody>
      </p:sp>
      <p:sp>
        <p:nvSpPr>
          <p:cNvPr id="38" name="Text 36"/>
          <p:cNvSpPr/>
          <p:nvPr/>
        </p:nvSpPr>
        <p:spPr>
          <a:xfrm>
            <a:off x="1051560" y="4233672"/>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Watch Party Planner</a:t>
            </a:r>
            <a:endParaRPr lang="en-US" sz="950" dirty="0"/>
          </a:p>
        </p:txBody>
      </p:sp>
      <p:sp>
        <p:nvSpPr>
          <p:cNvPr id="39" name="Shape 37"/>
          <p:cNvSpPr/>
          <p:nvPr/>
        </p:nvSpPr>
        <p:spPr>
          <a:xfrm>
            <a:off x="932688" y="4453128"/>
            <a:ext cx="45720" cy="45720"/>
          </a:xfrm>
          <a:prstGeom prst="ellipse">
            <a:avLst/>
          </a:prstGeom>
          <a:solidFill>
            <a:srgbClr val="A0824E"/>
          </a:solidFill>
          <a:ln w="12700">
            <a:solidFill>
              <a:srgbClr val="A0824E"/>
            </a:solidFill>
            <a:prstDash val="solid"/>
          </a:ln>
        </p:spPr>
        <p:txBody>
          <a:bodyPr/>
          <a:lstStyle/>
          <a:p>
            <a:endParaRPr lang="en-US"/>
          </a:p>
        </p:txBody>
      </p:sp>
      <p:sp>
        <p:nvSpPr>
          <p:cNvPr id="40" name="Text 38"/>
          <p:cNvSpPr/>
          <p:nvPr/>
        </p:nvSpPr>
        <p:spPr>
          <a:xfrm>
            <a:off x="1051560" y="4398264"/>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Sweepstakes Drawer</a:t>
            </a:r>
            <a:endParaRPr lang="en-US" sz="950" dirty="0"/>
          </a:p>
        </p:txBody>
      </p:sp>
      <p:sp>
        <p:nvSpPr>
          <p:cNvPr id="41" name="Shape 39"/>
          <p:cNvSpPr/>
          <p:nvPr/>
        </p:nvSpPr>
        <p:spPr>
          <a:xfrm>
            <a:off x="932688" y="4617720"/>
            <a:ext cx="45720" cy="45720"/>
          </a:xfrm>
          <a:prstGeom prst="ellipse">
            <a:avLst/>
          </a:prstGeom>
          <a:solidFill>
            <a:srgbClr val="A0824E"/>
          </a:solidFill>
          <a:ln w="12700">
            <a:solidFill>
              <a:srgbClr val="A0824E"/>
            </a:solidFill>
            <a:prstDash val="solid"/>
          </a:ln>
        </p:spPr>
        <p:txBody>
          <a:bodyPr/>
          <a:lstStyle/>
          <a:p>
            <a:endParaRPr lang="en-US"/>
          </a:p>
        </p:txBody>
      </p:sp>
      <p:sp>
        <p:nvSpPr>
          <p:cNvPr id="42" name="Text 40"/>
          <p:cNvSpPr/>
          <p:nvPr/>
        </p:nvSpPr>
        <p:spPr>
          <a:xfrm>
            <a:off x="1051560" y="4562856"/>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Trash-Talk Generator</a:t>
            </a:r>
            <a:endParaRPr lang="en-US" sz="950" dirty="0"/>
          </a:p>
        </p:txBody>
      </p:sp>
      <p:sp>
        <p:nvSpPr>
          <p:cNvPr id="43" name="Shape 41"/>
          <p:cNvSpPr/>
          <p:nvPr/>
        </p:nvSpPr>
        <p:spPr>
          <a:xfrm>
            <a:off x="3337560" y="3246120"/>
            <a:ext cx="2423160" cy="1554480"/>
          </a:xfrm>
          <a:prstGeom prst="roundRect">
            <a:avLst>
              <a:gd name="adj" fmla="val 5882"/>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44" name="Shape 42"/>
          <p:cNvSpPr/>
          <p:nvPr/>
        </p:nvSpPr>
        <p:spPr>
          <a:xfrm>
            <a:off x="3337560" y="3246120"/>
            <a:ext cx="54864" cy="1554480"/>
          </a:xfrm>
          <a:prstGeom prst="rect">
            <a:avLst/>
          </a:prstGeom>
          <a:solidFill>
            <a:srgbClr val="1B2A4A"/>
          </a:solidFill>
          <a:ln/>
        </p:spPr>
        <p:txBody>
          <a:bodyPr/>
          <a:lstStyle/>
          <a:p>
            <a:endParaRPr lang="en-US"/>
          </a:p>
        </p:txBody>
      </p:sp>
      <p:sp>
        <p:nvSpPr>
          <p:cNvPr id="45" name="Text 43"/>
          <p:cNvSpPr/>
          <p:nvPr/>
        </p:nvSpPr>
        <p:spPr>
          <a:xfrm>
            <a:off x="3520440" y="3337560"/>
            <a:ext cx="2148840" cy="182880"/>
          </a:xfrm>
          <a:prstGeom prst="rect">
            <a:avLst/>
          </a:prstGeom>
          <a:noFill/>
          <a:ln/>
        </p:spPr>
        <p:txBody>
          <a:bodyPr wrap="square" lIns="0" tIns="0" rIns="0" bIns="0" rtlCol="0" anchor="ctr"/>
          <a:lstStyle/>
          <a:p>
            <a:pPr marL="0" indent="0">
              <a:buNone/>
            </a:pPr>
            <a:r>
              <a:rPr lang="en-US" sz="800" b="1" kern="0" spc="300" dirty="0">
                <a:solidFill>
                  <a:srgbClr val="A0824E"/>
                </a:solidFill>
                <a:latin typeface="Calibri" pitchFamily="34" charset="0"/>
                <a:ea typeface="Calibri" pitchFamily="34" charset="-122"/>
                <a:cs typeface="Calibri" pitchFamily="34" charset="-120"/>
              </a:rPr>
              <a:t>TRACK B</a:t>
            </a:r>
            <a:endParaRPr lang="en-US" sz="800" dirty="0"/>
          </a:p>
        </p:txBody>
      </p:sp>
      <p:sp>
        <p:nvSpPr>
          <p:cNvPr id="46" name="Text 44"/>
          <p:cNvSpPr/>
          <p:nvPr/>
        </p:nvSpPr>
        <p:spPr>
          <a:xfrm>
            <a:off x="3520440" y="3520440"/>
            <a:ext cx="2148840" cy="274320"/>
          </a:xfrm>
          <a:prstGeom prst="rect">
            <a:avLst/>
          </a:prstGeom>
          <a:noFill/>
          <a:ln/>
        </p:spPr>
        <p:txBody>
          <a:bodyPr wrap="square" lIns="0" tIns="0" rIns="0" bIns="0" rtlCol="0" anchor="ctr"/>
          <a:lstStyle/>
          <a:p>
            <a:pPr marL="0" indent="0">
              <a:buNone/>
            </a:pPr>
            <a:r>
              <a:rPr lang="en-US" sz="1300" i="1" dirty="0">
                <a:solidFill>
                  <a:srgbClr val="2D2D2D"/>
                </a:solidFill>
                <a:latin typeface="Georgia" pitchFamily="34" charset="0"/>
                <a:ea typeface="Georgia" pitchFamily="34" charset="-122"/>
                <a:cs typeface="Georgia" pitchFamily="34" charset="-120"/>
              </a:rPr>
              <a:t>For Match Day</a:t>
            </a:r>
            <a:endParaRPr lang="en-US" sz="1300" dirty="0"/>
          </a:p>
        </p:txBody>
      </p:sp>
      <p:sp>
        <p:nvSpPr>
          <p:cNvPr id="47" name="Shape 45"/>
          <p:cNvSpPr/>
          <p:nvPr/>
        </p:nvSpPr>
        <p:spPr>
          <a:xfrm>
            <a:off x="3520440" y="3813048"/>
            <a:ext cx="2057400" cy="0"/>
          </a:xfrm>
          <a:prstGeom prst="line">
            <a:avLst/>
          </a:prstGeom>
          <a:noFill/>
          <a:ln w="6350">
            <a:solidFill>
              <a:srgbClr val="999999"/>
            </a:solidFill>
            <a:prstDash val="solid"/>
          </a:ln>
        </p:spPr>
        <p:txBody>
          <a:bodyPr/>
          <a:lstStyle/>
          <a:p>
            <a:endParaRPr lang="en-US"/>
          </a:p>
        </p:txBody>
      </p:sp>
      <p:sp>
        <p:nvSpPr>
          <p:cNvPr id="48" name="Shape 46"/>
          <p:cNvSpPr/>
          <p:nvPr/>
        </p:nvSpPr>
        <p:spPr>
          <a:xfrm>
            <a:off x="3538728" y="3959352"/>
            <a:ext cx="45720" cy="45720"/>
          </a:xfrm>
          <a:prstGeom prst="ellipse">
            <a:avLst/>
          </a:prstGeom>
          <a:solidFill>
            <a:srgbClr val="A0824E"/>
          </a:solidFill>
          <a:ln w="12700">
            <a:solidFill>
              <a:srgbClr val="A0824E"/>
            </a:solidFill>
            <a:prstDash val="solid"/>
          </a:ln>
        </p:spPr>
        <p:txBody>
          <a:bodyPr/>
          <a:lstStyle/>
          <a:p>
            <a:endParaRPr lang="en-US"/>
          </a:p>
        </p:txBody>
      </p:sp>
      <p:sp>
        <p:nvSpPr>
          <p:cNvPr id="49" name="Text 47"/>
          <p:cNvSpPr/>
          <p:nvPr/>
        </p:nvSpPr>
        <p:spPr>
          <a:xfrm>
            <a:off x="3657600" y="3904488"/>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Schedule Optimizer</a:t>
            </a:r>
            <a:endParaRPr lang="en-US" sz="950" dirty="0"/>
          </a:p>
        </p:txBody>
      </p:sp>
      <p:sp>
        <p:nvSpPr>
          <p:cNvPr id="50" name="Shape 48"/>
          <p:cNvSpPr/>
          <p:nvPr/>
        </p:nvSpPr>
        <p:spPr>
          <a:xfrm>
            <a:off x="3538728" y="4123944"/>
            <a:ext cx="45720" cy="45720"/>
          </a:xfrm>
          <a:prstGeom prst="ellipse">
            <a:avLst/>
          </a:prstGeom>
          <a:solidFill>
            <a:srgbClr val="A0824E"/>
          </a:solidFill>
          <a:ln w="12700">
            <a:solidFill>
              <a:srgbClr val="A0824E"/>
            </a:solidFill>
            <a:prstDash val="solid"/>
          </a:ln>
        </p:spPr>
        <p:txBody>
          <a:bodyPr/>
          <a:lstStyle/>
          <a:p>
            <a:endParaRPr lang="en-US"/>
          </a:p>
        </p:txBody>
      </p:sp>
      <p:sp>
        <p:nvSpPr>
          <p:cNvPr id="51" name="Text 49"/>
          <p:cNvSpPr/>
          <p:nvPr/>
        </p:nvSpPr>
        <p:spPr>
          <a:xfrm>
            <a:off x="3657600" y="4069080"/>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Personalized Highlights Reel</a:t>
            </a:r>
            <a:endParaRPr lang="en-US" sz="950" dirty="0"/>
          </a:p>
        </p:txBody>
      </p:sp>
      <p:sp>
        <p:nvSpPr>
          <p:cNvPr id="52" name="Shape 50"/>
          <p:cNvSpPr/>
          <p:nvPr/>
        </p:nvSpPr>
        <p:spPr>
          <a:xfrm>
            <a:off x="3538728" y="4288536"/>
            <a:ext cx="45720" cy="45720"/>
          </a:xfrm>
          <a:prstGeom prst="ellipse">
            <a:avLst/>
          </a:prstGeom>
          <a:solidFill>
            <a:srgbClr val="A0824E"/>
          </a:solidFill>
          <a:ln w="12700">
            <a:solidFill>
              <a:srgbClr val="A0824E"/>
            </a:solidFill>
            <a:prstDash val="solid"/>
          </a:ln>
        </p:spPr>
        <p:txBody>
          <a:bodyPr/>
          <a:lstStyle/>
          <a:p>
            <a:endParaRPr lang="en-US"/>
          </a:p>
        </p:txBody>
      </p:sp>
      <p:sp>
        <p:nvSpPr>
          <p:cNvPr id="53" name="Text 51"/>
          <p:cNvSpPr/>
          <p:nvPr/>
        </p:nvSpPr>
        <p:spPr>
          <a:xfrm>
            <a:off x="3657600" y="4233672"/>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Goal Notifier Bot</a:t>
            </a:r>
            <a:endParaRPr lang="en-US" sz="950" dirty="0"/>
          </a:p>
        </p:txBody>
      </p:sp>
      <p:sp>
        <p:nvSpPr>
          <p:cNvPr id="54" name="Shape 52"/>
          <p:cNvSpPr/>
          <p:nvPr/>
        </p:nvSpPr>
        <p:spPr>
          <a:xfrm>
            <a:off x="3538728" y="4453128"/>
            <a:ext cx="45720" cy="45720"/>
          </a:xfrm>
          <a:prstGeom prst="ellipse">
            <a:avLst/>
          </a:prstGeom>
          <a:solidFill>
            <a:srgbClr val="A0824E"/>
          </a:solidFill>
          <a:ln w="12700">
            <a:solidFill>
              <a:srgbClr val="A0824E"/>
            </a:solidFill>
            <a:prstDash val="solid"/>
          </a:ln>
        </p:spPr>
        <p:txBody>
          <a:bodyPr/>
          <a:lstStyle/>
          <a:p>
            <a:endParaRPr lang="en-US"/>
          </a:p>
        </p:txBody>
      </p:sp>
      <p:sp>
        <p:nvSpPr>
          <p:cNvPr id="55" name="Text 53"/>
          <p:cNvSpPr/>
          <p:nvPr/>
        </p:nvSpPr>
        <p:spPr>
          <a:xfrm>
            <a:off x="3657600" y="4398264"/>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Multilingual Score Reader</a:t>
            </a:r>
            <a:endParaRPr lang="en-US" sz="950" dirty="0"/>
          </a:p>
        </p:txBody>
      </p:sp>
      <p:sp>
        <p:nvSpPr>
          <p:cNvPr id="56" name="Shape 54"/>
          <p:cNvSpPr/>
          <p:nvPr/>
        </p:nvSpPr>
        <p:spPr>
          <a:xfrm>
            <a:off x="3538728" y="4617720"/>
            <a:ext cx="45720" cy="45720"/>
          </a:xfrm>
          <a:prstGeom prst="ellipse">
            <a:avLst/>
          </a:prstGeom>
          <a:solidFill>
            <a:srgbClr val="A0824E"/>
          </a:solidFill>
          <a:ln w="12700">
            <a:solidFill>
              <a:srgbClr val="A0824E"/>
            </a:solidFill>
            <a:prstDash val="solid"/>
          </a:ln>
        </p:spPr>
        <p:txBody>
          <a:bodyPr/>
          <a:lstStyle/>
          <a:p>
            <a:endParaRPr lang="en-US"/>
          </a:p>
        </p:txBody>
      </p:sp>
      <p:sp>
        <p:nvSpPr>
          <p:cNvPr id="57" name="Text 55"/>
          <p:cNvSpPr/>
          <p:nvPr/>
        </p:nvSpPr>
        <p:spPr>
          <a:xfrm>
            <a:off x="3657600" y="4562856"/>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Match-Day Playlist Curator</a:t>
            </a:r>
            <a:endParaRPr lang="en-US" sz="950" dirty="0"/>
          </a:p>
        </p:txBody>
      </p:sp>
      <p:sp>
        <p:nvSpPr>
          <p:cNvPr id="58" name="Shape 56"/>
          <p:cNvSpPr/>
          <p:nvPr/>
        </p:nvSpPr>
        <p:spPr>
          <a:xfrm>
            <a:off x="5943600" y="3246120"/>
            <a:ext cx="2423160" cy="1554480"/>
          </a:xfrm>
          <a:prstGeom prst="roundRect">
            <a:avLst>
              <a:gd name="adj" fmla="val 5882"/>
            </a:avLst>
          </a:prstGeom>
          <a:solidFill>
            <a:srgbClr val="F9F5F0"/>
          </a:solidFill>
          <a:ln/>
          <a:effectLst>
            <a:outerShdw blurRad="38100" dist="12700" dir="8100000" algn="bl" rotWithShape="0">
              <a:srgbClr val="000000">
                <a:alpha val="8000"/>
              </a:srgbClr>
            </a:outerShdw>
          </a:effectLst>
        </p:spPr>
        <p:txBody>
          <a:bodyPr/>
          <a:lstStyle/>
          <a:p>
            <a:endParaRPr lang="en-US"/>
          </a:p>
        </p:txBody>
      </p:sp>
      <p:sp>
        <p:nvSpPr>
          <p:cNvPr id="59" name="Shape 57"/>
          <p:cNvSpPr/>
          <p:nvPr/>
        </p:nvSpPr>
        <p:spPr>
          <a:xfrm>
            <a:off x="5943600" y="3246120"/>
            <a:ext cx="54864" cy="1554480"/>
          </a:xfrm>
          <a:prstGeom prst="rect">
            <a:avLst/>
          </a:prstGeom>
          <a:solidFill>
            <a:srgbClr val="1B2A4A"/>
          </a:solidFill>
          <a:ln/>
        </p:spPr>
        <p:txBody>
          <a:bodyPr/>
          <a:lstStyle/>
          <a:p>
            <a:endParaRPr lang="en-US"/>
          </a:p>
        </p:txBody>
      </p:sp>
      <p:sp>
        <p:nvSpPr>
          <p:cNvPr id="60" name="Text 58"/>
          <p:cNvSpPr/>
          <p:nvPr/>
        </p:nvSpPr>
        <p:spPr>
          <a:xfrm>
            <a:off x="6126480" y="3337560"/>
            <a:ext cx="2148840" cy="182880"/>
          </a:xfrm>
          <a:prstGeom prst="rect">
            <a:avLst/>
          </a:prstGeom>
          <a:noFill/>
          <a:ln/>
        </p:spPr>
        <p:txBody>
          <a:bodyPr wrap="square" lIns="0" tIns="0" rIns="0" bIns="0" rtlCol="0" anchor="ctr"/>
          <a:lstStyle/>
          <a:p>
            <a:pPr marL="0" indent="0">
              <a:buNone/>
            </a:pPr>
            <a:r>
              <a:rPr lang="en-US" sz="800" b="1" kern="0" spc="300" dirty="0">
                <a:solidFill>
                  <a:srgbClr val="A0824E"/>
                </a:solidFill>
                <a:latin typeface="Calibri" pitchFamily="34" charset="0"/>
                <a:ea typeface="Calibri" pitchFamily="34" charset="-122"/>
                <a:cs typeface="Calibri" pitchFamily="34" charset="-120"/>
              </a:rPr>
              <a:t>TRACK C</a:t>
            </a:r>
            <a:endParaRPr lang="en-US" sz="800" dirty="0"/>
          </a:p>
        </p:txBody>
      </p:sp>
      <p:sp>
        <p:nvSpPr>
          <p:cNvPr id="61" name="Text 59"/>
          <p:cNvSpPr/>
          <p:nvPr/>
        </p:nvSpPr>
        <p:spPr>
          <a:xfrm>
            <a:off x="6126480" y="3520440"/>
            <a:ext cx="2148840" cy="274320"/>
          </a:xfrm>
          <a:prstGeom prst="rect">
            <a:avLst/>
          </a:prstGeom>
          <a:noFill/>
          <a:ln/>
        </p:spPr>
        <p:txBody>
          <a:bodyPr wrap="square" lIns="0" tIns="0" rIns="0" bIns="0" rtlCol="0" anchor="ctr"/>
          <a:lstStyle/>
          <a:p>
            <a:pPr marL="0" indent="0">
              <a:buNone/>
            </a:pPr>
            <a:r>
              <a:rPr lang="en-US" sz="1300" i="1" dirty="0">
                <a:solidFill>
                  <a:srgbClr val="2D2D2D"/>
                </a:solidFill>
                <a:latin typeface="Georgia" pitchFamily="34" charset="0"/>
                <a:ea typeface="Georgia" pitchFamily="34" charset="-122"/>
                <a:cs typeface="Georgia" pitchFamily="34" charset="-120"/>
              </a:rPr>
              <a:t>For the Superfan</a:t>
            </a:r>
            <a:endParaRPr lang="en-US" sz="1300" dirty="0"/>
          </a:p>
        </p:txBody>
      </p:sp>
      <p:sp>
        <p:nvSpPr>
          <p:cNvPr id="62" name="Shape 60"/>
          <p:cNvSpPr/>
          <p:nvPr/>
        </p:nvSpPr>
        <p:spPr>
          <a:xfrm>
            <a:off x="6126480" y="3813048"/>
            <a:ext cx="2057400" cy="0"/>
          </a:xfrm>
          <a:prstGeom prst="line">
            <a:avLst/>
          </a:prstGeom>
          <a:noFill/>
          <a:ln w="6350">
            <a:solidFill>
              <a:srgbClr val="999999"/>
            </a:solidFill>
            <a:prstDash val="solid"/>
          </a:ln>
        </p:spPr>
        <p:txBody>
          <a:bodyPr/>
          <a:lstStyle/>
          <a:p>
            <a:endParaRPr lang="en-US"/>
          </a:p>
        </p:txBody>
      </p:sp>
      <p:sp>
        <p:nvSpPr>
          <p:cNvPr id="63" name="Shape 61"/>
          <p:cNvSpPr/>
          <p:nvPr/>
        </p:nvSpPr>
        <p:spPr>
          <a:xfrm>
            <a:off x="6144768" y="3959352"/>
            <a:ext cx="45720" cy="45720"/>
          </a:xfrm>
          <a:prstGeom prst="ellipse">
            <a:avLst/>
          </a:prstGeom>
          <a:solidFill>
            <a:srgbClr val="A0824E"/>
          </a:solidFill>
          <a:ln w="12700">
            <a:solidFill>
              <a:srgbClr val="A0824E"/>
            </a:solidFill>
            <a:prstDash val="solid"/>
          </a:ln>
        </p:spPr>
        <p:txBody>
          <a:bodyPr/>
          <a:lstStyle/>
          <a:p>
            <a:endParaRPr lang="en-US"/>
          </a:p>
        </p:txBody>
      </p:sp>
      <p:sp>
        <p:nvSpPr>
          <p:cNvPr id="64" name="Text 62"/>
          <p:cNvSpPr/>
          <p:nvPr/>
        </p:nvSpPr>
        <p:spPr>
          <a:xfrm>
            <a:off x="6263640" y="3904488"/>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Country Brief Generator</a:t>
            </a:r>
            <a:endParaRPr lang="en-US" sz="950" dirty="0"/>
          </a:p>
        </p:txBody>
      </p:sp>
      <p:sp>
        <p:nvSpPr>
          <p:cNvPr id="65" name="Shape 63"/>
          <p:cNvSpPr/>
          <p:nvPr/>
        </p:nvSpPr>
        <p:spPr>
          <a:xfrm>
            <a:off x="6144768" y="4123944"/>
            <a:ext cx="45720" cy="45720"/>
          </a:xfrm>
          <a:prstGeom prst="ellipse">
            <a:avLst/>
          </a:prstGeom>
          <a:solidFill>
            <a:srgbClr val="A0824E"/>
          </a:solidFill>
          <a:ln w="12700">
            <a:solidFill>
              <a:srgbClr val="A0824E"/>
            </a:solidFill>
            <a:prstDash val="solid"/>
          </a:ln>
        </p:spPr>
        <p:txBody>
          <a:bodyPr/>
          <a:lstStyle/>
          <a:p>
            <a:endParaRPr lang="en-US"/>
          </a:p>
        </p:txBody>
      </p:sp>
      <p:sp>
        <p:nvSpPr>
          <p:cNvPr id="66" name="Text 64"/>
          <p:cNvSpPr/>
          <p:nvPr/>
        </p:nvSpPr>
        <p:spPr>
          <a:xfrm>
            <a:off x="6263640" y="4069080"/>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Group-Stage Scenario Calc</a:t>
            </a:r>
            <a:endParaRPr lang="en-US" sz="950" dirty="0"/>
          </a:p>
        </p:txBody>
      </p:sp>
      <p:sp>
        <p:nvSpPr>
          <p:cNvPr id="67" name="Shape 65"/>
          <p:cNvSpPr/>
          <p:nvPr/>
        </p:nvSpPr>
        <p:spPr>
          <a:xfrm>
            <a:off x="6144768" y="4288536"/>
            <a:ext cx="45720" cy="45720"/>
          </a:xfrm>
          <a:prstGeom prst="ellipse">
            <a:avLst/>
          </a:prstGeom>
          <a:solidFill>
            <a:srgbClr val="A0824E"/>
          </a:solidFill>
          <a:ln w="12700">
            <a:solidFill>
              <a:srgbClr val="A0824E"/>
            </a:solidFill>
            <a:prstDash val="solid"/>
          </a:ln>
        </p:spPr>
        <p:txBody>
          <a:bodyPr/>
          <a:lstStyle/>
          <a:p>
            <a:endParaRPr lang="en-US"/>
          </a:p>
        </p:txBody>
      </p:sp>
      <p:sp>
        <p:nvSpPr>
          <p:cNvPr id="68" name="Text 66"/>
          <p:cNvSpPr/>
          <p:nvPr/>
        </p:nvSpPr>
        <p:spPr>
          <a:xfrm>
            <a:off x="6263640" y="4233672"/>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Player &amp; Team Comparator</a:t>
            </a:r>
            <a:endParaRPr lang="en-US" sz="950" dirty="0"/>
          </a:p>
        </p:txBody>
      </p:sp>
      <p:sp>
        <p:nvSpPr>
          <p:cNvPr id="69" name="Shape 67"/>
          <p:cNvSpPr/>
          <p:nvPr/>
        </p:nvSpPr>
        <p:spPr>
          <a:xfrm>
            <a:off x="6144768" y="4453128"/>
            <a:ext cx="45720" cy="45720"/>
          </a:xfrm>
          <a:prstGeom prst="ellipse">
            <a:avLst/>
          </a:prstGeom>
          <a:solidFill>
            <a:srgbClr val="A0824E"/>
          </a:solidFill>
          <a:ln w="12700">
            <a:solidFill>
              <a:srgbClr val="A0824E"/>
            </a:solidFill>
            <a:prstDash val="solid"/>
          </a:ln>
        </p:spPr>
        <p:txBody>
          <a:bodyPr/>
          <a:lstStyle/>
          <a:p>
            <a:endParaRPr lang="en-US"/>
          </a:p>
        </p:txBody>
      </p:sp>
      <p:sp>
        <p:nvSpPr>
          <p:cNvPr id="70" name="Text 68"/>
          <p:cNvSpPr/>
          <p:nvPr/>
        </p:nvSpPr>
        <p:spPr>
          <a:xfrm>
            <a:off x="6263640" y="4398264"/>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Fantasy Roster Optimizer</a:t>
            </a:r>
            <a:endParaRPr lang="en-US" sz="950" dirty="0"/>
          </a:p>
        </p:txBody>
      </p:sp>
      <p:sp>
        <p:nvSpPr>
          <p:cNvPr id="71" name="Shape 69"/>
          <p:cNvSpPr/>
          <p:nvPr/>
        </p:nvSpPr>
        <p:spPr>
          <a:xfrm>
            <a:off x="6144768" y="4617720"/>
            <a:ext cx="45720" cy="45720"/>
          </a:xfrm>
          <a:prstGeom prst="ellipse">
            <a:avLst/>
          </a:prstGeom>
          <a:solidFill>
            <a:srgbClr val="A0824E"/>
          </a:solidFill>
          <a:ln w="12700">
            <a:solidFill>
              <a:srgbClr val="A0824E"/>
            </a:solidFill>
            <a:prstDash val="solid"/>
          </a:ln>
        </p:spPr>
        <p:txBody>
          <a:bodyPr/>
          <a:lstStyle/>
          <a:p>
            <a:endParaRPr lang="en-US"/>
          </a:p>
        </p:txBody>
      </p:sp>
      <p:sp>
        <p:nvSpPr>
          <p:cNvPr id="72" name="Text 70"/>
          <p:cNvSpPr/>
          <p:nvPr/>
        </p:nvSpPr>
        <p:spPr>
          <a:xfrm>
            <a:off x="6263640" y="4562856"/>
            <a:ext cx="2011680" cy="182880"/>
          </a:xfrm>
          <a:prstGeom prst="rect">
            <a:avLst/>
          </a:prstGeom>
          <a:noFill/>
          <a:ln/>
        </p:spPr>
        <p:txBody>
          <a:bodyPr wrap="square" lIns="0" tIns="0" rIns="0" bIns="0" rtlCol="0" anchor="ctr"/>
          <a:lstStyle/>
          <a:p>
            <a:pPr marL="0" indent="0">
              <a:buNone/>
            </a:pPr>
            <a:r>
              <a:rPr lang="en-US" sz="950" dirty="0">
                <a:solidFill>
                  <a:srgbClr val="2D2D2D"/>
                </a:solidFill>
                <a:latin typeface="Calibri" pitchFamily="34" charset="0"/>
                <a:ea typeface="Calibri" pitchFamily="34" charset="-122"/>
                <a:cs typeface="Calibri" pitchFamily="34" charset="-120"/>
              </a:rPr>
              <a:t>Stadium Trip Planner</a:t>
            </a:r>
            <a:endParaRPr lang="en-US" sz="950" dirty="0"/>
          </a:p>
        </p:txBody>
      </p:sp>
      <p:sp>
        <p:nvSpPr>
          <p:cNvPr id="73" name="Text 71"/>
          <p:cNvSpPr/>
          <p:nvPr/>
        </p:nvSpPr>
        <p:spPr>
          <a:xfrm>
            <a:off x="731520" y="4892040"/>
            <a:ext cx="7680960" cy="228600"/>
          </a:xfrm>
          <a:prstGeom prst="rect">
            <a:avLst/>
          </a:prstGeom>
          <a:noFill/>
          <a:ln/>
        </p:spPr>
        <p:txBody>
          <a:bodyPr wrap="square" lIns="0" tIns="0" rIns="0" bIns="0" rtlCol="0" anchor="ctr"/>
          <a:lstStyle/>
          <a:p>
            <a:pPr marL="0" indent="0" algn="ctr">
              <a:buNone/>
            </a:pPr>
            <a:r>
              <a:rPr lang="en-US" sz="1100" i="1" dirty="0">
                <a:solidFill>
                  <a:srgbClr val="1B2A4A"/>
                </a:solidFill>
                <a:latin typeface="Georgia" pitchFamily="34" charset="0"/>
                <a:ea typeface="Georgia" pitchFamily="34" charset="-122"/>
                <a:cs typeface="Georgia" pitchFamily="34" charset="-120"/>
              </a:rPr>
              <a:t>Ship something fun before the first whistle in June.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805</Words>
  <Application>Microsoft Macintosh PowerPoint</Application>
  <PresentationFormat>On-screen Show (16:9)</PresentationFormat>
  <Paragraphs>114</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Georgia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Training for First-Year Analysts</dc:title>
  <dc:subject>PptxGenJS Presentation</dc:subject>
  <dc:creator>JPMorgan Private Bank</dc:creator>
  <cp:lastModifiedBy>Mohamed Khalifa</cp:lastModifiedBy>
  <cp:revision>1</cp:revision>
  <dcterms:created xsi:type="dcterms:W3CDTF">2026-04-28T21:06:26Z</dcterms:created>
  <dcterms:modified xsi:type="dcterms:W3CDTF">2026-04-28T21:10:29Z</dcterms:modified>
</cp:coreProperties>
</file>